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firstSlideNum="0" strictFirstAndLastChars="0" saveSubsetFonts="1">
  <p:sldMasterIdLst>
    <p:sldMasterId id="2147483648" r:id="rId5"/>
    <p:sldMasterId id="214748365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</p:sldIdLst>
  <p:sldSz cy="6858000" cx="9906000"/>
  <p:notesSz cx="6807200" cy="993932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065">
          <p15:clr>
            <a:srgbClr val="A4A3A4"/>
          </p15:clr>
        </p15:guide>
        <p15:guide id="2" pos="535">
          <p15:clr>
            <a:srgbClr val="A4A3A4"/>
          </p15:clr>
        </p15:guide>
        <p15:guide id="3" pos="1737">
          <p15:clr>
            <a:srgbClr val="A4A3A4"/>
          </p15:clr>
        </p15:guide>
        <p15:guide id="4" orient="horz" pos="436">
          <p15:clr>
            <a:srgbClr val="A4A3A4"/>
          </p15:clr>
        </p15:guide>
        <p15:guide id="5" orient="horz" pos="4133">
          <p15:clr>
            <a:srgbClr val="A4A3A4"/>
          </p15:clr>
        </p15:guide>
        <p15:guide id="6" orient="horz" pos="845">
          <p15:clr>
            <a:srgbClr val="A4A3A4"/>
          </p15:clr>
        </p15:guide>
        <p15:guide id="7" orient="horz" pos="2750">
          <p15:clr>
            <a:srgbClr val="A4A3A4"/>
          </p15:clr>
        </p15:guide>
        <p15:guide id="8" orient="horz" pos="278">
          <p15:clr>
            <a:srgbClr val="A4A3A4"/>
          </p15:clr>
        </p15:guide>
      </p15:sldGuideLst>
    </p:ext>
    <p:ext uri="GoogleSlidesCustomDataVersion2">
      <go:slidesCustomData xmlns:go="http://customooxmlschemas.google.com/" r:id="rId80" roundtripDataSignature="AMtx7mgrf5rWgHM2/otxAiohlXTJ9b/k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216E51F-281C-4444-9FEC-27A87119D8F7}">
  <a:tblStyle styleId="{9216E51F-281C-4444-9FEC-27A87119D8F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F6045412-04BD-4F82-B1B7-2730D475FC39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F6EF"/>
          </a:solidFill>
        </a:fill>
      </a:tcStyle>
    </a:wholeTbl>
    <a:band1H>
      <a:tcTxStyle/>
      <a:tcStyle>
        <a:fill>
          <a:solidFill>
            <a:srgbClr val="CAECDD"/>
          </a:solidFill>
        </a:fill>
      </a:tcStyle>
    </a:band1H>
    <a:band2H>
      <a:tcTxStyle/>
    </a:band2H>
    <a:band1V>
      <a:tcTxStyle/>
      <a:tcStyle>
        <a:fill>
          <a:solidFill>
            <a:srgbClr val="CAECDD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065" orient="horz"/>
        <p:guide pos="535"/>
        <p:guide pos="1737"/>
        <p:guide pos="436" orient="horz"/>
        <p:guide pos="4133" orient="horz"/>
        <p:guide pos="845" orient="horz"/>
        <p:guide pos="2750" orient="horz"/>
        <p:guide pos="278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80" Type="http://customschemas.google.com/relationships/presentationmetadata" Target="meta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31" Type="http://schemas.openxmlformats.org/officeDocument/2006/relationships/slide" Target="slides/slide24.xml"/><Relationship Id="rId75" Type="http://schemas.openxmlformats.org/officeDocument/2006/relationships/slide" Target="slides/slide68.xml"/><Relationship Id="rId30" Type="http://schemas.openxmlformats.org/officeDocument/2006/relationships/slide" Target="slides/slide23.xml"/><Relationship Id="rId74" Type="http://schemas.openxmlformats.org/officeDocument/2006/relationships/slide" Target="slides/slide67.xml"/><Relationship Id="rId33" Type="http://schemas.openxmlformats.org/officeDocument/2006/relationships/slide" Target="slides/slide26.xml"/><Relationship Id="rId77" Type="http://schemas.openxmlformats.org/officeDocument/2006/relationships/slide" Target="slides/slide70.xml"/><Relationship Id="rId32" Type="http://schemas.openxmlformats.org/officeDocument/2006/relationships/slide" Target="slides/slide25.xml"/><Relationship Id="rId76" Type="http://schemas.openxmlformats.org/officeDocument/2006/relationships/slide" Target="slides/slide69.xml"/><Relationship Id="rId35" Type="http://schemas.openxmlformats.org/officeDocument/2006/relationships/slide" Target="slides/slide28.xml"/><Relationship Id="rId79" Type="http://schemas.openxmlformats.org/officeDocument/2006/relationships/slide" Target="slides/slide72.xml"/><Relationship Id="rId34" Type="http://schemas.openxmlformats.org/officeDocument/2006/relationships/slide" Target="slides/slide27.xml"/><Relationship Id="rId78" Type="http://schemas.openxmlformats.org/officeDocument/2006/relationships/slide" Target="slides/slide71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20" Type="http://schemas.openxmlformats.org/officeDocument/2006/relationships/slide" Target="slides/slide13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22" Type="http://schemas.openxmlformats.org/officeDocument/2006/relationships/slide" Target="slides/slide15.xml"/><Relationship Id="rId66" Type="http://schemas.openxmlformats.org/officeDocument/2006/relationships/slide" Target="slides/slide59.xml"/><Relationship Id="rId21" Type="http://schemas.openxmlformats.org/officeDocument/2006/relationships/slide" Target="slides/slide14.xml"/><Relationship Id="rId65" Type="http://schemas.openxmlformats.org/officeDocument/2006/relationships/slide" Target="slides/slide58.xml"/><Relationship Id="rId24" Type="http://schemas.openxmlformats.org/officeDocument/2006/relationships/slide" Target="slides/slide17.xml"/><Relationship Id="rId68" Type="http://schemas.openxmlformats.org/officeDocument/2006/relationships/slide" Target="slides/slide61.xml"/><Relationship Id="rId23" Type="http://schemas.openxmlformats.org/officeDocument/2006/relationships/slide" Target="slides/slide16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slide" Target="slides/slide62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59" Type="http://schemas.openxmlformats.org/officeDocument/2006/relationships/slide" Target="slides/slide52.xml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49787" cy="498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55838" y="0"/>
            <a:ext cx="2949787" cy="498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40647"/>
            <a:ext cx="2949787" cy="4986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2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:notes"/>
          <p:cNvSpPr txBox="1"/>
          <p:nvPr>
            <p:ph idx="12" type="sldNum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 txBox="1"/>
          <p:nvPr>
            <p:ph idx="12" type="sldNum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6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6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7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7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8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8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9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9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10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0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11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1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12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12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13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13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14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14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15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15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16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16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17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17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18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p18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19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19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20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20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21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21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5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p22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p22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7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p23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9" name="Google Shape;1729;p23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4" name="Shape 1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5" name="Google Shape;1915;p24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6" name="Google Shape;1916;p24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5" name="Shape 1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" name="Google Shape;1986;p25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7" name="Google Shape;1987;p25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4" name="Shape 2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5" name="Google Shape;2015;p26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6" name="Google Shape;2016;p26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3" name="Shape 2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4" name="Google Shape;2024;p27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5" name="Google Shape;2025;p27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5" name="Shape 2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Google Shape;2056;p28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7" name="Google Shape;2057;p28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7" name="Shape 2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" name="Google Shape;2088;p29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9" name="Google Shape;2089;p29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6" name="Shape 2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7" name="Google Shape;2097;p30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8" name="Google Shape;2098;p30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3" name="Shape 2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4" name="Google Shape;2144;p31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5" name="Google Shape;2145;p31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4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2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6" name="Google Shape;2156;p32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0" name="Shape 2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1" name="Google Shape;2231;p33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2" name="Google Shape;2232;p33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6" name="Shape 2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7" name="Google Shape;2237;p34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8" name="Google Shape;2238;p34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2" name="Shape 2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3" name="Google Shape;2243;p35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4" name="Google Shape;2244;p35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0" name="Shape 2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1" name="Google Shape;2281;p36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2" name="Google Shape;2282;p36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7" name="Shape 2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8" name="Google Shape;2288;p37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9" name="Google Shape;2289;p37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3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8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5" name="Google Shape;2295;p38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9" name="Shape 2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0" name="Google Shape;2300;p39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1" name="Google Shape;2301;p39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5" name="Shape 2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6" name="Google Shape;2306;p40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7" name="Google Shape;2307;p40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1" name="Shape 2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2" name="Google Shape;2312;p41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3" name="Google Shape;2313;p41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7" name="Shape 2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8" name="Google Shape;2318;p42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9" name="Google Shape;2319;p42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1" name="Shape 2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2" name="Google Shape;2382;p43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3" name="Google Shape;2383;p43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7" name="Shape 2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8" name="Google Shape;2388;p44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9" name="Google Shape;2389;p44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4" name="Shape 2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5" name="Google Shape;2505;p45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6" name="Google Shape;2506;p45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0" name="Shape 2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1" name="Google Shape;2511;p46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2" name="Google Shape;2512;p46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6" name="Shape 2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7" name="Google Shape;2517;p47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8" name="Google Shape;2518;p47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9" name="Shape 2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" name="Google Shape;2580;p48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1" name="Google Shape;2581;p48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1" name="Shape 2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2" name="Google Shape;2632;p49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3" name="Google Shape;2633;p49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0" name="Shape 2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1" name="Google Shape;2671;p50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2" name="Google Shape;2672;p50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5" name="Shape 2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6" name="Google Shape;2716;p51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7" name="Google Shape;2717;p51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9" name="Shape 2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0" name="Google Shape;2760;p52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1" name="Google Shape;2761;p52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6" name="Shape 2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7" name="Google Shape;2807;p53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8" name="Google Shape;2808;p53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9" name="Shape 2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0" name="Google Shape;2850;p54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1" name="Google Shape;2851;p54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9" name="Shape 2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0" name="Google Shape;2900;p55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1" name="Google Shape;2901;p55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8" name="Shape 2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9" name="Google Shape;2909;p56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0" name="Google Shape;2910;p56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5" name="Shape 2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6" name="Google Shape;2966;p57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7" name="Google Shape;2967;p57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9" name="Shape 3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" name="Google Shape;3010;p58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1" name="Google Shape;3011;p58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7" name="Shape 3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8" name="Google Shape;3058;p59:notes"/>
          <p:cNvSpPr txBox="1"/>
          <p:nvPr>
            <p:ph idx="1" type="body"/>
          </p:nvPr>
        </p:nvSpPr>
        <p:spPr>
          <a:xfrm>
            <a:off x="680720" y="4783307"/>
            <a:ext cx="5445900" cy="391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9" name="Google Shape;3059;p59:notes"/>
          <p:cNvSpPr/>
          <p:nvPr>
            <p:ph idx="2" type="sldImg"/>
          </p:nvPr>
        </p:nvSpPr>
        <p:spPr>
          <a:xfrm>
            <a:off x="981075" y="1243013"/>
            <a:ext cx="4845000" cy="3354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4" name="Shape 3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5" name="Google Shape;3095;p60:notes"/>
          <p:cNvSpPr txBox="1"/>
          <p:nvPr>
            <p:ph idx="1" type="body"/>
          </p:nvPr>
        </p:nvSpPr>
        <p:spPr>
          <a:xfrm>
            <a:off x="680720" y="4783307"/>
            <a:ext cx="5445900" cy="391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6" name="Google Shape;3096;p60:notes"/>
          <p:cNvSpPr/>
          <p:nvPr>
            <p:ph idx="2" type="sldImg"/>
          </p:nvPr>
        </p:nvSpPr>
        <p:spPr>
          <a:xfrm>
            <a:off x="981075" y="1243013"/>
            <a:ext cx="4845000" cy="3354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3" name="Shape 3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4" name="Google Shape;3114;p61:notes"/>
          <p:cNvSpPr txBox="1"/>
          <p:nvPr>
            <p:ph idx="1" type="body"/>
          </p:nvPr>
        </p:nvSpPr>
        <p:spPr>
          <a:xfrm>
            <a:off x="680720" y="4783307"/>
            <a:ext cx="5445900" cy="391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5" name="Google Shape;3115;p61:notes"/>
          <p:cNvSpPr/>
          <p:nvPr>
            <p:ph idx="2" type="sldImg"/>
          </p:nvPr>
        </p:nvSpPr>
        <p:spPr>
          <a:xfrm>
            <a:off x="981075" y="1243013"/>
            <a:ext cx="4845000" cy="3354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2" name="Shape 3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3" name="Google Shape;3173;p62:notes"/>
          <p:cNvSpPr txBox="1"/>
          <p:nvPr>
            <p:ph idx="1" type="body"/>
          </p:nvPr>
        </p:nvSpPr>
        <p:spPr>
          <a:xfrm>
            <a:off x="680720" y="4783307"/>
            <a:ext cx="5445900" cy="391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4" name="Google Shape;3174;p62:notes"/>
          <p:cNvSpPr/>
          <p:nvPr>
            <p:ph idx="2" type="sldImg"/>
          </p:nvPr>
        </p:nvSpPr>
        <p:spPr>
          <a:xfrm>
            <a:off x="981075" y="1243013"/>
            <a:ext cx="4845000" cy="3354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6" name="Shape 3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7" name="Google Shape;3217;p63:notes"/>
          <p:cNvSpPr txBox="1"/>
          <p:nvPr>
            <p:ph idx="1" type="body"/>
          </p:nvPr>
        </p:nvSpPr>
        <p:spPr>
          <a:xfrm>
            <a:off x="680720" y="4783307"/>
            <a:ext cx="5445900" cy="391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8" name="Google Shape;3218;p63:notes"/>
          <p:cNvSpPr/>
          <p:nvPr>
            <p:ph idx="2" type="sldImg"/>
          </p:nvPr>
        </p:nvSpPr>
        <p:spPr>
          <a:xfrm>
            <a:off x="981075" y="1243013"/>
            <a:ext cx="4845000" cy="3354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9" name="Shape 3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0" name="Google Shape;3340;p64:notes"/>
          <p:cNvSpPr txBox="1"/>
          <p:nvPr>
            <p:ph idx="1" type="body"/>
          </p:nvPr>
        </p:nvSpPr>
        <p:spPr>
          <a:xfrm>
            <a:off x="680720" y="4783307"/>
            <a:ext cx="5445900" cy="391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1" name="Google Shape;3341;p64:notes"/>
          <p:cNvSpPr/>
          <p:nvPr>
            <p:ph idx="2" type="sldImg"/>
          </p:nvPr>
        </p:nvSpPr>
        <p:spPr>
          <a:xfrm>
            <a:off x="981075" y="1243013"/>
            <a:ext cx="4845000" cy="3354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4" name="Shape 3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5" name="Google Shape;3395;p65:notes"/>
          <p:cNvSpPr txBox="1"/>
          <p:nvPr>
            <p:ph idx="1" type="body"/>
          </p:nvPr>
        </p:nvSpPr>
        <p:spPr>
          <a:xfrm>
            <a:off x="680720" y="4783307"/>
            <a:ext cx="5445900" cy="391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6" name="Google Shape;3396;p65:notes"/>
          <p:cNvSpPr/>
          <p:nvPr>
            <p:ph idx="2" type="sldImg"/>
          </p:nvPr>
        </p:nvSpPr>
        <p:spPr>
          <a:xfrm>
            <a:off x="981075" y="1243013"/>
            <a:ext cx="4845000" cy="3354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1" name="Shape 3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2" name="Google Shape;3432;p66:notes"/>
          <p:cNvSpPr txBox="1"/>
          <p:nvPr>
            <p:ph idx="1" type="body"/>
          </p:nvPr>
        </p:nvSpPr>
        <p:spPr>
          <a:xfrm>
            <a:off x="680720" y="4783307"/>
            <a:ext cx="5445900" cy="391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3" name="Google Shape;3433;p66:notes"/>
          <p:cNvSpPr/>
          <p:nvPr>
            <p:ph idx="2" type="sldImg"/>
          </p:nvPr>
        </p:nvSpPr>
        <p:spPr>
          <a:xfrm>
            <a:off x="981075" y="1243013"/>
            <a:ext cx="4845000" cy="3354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4" name="Shape 3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5" name="Google Shape;3465;p67:notes"/>
          <p:cNvSpPr txBox="1"/>
          <p:nvPr>
            <p:ph idx="1" type="body"/>
          </p:nvPr>
        </p:nvSpPr>
        <p:spPr>
          <a:xfrm>
            <a:off x="680720" y="4783307"/>
            <a:ext cx="5445900" cy="391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6" name="Google Shape;3466;p67:notes"/>
          <p:cNvSpPr/>
          <p:nvPr>
            <p:ph idx="2" type="sldImg"/>
          </p:nvPr>
        </p:nvSpPr>
        <p:spPr>
          <a:xfrm>
            <a:off x="981075" y="1243013"/>
            <a:ext cx="4845000" cy="3354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3" name="Shape 3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4" name="Google Shape;3484;p68:notes"/>
          <p:cNvSpPr txBox="1"/>
          <p:nvPr>
            <p:ph idx="1" type="body"/>
          </p:nvPr>
        </p:nvSpPr>
        <p:spPr>
          <a:xfrm>
            <a:off x="680720" y="4783307"/>
            <a:ext cx="5445900" cy="391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5" name="Google Shape;3485;p68:notes"/>
          <p:cNvSpPr/>
          <p:nvPr>
            <p:ph idx="2" type="sldImg"/>
          </p:nvPr>
        </p:nvSpPr>
        <p:spPr>
          <a:xfrm>
            <a:off x="981075" y="1243013"/>
            <a:ext cx="4845000" cy="3354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2" name="Shape 3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3" name="Google Shape;3523;p69:notes"/>
          <p:cNvSpPr txBox="1"/>
          <p:nvPr>
            <p:ph idx="1" type="body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4" name="Google Shape;3524;p69:notes"/>
          <p:cNvSpPr/>
          <p:nvPr>
            <p:ph idx="2" type="sldImg"/>
          </p:nvPr>
        </p:nvSpPr>
        <p:spPr>
          <a:xfrm>
            <a:off x="981075" y="1243013"/>
            <a:ext cx="4845050" cy="3354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2" name="Shape 3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3" name="Google Shape;3593;p70:notes"/>
          <p:cNvSpPr txBox="1"/>
          <p:nvPr>
            <p:ph idx="1" type="body"/>
          </p:nvPr>
        </p:nvSpPr>
        <p:spPr>
          <a:xfrm>
            <a:off x="680720" y="4783307"/>
            <a:ext cx="5445900" cy="391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4" name="Google Shape;3594;p70:notes"/>
          <p:cNvSpPr/>
          <p:nvPr>
            <p:ph idx="2" type="sldImg"/>
          </p:nvPr>
        </p:nvSpPr>
        <p:spPr>
          <a:xfrm>
            <a:off x="981075" y="1243013"/>
            <a:ext cx="4845000" cy="3354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5" name="Shape 3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6" name="Google Shape;3656;p71:notes"/>
          <p:cNvSpPr txBox="1"/>
          <p:nvPr>
            <p:ph idx="1" type="body"/>
          </p:nvPr>
        </p:nvSpPr>
        <p:spPr>
          <a:xfrm>
            <a:off x="680720" y="4783307"/>
            <a:ext cx="5445900" cy="391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7" name="Google Shape;3657;p71:notes"/>
          <p:cNvSpPr/>
          <p:nvPr>
            <p:ph idx="2" type="sldImg"/>
          </p:nvPr>
        </p:nvSpPr>
        <p:spPr>
          <a:xfrm>
            <a:off x="981075" y="1243013"/>
            <a:ext cx="4845000" cy="3354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8" name="Shape 3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9" name="Google Shape;3699;p72:notes"/>
          <p:cNvSpPr txBox="1"/>
          <p:nvPr>
            <p:ph idx="1" type="body"/>
          </p:nvPr>
        </p:nvSpPr>
        <p:spPr>
          <a:xfrm>
            <a:off x="680720" y="4783307"/>
            <a:ext cx="5445900" cy="391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0" name="Google Shape;3700;p72:notes"/>
          <p:cNvSpPr/>
          <p:nvPr>
            <p:ph idx="2" type="sldImg"/>
          </p:nvPr>
        </p:nvSpPr>
        <p:spPr>
          <a:xfrm>
            <a:off x="981075" y="1243013"/>
            <a:ext cx="4845000" cy="3354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3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showMasterSp="0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Google Shape;19;p74"/>
          <p:cNvCxnSpPr/>
          <p:nvPr/>
        </p:nvCxnSpPr>
        <p:spPr>
          <a:xfrm>
            <a:off x="457200" y="2774578"/>
            <a:ext cx="9112250" cy="635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0" name="Google Shape;20;p7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4528" y="521197"/>
            <a:ext cx="2520000" cy="3757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11" id="21" name="Google Shape;21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0208" y="6237312"/>
            <a:ext cx="1109242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74"/>
          <p:cNvSpPr/>
          <p:nvPr/>
        </p:nvSpPr>
        <p:spPr>
          <a:xfrm>
            <a:off x="3200400" y="1379049"/>
            <a:ext cx="6419850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차세대발행물시스템 및 동영상미디어플랫폼 구축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>
  <p:cSld name="제목만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및 내용">
  <p:cSld name="1_제목 및 내용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77"/>
          <p:cNvCxnSpPr/>
          <p:nvPr/>
        </p:nvCxnSpPr>
        <p:spPr>
          <a:xfrm>
            <a:off x="1856656" y="629832"/>
            <a:ext cx="8028008" cy="11392"/>
          </a:xfrm>
          <a:prstGeom prst="straightConnector1">
            <a:avLst/>
          </a:prstGeom>
          <a:noFill/>
          <a:ln cap="flat" cmpd="sng" w="4127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77"/>
          <p:cNvSpPr txBox="1"/>
          <p:nvPr>
            <p:ph idx="12" type="sldNum"/>
          </p:nvPr>
        </p:nvSpPr>
        <p:spPr>
          <a:xfrm>
            <a:off x="3793728" y="6448253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spcBef>
                <a:spcPts val="0"/>
              </a:spcBef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spcBef>
                <a:spcPts val="0"/>
              </a:spcBef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spcBef>
                <a:spcPts val="0"/>
              </a:spcBef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spcBef>
                <a:spcPts val="0"/>
              </a:spcBef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spcBef>
                <a:spcPts val="0"/>
              </a:spcBef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spcBef>
                <a:spcPts val="0"/>
              </a:spcBef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spcBef>
                <a:spcPts val="0"/>
              </a:spcBef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spcBef>
                <a:spcPts val="0"/>
              </a:spcBef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8" name="Google Shape;28;p77"/>
          <p:cNvCxnSpPr/>
          <p:nvPr/>
        </p:nvCxnSpPr>
        <p:spPr>
          <a:xfrm>
            <a:off x="1" y="629832"/>
            <a:ext cx="2648744" cy="0"/>
          </a:xfrm>
          <a:prstGeom prst="straightConnector1">
            <a:avLst/>
          </a:prstGeom>
          <a:noFill/>
          <a:ln cap="flat" cmpd="sng" w="4127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8"/>
          <p:cNvSpPr txBox="1"/>
          <p:nvPr>
            <p:ph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78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78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78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78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만">
  <p:cSld name="1_제목만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4. 타이틀">
  <p:cSld name="1_4. 타이틀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8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44" y="2"/>
            <a:ext cx="9900545" cy="68579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" name="Google Shape;38;p80"/>
          <p:cNvCxnSpPr/>
          <p:nvPr/>
        </p:nvCxnSpPr>
        <p:spPr>
          <a:xfrm>
            <a:off x="0" y="914012"/>
            <a:ext cx="8322140" cy="0"/>
          </a:xfrm>
          <a:prstGeom prst="straightConnector1">
            <a:avLst/>
          </a:prstGeom>
          <a:noFill/>
          <a:ln cap="flat" cmpd="sng" w="9525">
            <a:solidFill>
              <a:srgbClr val="7C8A94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9" name="Google Shape;39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5865" y="6612761"/>
            <a:ext cx="703874" cy="131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9620" y="6616308"/>
            <a:ext cx="1105543" cy="128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8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67445" y="6650210"/>
            <a:ext cx="1190883" cy="97976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80"/>
          <p:cNvSpPr/>
          <p:nvPr/>
        </p:nvSpPr>
        <p:spPr>
          <a:xfrm>
            <a:off x="1517143" y="6650744"/>
            <a:ext cx="13342" cy="84912"/>
          </a:xfrm>
          <a:prstGeom prst="rect">
            <a:avLst/>
          </a:prstGeom>
          <a:solidFill>
            <a:srgbClr val="83838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3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" name="Google Shape;43;p80"/>
          <p:cNvCxnSpPr/>
          <p:nvPr/>
        </p:nvCxnSpPr>
        <p:spPr>
          <a:xfrm>
            <a:off x="5" y="6547548"/>
            <a:ext cx="9905994" cy="0"/>
          </a:xfrm>
          <a:prstGeom prst="straightConnector1">
            <a:avLst/>
          </a:prstGeom>
          <a:noFill/>
          <a:ln cap="flat" cmpd="sng" w="9525">
            <a:solidFill>
              <a:srgbClr val="AFBF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80"/>
          <p:cNvSpPr/>
          <p:nvPr/>
        </p:nvSpPr>
        <p:spPr>
          <a:xfrm>
            <a:off x="4690901" y="6600949"/>
            <a:ext cx="524202" cy="182637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7">
                <a:solidFill>
                  <a:srgbClr val="3293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7">
              <a:solidFill>
                <a:srgbClr val="3293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" name="Google Shape;45;p80"/>
          <p:cNvGrpSpPr/>
          <p:nvPr/>
        </p:nvGrpSpPr>
        <p:grpSpPr>
          <a:xfrm>
            <a:off x="2" y="886212"/>
            <a:ext cx="9907469" cy="392643"/>
            <a:chOff x="14742949" y="2441653"/>
            <a:chExt cx="4577778" cy="814834"/>
          </a:xfrm>
        </p:grpSpPr>
        <p:sp>
          <p:nvSpPr>
            <p:cNvPr descr="어두운 상향 대각선" id="46" name="Google Shape;46;p80"/>
            <p:cNvSpPr/>
            <p:nvPr/>
          </p:nvSpPr>
          <p:spPr>
            <a:xfrm>
              <a:off x="14742949" y="2441655"/>
              <a:ext cx="4577778" cy="814832"/>
            </a:xfrm>
            <a:prstGeom prst="rect">
              <a:avLst/>
            </a:prstGeom>
            <a:gradFill>
              <a:gsLst>
                <a:gs pos="0">
                  <a:srgbClr val="384A8C"/>
                </a:gs>
                <a:gs pos="100000">
                  <a:srgbClr val="00255E"/>
                </a:gs>
              </a:gsLst>
              <a:lin ang="0" scaled="0"/>
            </a:gradFill>
            <a:ln>
              <a:noFill/>
            </a:ln>
            <a:effectLst>
              <a:outerShdw blurRad="50800" rotWithShape="0" algn="tl" dir="2700000" dist="50800">
                <a:srgbClr val="000000">
                  <a:alpha val="23137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33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descr="어두운 상향 대각선" id="47" name="Google Shape;47;p80"/>
            <p:cNvSpPr/>
            <p:nvPr/>
          </p:nvSpPr>
          <p:spPr>
            <a:xfrm>
              <a:off x="14742949" y="2441653"/>
              <a:ext cx="1264353" cy="814830"/>
            </a:xfrm>
            <a:custGeom>
              <a:rect b="b" l="l" r="r" t="t"/>
              <a:pathLst>
                <a:path extrusionOk="0" h="756084" w="972108">
                  <a:moveTo>
                    <a:pt x="0" y="0"/>
                  </a:moveTo>
                  <a:lnTo>
                    <a:pt x="972108" y="756084"/>
                  </a:lnTo>
                  <a:lnTo>
                    <a:pt x="0" y="75608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384A8C"/>
                </a:gs>
                <a:gs pos="100000">
                  <a:srgbClr val="062962"/>
                </a:gs>
              </a:gsLst>
              <a:lin ang="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902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5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6452">
          <p15:clr>
            <a:srgbClr val="FBAE40"/>
          </p15:clr>
        </p15:guide>
        <p15:guide id="2" orient="horz" pos="4354">
          <p15:clr>
            <a:srgbClr val="FBAE40"/>
          </p15:clr>
        </p15:guide>
        <p15:guide id="3" orient="horz" pos="1331">
          <p15:clr>
            <a:srgbClr val="FBAE40"/>
          </p15:clr>
        </p15:guide>
        <p15:guide id="4" pos="272">
          <p15:clr>
            <a:srgbClr val="FBAE40"/>
          </p15:clr>
        </p15:guide>
        <p15:guide id="5" orient="horz" pos="112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서브">
  <p:cSld name="서브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8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83" y="2905"/>
            <a:ext cx="9914592" cy="6856157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81"/>
          <p:cNvSpPr/>
          <p:nvPr/>
        </p:nvSpPr>
        <p:spPr>
          <a:xfrm>
            <a:off x="4707015" y="6445750"/>
            <a:ext cx="491968" cy="160279"/>
          </a:xfrm>
          <a:prstGeom prst="roundRect">
            <a:avLst>
              <a:gd fmla="val 50000" name="adj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794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794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" name="Google Shape;51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45139" y="561957"/>
            <a:ext cx="1106500" cy="300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51640" y="158208"/>
            <a:ext cx="1375505" cy="807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1"/>
          <p:cNvSpPr txBox="1"/>
          <p:nvPr/>
        </p:nvSpPr>
        <p:spPr>
          <a:xfrm>
            <a:off x="1781336" y="6417307"/>
            <a:ext cx="2550410" cy="2280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>
                <a:solidFill>
                  <a:srgbClr val="00346E"/>
                </a:solidFill>
                <a:latin typeface="Arial"/>
                <a:ea typeface="Arial"/>
                <a:cs typeface="Arial"/>
                <a:sym typeface="Arial"/>
              </a:rPr>
              <a:t>차세대 발행물 시스템 및 동영상 미디어 플랫폼 구축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975">
          <p15:clr>
            <a:srgbClr val="FBAE40"/>
          </p15:clr>
        </p15:guide>
        <p15:guide id="2" orient="horz" pos="4490">
          <p15:clr>
            <a:srgbClr val="FBAE40"/>
          </p15:clr>
        </p15:guide>
        <p15:guide id="3" pos="328">
          <p15:clr>
            <a:srgbClr val="FBAE40"/>
          </p15:clr>
        </p15:guide>
        <p15:guide id="4" pos="6543">
          <p15:clr>
            <a:srgbClr val="FBAE40"/>
          </p15:clr>
        </p15:guide>
        <p15:guide id="5" orient="horz" pos="1179">
          <p15:clr>
            <a:srgbClr val="FBAE40"/>
          </p15:clr>
        </p15:guide>
        <p15:guide id="6" orient="horz" pos="13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showMasterSp="0" type="title">
  <p:cSld name="TITLE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Google Shape;64;g3fa6d84c7bd_1_3099"/>
          <p:cNvCxnSpPr/>
          <p:nvPr/>
        </p:nvCxnSpPr>
        <p:spPr>
          <a:xfrm>
            <a:off x="457200" y="2774578"/>
            <a:ext cx="9112200" cy="6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5" name="Google Shape;65;g3fa6d84c7bd_1_309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4528" y="521197"/>
            <a:ext cx="2520000" cy="3757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11" id="66" name="Google Shape;66;g3fa6d84c7bd_1_30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0208" y="6237312"/>
            <a:ext cx="1109242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g3fa6d84c7bd_1_3099"/>
          <p:cNvSpPr/>
          <p:nvPr/>
        </p:nvSpPr>
        <p:spPr>
          <a:xfrm>
            <a:off x="3200400" y="1379049"/>
            <a:ext cx="6419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차세대발행물시스템 및 동영상미디어플랫폼 구축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>
  <p:cSld name="제목만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및 내용">
  <p:cSld name="1_제목 및 내용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Google Shape;71;g3fa6d84c7bd_1_3106"/>
          <p:cNvCxnSpPr/>
          <p:nvPr/>
        </p:nvCxnSpPr>
        <p:spPr>
          <a:xfrm>
            <a:off x="1856656" y="629832"/>
            <a:ext cx="8028000" cy="11400"/>
          </a:xfrm>
          <a:prstGeom prst="straightConnector1">
            <a:avLst/>
          </a:prstGeom>
          <a:noFill/>
          <a:ln cap="flat" cmpd="sng" w="4127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g3fa6d84c7bd_1_3106"/>
          <p:cNvSpPr txBox="1"/>
          <p:nvPr>
            <p:ph idx="12" type="sldNum"/>
          </p:nvPr>
        </p:nvSpPr>
        <p:spPr>
          <a:xfrm>
            <a:off x="3793728" y="6448253"/>
            <a:ext cx="2311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spcBef>
                <a:spcPts val="0"/>
              </a:spcBef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spcBef>
                <a:spcPts val="0"/>
              </a:spcBef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spcBef>
                <a:spcPts val="0"/>
              </a:spcBef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spcBef>
                <a:spcPts val="0"/>
              </a:spcBef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spcBef>
                <a:spcPts val="0"/>
              </a:spcBef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spcBef>
                <a:spcPts val="0"/>
              </a:spcBef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spcBef>
                <a:spcPts val="0"/>
              </a:spcBef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spcBef>
                <a:spcPts val="0"/>
              </a:spcBef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3" name="Google Shape;73;g3fa6d84c7bd_1_3106"/>
          <p:cNvCxnSpPr/>
          <p:nvPr/>
        </p:nvCxnSpPr>
        <p:spPr>
          <a:xfrm>
            <a:off x="1" y="629832"/>
            <a:ext cx="2648700" cy="0"/>
          </a:xfrm>
          <a:prstGeom prst="straightConnector1">
            <a:avLst/>
          </a:prstGeom>
          <a:noFill/>
          <a:ln cap="flat" cmpd="sng" w="4127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a6d84c7bd_1_3110"/>
          <p:cNvSpPr txBox="1"/>
          <p:nvPr>
            <p:ph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g3fa6d84c7bd_1_3110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g3fa6d84c7bd_1_3110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g3fa6d84c7bd_1_3110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g3fa6d84c7bd_1_3110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만">
  <p:cSld name="1_제목만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4. 타이틀">
  <p:cSld name="1_4. 타이틀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g3fa6d84c7bd_1_31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44" y="2"/>
            <a:ext cx="9900546" cy="68579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" name="Google Shape;83;g3fa6d84c7bd_1_3117"/>
          <p:cNvCxnSpPr/>
          <p:nvPr/>
        </p:nvCxnSpPr>
        <p:spPr>
          <a:xfrm>
            <a:off x="0" y="914012"/>
            <a:ext cx="8322000" cy="0"/>
          </a:xfrm>
          <a:prstGeom prst="straightConnector1">
            <a:avLst/>
          </a:prstGeom>
          <a:noFill/>
          <a:ln cap="flat" cmpd="sng" w="9525">
            <a:solidFill>
              <a:srgbClr val="7C8A94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4" name="Google Shape;84;g3fa6d84c7bd_1_3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5865" y="6612761"/>
            <a:ext cx="703874" cy="131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g3fa6d84c7bd_1_31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9620" y="6616308"/>
            <a:ext cx="1105544" cy="128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g3fa6d84c7bd_1_31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67445" y="6650210"/>
            <a:ext cx="1190883" cy="9797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g3fa6d84c7bd_1_3117"/>
          <p:cNvSpPr/>
          <p:nvPr/>
        </p:nvSpPr>
        <p:spPr>
          <a:xfrm>
            <a:off x="1517143" y="6650744"/>
            <a:ext cx="13200" cy="84900"/>
          </a:xfrm>
          <a:prstGeom prst="rect">
            <a:avLst/>
          </a:prstGeom>
          <a:solidFill>
            <a:srgbClr val="83838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3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" name="Google Shape;88;g3fa6d84c7bd_1_3117"/>
          <p:cNvCxnSpPr/>
          <p:nvPr/>
        </p:nvCxnSpPr>
        <p:spPr>
          <a:xfrm>
            <a:off x="5" y="6547548"/>
            <a:ext cx="9906000" cy="0"/>
          </a:xfrm>
          <a:prstGeom prst="straightConnector1">
            <a:avLst/>
          </a:prstGeom>
          <a:noFill/>
          <a:ln cap="flat" cmpd="sng" w="9525">
            <a:solidFill>
              <a:srgbClr val="AFBF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g3fa6d84c7bd_1_3117"/>
          <p:cNvSpPr/>
          <p:nvPr/>
        </p:nvSpPr>
        <p:spPr>
          <a:xfrm>
            <a:off x="4690901" y="6600949"/>
            <a:ext cx="524100" cy="1827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7">
                <a:solidFill>
                  <a:srgbClr val="3293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7">
              <a:solidFill>
                <a:srgbClr val="3293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" name="Google Shape;90;g3fa6d84c7bd_1_3117"/>
          <p:cNvGrpSpPr/>
          <p:nvPr/>
        </p:nvGrpSpPr>
        <p:grpSpPr>
          <a:xfrm>
            <a:off x="697" y="886288"/>
            <a:ext cx="9907516" cy="392653"/>
            <a:chOff x="14742949" y="2441653"/>
            <a:chExt cx="4577700" cy="814802"/>
          </a:xfrm>
        </p:grpSpPr>
        <p:sp>
          <p:nvSpPr>
            <p:cNvPr descr="어두운 상향 대각선" id="91" name="Google Shape;91;g3fa6d84c7bd_1_3117"/>
            <p:cNvSpPr/>
            <p:nvPr/>
          </p:nvSpPr>
          <p:spPr>
            <a:xfrm>
              <a:off x="14742949" y="2441655"/>
              <a:ext cx="4577700" cy="814800"/>
            </a:xfrm>
            <a:prstGeom prst="rect">
              <a:avLst/>
            </a:prstGeom>
            <a:gradFill>
              <a:gsLst>
                <a:gs pos="0">
                  <a:srgbClr val="384A8C"/>
                </a:gs>
                <a:gs pos="100000">
                  <a:srgbClr val="00255E"/>
                </a:gs>
              </a:gsLst>
              <a:lin ang="0" scaled="0"/>
            </a:gradFill>
            <a:ln>
              <a:noFill/>
            </a:ln>
            <a:effectLst>
              <a:outerShdw blurRad="50800" rotWithShape="0" algn="tl" dir="2700000" dist="50800">
                <a:srgbClr val="000000">
                  <a:alpha val="23137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33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descr="어두운 상향 대각선" id="92" name="Google Shape;92;g3fa6d84c7bd_1_3117"/>
            <p:cNvSpPr/>
            <p:nvPr/>
          </p:nvSpPr>
          <p:spPr>
            <a:xfrm>
              <a:off x="14742949" y="2441653"/>
              <a:ext cx="1263740" cy="814681"/>
            </a:xfrm>
            <a:custGeom>
              <a:rect b="b" l="l" r="r" t="t"/>
              <a:pathLst>
                <a:path extrusionOk="0" h="756084" w="972108">
                  <a:moveTo>
                    <a:pt x="0" y="0"/>
                  </a:moveTo>
                  <a:lnTo>
                    <a:pt x="972108" y="756084"/>
                  </a:lnTo>
                  <a:lnTo>
                    <a:pt x="0" y="75608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384A8C"/>
                </a:gs>
                <a:gs pos="100000">
                  <a:srgbClr val="062962"/>
                </a:gs>
              </a:gsLst>
              <a:lin ang="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902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5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6452">
          <p15:clr>
            <a:srgbClr val="FBAE40"/>
          </p15:clr>
        </p15:guide>
        <p15:guide id="2" orient="horz" pos="4354">
          <p15:clr>
            <a:srgbClr val="FBAE40"/>
          </p15:clr>
        </p15:guide>
        <p15:guide id="3" orient="horz" pos="1331">
          <p15:clr>
            <a:srgbClr val="FBAE40"/>
          </p15:clr>
        </p15:guide>
        <p15:guide id="4" pos="272">
          <p15:clr>
            <a:srgbClr val="FBAE40"/>
          </p15:clr>
        </p15:guide>
        <p15:guide id="5" orient="horz" pos="1128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서브">
  <p:cSld name="서브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g3fa6d84c7bd_1_31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83" y="2905"/>
            <a:ext cx="9914593" cy="6856156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g3fa6d84c7bd_1_3129"/>
          <p:cNvSpPr/>
          <p:nvPr/>
        </p:nvSpPr>
        <p:spPr>
          <a:xfrm>
            <a:off x="4707015" y="6445750"/>
            <a:ext cx="492000" cy="160200"/>
          </a:xfrm>
          <a:prstGeom prst="roundRect">
            <a:avLst>
              <a:gd fmla="val 50000" name="adj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794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794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g3fa6d84c7bd_1_31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45139" y="561957"/>
            <a:ext cx="1106500" cy="300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g3fa6d84c7bd_1_31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51640" y="158208"/>
            <a:ext cx="1375505" cy="807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3fa6d84c7bd_1_3129"/>
          <p:cNvSpPr txBox="1"/>
          <p:nvPr/>
        </p:nvSpPr>
        <p:spPr>
          <a:xfrm>
            <a:off x="1781336" y="6417307"/>
            <a:ext cx="25503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>
                <a:solidFill>
                  <a:srgbClr val="00346E"/>
                </a:solidFill>
                <a:latin typeface="Arial"/>
                <a:ea typeface="Arial"/>
                <a:cs typeface="Arial"/>
                <a:sym typeface="Arial"/>
              </a:rPr>
              <a:t>차세대 발행물 시스템 및 동영상 미디어 플랫폼 구축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975">
          <p15:clr>
            <a:srgbClr val="FBAE40"/>
          </p15:clr>
        </p15:guide>
        <p15:guide id="2" orient="horz" pos="4490">
          <p15:clr>
            <a:srgbClr val="FBAE40"/>
          </p15:clr>
        </p15:guide>
        <p15:guide id="3" pos="328">
          <p15:clr>
            <a:srgbClr val="FBAE40"/>
          </p15:clr>
        </p15:guide>
        <p15:guide id="4" pos="6543">
          <p15:clr>
            <a:srgbClr val="FBAE40"/>
          </p15:clr>
        </p15:guide>
        <p15:guide id="5" orient="horz" pos="1179">
          <p15:clr>
            <a:srgbClr val="FBAE40"/>
          </p15:clr>
        </p15:guide>
        <p15:guide id="6" orient="horz" pos="136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및 내용 1">
  <p:cSld name="1_제목 및 내용 (g3fa6d84c7bd_43_0)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a6d84c7bd_1_3184"/>
          <p:cNvSpPr txBox="1"/>
          <p:nvPr>
            <p:ph idx="12" type="sldNum"/>
          </p:nvPr>
        </p:nvSpPr>
        <p:spPr>
          <a:xfrm>
            <a:off x="3793728" y="6448253"/>
            <a:ext cx="2311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spcBef>
                <a:spcPts val="0"/>
              </a:spcBef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spcBef>
                <a:spcPts val="0"/>
              </a:spcBef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spcBef>
                <a:spcPts val="0"/>
              </a:spcBef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spcBef>
                <a:spcPts val="0"/>
              </a:spcBef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spcBef>
                <a:spcPts val="0"/>
              </a:spcBef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spcBef>
                <a:spcPts val="0"/>
              </a:spcBef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spcBef>
                <a:spcPts val="0"/>
              </a:spcBef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spcBef>
                <a:spcPts val="0"/>
              </a:spcBef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및 내용 1 1">
  <p:cSld name="1_제목 및 내용 (g3fa6d84c7bd_8_0)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a6d84c7bd_1_3186"/>
          <p:cNvSpPr txBox="1"/>
          <p:nvPr>
            <p:ph idx="12" type="sldNum"/>
          </p:nvPr>
        </p:nvSpPr>
        <p:spPr>
          <a:xfrm>
            <a:off x="3793728" y="6448253"/>
            <a:ext cx="2311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spcBef>
                <a:spcPts val="0"/>
              </a:spcBef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spcBef>
                <a:spcPts val="0"/>
              </a:spcBef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spcBef>
                <a:spcPts val="0"/>
              </a:spcBef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spcBef>
                <a:spcPts val="0"/>
              </a:spcBef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spcBef>
                <a:spcPts val="0"/>
              </a:spcBef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spcBef>
                <a:spcPts val="0"/>
              </a:spcBef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spcBef>
                <a:spcPts val="0"/>
              </a:spcBef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spcBef>
                <a:spcPts val="0"/>
              </a:spcBef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8.xml"/><Relationship Id="rId9" Type="http://schemas.openxmlformats.org/officeDocument/2006/relationships/slideLayout" Target="../slideLayouts/slideLayout7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6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8.xml"/><Relationship Id="rId1" Type="http://schemas.openxmlformats.org/officeDocument/2006/relationships/image" Target="../media/image2.png"/><Relationship Id="rId2" Type="http://schemas.openxmlformats.org/officeDocument/2006/relationships/image" Target="../media/image3.jpg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73"/>
          <p:cNvCxnSpPr/>
          <p:nvPr/>
        </p:nvCxnSpPr>
        <p:spPr>
          <a:xfrm>
            <a:off x="415925" y="641350"/>
            <a:ext cx="8988425" cy="0"/>
          </a:xfrm>
          <a:prstGeom prst="straightConnector1">
            <a:avLst/>
          </a:prstGeom>
          <a:noFill/>
          <a:ln cap="flat" cmpd="thinThick" w="349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" name="Google Shape;11;p73"/>
          <p:cNvCxnSpPr/>
          <p:nvPr/>
        </p:nvCxnSpPr>
        <p:spPr>
          <a:xfrm>
            <a:off x="415925" y="641350"/>
            <a:ext cx="8988425" cy="0"/>
          </a:xfrm>
          <a:prstGeom prst="straightConnector1">
            <a:avLst/>
          </a:prstGeom>
          <a:noFill/>
          <a:ln cap="flat" cmpd="thinThick" w="349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" name="Google Shape;12;p73"/>
          <p:cNvSpPr txBox="1"/>
          <p:nvPr/>
        </p:nvSpPr>
        <p:spPr>
          <a:xfrm>
            <a:off x="344488" y="222250"/>
            <a:ext cx="3296095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차세대발행물시스템 및 동영상미디어플랫폼 구축</a:t>
            </a:r>
            <a:endParaRPr/>
          </a:p>
        </p:txBody>
      </p:sp>
      <p:sp>
        <p:nvSpPr>
          <p:cNvPr id="13" name="Google Shape;13;p73"/>
          <p:cNvSpPr txBox="1"/>
          <p:nvPr/>
        </p:nvSpPr>
        <p:spPr>
          <a:xfrm>
            <a:off x="4760913" y="6488113"/>
            <a:ext cx="485775" cy="260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</a:t>
            </a:r>
            <a:fld id="{00000000-1234-1234-1234-123412341234}" type="slidenum"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</a:t>
            </a:r>
            <a:endParaRPr/>
          </a:p>
        </p:txBody>
      </p:sp>
      <p:cxnSp>
        <p:nvCxnSpPr>
          <p:cNvPr id="14" name="Google Shape;14;p73"/>
          <p:cNvCxnSpPr/>
          <p:nvPr/>
        </p:nvCxnSpPr>
        <p:spPr>
          <a:xfrm>
            <a:off x="403225" y="6419850"/>
            <a:ext cx="8988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" name="Google Shape;15;p7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44488" y="6502798"/>
            <a:ext cx="1908000" cy="2845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11" id="16" name="Google Shape;16;p7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08254" y="6526002"/>
            <a:ext cx="1109242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73"/>
          <p:cNvSpPr txBox="1"/>
          <p:nvPr/>
        </p:nvSpPr>
        <p:spPr>
          <a:xfrm>
            <a:off x="8279859" y="188913"/>
            <a:ext cx="117211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아키텍처정의서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g3fa6d84c7bd_1_3090"/>
          <p:cNvCxnSpPr/>
          <p:nvPr/>
        </p:nvCxnSpPr>
        <p:spPr>
          <a:xfrm>
            <a:off x="415925" y="641350"/>
            <a:ext cx="8988300" cy="0"/>
          </a:xfrm>
          <a:prstGeom prst="straightConnector1">
            <a:avLst/>
          </a:prstGeom>
          <a:noFill/>
          <a:ln cap="flat" cmpd="thinThick" w="349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" name="Google Shape;56;g3fa6d84c7bd_1_3090"/>
          <p:cNvCxnSpPr/>
          <p:nvPr/>
        </p:nvCxnSpPr>
        <p:spPr>
          <a:xfrm>
            <a:off x="415925" y="641350"/>
            <a:ext cx="8988300" cy="0"/>
          </a:xfrm>
          <a:prstGeom prst="straightConnector1">
            <a:avLst/>
          </a:prstGeom>
          <a:noFill/>
          <a:ln cap="flat" cmpd="thinThick" w="349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" name="Google Shape;57;g3fa6d84c7bd_1_3090"/>
          <p:cNvSpPr txBox="1"/>
          <p:nvPr/>
        </p:nvSpPr>
        <p:spPr>
          <a:xfrm>
            <a:off x="344488" y="222250"/>
            <a:ext cx="3296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차세대발행물시스템 및 동영상미디어플랫폼 구축</a:t>
            </a:r>
            <a:endParaRPr/>
          </a:p>
        </p:txBody>
      </p:sp>
      <p:sp>
        <p:nvSpPr>
          <p:cNvPr id="58" name="Google Shape;58;g3fa6d84c7bd_1_3090"/>
          <p:cNvSpPr txBox="1"/>
          <p:nvPr/>
        </p:nvSpPr>
        <p:spPr>
          <a:xfrm>
            <a:off x="4760913" y="6488113"/>
            <a:ext cx="485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</a:t>
            </a:r>
            <a:fld id="{00000000-1234-1234-1234-123412341234}" type="slidenum"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</a:t>
            </a:r>
            <a:endParaRPr/>
          </a:p>
        </p:txBody>
      </p:sp>
      <p:cxnSp>
        <p:nvCxnSpPr>
          <p:cNvPr id="59" name="Google Shape;59;g3fa6d84c7bd_1_3090"/>
          <p:cNvCxnSpPr/>
          <p:nvPr/>
        </p:nvCxnSpPr>
        <p:spPr>
          <a:xfrm>
            <a:off x="403225" y="6419850"/>
            <a:ext cx="89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0" name="Google Shape;60;g3fa6d84c7bd_1_309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44488" y="6502798"/>
            <a:ext cx="1908000" cy="2845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11" id="61" name="Google Shape;61;g3fa6d84c7bd_1_309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08254" y="6526002"/>
            <a:ext cx="1109242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g3fa6d84c7bd_1_3090"/>
          <p:cNvSpPr txBox="1"/>
          <p:nvPr/>
        </p:nvSpPr>
        <p:spPr>
          <a:xfrm>
            <a:off x="8279859" y="188913"/>
            <a:ext cx="1172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아키텍처정의서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.png"/><Relationship Id="rId10" Type="http://schemas.openxmlformats.org/officeDocument/2006/relationships/image" Target="../media/image18.png"/><Relationship Id="rId13" Type="http://schemas.openxmlformats.org/officeDocument/2006/relationships/image" Target="../media/image22.png"/><Relationship Id="rId1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12.png"/><Relationship Id="rId9" Type="http://schemas.openxmlformats.org/officeDocument/2006/relationships/image" Target="../media/image13.png"/><Relationship Id="rId14" Type="http://schemas.openxmlformats.org/officeDocument/2006/relationships/image" Target="../media/image23.png"/><Relationship Id="rId5" Type="http://schemas.openxmlformats.org/officeDocument/2006/relationships/image" Target="../media/image11.png"/><Relationship Id="rId6" Type="http://schemas.openxmlformats.org/officeDocument/2006/relationships/image" Target="../media/image21.png"/><Relationship Id="rId7" Type="http://schemas.openxmlformats.org/officeDocument/2006/relationships/image" Target="../media/image15.png"/><Relationship Id="rId8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jp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35.png"/><Relationship Id="rId10" Type="http://schemas.openxmlformats.org/officeDocument/2006/relationships/image" Target="../media/image37.png"/><Relationship Id="rId13" Type="http://schemas.openxmlformats.org/officeDocument/2006/relationships/image" Target="../media/image33.png"/><Relationship Id="rId12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9" Type="http://schemas.openxmlformats.org/officeDocument/2006/relationships/image" Target="../media/image34.png"/><Relationship Id="rId14" Type="http://schemas.openxmlformats.org/officeDocument/2006/relationships/image" Target="../media/image38.png"/><Relationship Id="rId5" Type="http://schemas.openxmlformats.org/officeDocument/2006/relationships/image" Target="../media/image31.png"/><Relationship Id="rId6" Type="http://schemas.openxmlformats.org/officeDocument/2006/relationships/image" Target="../media/image28.png"/><Relationship Id="rId7" Type="http://schemas.openxmlformats.org/officeDocument/2006/relationships/image" Target="../media/image32.png"/><Relationship Id="rId8" Type="http://schemas.openxmlformats.org/officeDocument/2006/relationships/image" Target="../media/image3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9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39.png"/><Relationship Id="rId6" Type="http://schemas.openxmlformats.org/officeDocument/2006/relationships/image" Target="../media/image24.jpg"/><Relationship Id="rId7" Type="http://schemas.openxmlformats.org/officeDocument/2006/relationships/image" Target="../media/image4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3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9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4.jpg"/><Relationship Id="rId7" Type="http://schemas.openxmlformats.org/officeDocument/2006/relationships/image" Target="../media/image4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9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4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3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3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5.png"/><Relationship Id="rId7" Type="http://schemas.openxmlformats.org/officeDocument/2006/relationships/image" Target="../media/image4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0.png"/><Relationship Id="rId4" Type="http://schemas.openxmlformats.org/officeDocument/2006/relationships/image" Target="../media/image14.png"/><Relationship Id="rId5" Type="http://schemas.openxmlformats.org/officeDocument/2006/relationships/image" Target="../media/image22.png"/><Relationship Id="rId6" Type="http://schemas.openxmlformats.org/officeDocument/2006/relationships/image" Target="../media/image57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4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4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61.png"/><Relationship Id="rId4" Type="http://schemas.openxmlformats.org/officeDocument/2006/relationships/image" Target="../media/image55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9.png"/><Relationship Id="rId4" Type="http://schemas.openxmlformats.org/officeDocument/2006/relationships/image" Target="../media/image60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2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56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53.png"/><Relationship Id="rId4" Type="http://schemas.openxmlformats.org/officeDocument/2006/relationships/image" Target="../media/image58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49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48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5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"/>
          <p:cNvSpPr/>
          <p:nvPr/>
        </p:nvSpPr>
        <p:spPr>
          <a:xfrm>
            <a:off x="3666688" y="2247949"/>
            <a:ext cx="594179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아키텍처 정의서(AA)</a:t>
            </a:r>
            <a:endParaRPr/>
          </a:p>
        </p:txBody>
      </p:sp>
      <p:sp>
        <p:nvSpPr>
          <p:cNvPr id="108" name="Google Shape;108;p1"/>
          <p:cNvSpPr txBox="1"/>
          <p:nvPr/>
        </p:nvSpPr>
        <p:spPr>
          <a:xfrm>
            <a:off x="9070205" y="116632"/>
            <a:ext cx="607859" cy="26161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대외비</a:t>
            </a:r>
            <a:endParaRPr/>
          </a:p>
        </p:txBody>
      </p:sp>
      <p:sp>
        <p:nvSpPr>
          <p:cNvPr id="109" name="Google Shape;109;p1"/>
          <p:cNvSpPr/>
          <p:nvPr/>
        </p:nvSpPr>
        <p:spPr>
          <a:xfrm>
            <a:off x="5115234" y="2776587"/>
            <a:ext cx="4445000" cy="1660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설계 단계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NPM-DE-IS-AA-004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 0.1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" name="Google Shape;115;p2"/>
          <p:cNvGraphicFramePr/>
          <p:nvPr/>
        </p:nvGraphicFramePr>
        <p:xfrm>
          <a:off x="415926" y="117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{9216E51F-281C-4444-9FEC-27A87119D8F7}</a:tableStyleId>
              </a:tblPr>
              <a:tblGrid>
                <a:gridCol w="1115475"/>
                <a:gridCol w="1201600"/>
                <a:gridCol w="4312300"/>
                <a:gridCol w="1185875"/>
                <a:gridCol w="1185875"/>
              </a:tblGrid>
              <a:tr h="142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버전 번호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변경 요약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승인자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D4D4"/>
                    </a:solidFill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Ver 0.2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2026.07.20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초안 작성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박하영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이현진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7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6" name="Google Shape;116;p2"/>
          <p:cNvSpPr/>
          <p:nvPr/>
        </p:nvSpPr>
        <p:spPr>
          <a:xfrm>
            <a:off x="476250" y="712788"/>
            <a:ext cx="8866188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sng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문서 변경 이력</a:t>
            </a:r>
            <a:endParaRPr b="0" i="0" sz="1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/>
          <p:nvPr/>
        </p:nvSpPr>
        <p:spPr>
          <a:xfrm>
            <a:off x="4481139" y="857794"/>
            <a:ext cx="94372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sng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    차</a:t>
            </a:r>
            <a:endParaRPr b="0" i="0" sz="1800" u="sng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7685417" y="1251936"/>
            <a:ext cx="475481" cy="4135354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/>
          </a:p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/>
          </a:p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/>
          </a:p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/>
          </a:p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b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b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  <a:endParaRPr/>
          </a:p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  <a:b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11</a:t>
            </a:r>
            <a:b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12</a:t>
            </a:r>
            <a:b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13</a:t>
            </a:r>
            <a:b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14</a:t>
            </a:r>
            <a:b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14</a:t>
            </a:r>
            <a:endParaRPr/>
          </a:p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15</a:t>
            </a:r>
            <a:b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16</a:t>
            </a:r>
            <a:endParaRPr/>
          </a:p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19</a:t>
            </a:r>
            <a:endParaRPr/>
          </a:p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</a:t>
            </a:r>
            <a:endParaRPr/>
          </a:p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21</a:t>
            </a:r>
            <a:endParaRPr/>
          </a:p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24" name="Google Shape;124;p3"/>
          <p:cNvCxnSpPr/>
          <p:nvPr/>
        </p:nvCxnSpPr>
        <p:spPr>
          <a:xfrm>
            <a:off x="2420471" y="1571494"/>
            <a:ext cx="546766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5" name="Google Shape;125;p3"/>
          <p:cNvCxnSpPr/>
          <p:nvPr/>
        </p:nvCxnSpPr>
        <p:spPr>
          <a:xfrm>
            <a:off x="1839459" y="1370406"/>
            <a:ext cx="6048672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6" name="Google Shape;126;p3"/>
          <p:cNvCxnSpPr/>
          <p:nvPr/>
        </p:nvCxnSpPr>
        <p:spPr>
          <a:xfrm>
            <a:off x="2402884" y="1973670"/>
            <a:ext cx="545890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7" name="Google Shape;127;p3"/>
          <p:cNvCxnSpPr/>
          <p:nvPr/>
        </p:nvCxnSpPr>
        <p:spPr>
          <a:xfrm>
            <a:off x="3322040" y="1772816"/>
            <a:ext cx="4539751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8" name="Google Shape;128;p3"/>
          <p:cNvCxnSpPr/>
          <p:nvPr/>
        </p:nvCxnSpPr>
        <p:spPr>
          <a:xfrm>
            <a:off x="2912841" y="2174758"/>
            <a:ext cx="4970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9" name="Google Shape;129;p3"/>
          <p:cNvCxnSpPr/>
          <p:nvPr/>
        </p:nvCxnSpPr>
        <p:spPr>
          <a:xfrm>
            <a:off x="3008784" y="2375846"/>
            <a:ext cx="487934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0" name="Google Shape;130;p3"/>
          <p:cNvCxnSpPr/>
          <p:nvPr/>
        </p:nvCxnSpPr>
        <p:spPr>
          <a:xfrm>
            <a:off x="2709644" y="2576934"/>
            <a:ext cx="51784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1" name="Google Shape;131;p3"/>
          <p:cNvCxnSpPr/>
          <p:nvPr/>
        </p:nvCxnSpPr>
        <p:spPr>
          <a:xfrm>
            <a:off x="3087149" y="2778022"/>
            <a:ext cx="481869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2" name="Google Shape;132;p3"/>
          <p:cNvCxnSpPr/>
          <p:nvPr/>
        </p:nvCxnSpPr>
        <p:spPr>
          <a:xfrm>
            <a:off x="2623577" y="2987499"/>
            <a:ext cx="5281332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33" name="Google Shape;133;p3"/>
          <p:cNvSpPr/>
          <p:nvPr/>
        </p:nvSpPr>
        <p:spPr>
          <a:xfrm>
            <a:off x="1142774" y="1238040"/>
            <a:ext cx="4198147" cy="37487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80975" lvl="0" marL="180975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algun Gothic"/>
              <a:buAutoNum type="arabicPeriod"/>
            </a:pPr>
            <a:r>
              <a:rPr b="1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개요</a:t>
            </a:r>
            <a:endParaRPr b="1"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180975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1.1 문서 목적</a:t>
            </a:r>
            <a:endParaRPr b="0"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180975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1.2 차세대발행물 시스템 논리 구성도</a:t>
            </a:r>
            <a:endParaRPr b="0"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아키텍처 설계</a:t>
            </a:r>
            <a:endParaRPr b="1"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180975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2.1 아키텍처 설계 원칙</a:t>
            </a:r>
            <a:endParaRPr b="0"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180975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2.2 차세대발행물 시스템 구성도</a:t>
            </a:r>
            <a:endParaRPr b="0"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아키텍처 구현 방안</a:t>
            </a:r>
            <a:endParaRPr b="1"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180975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3.1 프레임워크 아키텍처 </a:t>
            </a:r>
            <a:endParaRPr b="0"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180975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3.2 통합 본인인증</a:t>
            </a:r>
            <a:endParaRPr b="0"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180975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3.2.1 네이버 본인인증</a:t>
            </a:r>
            <a:endParaRPr b="0"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180975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3.2.2 카카오 본인인증</a:t>
            </a:r>
            <a:endParaRPr b="0"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180975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3.3 기타 연계방안</a:t>
            </a:r>
            <a:endParaRPr b="0"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180975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3.3.1 RD 모듈 실행 아키텍처</a:t>
            </a:r>
            <a:endParaRPr b="0"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180975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3.3.2 </a:t>
            </a:r>
            <a: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공전소 연계방안</a:t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180975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3.3.3 웹구간 암호화</a:t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180975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3.3.4 관리자 페이지</a:t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180975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3.3.5 로컬 캐시 사용</a:t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180975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3.4 운영계 배포 방안 </a:t>
            </a:r>
            <a:endParaRPr b="0"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34" name="Google Shape;134;p3"/>
          <p:cNvCxnSpPr/>
          <p:nvPr/>
        </p:nvCxnSpPr>
        <p:spPr>
          <a:xfrm>
            <a:off x="3489820" y="3782086"/>
            <a:ext cx="439873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5" name="Google Shape;135;p3"/>
          <p:cNvCxnSpPr/>
          <p:nvPr/>
        </p:nvCxnSpPr>
        <p:spPr>
          <a:xfrm>
            <a:off x="3008784" y="3989721"/>
            <a:ext cx="487137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6" name="Google Shape;136;p3"/>
          <p:cNvCxnSpPr/>
          <p:nvPr/>
        </p:nvCxnSpPr>
        <p:spPr>
          <a:xfrm>
            <a:off x="3008784" y="4192460"/>
            <a:ext cx="4904811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7" name="Google Shape;137;p3"/>
          <p:cNvCxnSpPr/>
          <p:nvPr/>
        </p:nvCxnSpPr>
        <p:spPr>
          <a:xfrm>
            <a:off x="3008784" y="4404991"/>
            <a:ext cx="489654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8" name="Google Shape;138;p3"/>
          <p:cNvCxnSpPr/>
          <p:nvPr/>
        </p:nvCxnSpPr>
        <p:spPr>
          <a:xfrm>
            <a:off x="3008784" y="4599341"/>
            <a:ext cx="489654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9" name="Google Shape;139;p3"/>
          <p:cNvCxnSpPr/>
          <p:nvPr/>
        </p:nvCxnSpPr>
        <p:spPr>
          <a:xfrm>
            <a:off x="2912841" y="4798587"/>
            <a:ext cx="49924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0" name="Google Shape;140;p3"/>
          <p:cNvCxnSpPr/>
          <p:nvPr/>
        </p:nvCxnSpPr>
        <p:spPr>
          <a:xfrm>
            <a:off x="2623577" y="3589139"/>
            <a:ext cx="526497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1" name="Google Shape;141;p3"/>
          <p:cNvCxnSpPr/>
          <p:nvPr/>
        </p:nvCxnSpPr>
        <p:spPr>
          <a:xfrm>
            <a:off x="3008784" y="3387803"/>
            <a:ext cx="4879766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2" name="Google Shape;142;p3"/>
          <p:cNvCxnSpPr/>
          <p:nvPr/>
        </p:nvCxnSpPr>
        <p:spPr>
          <a:xfrm>
            <a:off x="3008784" y="3186467"/>
            <a:ext cx="4879766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43" name="Google Shape;143;p3"/>
          <p:cNvSpPr/>
          <p:nvPr/>
        </p:nvSpPr>
        <p:spPr>
          <a:xfrm>
            <a:off x="1350488" y="1390697"/>
            <a:ext cx="5934808" cy="3071538"/>
          </a:xfrm>
          <a:prstGeom prst="rect">
            <a:avLst/>
          </a:prstGeom>
          <a:solidFill>
            <a:srgbClr val="E7E7F9"/>
          </a:solidFill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업데이트예정임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"/>
          <p:cNvSpPr/>
          <p:nvPr/>
        </p:nvSpPr>
        <p:spPr>
          <a:xfrm>
            <a:off x="415641" y="2095115"/>
            <a:ext cx="1596899" cy="3749871"/>
          </a:xfrm>
          <a:prstGeom prst="roundRect">
            <a:avLst>
              <a:gd fmla="val 9171" name="adj"/>
            </a:avLst>
          </a:prstGeom>
          <a:solidFill>
            <a:srgbClr val="B3B3B3"/>
          </a:solidFill>
          <a:ln>
            <a:noFill/>
          </a:ln>
        </p:spPr>
        <p:txBody>
          <a:bodyPr anchorCtr="0" anchor="ctr" bIns="35975" lIns="71975" spcFirstLastPara="1" rIns="71975" wrap="square" tIns="719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614887" y="2381985"/>
            <a:ext cx="1926535" cy="69881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  <a:effectLst>
            <a:outerShdw rotWithShape="0" algn="ctr" dir="2700000" dist="35921">
              <a:srgbClr val="999999"/>
            </a:outerShdw>
          </a:effectLst>
        </p:spPr>
        <p:txBody>
          <a:bodyPr anchorCtr="0" anchor="ctr" bIns="46775" lIns="179950" spcFirstLastPara="1" rIns="179950" wrap="square" tIns="4677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문서의 목적</a:t>
            </a:r>
            <a:endParaRPr/>
          </a:p>
        </p:txBody>
      </p:sp>
      <p:sp>
        <p:nvSpPr>
          <p:cNvPr id="150" name="Google Shape;150;p4"/>
          <p:cNvSpPr/>
          <p:nvPr/>
        </p:nvSpPr>
        <p:spPr>
          <a:xfrm>
            <a:off x="2674742" y="2273388"/>
            <a:ext cx="6382714" cy="916011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36000" spcFirstLastPara="1" rIns="36000" wrap="square" tIns="36000">
            <a:spAutoFit/>
          </a:bodyPr>
          <a:lstStyle/>
          <a:p>
            <a:pPr indent="-171450" lvl="1" marL="1714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차세대 발행물 시스템 및 동영상 미디어 플랫폼 응용 아키텍처에 대한 설계를 통해 안정적인 시스템 구축을 수행할 수 있도록 함</a:t>
            </a:r>
            <a:endParaRPr b="0"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1" marL="171450" marR="0" rtl="0" algn="l">
              <a:lnSpc>
                <a:spcPct val="120000"/>
              </a:lnSpc>
              <a:spcBef>
                <a:spcPts val="33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차세대 시스템의 아키텍처 구축 시 적용할 중요 아키텍처 의사결정, 방향성, 원칙, 메커니즘 등을 공유함</a:t>
            </a: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614887" y="3552403"/>
            <a:ext cx="1926535" cy="74055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  <a:effectLst>
            <a:outerShdw rotWithShape="0" algn="ctr" dir="2700000" dist="35921">
              <a:srgbClr val="999999"/>
            </a:outerShdw>
          </a:effectLst>
        </p:spPr>
        <p:txBody>
          <a:bodyPr anchorCtr="0" anchor="ctr" bIns="46775" lIns="179950" spcFirstLastPara="1" rIns="179950" wrap="square" tIns="4677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적용 범위</a:t>
            </a: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614887" y="4764560"/>
            <a:ext cx="1926535" cy="76082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  <a:effectLst>
            <a:outerShdw rotWithShape="0" algn="ctr" dir="2700000" dist="35921">
              <a:srgbClr val="999999"/>
            </a:outerShdw>
          </a:effectLst>
        </p:spPr>
        <p:txBody>
          <a:bodyPr anchorCtr="0" anchor="ctr" bIns="46775" lIns="179950" spcFirstLastPara="1" rIns="179950" wrap="square" tIns="4677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관련 문서</a:t>
            </a: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2674741" y="5023984"/>
            <a:ext cx="5447282" cy="241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36000" spcFirstLastPara="1" rIns="36000" wrap="square" tIns="360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NPM-DE-IS-TA-004-아키텍처정의서</a:t>
            </a:r>
            <a:endParaRPr b="0"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54" name="Google Shape;154;p4"/>
          <p:cNvGrpSpPr/>
          <p:nvPr/>
        </p:nvGrpSpPr>
        <p:grpSpPr>
          <a:xfrm>
            <a:off x="2608813" y="3345031"/>
            <a:ext cx="5513210" cy="1195635"/>
            <a:chOff x="2608813" y="3596045"/>
            <a:chExt cx="6046242" cy="1195635"/>
          </a:xfrm>
        </p:grpSpPr>
        <p:cxnSp>
          <p:nvCxnSpPr>
            <p:cNvPr id="155" name="Google Shape;155;p4"/>
            <p:cNvCxnSpPr/>
            <p:nvPr/>
          </p:nvCxnSpPr>
          <p:spPr>
            <a:xfrm rot="10800000">
              <a:off x="2608813" y="3596045"/>
              <a:ext cx="6046242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56" name="Google Shape;156;p4"/>
            <p:cNvCxnSpPr/>
            <p:nvPr/>
          </p:nvCxnSpPr>
          <p:spPr>
            <a:xfrm rot="10800000">
              <a:off x="2608813" y="4791680"/>
              <a:ext cx="6046242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sp>
        <p:nvSpPr>
          <p:cNvPr id="157" name="Google Shape;157;p4"/>
          <p:cNvSpPr txBox="1"/>
          <p:nvPr/>
        </p:nvSpPr>
        <p:spPr>
          <a:xfrm>
            <a:off x="417770" y="714190"/>
            <a:ext cx="8964356" cy="1147997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36000">
            <a:sp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개요</a:t>
            </a:r>
            <a:endParaRPr b="1" i="0" sz="14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1.1 문서 목적</a:t>
            </a:r>
            <a:endParaRPr b="1"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차세대 발행물 시스템 및 동영상 미디어 플랫폼 시스템 어플리케이션 아키텍처 설계를 통해 시스템의 전반적인 구성을 이해하고 구축하는데 이 문서의 주요한 목적임 </a:t>
            </a:r>
            <a:endParaRPr/>
          </a:p>
        </p:txBody>
      </p:sp>
      <p:sp>
        <p:nvSpPr>
          <p:cNvPr id="158" name="Google Shape;158;p4"/>
          <p:cNvSpPr/>
          <p:nvPr/>
        </p:nvSpPr>
        <p:spPr>
          <a:xfrm>
            <a:off x="2674741" y="3801691"/>
            <a:ext cx="5447282" cy="241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36000" spcFirstLastPara="1" rIns="36000" wrap="square" tIns="360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차세대 발행물 시스템 및 동영상 미디어 플랫폼 시스템 구축 시 적용함</a:t>
            </a:r>
            <a:endParaRPr b="0"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"/>
          <p:cNvSpPr txBox="1"/>
          <p:nvPr/>
        </p:nvSpPr>
        <p:spPr>
          <a:xfrm>
            <a:off x="417770" y="714190"/>
            <a:ext cx="8964356" cy="926783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36000">
            <a:sp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개요</a:t>
            </a:r>
            <a:endParaRPr b="1" i="0" sz="14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1.2 차세대 발행물 및 동영상 미디어 플랫폼 시스템 논리 구성도</a:t>
            </a:r>
            <a:endParaRPr b="1" i="0" sz="12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 사업의 시스템의 어플리케이션 아키텍처는 내외부 발행물 시스템 및 동영상미디어 플랫폼 어플리케이션으로 구성됨 </a:t>
            </a:r>
            <a:endParaRPr b="1" i="0" sz="14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64" name="Google Shape;164;p5"/>
          <p:cNvGrpSpPr/>
          <p:nvPr/>
        </p:nvGrpSpPr>
        <p:grpSpPr>
          <a:xfrm>
            <a:off x="415925" y="1640973"/>
            <a:ext cx="8964356" cy="4566396"/>
            <a:chOff x="630114" y="2642889"/>
            <a:chExt cx="9671680" cy="4414044"/>
          </a:xfrm>
        </p:grpSpPr>
        <p:sp>
          <p:nvSpPr>
            <p:cNvPr id="165" name="Google Shape;165;p5"/>
            <p:cNvSpPr/>
            <p:nvPr/>
          </p:nvSpPr>
          <p:spPr>
            <a:xfrm>
              <a:off x="1564153" y="2914649"/>
              <a:ext cx="5450581" cy="4142284"/>
            </a:xfrm>
            <a:prstGeom prst="rect">
              <a:avLst/>
            </a:prstGeom>
            <a:solidFill>
              <a:srgbClr val="E6EAEE"/>
            </a:solidFill>
            <a:ln>
              <a:noFill/>
            </a:ln>
          </p:spPr>
          <p:txBody>
            <a:bodyPr anchorCtr="0" anchor="t" bIns="45700" lIns="91425" spcFirstLastPara="1" rIns="91425" wrap="square" tIns="72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630114" y="2681305"/>
              <a:ext cx="856467" cy="168076"/>
            </a:xfrm>
            <a:prstGeom prst="round2SameRect">
              <a:avLst>
                <a:gd fmla="val 27407" name="adj1"/>
                <a:gd fmla="val 0" name="adj2"/>
              </a:avLst>
            </a:prstGeom>
            <a:solidFill>
              <a:srgbClr val="8CB6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내부사용자</a:t>
              </a:r>
              <a:endParaRPr/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630213" y="2911611"/>
              <a:ext cx="883657" cy="3153909"/>
            </a:xfrm>
            <a:custGeom>
              <a:rect b="b" l="l" r="r" t="t"/>
              <a:pathLst>
                <a:path extrusionOk="0" h="540060" w="1116124">
                  <a:moveTo>
                    <a:pt x="1116124" y="0"/>
                  </a:moveTo>
                  <a:lnTo>
                    <a:pt x="1116124" y="540060"/>
                  </a:lnTo>
                  <a:lnTo>
                    <a:pt x="0" y="540060"/>
                  </a:ln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BFC9D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34435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8" name="Google Shape;168;p5"/>
            <p:cNvGrpSpPr/>
            <p:nvPr/>
          </p:nvGrpSpPr>
          <p:grpSpPr>
            <a:xfrm>
              <a:off x="795044" y="2952478"/>
              <a:ext cx="553998" cy="485274"/>
              <a:chOff x="-54031" y="3389473"/>
              <a:chExt cx="512311" cy="503401"/>
            </a:xfrm>
          </p:grpSpPr>
          <p:pic>
            <p:nvPicPr>
              <p:cNvPr id="169" name="Google Shape;169;p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003" y="3389473"/>
                <a:ext cx="390245" cy="36426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0" name="Google Shape;170;p5"/>
              <p:cNvSpPr txBox="1"/>
              <p:nvPr/>
            </p:nvSpPr>
            <p:spPr>
              <a:xfrm>
                <a:off x="-54031" y="3767079"/>
                <a:ext cx="512311" cy="1257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7F7F7F"/>
                  </a:buClr>
                  <a:buSzPts val="900"/>
                  <a:buFont typeface="Noto Sans Symbols"/>
                  <a:buNone/>
                </a:pPr>
                <a:r>
                  <a:rPr b="0" i="0" lang="en-US" sz="900" u="none" cap="none" strike="noStrik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고객/설계사</a:t>
                </a:r>
                <a:endParaRPr/>
              </a:p>
            </p:txBody>
          </p:sp>
        </p:grpSp>
        <p:grpSp>
          <p:nvGrpSpPr>
            <p:cNvPr id="171" name="Google Shape;171;p5"/>
            <p:cNvGrpSpPr/>
            <p:nvPr/>
          </p:nvGrpSpPr>
          <p:grpSpPr>
            <a:xfrm>
              <a:off x="850026" y="4821456"/>
              <a:ext cx="444032" cy="485274"/>
              <a:chOff x="-3185" y="3389473"/>
              <a:chExt cx="410620" cy="503401"/>
            </a:xfrm>
          </p:grpSpPr>
          <p:pic>
            <p:nvPicPr>
              <p:cNvPr id="172" name="Google Shape;172;p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003" y="3389473"/>
                <a:ext cx="390245" cy="36426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3" name="Google Shape;173;p5"/>
              <p:cNvSpPr txBox="1"/>
              <p:nvPr/>
            </p:nvSpPr>
            <p:spPr>
              <a:xfrm>
                <a:off x="-3185" y="3767079"/>
                <a:ext cx="410620" cy="1257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7F7F7F"/>
                  </a:buClr>
                  <a:buSzPts val="900"/>
                  <a:buFont typeface="Noto Sans Symbols"/>
                  <a:buNone/>
                </a:pPr>
                <a:r>
                  <a:rPr b="0" i="0" lang="en-US" sz="900" u="none" cap="none" strike="noStrik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본사 후선</a:t>
                </a:r>
                <a:endParaRPr/>
              </a:p>
            </p:txBody>
          </p:sp>
        </p:grpSp>
        <p:grpSp>
          <p:nvGrpSpPr>
            <p:cNvPr id="174" name="Google Shape;174;p5"/>
            <p:cNvGrpSpPr/>
            <p:nvPr/>
          </p:nvGrpSpPr>
          <p:grpSpPr>
            <a:xfrm>
              <a:off x="731565" y="5439464"/>
              <a:ext cx="680956" cy="485274"/>
              <a:chOff x="-112733" y="3389473"/>
              <a:chExt cx="629715" cy="503401"/>
            </a:xfrm>
          </p:grpSpPr>
          <p:pic>
            <p:nvPicPr>
              <p:cNvPr id="175" name="Google Shape;175;p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003" y="3389473"/>
                <a:ext cx="390245" cy="36426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6" name="Google Shape;176;p5"/>
              <p:cNvSpPr txBox="1"/>
              <p:nvPr/>
            </p:nvSpPr>
            <p:spPr>
              <a:xfrm>
                <a:off x="-112733" y="3767079"/>
                <a:ext cx="629715" cy="1257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7F7F7F"/>
                  </a:buClr>
                  <a:buSzPts val="900"/>
                  <a:buFont typeface="Noto Sans Symbols"/>
                  <a:buNone/>
                </a:pPr>
                <a:r>
                  <a:rPr b="0" i="0" lang="en-US" sz="900" u="none" cap="none" strike="noStrik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현장 접점 부서</a:t>
                </a:r>
                <a:endParaRPr/>
              </a:p>
            </p:txBody>
          </p:sp>
        </p:grpSp>
        <p:sp>
          <p:nvSpPr>
            <p:cNvPr id="177" name="Google Shape;177;p5"/>
            <p:cNvSpPr/>
            <p:nvPr/>
          </p:nvSpPr>
          <p:spPr>
            <a:xfrm flipH="1">
              <a:off x="7122745" y="2642889"/>
              <a:ext cx="3179049" cy="4414044"/>
            </a:xfrm>
            <a:prstGeom prst="rect">
              <a:avLst/>
            </a:prstGeom>
            <a:solidFill>
              <a:srgbClr val="E5F5FF"/>
            </a:solidFill>
            <a:ln cap="flat" cmpd="sng" w="9525">
              <a:solidFill>
                <a:srgbClr val="047DB4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675" lIns="91350" spcFirstLastPara="1" rIns="91350" wrap="square" tIns="456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5"/>
            <p:cNvSpPr/>
            <p:nvPr/>
          </p:nvSpPr>
          <p:spPr>
            <a:xfrm flipH="1">
              <a:off x="7122745" y="2642889"/>
              <a:ext cx="3179049" cy="263645"/>
            </a:xfrm>
            <a:prstGeom prst="rect">
              <a:avLst/>
            </a:prstGeom>
            <a:solidFill>
              <a:srgbClr val="047DB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5"/>
            <p:cNvSpPr/>
            <p:nvPr/>
          </p:nvSpPr>
          <p:spPr>
            <a:xfrm flipH="1">
              <a:off x="7799563" y="2667719"/>
              <a:ext cx="2090839" cy="1886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통합 발행물 시스템</a:t>
              </a:r>
              <a:endParaRPr/>
            </a:p>
          </p:txBody>
        </p:sp>
        <p:grpSp>
          <p:nvGrpSpPr>
            <p:cNvPr id="180" name="Google Shape;180;p5"/>
            <p:cNvGrpSpPr/>
            <p:nvPr/>
          </p:nvGrpSpPr>
          <p:grpSpPr>
            <a:xfrm>
              <a:off x="861043" y="3575473"/>
              <a:ext cx="421999" cy="485275"/>
              <a:chOff x="7003" y="3389473"/>
              <a:chExt cx="390245" cy="503401"/>
            </a:xfrm>
          </p:grpSpPr>
          <p:pic>
            <p:nvPicPr>
              <p:cNvPr id="181" name="Google Shape;181;p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003" y="3389473"/>
                <a:ext cx="390245" cy="36426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2" name="Google Shape;182;p5"/>
              <p:cNvSpPr txBox="1"/>
              <p:nvPr/>
            </p:nvSpPr>
            <p:spPr>
              <a:xfrm>
                <a:off x="58478" y="3767079"/>
                <a:ext cx="287286" cy="1257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7F7F7F"/>
                  </a:buClr>
                  <a:buSzPts val="900"/>
                  <a:buFont typeface="Noto Sans Symbols"/>
                  <a:buNone/>
                </a:pPr>
                <a:r>
                  <a:rPr b="0" i="0" lang="en-US" sz="900" u="none" cap="none" strike="noStrik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콜센터</a:t>
                </a:r>
                <a:endParaRPr/>
              </a:p>
            </p:txBody>
          </p:sp>
        </p:grpSp>
        <p:grpSp>
          <p:nvGrpSpPr>
            <p:cNvPr id="183" name="Google Shape;183;p5"/>
            <p:cNvGrpSpPr/>
            <p:nvPr/>
          </p:nvGrpSpPr>
          <p:grpSpPr>
            <a:xfrm>
              <a:off x="813157" y="4198467"/>
              <a:ext cx="517770" cy="485275"/>
              <a:chOff x="-37282" y="3389473"/>
              <a:chExt cx="478810" cy="503401"/>
            </a:xfrm>
          </p:grpSpPr>
          <p:pic>
            <p:nvPicPr>
              <p:cNvPr id="184" name="Google Shape;184;p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003" y="3389473"/>
                <a:ext cx="390245" cy="36426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5" name="Google Shape;185;p5"/>
              <p:cNvSpPr txBox="1"/>
              <p:nvPr/>
            </p:nvSpPr>
            <p:spPr>
              <a:xfrm>
                <a:off x="-37282" y="3767079"/>
                <a:ext cx="478810" cy="1257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7F7F7F"/>
                  </a:buClr>
                  <a:buSzPts val="900"/>
                  <a:buFont typeface="Noto Sans Symbols"/>
                  <a:buNone/>
                </a:pPr>
                <a:r>
                  <a:rPr b="0" i="0" lang="en-US" sz="900" u="none" cap="none" strike="noStrik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보상담당자</a:t>
                </a:r>
                <a:endParaRPr/>
              </a:p>
            </p:txBody>
          </p:sp>
        </p:grpSp>
        <p:sp>
          <p:nvSpPr>
            <p:cNvPr id="186" name="Google Shape;186;p5"/>
            <p:cNvSpPr/>
            <p:nvPr/>
          </p:nvSpPr>
          <p:spPr>
            <a:xfrm>
              <a:off x="1564592" y="2664446"/>
              <a:ext cx="5450143" cy="195894"/>
            </a:xfrm>
            <a:prstGeom prst="rect">
              <a:avLst/>
            </a:prstGeom>
            <a:solidFill>
              <a:srgbClr val="D8E9F4"/>
            </a:solidFill>
            <a:ln>
              <a:noFill/>
            </a:ln>
            <a:effectLst>
              <a:outerShdw rotWithShape="0" algn="tl" dir="16200000" dist="25400">
                <a:srgbClr val="8DBDDF"/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전사 발행물 유관 시스템</a:t>
              </a:r>
              <a:endParaRPr/>
            </a:p>
          </p:txBody>
        </p:sp>
        <p:sp>
          <p:nvSpPr>
            <p:cNvPr id="187" name="Google Shape;187;p5"/>
            <p:cNvSpPr/>
            <p:nvPr/>
          </p:nvSpPr>
          <p:spPr>
            <a:xfrm>
              <a:off x="1564519" y="2907483"/>
              <a:ext cx="5450216" cy="4149450"/>
            </a:xfrm>
            <a:custGeom>
              <a:rect b="b" l="l" r="r" t="t"/>
              <a:pathLst>
                <a:path extrusionOk="0" h="540060" w="1116124">
                  <a:moveTo>
                    <a:pt x="1116124" y="0"/>
                  </a:moveTo>
                  <a:lnTo>
                    <a:pt x="1116124" y="540060"/>
                  </a:lnTo>
                  <a:lnTo>
                    <a:pt x="0" y="540060"/>
                  </a:ln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BFC9D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34435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5"/>
            <p:cNvSpPr/>
            <p:nvPr/>
          </p:nvSpPr>
          <p:spPr>
            <a:xfrm>
              <a:off x="5722680" y="2980985"/>
              <a:ext cx="1134850" cy="2490013"/>
            </a:xfrm>
            <a:prstGeom prst="rect">
              <a:avLst/>
            </a:prstGeom>
            <a:solidFill>
              <a:srgbClr val="E4F0F8"/>
            </a:solidFill>
            <a:ln cap="flat" cmpd="sng" w="15875">
              <a:solidFill>
                <a:srgbClr val="AFD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5"/>
            <p:cNvSpPr/>
            <p:nvPr/>
          </p:nvSpPr>
          <p:spPr>
            <a:xfrm>
              <a:off x="5806722" y="3001001"/>
              <a:ext cx="966767" cy="2035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기간계</a:t>
              </a:r>
              <a:endPara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5"/>
            <p:cNvSpPr/>
            <p:nvPr/>
          </p:nvSpPr>
          <p:spPr>
            <a:xfrm>
              <a:off x="5836020" y="3253638"/>
              <a:ext cx="900000" cy="216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B4CBE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자동차</a:t>
              </a:r>
              <a:endParaRPr/>
            </a:p>
          </p:txBody>
        </p:sp>
        <p:sp>
          <p:nvSpPr>
            <p:cNvPr id="191" name="Google Shape;191;p5"/>
            <p:cNvSpPr/>
            <p:nvPr/>
          </p:nvSpPr>
          <p:spPr>
            <a:xfrm>
              <a:off x="1818246" y="5256733"/>
              <a:ext cx="3732503" cy="1728403"/>
            </a:xfrm>
            <a:prstGeom prst="rect">
              <a:avLst/>
            </a:prstGeom>
            <a:solidFill>
              <a:srgbClr val="E4F0F8"/>
            </a:solidFill>
            <a:ln cap="flat" cmpd="sng" w="15875">
              <a:solidFill>
                <a:srgbClr val="AFD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5"/>
            <p:cNvSpPr/>
            <p:nvPr/>
          </p:nvSpPr>
          <p:spPr>
            <a:xfrm flipH="1">
              <a:off x="3786554" y="5580769"/>
              <a:ext cx="1548219" cy="132309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B4CBE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5"/>
            <p:cNvSpPr/>
            <p:nvPr/>
          </p:nvSpPr>
          <p:spPr>
            <a:xfrm flipH="1">
              <a:off x="3786555" y="5593518"/>
              <a:ext cx="1548219" cy="396486"/>
            </a:xfrm>
            <a:prstGeom prst="rect">
              <a:avLst/>
            </a:prstGeom>
            <a:solidFill>
              <a:srgbClr val="047DB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5"/>
            <p:cNvSpPr/>
            <p:nvPr/>
          </p:nvSpPr>
          <p:spPr>
            <a:xfrm flipH="1">
              <a:off x="3930619" y="5627926"/>
              <a:ext cx="1241290" cy="3520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동영상 미디어 </a:t>
              </a:r>
              <a:endPara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21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플랫폼 (MCMS)</a:t>
              </a:r>
              <a:endPara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5" name="Google Shape;195;p5"/>
            <p:cNvGrpSpPr/>
            <p:nvPr/>
          </p:nvGrpSpPr>
          <p:grpSpPr>
            <a:xfrm>
              <a:off x="3879999" y="6080068"/>
              <a:ext cx="1364262" cy="288145"/>
              <a:chOff x="3385273" y="6124202"/>
              <a:chExt cx="1164641" cy="292782"/>
            </a:xfrm>
          </p:grpSpPr>
          <p:sp>
            <p:nvSpPr>
              <p:cNvPr id="196" name="Google Shape;196;p5"/>
              <p:cNvSpPr/>
              <p:nvPr/>
            </p:nvSpPr>
            <p:spPr>
              <a:xfrm>
                <a:off x="3385273" y="6124202"/>
                <a:ext cx="1164641" cy="292782"/>
              </a:xfrm>
              <a:prstGeom prst="rect">
                <a:avLst/>
              </a:prstGeom>
              <a:solidFill>
                <a:schemeClr val="accent2"/>
              </a:solidFill>
              <a:ln cap="flat" cmpd="sng" w="9525">
                <a:solidFill>
                  <a:srgbClr val="B4CBE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5"/>
              <p:cNvSpPr/>
              <p:nvPr/>
            </p:nvSpPr>
            <p:spPr>
              <a:xfrm>
                <a:off x="3474355" y="6154492"/>
                <a:ext cx="984184" cy="2258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05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미디어 관리</a:t>
                </a:r>
                <a:endParaRPr/>
              </a:p>
            </p:txBody>
          </p:sp>
        </p:grpSp>
        <p:sp>
          <p:nvSpPr>
            <p:cNvPr id="198" name="Google Shape;198;p5"/>
            <p:cNvSpPr/>
            <p:nvPr/>
          </p:nvSpPr>
          <p:spPr>
            <a:xfrm>
              <a:off x="2064853" y="6282463"/>
              <a:ext cx="1386970" cy="27788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B4CBE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장기손사포탈</a:t>
              </a:r>
              <a:endPara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5"/>
            <p:cNvSpPr/>
            <p:nvPr/>
          </p:nvSpPr>
          <p:spPr>
            <a:xfrm>
              <a:off x="2065148" y="6625977"/>
              <a:ext cx="1386970" cy="27788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B4CBE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일반손사포탈</a:t>
              </a:r>
              <a:endPara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5"/>
            <p:cNvSpPr/>
            <p:nvPr/>
          </p:nvSpPr>
          <p:spPr>
            <a:xfrm>
              <a:off x="2064853" y="5595437"/>
              <a:ext cx="1386970" cy="27788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B4CBE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보상 포탈</a:t>
              </a:r>
              <a:endParaRPr/>
            </a:p>
          </p:txBody>
        </p:sp>
        <p:sp>
          <p:nvSpPr>
            <p:cNvPr id="201" name="Google Shape;201;p5"/>
            <p:cNvSpPr/>
            <p:nvPr/>
          </p:nvSpPr>
          <p:spPr>
            <a:xfrm>
              <a:off x="5836020" y="3529940"/>
              <a:ext cx="900000" cy="216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B4CBE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장기</a:t>
              </a:r>
              <a:endParaRPr/>
            </a:p>
          </p:txBody>
        </p:sp>
        <p:sp>
          <p:nvSpPr>
            <p:cNvPr id="202" name="Google Shape;202;p5"/>
            <p:cNvSpPr/>
            <p:nvPr/>
          </p:nvSpPr>
          <p:spPr>
            <a:xfrm>
              <a:off x="5836020" y="3806242"/>
              <a:ext cx="900000" cy="216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B4CBE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일반</a:t>
              </a:r>
              <a:endParaRPr/>
            </a:p>
          </p:txBody>
        </p:sp>
        <p:sp>
          <p:nvSpPr>
            <p:cNvPr id="203" name="Google Shape;203;p5"/>
            <p:cNvSpPr/>
            <p:nvPr/>
          </p:nvSpPr>
          <p:spPr>
            <a:xfrm>
              <a:off x="5836020" y="4082544"/>
              <a:ext cx="900000" cy="216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B4CBE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고객</a:t>
              </a:r>
              <a:endParaRPr/>
            </a:p>
          </p:txBody>
        </p:sp>
        <p:sp>
          <p:nvSpPr>
            <p:cNvPr id="204" name="Google Shape;204;p5"/>
            <p:cNvSpPr/>
            <p:nvPr/>
          </p:nvSpPr>
          <p:spPr>
            <a:xfrm>
              <a:off x="5836020" y="4635148"/>
              <a:ext cx="900000" cy="216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B4CBE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공통</a:t>
              </a:r>
              <a:endPara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5"/>
            <p:cNvSpPr/>
            <p:nvPr/>
          </p:nvSpPr>
          <p:spPr>
            <a:xfrm>
              <a:off x="5836020" y="4911450"/>
              <a:ext cx="900000" cy="216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B4CBE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5"/>
            <p:cNvSpPr/>
            <p:nvPr/>
          </p:nvSpPr>
          <p:spPr>
            <a:xfrm>
              <a:off x="5836020" y="5188374"/>
              <a:ext cx="900000" cy="216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B4CBE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마케팅</a:t>
              </a:r>
              <a:endParaRPr/>
            </a:p>
          </p:txBody>
        </p:sp>
        <p:sp>
          <p:nvSpPr>
            <p:cNvPr id="207" name="Google Shape;207;p5"/>
            <p:cNvSpPr/>
            <p:nvPr/>
          </p:nvSpPr>
          <p:spPr>
            <a:xfrm>
              <a:off x="5836020" y="4358846"/>
              <a:ext cx="900000" cy="216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B4CBE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재무</a:t>
              </a:r>
              <a:endParaRPr/>
            </a:p>
          </p:txBody>
        </p:sp>
        <p:sp>
          <p:nvSpPr>
            <p:cNvPr id="208" name="Google Shape;208;p5"/>
            <p:cNvSpPr/>
            <p:nvPr/>
          </p:nvSpPr>
          <p:spPr>
            <a:xfrm>
              <a:off x="1818247" y="2982091"/>
              <a:ext cx="3744416" cy="2173021"/>
            </a:xfrm>
            <a:prstGeom prst="rect">
              <a:avLst/>
            </a:prstGeom>
            <a:solidFill>
              <a:srgbClr val="E4F0F8"/>
            </a:solidFill>
            <a:ln cap="flat" cmpd="sng" w="15875">
              <a:solidFill>
                <a:srgbClr val="AFD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5"/>
            <p:cNvSpPr/>
            <p:nvPr/>
          </p:nvSpPr>
          <p:spPr>
            <a:xfrm>
              <a:off x="1908385" y="3706894"/>
              <a:ext cx="1152000" cy="299694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B4CBE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대표홈페이지</a:t>
              </a:r>
              <a:endParaRPr/>
            </a:p>
          </p:txBody>
        </p:sp>
        <p:sp>
          <p:nvSpPr>
            <p:cNvPr id="210" name="Google Shape;210;p5"/>
            <p:cNvSpPr/>
            <p:nvPr/>
          </p:nvSpPr>
          <p:spPr>
            <a:xfrm>
              <a:off x="3114519" y="3706894"/>
              <a:ext cx="1152000" cy="299694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B4CBE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영업포탈</a:t>
              </a:r>
              <a:endPara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5"/>
            <p:cNvSpPr/>
            <p:nvPr/>
          </p:nvSpPr>
          <p:spPr>
            <a:xfrm>
              <a:off x="4338655" y="3706894"/>
              <a:ext cx="1152000" cy="299694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B4CBE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TM 영업포탈</a:t>
              </a:r>
              <a:endPara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5"/>
            <p:cNvSpPr/>
            <p:nvPr/>
          </p:nvSpPr>
          <p:spPr>
            <a:xfrm>
              <a:off x="1908385" y="4053550"/>
              <a:ext cx="1152000" cy="299694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B4CBE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보이는 TM</a:t>
              </a:r>
              <a:endPara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5"/>
            <p:cNvSpPr/>
            <p:nvPr/>
          </p:nvSpPr>
          <p:spPr>
            <a:xfrm>
              <a:off x="3114519" y="4053550"/>
              <a:ext cx="1152000" cy="299694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B4CBE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방카시스템</a:t>
              </a:r>
              <a:endPara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5"/>
            <p:cNvSpPr/>
            <p:nvPr/>
          </p:nvSpPr>
          <p:spPr>
            <a:xfrm>
              <a:off x="4338655" y="4053550"/>
              <a:ext cx="1152000" cy="299694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B4CBE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영업포탈 전자서명</a:t>
              </a:r>
              <a:endPara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5"/>
            <p:cNvSpPr/>
            <p:nvPr/>
          </p:nvSpPr>
          <p:spPr>
            <a:xfrm>
              <a:off x="1908385" y="4407554"/>
              <a:ext cx="1152000" cy="299694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B4CBE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하이포탈+</a:t>
              </a:r>
              <a:endPara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5"/>
            <p:cNvSpPr/>
            <p:nvPr/>
          </p:nvSpPr>
          <p:spPr>
            <a:xfrm>
              <a:off x="4650650" y="4746830"/>
              <a:ext cx="839877" cy="299694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B4CBE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하이콜</a:t>
              </a:r>
              <a:endPara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5"/>
            <p:cNvSpPr/>
            <p:nvPr/>
          </p:nvSpPr>
          <p:spPr>
            <a:xfrm>
              <a:off x="3737243" y="4746830"/>
              <a:ext cx="839877" cy="299694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B4CBE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상담원관리</a:t>
              </a:r>
              <a:endPara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5"/>
            <p:cNvSpPr/>
            <p:nvPr/>
          </p:nvSpPr>
          <p:spPr>
            <a:xfrm>
              <a:off x="1910431" y="4746830"/>
              <a:ext cx="839877" cy="299694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B4CBE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퇴직연금</a:t>
              </a:r>
              <a:endPara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5"/>
            <p:cNvSpPr/>
            <p:nvPr/>
          </p:nvSpPr>
          <p:spPr>
            <a:xfrm>
              <a:off x="2823837" y="4746830"/>
              <a:ext cx="839877" cy="299694"/>
            </a:xfrm>
            <a:prstGeom prst="rect">
              <a:avLst/>
            </a:prstGeom>
            <a:solidFill>
              <a:srgbClr val="FFFFCC"/>
            </a:solidFill>
            <a:ln cap="flat" cmpd="sng" w="9525">
              <a:solidFill>
                <a:srgbClr val="B4CBE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디지털 창구</a:t>
              </a:r>
              <a:endParaRPr/>
            </a:p>
          </p:txBody>
        </p:sp>
        <p:sp>
          <p:nvSpPr>
            <p:cNvPr id="220" name="Google Shape;220;p5"/>
            <p:cNvSpPr/>
            <p:nvPr/>
          </p:nvSpPr>
          <p:spPr>
            <a:xfrm>
              <a:off x="4338527" y="4407554"/>
              <a:ext cx="1152000" cy="299694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B4CBE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종합감사시스템</a:t>
              </a:r>
              <a:endPara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5"/>
            <p:cNvSpPr/>
            <p:nvPr/>
          </p:nvSpPr>
          <p:spPr>
            <a:xfrm>
              <a:off x="3114391" y="4407554"/>
              <a:ext cx="1152000" cy="299694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B4CBE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5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자산배분시스템 FAAS</a:t>
              </a:r>
              <a:endParaRPr/>
            </a:p>
          </p:txBody>
        </p:sp>
        <p:sp>
          <p:nvSpPr>
            <p:cNvPr id="222" name="Google Shape;222;p5"/>
            <p:cNvSpPr/>
            <p:nvPr/>
          </p:nvSpPr>
          <p:spPr>
            <a:xfrm>
              <a:off x="1908385" y="3360481"/>
              <a:ext cx="1152000" cy="299694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B4CBE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다이렉트 홈페이지</a:t>
              </a:r>
              <a:endParaRPr/>
            </a:p>
          </p:txBody>
        </p:sp>
        <p:sp>
          <p:nvSpPr>
            <p:cNvPr id="223" name="Google Shape;223;p5"/>
            <p:cNvSpPr/>
            <p:nvPr/>
          </p:nvSpPr>
          <p:spPr>
            <a:xfrm>
              <a:off x="3114519" y="3360481"/>
              <a:ext cx="1152000" cy="299694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B4CBE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다이렉트 모바일</a:t>
              </a:r>
              <a:endPara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5"/>
            <p:cNvSpPr/>
            <p:nvPr/>
          </p:nvSpPr>
          <p:spPr>
            <a:xfrm>
              <a:off x="4338655" y="3360481"/>
              <a:ext cx="1152000" cy="299694"/>
            </a:xfrm>
            <a:prstGeom prst="rect">
              <a:avLst/>
            </a:prstGeom>
            <a:solidFill>
              <a:srgbClr val="FFFFCC"/>
            </a:solidFill>
            <a:ln cap="flat" cmpd="sng" w="9525">
              <a:solidFill>
                <a:srgbClr val="B4CBE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MDS</a:t>
              </a:r>
              <a:endParaRPr/>
            </a:p>
          </p:txBody>
        </p:sp>
        <p:sp>
          <p:nvSpPr>
            <p:cNvPr id="225" name="Google Shape;225;p5"/>
            <p:cNvSpPr/>
            <p:nvPr/>
          </p:nvSpPr>
          <p:spPr>
            <a:xfrm>
              <a:off x="3186399" y="3056103"/>
              <a:ext cx="966767" cy="2247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채널 시스템</a:t>
              </a:r>
              <a:endParaRPr/>
            </a:p>
          </p:txBody>
        </p:sp>
        <p:sp>
          <p:nvSpPr>
            <p:cNvPr id="226" name="Google Shape;226;p5"/>
            <p:cNvSpPr/>
            <p:nvPr/>
          </p:nvSpPr>
          <p:spPr>
            <a:xfrm>
              <a:off x="3152775" y="5292737"/>
              <a:ext cx="1063444" cy="2270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보상/손사</a:t>
              </a:r>
              <a:endPara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7" name="Google Shape;227;p5"/>
            <p:cNvGrpSpPr/>
            <p:nvPr/>
          </p:nvGrpSpPr>
          <p:grpSpPr>
            <a:xfrm>
              <a:off x="734992" y="6581565"/>
              <a:ext cx="657410" cy="283623"/>
              <a:chOff x="3394104" y="6103366"/>
              <a:chExt cx="1164641" cy="377503"/>
            </a:xfrm>
          </p:grpSpPr>
          <p:sp>
            <p:nvSpPr>
              <p:cNvPr id="228" name="Google Shape;228;p5"/>
              <p:cNvSpPr/>
              <p:nvPr/>
            </p:nvSpPr>
            <p:spPr>
              <a:xfrm>
                <a:off x="3394104" y="6124202"/>
                <a:ext cx="1164641" cy="356667"/>
              </a:xfrm>
              <a:prstGeom prst="rect">
                <a:avLst/>
              </a:prstGeom>
              <a:solidFill>
                <a:schemeClr val="accent2"/>
              </a:solidFill>
              <a:ln cap="flat" cmpd="sng" w="9525">
                <a:solidFill>
                  <a:srgbClr val="B4CBE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5"/>
              <p:cNvSpPr/>
              <p:nvPr/>
            </p:nvSpPr>
            <p:spPr>
              <a:xfrm>
                <a:off x="3449148" y="6103366"/>
                <a:ext cx="1082604" cy="3228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2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Agent</a:t>
                </a:r>
                <a:endParaRPr b="0" i="0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0" name="Google Shape;230;p5"/>
            <p:cNvSpPr/>
            <p:nvPr/>
          </p:nvSpPr>
          <p:spPr>
            <a:xfrm>
              <a:off x="2064853" y="5938950"/>
              <a:ext cx="1386970" cy="277885"/>
            </a:xfrm>
            <a:prstGeom prst="rect">
              <a:avLst/>
            </a:prstGeom>
            <a:solidFill>
              <a:srgbClr val="FFFFCC"/>
            </a:solidFill>
            <a:ln cap="flat" cmpd="sng" w="9525">
              <a:solidFill>
                <a:srgbClr val="B4CBE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보상 원격발행</a:t>
              </a:r>
              <a:endParaRPr/>
            </a:p>
          </p:txBody>
        </p:sp>
        <p:sp>
          <p:nvSpPr>
            <p:cNvPr id="231" name="Google Shape;231;p5"/>
            <p:cNvSpPr/>
            <p:nvPr/>
          </p:nvSpPr>
          <p:spPr>
            <a:xfrm>
              <a:off x="630213" y="6120829"/>
              <a:ext cx="883657" cy="936104"/>
            </a:xfrm>
            <a:custGeom>
              <a:rect b="b" l="l" r="r" t="t"/>
              <a:pathLst>
                <a:path extrusionOk="0" h="540060" w="1116124">
                  <a:moveTo>
                    <a:pt x="1116124" y="0"/>
                  </a:moveTo>
                  <a:lnTo>
                    <a:pt x="1116124" y="540060"/>
                  </a:lnTo>
                  <a:lnTo>
                    <a:pt x="0" y="540060"/>
                  </a:ln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BFC9D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34435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5"/>
            <p:cNvSpPr txBox="1"/>
            <p:nvPr/>
          </p:nvSpPr>
          <p:spPr>
            <a:xfrm>
              <a:off x="806029" y="6192837"/>
              <a:ext cx="547586" cy="242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900"/>
                <a:buFont typeface="Noto Sans Symbols"/>
                <a:buNone/>
              </a:pPr>
              <a:r>
                <a:rPr b="0" i="0" lang="en-US" sz="9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사용자 </a:t>
              </a:r>
              <a:br>
                <a:rPr b="0" i="0" lang="en-US" sz="9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9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클라이언트 </a:t>
              </a:r>
              <a:endParaRPr/>
            </a:p>
          </p:txBody>
        </p:sp>
        <p:sp>
          <p:nvSpPr>
            <p:cNvPr id="233" name="Google Shape;233;p5"/>
            <p:cNvSpPr/>
            <p:nvPr/>
          </p:nvSpPr>
          <p:spPr>
            <a:xfrm>
              <a:off x="7365318" y="3280899"/>
              <a:ext cx="1296144" cy="2419769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B4CBE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4" name="Google Shape;234;p5"/>
            <p:cNvGrpSpPr/>
            <p:nvPr/>
          </p:nvGrpSpPr>
          <p:grpSpPr>
            <a:xfrm>
              <a:off x="7542882" y="3706455"/>
              <a:ext cx="952559" cy="360000"/>
              <a:chOff x="7686898" y="3744605"/>
              <a:chExt cx="952559" cy="360000"/>
            </a:xfrm>
          </p:grpSpPr>
          <p:sp>
            <p:nvSpPr>
              <p:cNvPr id="235" name="Google Shape;235;p5"/>
              <p:cNvSpPr/>
              <p:nvPr/>
            </p:nvSpPr>
            <p:spPr>
              <a:xfrm>
                <a:off x="7686898" y="3744605"/>
                <a:ext cx="942325" cy="360000"/>
              </a:xfrm>
              <a:prstGeom prst="rect">
                <a:avLst/>
              </a:prstGeom>
              <a:solidFill>
                <a:schemeClr val="accent2"/>
              </a:solidFill>
              <a:ln cap="flat" cmpd="sng" w="9525">
                <a:solidFill>
                  <a:srgbClr val="B4CBE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5"/>
              <p:cNvSpPr/>
              <p:nvPr/>
            </p:nvSpPr>
            <p:spPr>
              <a:xfrm>
                <a:off x="7686898" y="3780569"/>
                <a:ext cx="952559" cy="2290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1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발행물 접수</a:t>
                </a:r>
                <a:endParaRPr/>
              </a:p>
            </p:txBody>
          </p:sp>
        </p:grpSp>
        <p:sp>
          <p:nvSpPr>
            <p:cNvPr id="237" name="Google Shape;237;p5"/>
            <p:cNvSpPr/>
            <p:nvPr/>
          </p:nvSpPr>
          <p:spPr>
            <a:xfrm>
              <a:off x="7359435" y="3292535"/>
              <a:ext cx="1302027" cy="250269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외부망 발행물</a:t>
              </a:r>
              <a:endPara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8" name="Google Shape;238;p5"/>
            <p:cNvGrpSpPr/>
            <p:nvPr/>
          </p:nvGrpSpPr>
          <p:grpSpPr>
            <a:xfrm>
              <a:off x="7542882" y="4171620"/>
              <a:ext cx="952559" cy="360000"/>
              <a:chOff x="7686898" y="3744605"/>
              <a:chExt cx="952559" cy="360000"/>
            </a:xfrm>
          </p:grpSpPr>
          <p:sp>
            <p:nvSpPr>
              <p:cNvPr id="239" name="Google Shape;239;p5"/>
              <p:cNvSpPr/>
              <p:nvPr/>
            </p:nvSpPr>
            <p:spPr>
              <a:xfrm>
                <a:off x="7686898" y="3744605"/>
                <a:ext cx="942325" cy="360000"/>
              </a:xfrm>
              <a:prstGeom prst="rect">
                <a:avLst/>
              </a:prstGeom>
              <a:solidFill>
                <a:schemeClr val="accent2"/>
              </a:solidFill>
              <a:ln cap="flat" cmpd="sng" w="9525">
                <a:solidFill>
                  <a:srgbClr val="B4CBE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5"/>
              <p:cNvSpPr/>
              <p:nvPr/>
            </p:nvSpPr>
            <p:spPr>
              <a:xfrm>
                <a:off x="7686898" y="3780569"/>
                <a:ext cx="952559" cy="2290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1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발행물 생성</a:t>
                </a:r>
                <a:endParaRPr/>
              </a:p>
            </p:txBody>
          </p:sp>
        </p:grpSp>
        <p:sp>
          <p:nvSpPr>
            <p:cNvPr id="241" name="Google Shape;241;p5"/>
            <p:cNvSpPr/>
            <p:nvPr/>
          </p:nvSpPr>
          <p:spPr>
            <a:xfrm>
              <a:off x="5722680" y="5527154"/>
              <a:ext cx="1134851" cy="845703"/>
            </a:xfrm>
            <a:prstGeom prst="rect">
              <a:avLst/>
            </a:prstGeom>
            <a:solidFill>
              <a:srgbClr val="F2F2F2"/>
            </a:solidFill>
            <a:ln cap="flat" cmpd="sng" w="19050">
              <a:solidFill>
                <a:srgbClr val="BAC5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50075" lIns="100175" spcFirstLastPara="1" rIns="100175" wrap="square" tIns="72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5"/>
            <p:cNvSpPr/>
            <p:nvPr/>
          </p:nvSpPr>
          <p:spPr>
            <a:xfrm>
              <a:off x="5800612" y="5544765"/>
              <a:ext cx="978986" cy="7659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EDMS</a:t>
              </a:r>
              <a:endPara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5"/>
            <p:cNvSpPr/>
            <p:nvPr/>
          </p:nvSpPr>
          <p:spPr>
            <a:xfrm>
              <a:off x="5836020" y="6077662"/>
              <a:ext cx="900000" cy="216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B4CBE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EDMS저장</a:t>
              </a:r>
              <a:endParaRPr/>
            </a:p>
          </p:txBody>
        </p:sp>
        <p:sp>
          <p:nvSpPr>
            <p:cNvPr id="244" name="Google Shape;244;p5"/>
            <p:cNvSpPr/>
            <p:nvPr/>
          </p:nvSpPr>
          <p:spPr>
            <a:xfrm>
              <a:off x="5836020" y="5789630"/>
              <a:ext cx="900000" cy="216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B4CBE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이미지변환</a:t>
              </a:r>
              <a:endParaRPr/>
            </a:p>
          </p:txBody>
        </p:sp>
        <p:sp>
          <p:nvSpPr>
            <p:cNvPr id="245" name="Google Shape;245;p5"/>
            <p:cNvSpPr/>
            <p:nvPr/>
          </p:nvSpPr>
          <p:spPr>
            <a:xfrm>
              <a:off x="5722680" y="6414386"/>
              <a:ext cx="1134851" cy="570539"/>
            </a:xfrm>
            <a:prstGeom prst="rect">
              <a:avLst/>
            </a:prstGeom>
            <a:solidFill>
              <a:srgbClr val="E4F0F8"/>
            </a:solidFill>
            <a:ln cap="flat" cmpd="sng" w="15875">
              <a:solidFill>
                <a:srgbClr val="AFD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5"/>
            <p:cNvSpPr/>
            <p:nvPr/>
          </p:nvSpPr>
          <p:spPr>
            <a:xfrm>
              <a:off x="5800612" y="6428958"/>
              <a:ext cx="978986" cy="2679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발행물관리</a:t>
              </a:r>
              <a:endPara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5"/>
            <p:cNvSpPr/>
            <p:nvPr/>
          </p:nvSpPr>
          <p:spPr>
            <a:xfrm>
              <a:off x="5836020" y="6707941"/>
              <a:ext cx="900000" cy="216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B4CBE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통계관리</a:t>
              </a:r>
              <a:endParaRPr/>
            </a:p>
          </p:txBody>
        </p:sp>
        <p:sp>
          <p:nvSpPr>
            <p:cNvPr id="248" name="Google Shape;248;p5"/>
            <p:cNvSpPr/>
            <p:nvPr/>
          </p:nvSpPr>
          <p:spPr>
            <a:xfrm>
              <a:off x="632494" y="2664445"/>
              <a:ext cx="883568" cy="208245"/>
            </a:xfrm>
            <a:prstGeom prst="rect">
              <a:avLst/>
            </a:prstGeom>
            <a:solidFill>
              <a:srgbClr val="D8E9F4"/>
            </a:solidFill>
            <a:ln>
              <a:noFill/>
            </a:ln>
            <a:effectLst>
              <a:outerShdw rotWithShape="0" algn="tl" dir="16200000" dist="25400">
                <a:srgbClr val="8DBDDF"/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사용자</a:t>
              </a:r>
              <a:endParaRPr/>
            </a:p>
          </p:txBody>
        </p:sp>
        <p:grpSp>
          <p:nvGrpSpPr>
            <p:cNvPr id="249" name="Google Shape;249;p5"/>
            <p:cNvGrpSpPr/>
            <p:nvPr/>
          </p:nvGrpSpPr>
          <p:grpSpPr>
            <a:xfrm>
              <a:off x="7542882" y="4636785"/>
              <a:ext cx="952559" cy="360000"/>
              <a:chOff x="7686898" y="3744605"/>
              <a:chExt cx="952559" cy="360000"/>
            </a:xfrm>
          </p:grpSpPr>
          <p:sp>
            <p:nvSpPr>
              <p:cNvPr id="250" name="Google Shape;250;p5"/>
              <p:cNvSpPr/>
              <p:nvPr/>
            </p:nvSpPr>
            <p:spPr>
              <a:xfrm>
                <a:off x="7686898" y="3744605"/>
                <a:ext cx="942325" cy="360000"/>
              </a:xfrm>
              <a:prstGeom prst="rect">
                <a:avLst/>
              </a:prstGeom>
              <a:solidFill>
                <a:schemeClr val="accent2"/>
              </a:solidFill>
              <a:ln cap="flat" cmpd="sng" w="9525">
                <a:solidFill>
                  <a:srgbClr val="B4CBE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5"/>
              <p:cNvSpPr/>
              <p:nvPr/>
            </p:nvSpPr>
            <p:spPr>
              <a:xfrm>
                <a:off x="7686898" y="3780569"/>
                <a:ext cx="952559" cy="2290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1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파일 변환</a:t>
                </a:r>
                <a:endParaRPr/>
              </a:p>
            </p:txBody>
          </p:sp>
        </p:grpSp>
        <p:grpSp>
          <p:nvGrpSpPr>
            <p:cNvPr id="252" name="Google Shape;252;p5"/>
            <p:cNvGrpSpPr/>
            <p:nvPr/>
          </p:nvGrpSpPr>
          <p:grpSpPr>
            <a:xfrm>
              <a:off x="7547742" y="5101950"/>
              <a:ext cx="925455" cy="370807"/>
              <a:chOff x="7547742" y="5068182"/>
              <a:chExt cx="925455" cy="370807"/>
            </a:xfrm>
          </p:grpSpPr>
          <p:sp>
            <p:nvSpPr>
              <p:cNvPr id="253" name="Google Shape;253;p5"/>
              <p:cNvSpPr/>
              <p:nvPr/>
            </p:nvSpPr>
            <p:spPr>
              <a:xfrm>
                <a:off x="7565125" y="5068182"/>
                <a:ext cx="908072" cy="370807"/>
              </a:xfrm>
              <a:prstGeom prst="flowChartMagneticDisk">
                <a:avLst/>
              </a:prstGeom>
              <a:solidFill>
                <a:schemeClr val="accent2"/>
              </a:solidFill>
              <a:ln cap="flat" cmpd="sng" w="9525">
                <a:solidFill>
                  <a:srgbClr val="B4CBE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5"/>
              <p:cNvSpPr/>
              <p:nvPr/>
            </p:nvSpPr>
            <p:spPr>
              <a:xfrm>
                <a:off x="7547742" y="5175143"/>
                <a:ext cx="905878" cy="2290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1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발행물 서식</a:t>
                </a:r>
                <a:endParaRPr/>
              </a:p>
            </p:txBody>
          </p:sp>
        </p:grpSp>
        <p:sp>
          <p:nvSpPr>
            <p:cNvPr id="255" name="Google Shape;255;p5"/>
            <p:cNvSpPr/>
            <p:nvPr/>
          </p:nvSpPr>
          <p:spPr>
            <a:xfrm>
              <a:off x="8823508" y="3280899"/>
              <a:ext cx="1296144" cy="2419769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B4CBE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6" name="Google Shape;256;p5"/>
            <p:cNvGrpSpPr/>
            <p:nvPr/>
          </p:nvGrpSpPr>
          <p:grpSpPr>
            <a:xfrm>
              <a:off x="9001072" y="3706455"/>
              <a:ext cx="952559" cy="360000"/>
              <a:chOff x="7686898" y="3744605"/>
              <a:chExt cx="952559" cy="360000"/>
            </a:xfrm>
          </p:grpSpPr>
          <p:sp>
            <p:nvSpPr>
              <p:cNvPr id="257" name="Google Shape;257;p5"/>
              <p:cNvSpPr/>
              <p:nvPr/>
            </p:nvSpPr>
            <p:spPr>
              <a:xfrm>
                <a:off x="7686898" y="3744605"/>
                <a:ext cx="942325" cy="360000"/>
              </a:xfrm>
              <a:prstGeom prst="rect">
                <a:avLst/>
              </a:prstGeom>
              <a:solidFill>
                <a:schemeClr val="accent2"/>
              </a:solidFill>
              <a:ln cap="flat" cmpd="sng" w="9525">
                <a:solidFill>
                  <a:srgbClr val="B4CBE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5"/>
              <p:cNvSpPr/>
              <p:nvPr/>
            </p:nvSpPr>
            <p:spPr>
              <a:xfrm>
                <a:off x="7686898" y="3780569"/>
                <a:ext cx="952559" cy="2290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1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발행물 접수</a:t>
                </a:r>
                <a:endParaRPr/>
              </a:p>
            </p:txBody>
          </p:sp>
        </p:grpSp>
        <p:sp>
          <p:nvSpPr>
            <p:cNvPr id="259" name="Google Shape;259;p5"/>
            <p:cNvSpPr/>
            <p:nvPr/>
          </p:nvSpPr>
          <p:spPr>
            <a:xfrm>
              <a:off x="8817625" y="3292535"/>
              <a:ext cx="1302027" cy="250269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내부망 발행물</a:t>
              </a:r>
              <a:endPara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0" name="Google Shape;260;p5"/>
            <p:cNvGrpSpPr/>
            <p:nvPr/>
          </p:nvGrpSpPr>
          <p:grpSpPr>
            <a:xfrm>
              <a:off x="9001072" y="4171620"/>
              <a:ext cx="952559" cy="360000"/>
              <a:chOff x="7686898" y="3744605"/>
              <a:chExt cx="952559" cy="360000"/>
            </a:xfrm>
          </p:grpSpPr>
          <p:sp>
            <p:nvSpPr>
              <p:cNvPr id="261" name="Google Shape;261;p5"/>
              <p:cNvSpPr/>
              <p:nvPr/>
            </p:nvSpPr>
            <p:spPr>
              <a:xfrm>
                <a:off x="7686898" y="3744605"/>
                <a:ext cx="942325" cy="360000"/>
              </a:xfrm>
              <a:prstGeom prst="rect">
                <a:avLst/>
              </a:prstGeom>
              <a:solidFill>
                <a:schemeClr val="accent2"/>
              </a:solidFill>
              <a:ln cap="flat" cmpd="sng" w="9525">
                <a:solidFill>
                  <a:srgbClr val="B4CBE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5"/>
              <p:cNvSpPr/>
              <p:nvPr/>
            </p:nvSpPr>
            <p:spPr>
              <a:xfrm>
                <a:off x="7686898" y="3780569"/>
                <a:ext cx="952559" cy="2290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1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발행물 생성</a:t>
                </a:r>
                <a:endParaRPr/>
              </a:p>
            </p:txBody>
          </p:sp>
        </p:grpSp>
        <p:grpSp>
          <p:nvGrpSpPr>
            <p:cNvPr id="263" name="Google Shape;263;p5"/>
            <p:cNvGrpSpPr/>
            <p:nvPr/>
          </p:nvGrpSpPr>
          <p:grpSpPr>
            <a:xfrm>
              <a:off x="9001072" y="4636785"/>
              <a:ext cx="952559" cy="360000"/>
              <a:chOff x="7686898" y="3744605"/>
              <a:chExt cx="952559" cy="360000"/>
            </a:xfrm>
          </p:grpSpPr>
          <p:sp>
            <p:nvSpPr>
              <p:cNvPr id="264" name="Google Shape;264;p5"/>
              <p:cNvSpPr/>
              <p:nvPr/>
            </p:nvSpPr>
            <p:spPr>
              <a:xfrm>
                <a:off x="7686898" y="3744605"/>
                <a:ext cx="942325" cy="360000"/>
              </a:xfrm>
              <a:prstGeom prst="rect">
                <a:avLst/>
              </a:prstGeom>
              <a:solidFill>
                <a:schemeClr val="accent2"/>
              </a:solidFill>
              <a:ln cap="flat" cmpd="sng" w="9525">
                <a:solidFill>
                  <a:srgbClr val="B4CBE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" name="Google Shape;265;p5"/>
              <p:cNvSpPr/>
              <p:nvPr/>
            </p:nvSpPr>
            <p:spPr>
              <a:xfrm>
                <a:off x="7686898" y="3780569"/>
                <a:ext cx="952559" cy="2290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1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파일 변환</a:t>
                </a:r>
                <a:endParaRPr/>
              </a:p>
            </p:txBody>
          </p:sp>
        </p:grpSp>
        <p:grpSp>
          <p:nvGrpSpPr>
            <p:cNvPr id="266" name="Google Shape;266;p5"/>
            <p:cNvGrpSpPr/>
            <p:nvPr/>
          </p:nvGrpSpPr>
          <p:grpSpPr>
            <a:xfrm>
              <a:off x="9005932" y="5101950"/>
              <a:ext cx="925455" cy="370807"/>
              <a:chOff x="7547742" y="5068182"/>
              <a:chExt cx="925455" cy="370807"/>
            </a:xfrm>
          </p:grpSpPr>
          <p:sp>
            <p:nvSpPr>
              <p:cNvPr id="267" name="Google Shape;267;p5"/>
              <p:cNvSpPr/>
              <p:nvPr/>
            </p:nvSpPr>
            <p:spPr>
              <a:xfrm>
                <a:off x="7565125" y="5068182"/>
                <a:ext cx="908072" cy="370807"/>
              </a:xfrm>
              <a:prstGeom prst="flowChartMagneticDisk">
                <a:avLst/>
              </a:prstGeom>
              <a:solidFill>
                <a:schemeClr val="accent2"/>
              </a:solidFill>
              <a:ln cap="flat" cmpd="sng" w="9525">
                <a:solidFill>
                  <a:srgbClr val="B4CBE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p5"/>
              <p:cNvSpPr/>
              <p:nvPr/>
            </p:nvSpPr>
            <p:spPr>
              <a:xfrm>
                <a:off x="7547742" y="5175143"/>
                <a:ext cx="905878" cy="2290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1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발행물 서식</a:t>
                </a:r>
                <a:endParaRPr/>
              </a:p>
            </p:txBody>
          </p:sp>
        </p:grpSp>
        <p:sp>
          <p:nvSpPr>
            <p:cNvPr id="269" name="Google Shape;269;p5"/>
            <p:cNvSpPr/>
            <p:nvPr/>
          </p:nvSpPr>
          <p:spPr>
            <a:xfrm>
              <a:off x="7381511" y="6140084"/>
              <a:ext cx="2738141" cy="736829"/>
            </a:xfrm>
            <a:prstGeom prst="rect">
              <a:avLst/>
            </a:prstGeom>
            <a:solidFill>
              <a:srgbClr val="F2F2F2"/>
            </a:solidFill>
            <a:ln cap="flat" cmpd="sng" w="19050">
              <a:solidFill>
                <a:srgbClr val="BAC5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50075" lIns="100175" spcFirstLastPara="1" rIns="100175" wrap="square" tIns="72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5"/>
            <p:cNvSpPr/>
            <p:nvPr/>
          </p:nvSpPr>
          <p:spPr>
            <a:xfrm>
              <a:off x="7568762" y="6174069"/>
              <a:ext cx="2362074" cy="52266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형상 배포 시스템 PMS</a:t>
              </a:r>
              <a:endPara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5"/>
            <p:cNvSpPr/>
            <p:nvPr/>
          </p:nvSpPr>
          <p:spPr>
            <a:xfrm>
              <a:off x="7974931" y="6411558"/>
              <a:ext cx="1552824" cy="388731"/>
            </a:xfrm>
            <a:prstGeom prst="flowChartMagneticDisk">
              <a:avLst/>
            </a:prstGeom>
            <a:solidFill>
              <a:schemeClr val="lt1"/>
            </a:solidFill>
            <a:ln cap="flat" cmpd="sng" w="9525">
              <a:solidFill>
                <a:srgbClr val="B4CBE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발행물 서식 저장소</a:t>
              </a:r>
              <a:endParaRPr/>
            </a:p>
          </p:txBody>
        </p:sp>
        <p:cxnSp>
          <p:nvCxnSpPr>
            <p:cNvPr id="272" name="Google Shape;272;p5"/>
            <p:cNvCxnSpPr>
              <a:stCxn id="253" idx="3"/>
              <a:endCxn id="270" idx="0"/>
            </p:cNvCxnSpPr>
            <p:nvPr/>
          </p:nvCxnSpPr>
          <p:spPr>
            <a:xfrm flipH="1" rot="-5400000">
              <a:off x="8033711" y="5458207"/>
              <a:ext cx="701400" cy="730500"/>
            </a:xfrm>
            <a:prstGeom prst="bentConnector3">
              <a:avLst>
                <a:gd fmla="val 193972" name="adj1"/>
              </a:avLst>
            </a:prstGeom>
            <a:noFill/>
            <a:ln cap="flat" cmpd="sng" w="28575">
              <a:solidFill>
                <a:srgbClr val="00CB97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73" name="Google Shape;273;p5"/>
            <p:cNvCxnSpPr>
              <a:stCxn id="267" idx="3"/>
              <a:endCxn id="270" idx="0"/>
            </p:cNvCxnSpPr>
            <p:nvPr/>
          </p:nvCxnSpPr>
          <p:spPr>
            <a:xfrm rot="5400000">
              <a:off x="8762901" y="5459707"/>
              <a:ext cx="701400" cy="727500"/>
            </a:xfrm>
            <a:prstGeom prst="bentConnector3">
              <a:avLst>
                <a:gd fmla="val 195285" name="adj1"/>
              </a:avLst>
            </a:prstGeom>
            <a:noFill/>
            <a:ln cap="flat" cmpd="sng" w="28575">
              <a:solidFill>
                <a:srgbClr val="00CB97"/>
              </a:solidFill>
              <a:prstDash val="dot"/>
              <a:round/>
              <a:headEnd len="sm" w="sm" type="none"/>
              <a:tailEnd len="sm" w="sm" type="none"/>
            </a:ln>
          </p:spPr>
        </p:cxnSp>
        <p:sp>
          <p:nvSpPr>
            <p:cNvPr id="274" name="Google Shape;274;p5"/>
            <p:cNvSpPr/>
            <p:nvPr/>
          </p:nvSpPr>
          <p:spPr>
            <a:xfrm>
              <a:off x="8099672" y="5745450"/>
              <a:ext cx="1303969" cy="243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발행 양식 동기화</a:t>
              </a:r>
              <a:endParaRPr/>
            </a:p>
          </p:txBody>
        </p:sp>
        <p:grpSp>
          <p:nvGrpSpPr>
            <p:cNvPr id="275" name="Google Shape;275;p5"/>
            <p:cNvGrpSpPr/>
            <p:nvPr/>
          </p:nvGrpSpPr>
          <p:grpSpPr>
            <a:xfrm>
              <a:off x="3879999" y="6480756"/>
              <a:ext cx="1364262" cy="288145"/>
              <a:chOff x="3385273" y="6124202"/>
              <a:chExt cx="1164641" cy="292782"/>
            </a:xfrm>
          </p:grpSpPr>
          <p:sp>
            <p:nvSpPr>
              <p:cNvPr id="276" name="Google Shape;276;p5"/>
              <p:cNvSpPr/>
              <p:nvPr/>
            </p:nvSpPr>
            <p:spPr>
              <a:xfrm>
                <a:off x="3385273" y="6124202"/>
                <a:ext cx="1164641" cy="292782"/>
              </a:xfrm>
              <a:prstGeom prst="rect">
                <a:avLst/>
              </a:prstGeom>
              <a:solidFill>
                <a:schemeClr val="accent2"/>
              </a:solidFill>
              <a:ln cap="flat" cmpd="sng" w="9525">
                <a:solidFill>
                  <a:srgbClr val="B4CBE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5"/>
              <p:cNvSpPr/>
              <p:nvPr/>
            </p:nvSpPr>
            <p:spPr>
              <a:xfrm>
                <a:off x="3474355" y="6154492"/>
                <a:ext cx="984184" cy="2258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05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스트리밍</a:t>
                </a:r>
                <a:endParaRPr/>
              </a:p>
            </p:txBody>
          </p:sp>
        </p:grpSp>
      </p:grpSp>
      <p:sp>
        <p:nvSpPr>
          <p:cNvPr id="278" name="Google Shape;278;p5"/>
          <p:cNvSpPr/>
          <p:nvPr/>
        </p:nvSpPr>
        <p:spPr>
          <a:xfrm>
            <a:off x="3333805" y="4673346"/>
            <a:ext cx="1453652" cy="139221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9" name="Google Shape;279;p5"/>
          <p:cNvGrpSpPr/>
          <p:nvPr/>
        </p:nvGrpSpPr>
        <p:grpSpPr>
          <a:xfrm flipH="1">
            <a:off x="4535423" y="4274937"/>
            <a:ext cx="367080" cy="358732"/>
            <a:chOff x="830080" y="9348175"/>
            <a:chExt cx="647992" cy="647992"/>
          </a:xfrm>
        </p:grpSpPr>
        <p:sp>
          <p:nvSpPr>
            <p:cNvPr id="280" name="Google Shape;280;p5"/>
            <p:cNvSpPr/>
            <p:nvPr/>
          </p:nvSpPr>
          <p:spPr>
            <a:xfrm>
              <a:off x="830080" y="9348175"/>
              <a:ext cx="647992" cy="647992"/>
            </a:xfrm>
            <a:prstGeom prst="wedgeEllipseCallout">
              <a:avLst>
                <a:gd fmla="val 37690" name="adj1"/>
                <a:gd fmla="val 63724" name="adj2"/>
              </a:avLst>
            </a:prstGeom>
            <a:solidFill>
              <a:srgbClr val="C9157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5"/>
            <p:cNvSpPr/>
            <p:nvPr/>
          </p:nvSpPr>
          <p:spPr>
            <a:xfrm>
              <a:off x="939007" y="9533688"/>
              <a:ext cx="430134" cy="2769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신규</a:t>
              </a:r>
              <a:endParaRPr/>
            </a:p>
          </p:txBody>
        </p:sp>
      </p:grpSp>
      <p:sp>
        <p:nvSpPr>
          <p:cNvPr id="282" name="Google Shape;282;p5"/>
          <p:cNvSpPr/>
          <p:nvPr/>
        </p:nvSpPr>
        <p:spPr>
          <a:xfrm>
            <a:off x="6554290" y="2268547"/>
            <a:ext cx="2691520" cy="2577816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5"/>
          <p:cNvSpPr/>
          <p:nvPr/>
        </p:nvSpPr>
        <p:spPr>
          <a:xfrm>
            <a:off x="7339208" y="1947789"/>
            <a:ext cx="1259796" cy="265432"/>
          </a:xfrm>
          <a:prstGeom prst="roundRect">
            <a:avLst>
              <a:gd fmla="val 50000" name="adj"/>
            </a:avLst>
          </a:prstGeom>
          <a:solidFill>
            <a:srgbClr val="FFFFCC"/>
          </a:solidFill>
          <a:ln cap="flat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ctr">
              <a:srgbClr val="000000">
                <a:alpha val="40000"/>
              </a:srgbClr>
            </a:outerShdw>
          </a:effectLst>
        </p:spPr>
        <p:txBody>
          <a:bodyPr anchorCtr="0" anchor="ctr" bIns="45700" lIns="36000" spcFirstLastPara="1" rIns="360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내 ·외부망  통합</a:t>
            </a:r>
            <a:endParaRPr/>
          </a:p>
        </p:txBody>
      </p:sp>
      <p:sp>
        <p:nvSpPr>
          <p:cNvPr id="284" name="Google Shape;284;p5"/>
          <p:cNvSpPr/>
          <p:nvPr/>
        </p:nvSpPr>
        <p:spPr>
          <a:xfrm>
            <a:off x="5131422" y="5518865"/>
            <a:ext cx="1076646" cy="620628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6"/>
          <p:cNvSpPr txBox="1"/>
          <p:nvPr/>
        </p:nvSpPr>
        <p:spPr>
          <a:xfrm>
            <a:off x="417770" y="714190"/>
            <a:ext cx="8964356" cy="926783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아키텍처 설계</a:t>
            </a:r>
            <a:endParaRPr b="1" i="0" sz="14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2.1 아키텍처 설계 원칙 (1/2)</a:t>
            </a:r>
            <a:endParaRPr/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S/W 아키텍처 방향성에 따라 아키텍처 기본 원칙은 정의하여 이에 따라 최적화된 아키텍처를 구성하도록 가이드를 제시한다.</a:t>
            </a:r>
            <a:endParaRPr/>
          </a:p>
        </p:txBody>
      </p:sp>
      <p:graphicFrame>
        <p:nvGraphicFramePr>
          <p:cNvPr id="290" name="Google Shape;290;p6"/>
          <p:cNvGraphicFramePr/>
          <p:nvPr/>
        </p:nvGraphicFramePr>
        <p:xfrm>
          <a:off x="419100" y="1700808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{F6045412-04BD-4F82-B1B7-2730D475FC39}</a:tableStyleId>
              </a:tblPr>
              <a:tblGrid>
                <a:gridCol w="1797600"/>
                <a:gridCol w="1440150"/>
                <a:gridCol w="4968550"/>
                <a:gridCol w="869250"/>
              </a:tblGrid>
              <a:tr h="323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분 류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22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대분류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22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내역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22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비고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22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535550">
                <a:tc row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어플리케이션 기반 기술</a:t>
                      </a:r>
                      <a:endParaRPr/>
                    </a:p>
                  </a:txBody>
                  <a:tcPr marT="0" marB="0" marR="22600" marL="22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개발언어</a:t>
                      </a:r>
                      <a:endParaRPr/>
                    </a:p>
                  </a:txBody>
                  <a:tcPr marT="0" marB="0" marR="22600" marL="22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Noto Sans Symbols"/>
                        <a:buChar char="✔"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JAVA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l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Noto Sans Symbols"/>
                        <a:buChar char="✔"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openJDK 1.21 이상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22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 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22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55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개발방식</a:t>
                      </a:r>
                      <a:endParaRPr/>
                    </a:p>
                  </a:txBody>
                  <a:tcPr marT="0" marB="0" marR="22600" marL="22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Noto Sans Symbols"/>
                        <a:buChar char="✔"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MVC(Model-View-controller) 패턴</a:t>
                      </a:r>
                      <a:endParaRPr/>
                    </a:p>
                  </a:txBody>
                  <a:tcPr marT="0" marB="0" marR="22600" marL="22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 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22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55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클라이언트</a:t>
                      </a:r>
                      <a:endParaRPr/>
                    </a:p>
                  </a:txBody>
                  <a:tcPr marT="0" marB="0" marR="22600" marL="22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Noto Sans Symbols"/>
                        <a:buChar char="✔"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JSP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l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Noto Sans Symbols"/>
                        <a:buChar char="✔"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JSTL 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22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 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22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55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개발도구</a:t>
                      </a:r>
                      <a:endParaRPr/>
                    </a:p>
                  </a:txBody>
                  <a:tcPr marT="0" marB="0" marR="22600" marL="22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Noto Sans Symbols"/>
                        <a:buChar char="✔"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Eclipse 기반 Hi2 Framework (BXM) ( JDK21버젼 신규 개발도구 )</a:t>
                      </a:r>
                      <a:endParaRPr/>
                    </a:p>
                  </a:txBody>
                  <a:tcPr marT="0" marB="0" marR="22600" marL="22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 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22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55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캐릭터 셋</a:t>
                      </a:r>
                      <a:endParaRPr/>
                    </a:p>
                  </a:txBody>
                  <a:tcPr marT="0" marB="0" marR="22600" marL="22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Noto Sans Symbols"/>
                        <a:buChar char="✔"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UI: UTF-8, WAS: UTF-8, DB: KO16MSWIN949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22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 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22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55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데이터베이스</a:t>
                      </a:r>
                      <a:endParaRPr/>
                    </a:p>
                  </a:txBody>
                  <a:tcPr marT="0" marB="0" marR="22600" marL="22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Noto Sans Symbols"/>
                        <a:buChar char="✔"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Oracle 19c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22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 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22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555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어플리케이션 원칙</a:t>
                      </a:r>
                      <a:endParaRPr/>
                    </a:p>
                  </a:txBody>
                  <a:tcPr marT="0" marB="0" marR="22600" marL="22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프레임워크 사용</a:t>
                      </a:r>
                      <a:endParaRPr/>
                    </a:p>
                  </a:txBody>
                  <a:tcPr marT="0" marB="0" marR="22600" marL="22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Noto Sans Symbols"/>
                        <a:buChar char="✔"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현대해상 Hi2 Framework (BXM) 적용 ( JDK21버젼 신규 프레임워크 )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22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 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22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55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개발 표준화</a:t>
                      </a:r>
                      <a:endParaRPr/>
                    </a:p>
                  </a:txBody>
                  <a:tcPr marT="0" marB="0" marR="22600" marL="22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Noto Sans Symbols"/>
                        <a:buChar char="✔"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표준화된 개발 프로세스에 의한 개발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Noto Sans Symbols"/>
                        <a:buChar char="✔"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프레임워크를 통해 JEE 어플리케이션 개발 표준화</a:t>
                      </a:r>
                      <a:endParaRPr/>
                    </a:p>
                  </a:txBody>
                  <a:tcPr marT="0" marB="0" marR="22600" marL="22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 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22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5" name="Google Shape;295;p7"/>
          <p:cNvGraphicFramePr/>
          <p:nvPr/>
        </p:nvGraphicFramePr>
        <p:xfrm>
          <a:off x="417770" y="147320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{F6045412-04BD-4F82-B1B7-2730D475FC39}</a:tableStyleId>
              </a:tblPr>
              <a:tblGrid>
                <a:gridCol w="1798925"/>
                <a:gridCol w="1440150"/>
                <a:gridCol w="4968550"/>
                <a:gridCol w="869250"/>
              </a:tblGrid>
              <a:tr h="286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분 류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22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대분류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22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내역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22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비고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22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1512475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인터페이스  원칙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22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표준 전문 사용</a:t>
                      </a:r>
                      <a:endParaRPr b="0"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108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Noto Sans Symbols"/>
                        <a:buChar char="✔"/>
                      </a:pPr>
                      <a:r>
                        <a:rPr b="0"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어플리케이션간, 시스템간 인터페이스 시 표준 전문을 사용</a:t>
                      </a:r>
                      <a:endParaRPr/>
                    </a:p>
                    <a:p>
                      <a:pPr indent="-342900" lvl="0" marL="342900" marR="0" rtl="0" algn="just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Noto Sans Symbols"/>
                        <a:buChar char="✔"/>
                      </a:pPr>
                      <a:r>
                        <a:rPr b="0"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시스템간 온라인 연계(EAI) :  JSON 기본, XML 사용가능 </a:t>
                      </a:r>
                      <a:endParaRPr b="0"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180000" marL="22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 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22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124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채널/대내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연계 사용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108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Noto Sans Symbols"/>
                        <a:buChar char="✔"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시스템간, 채널간 연계는 채널/대내연계(EAI)를 기본으로 함</a:t>
                      </a:r>
                      <a:endParaRPr/>
                    </a:p>
                    <a:p>
                      <a:pPr indent="-342900" lvl="0" marL="342900" marR="0" rtl="0" algn="just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Noto Sans Symbols"/>
                        <a:buChar char="✔"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표준전문(JSON 포맷) 및 표준 프로토콜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just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      (HTTP, HTTPS, SOAP, SOCKET, FTP 및 JDBC)로 기본 처리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180000" marL="22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 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22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124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대외 연계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108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just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Noto Sans Symbols"/>
                        <a:buChar char="✔"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대외연계는 기존 대외 기관의 인터페이스에 맞춰 구현캐릭터 셋 변경 및 전문 암호화 등은 전송시스템에서 진행 </a:t>
                      </a:r>
                      <a:endParaRPr/>
                    </a:p>
                    <a:p>
                      <a:pPr indent="-342900" lvl="0" marL="342900" marR="0" rtl="0" algn="just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Noto Sans Symbols"/>
                        <a:buChar char="✔"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대외 기관과 통신 시 대외계(FEP)를 통해 연계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180000" marL="22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 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22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6" name="Google Shape;296;p7"/>
          <p:cNvSpPr txBox="1"/>
          <p:nvPr/>
        </p:nvSpPr>
        <p:spPr>
          <a:xfrm>
            <a:off x="417770" y="714190"/>
            <a:ext cx="8964356" cy="637153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아키텍처 설계</a:t>
            </a:r>
            <a:endParaRPr b="1" i="0" sz="14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2.1 아키텍처 설계 원칙 (2/2)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8"/>
          <p:cNvSpPr txBox="1"/>
          <p:nvPr/>
        </p:nvSpPr>
        <p:spPr>
          <a:xfrm>
            <a:off x="417770" y="714190"/>
            <a:ext cx="8964356" cy="637153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아키텍처 설계</a:t>
            </a:r>
            <a:endParaRPr b="1" i="0" sz="14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2.2 차세대발행물 아키텍쳐 구성도 ( 보상포탈 )</a:t>
            </a:r>
            <a:endParaRPr/>
          </a:p>
        </p:txBody>
      </p:sp>
      <p:sp>
        <p:nvSpPr>
          <p:cNvPr id="302" name="Google Shape;302;p8"/>
          <p:cNvSpPr/>
          <p:nvPr/>
        </p:nvSpPr>
        <p:spPr>
          <a:xfrm>
            <a:off x="484070" y="1634412"/>
            <a:ext cx="2118772" cy="3005964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51525" lIns="99125" spcFirstLastPara="1" rIns="99125" wrap="square" tIns="5152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웹브라우저</a:t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404755" y="1351343"/>
            <a:ext cx="2268107" cy="4993895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t" bIns="51525" lIns="99125" spcFirstLastPara="1" rIns="99125" wrap="square" tIns="5152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 (PC)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10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711141" y="1868464"/>
            <a:ext cx="1653990" cy="55860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51525" lIns="99125" spcFirstLastPara="1" rIns="99125" wrap="square" tIns="51525">
            <a:no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보상 포탈 업무화면</a:t>
            </a:r>
            <a:endParaRPr b="0" i="0" sz="881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1581672" y="2139745"/>
            <a:ext cx="713745" cy="218089"/>
          </a:xfrm>
          <a:prstGeom prst="roundRect">
            <a:avLst>
              <a:gd fmla="val 6244" name="adj"/>
            </a:avLst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9650" lIns="39650" spcFirstLastPara="1" rIns="39650" wrap="square" tIns="39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전문 송수신(JSON)</a:t>
            </a:r>
            <a:endParaRPr/>
          </a:p>
        </p:txBody>
      </p:sp>
      <p:sp>
        <p:nvSpPr>
          <p:cNvPr id="306" name="Google Shape;306;p8"/>
          <p:cNvSpPr/>
          <p:nvPr/>
        </p:nvSpPr>
        <p:spPr>
          <a:xfrm>
            <a:off x="788534" y="2139745"/>
            <a:ext cx="713745" cy="218089"/>
          </a:xfrm>
          <a:prstGeom prst="roundRect">
            <a:avLst>
              <a:gd fmla="val 6244" name="adj"/>
            </a:avLst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9650" lIns="39650" spcFirstLastPara="1" rIns="39650" wrap="square" tIns="39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XML변환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713617" y="2575972"/>
            <a:ext cx="1649034" cy="1172810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51525" lIns="99125" spcFirstLastPara="1" rIns="99125" wrap="square" tIns="51525">
            <a:noAutofit/>
          </a:bodyPr>
          <a:lstStyle/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OZ Viewer</a:t>
            </a:r>
            <a:endParaRPr/>
          </a:p>
        </p:txBody>
      </p:sp>
      <p:sp>
        <p:nvSpPr>
          <p:cNvPr id="308" name="Google Shape;308;p8"/>
          <p:cNvSpPr/>
          <p:nvPr/>
        </p:nvSpPr>
        <p:spPr>
          <a:xfrm>
            <a:off x="713617" y="3844993"/>
            <a:ext cx="1649034" cy="558609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51525" lIns="99125" spcFirstLastPara="1" rIns="99125" wrap="square" tIns="51525">
            <a:no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848551" y="4115029"/>
            <a:ext cx="1439432" cy="213158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이미지/</a:t>
            </a:r>
            <a:r>
              <a:rPr b="1" i="0" lang="en-US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동영상 </a:t>
            </a:r>
            <a:r>
              <a:rPr b="0" i="0" lang="en-US" sz="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/문서 </a:t>
            </a:r>
            <a:r>
              <a:rPr b="1" i="0" lang="en-US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열람 및 편집</a:t>
            </a:r>
            <a:endParaRPr b="1" i="0" sz="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764792" y="3473899"/>
            <a:ext cx="421028" cy="213158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endParaRPr/>
          </a:p>
        </p:txBody>
      </p:sp>
      <p:sp>
        <p:nvSpPr>
          <p:cNvPr id="311" name="Google Shape;311;p8"/>
          <p:cNvSpPr/>
          <p:nvPr/>
        </p:nvSpPr>
        <p:spPr>
          <a:xfrm>
            <a:off x="1251407" y="3473899"/>
            <a:ext cx="1039054" cy="213158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파일변환(Excel, PDF등)</a:t>
            </a:r>
            <a:endParaRPr/>
          </a:p>
        </p:txBody>
      </p:sp>
      <p:grpSp>
        <p:nvGrpSpPr>
          <p:cNvPr id="312" name="Google Shape;312;p8"/>
          <p:cNvGrpSpPr/>
          <p:nvPr/>
        </p:nvGrpSpPr>
        <p:grpSpPr>
          <a:xfrm>
            <a:off x="764792" y="2853570"/>
            <a:ext cx="1525669" cy="247081"/>
            <a:chOff x="1890296" y="5060073"/>
            <a:chExt cx="1695826" cy="224322"/>
          </a:xfrm>
        </p:grpSpPr>
        <p:sp>
          <p:nvSpPr>
            <p:cNvPr id="313" name="Google Shape;313;p8"/>
            <p:cNvSpPr/>
            <p:nvPr/>
          </p:nvSpPr>
          <p:spPr>
            <a:xfrm>
              <a:off x="1890296" y="5060073"/>
              <a:ext cx="1695826" cy="224322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39650" lIns="39650" spcFirstLastPara="1" rIns="39650" wrap="square" tIns="396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 업무TR 호출전문 전송(대량)</a:t>
              </a:r>
              <a:endParaRPr/>
            </a:p>
          </p:txBody>
        </p:sp>
        <p:sp>
          <p:nvSpPr>
            <p:cNvPr id="314" name="Google Shape;314;p8"/>
            <p:cNvSpPr/>
            <p:nvPr/>
          </p:nvSpPr>
          <p:spPr>
            <a:xfrm flipH="1">
              <a:off x="1931777" y="5097382"/>
              <a:ext cx="149705" cy="149705"/>
            </a:xfrm>
            <a:prstGeom prst="roundRect">
              <a:avLst>
                <a:gd fmla="val 16667" name="adj"/>
              </a:avLst>
            </a:prstGeom>
            <a:solidFill>
              <a:srgbClr val="3F3F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5" name="Google Shape;315;p8"/>
          <p:cNvGrpSpPr/>
          <p:nvPr/>
        </p:nvGrpSpPr>
        <p:grpSpPr>
          <a:xfrm>
            <a:off x="764792" y="3163735"/>
            <a:ext cx="1525669" cy="247081"/>
            <a:chOff x="1890296" y="5317375"/>
            <a:chExt cx="1695826" cy="224322"/>
          </a:xfrm>
        </p:grpSpPr>
        <p:sp>
          <p:nvSpPr>
            <p:cNvPr id="316" name="Google Shape;316;p8"/>
            <p:cNvSpPr/>
            <p:nvPr/>
          </p:nvSpPr>
          <p:spPr>
            <a:xfrm>
              <a:off x="1890296" y="5317375"/>
              <a:ext cx="1695826" cy="224322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39650" lIns="39650" spcFirstLastPara="1" rIns="39650" wrap="square" tIns="396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JSON Data 전송 </a:t>
              </a:r>
              <a:endPara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8"/>
            <p:cNvSpPr/>
            <p:nvPr/>
          </p:nvSpPr>
          <p:spPr>
            <a:xfrm flipH="1">
              <a:off x="1931777" y="5354684"/>
              <a:ext cx="149705" cy="149705"/>
            </a:xfrm>
            <a:prstGeom prst="roundRect">
              <a:avLst>
                <a:gd fmla="val 16667" name="adj"/>
              </a:avLst>
            </a:prstGeom>
            <a:solidFill>
              <a:srgbClr val="3F3F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18" name="Google Shape;318;p8"/>
          <p:cNvCxnSpPr>
            <a:stCxn id="304" idx="1"/>
            <a:endCxn id="308" idx="1"/>
          </p:cNvCxnSpPr>
          <p:nvPr/>
        </p:nvCxnSpPr>
        <p:spPr>
          <a:xfrm>
            <a:off x="711141" y="2147769"/>
            <a:ext cx="2400" cy="1976400"/>
          </a:xfrm>
          <a:prstGeom prst="bentConnector3">
            <a:avLst>
              <a:gd fmla="val -9525000" name="adj1"/>
            </a:avLst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cxnSp>
        <p:nvCxnSpPr>
          <p:cNvPr id="319" name="Google Shape;319;p8"/>
          <p:cNvCxnSpPr/>
          <p:nvPr/>
        </p:nvCxnSpPr>
        <p:spPr>
          <a:xfrm rot="5400000">
            <a:off x="956201" y="2508803"/>
            <a:ext cx="228659" cy="0"/>
          </a:xfrm>
          <a:prstGeom prst="straightConnector1">
            <a:avLst/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cxnSp>
        <p:nvCxnSpPr>
          <p:cNvPr id="320" name="Google Shape;320;p8"/>
          <p:cNvCxnSpPr/>
          <p:nvPr/>
        </p:nvCxnSpPr>
        <p:spPr>
          <a:xfrm rot="5400000">
            <a:off x="728630" y="4519827"/>
            <a:ext cx="277568" cy="0"/>
          </a:xfrm>
          <a:prstGeom prst="straightConnector1">
            <a:avLst/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sp>
        <p:nvSpPr>
          <p:cNvPr id="321" name="Google Shape;321;p8"/>
          <p:cNvSpPr txBox="1"/>
          <p:nvPr/>
        </p:nvSpPr>
        <p:spPr>
          <a:xfrm>
            <a:off x="389181" y="4404245"/>
            <a:ext cx="1626779" cy="203191"/>
          </a:xfrm>
          <a:prstGeom prst="rect">
            <a:avLst/>
          </a:prstGeom>
          <a:noFill/>
          <a:ln>
            <a:noFill/>
          </a:ln>
        </p:spPr>
        <p:txBody>
          <a:bodyPr anchorCtr="0" anchor="t" bIns="39650" lIns="39650" spcFirstLastPara="1" rIns="39650" wrap="square" tIns="39650">
            <a:spAutoFit/>
          </a:bodyPr>
          <a:lstStyle/>
          <a:p>
            <a:pPr indent="-85725" lvl="0" marL="857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https://127.0.0.1/exApp</a:t>
            </a:r>
            <a:endParaRPr/>
          </a:p>
        </p:txBody>
      </p:sp>
      <p:cxnSp>
        <p:nvCxnSpPr>
          <p:cNvPr id="322" name="Google Shape;322;p8"/>
          <p:cNvCxnSpPr/>
          <p:nvPr/>
        </p:nvCxnSpPr>
        <p:spPr>
          <a:xfrm rot="5400000">
            <a:off x="2043584" y="4557015"/>
            <a:ext cx="277568" cy="0"/>
          </a:xfrm>
          <a:prstGeom prst="straightConnector1">
            <a:avLst/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sp>
        <p:nvSpPr>
          <p:cNvPr id="323" name="Google Shape;323;p8"/>
          <p:cNvSpPr txBox="1"/>
          <p:nvPr/>
        </p:nvSpPr>
        <p:spPr>
          <a:xfrm>
            <a:off x="1185820" y="4422183"/>
            <a:ext cx="1324323" cy="203191"/>
          </a:xfrm>
          <a:prstGeom prst="rect">
            <a:avLst/>
          </a:prstGeom>
          <a:noFill/>
          <a:ln>
            <a:noFill/>
          </a:ln>
        </p:spPr>
        <p:txBody>
          <a:bodyPr anchorCtr="0" anchor="t" bIns="39650" lIns="39650" spcFirstLastPara="1" rIns="39650" wrap="square" tIns="39650">
            <a:spAutoFit/>
          </a:bodyPr>
          <a:lstStyle/>
          <a:p>
            <a:pPr indent="-85725" lvl="0" marL="85725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wss://127.0.0.1/</a:t>
            </a:r>
            <a:endParaRPr/>
          </a:p>
        </p:txBody>
      </p:sp>
      <p:sp>
        <p:nvSpPr>
          <p:cNvPr id="324" name="Google Shape;324;p8"/>
          <p:cNvSpPr/>
          <p:nvPr/>
        </p:nvSpPr>
        <p:spPr>
          <a:xfrm>
            <a:off x="1972885" y="1613659"/>
            <a:ext cx="389766" cy="207509"/>
          </a:xfrm>
          <a:prstGeom prst="roundRect">
            <a:avLst>
              <a:gd fmla="val 6244" name="adj"/>
            </a:avLst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9650" lIns="39650" spcFirstLastPara="1" rIns="39650" wrap="square" tIns="39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Login</a:t>
            </a:r>
            <a:endParaRPr/>
          </a:p>
        </p:txBody>
      </p:sp>
      <p:sp>
        <p:nvSpPr>
          <p:cNvPr id="325" name="Google Shape;325;p8"/>
          <p:cNvSpPr txBox="1"/>
          <p:nvPr/>
        </p:nvSpPr>
        <p:spPr>
          <a:xfrm>
            <a:off x="867414" y="3889467"/>
            <a:ext cx="1314954" cy="195814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EDMS/</a:t>
            </a:r>
            <a:r>
              <a:rPr b="1" i="0" lang="en-US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동영상</a:t>
            </a: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 FAX Viewer</a:t>
            </a:r>
            <a:endParaRPr b="0" i="0" sz="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6" name="Google Shape;326;p8"/>
          <p:cNvSpPr/>
          <p:nvPr/>
        </p:nvSpPr>
        <p:spPr>
          <a:xfrm>
            <a:off x="711141" y="4623504"/>
            <a:ext cx="1648808" cy="1052531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51525" lIns="99125" spcFirstLastPara="1" rIns="99125" wrap="square" tIns="5152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 통신표준 Agent </a:t>
            </a:r>
            <a:endParaRPr b="1" i="0" sz="9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8"/>
          <p:cNvSpPr/>
          <p:nvPr/>
        </p:nvSpPr>
        <p:spPr>
          <a:xfrm>
            <a:off x="867415" y="4938702"/>
            <a:ext cx="1420568" cy="167658"/>
          </a:xfrm>
          <a:prstGeom prst="roundRect">
            <a:avLst>
              <a:gd fmla="val 6244" name="adj"/>
            </a:avLst>
          </a:prstGeom>
          <a:solidFill>
            <a:srgbClr val="D8D8D8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9650" lIns="39650" spcFirstLastPara="1" rIns="39650" wrap="square" tIns="39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HTTP(s) Service</a:t>
            </a:r>
            <a:endParaRPr/>
          </a:p>
        </p:txBody>
      </p:sp>
      <p:sp>
        <p:nvSpPr>
          <p:cNvPr id="328" name="Google Shape;328;p8"/>
          <p:cNvSpPr/>
          <p:nvPr/>
        </p:nvSpPr>
        <p:spPr>
          <a:xfrm>
            <a:off x="867414" y="5148136"/>
            <a:ext cx="1420568" cy="168344"/>
          </a:xfrm>
          <a:prstGeom prst="roundRect">
            <a:avLst>
              <a:gd fmla="val 6244" name="adj"/>
            </a:avLst>
          </a:prstGeom>
          <a:solidFill>
            <a:srgbClr val="D8D8D8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9650" lIns="39650" spcFirstLastPara="1" rIns="39650" wrap="square" tIns="39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 Controller</a:t>
            </a:r>
            <a:endParaRPr/>
          </a:p>
        </p:txBody>
      </p:sp>
      <p:sp>
        <p:nvSpPr>
          <p:cNvPr id="329" name="Google Shape;329;p8"/>
          <p:cNvSpPr/>
          <p:nvPr/>
        </p:nvSpPr>
        <p:spPr>
          <a:xfrm>
            <a:off x="894882" y="5371090"/>
            <a:ext cx="1400535" cy="276594"/>
          </a:xfrm>
          <a:prstGeom prst="rect">
            <a:avLst/>
          </a:prstGeom>
          <a:solidFill>
            <a:srgbClr val="CCCCCC"/>
          </a:solidFill>
          <a:ln cap="flat" cmpd="sng" w="15875">
            <a:solidFill>
              <a:srgbClr val="0094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9650" lIns="39650" spcFirstLastPara="1" rIns="39650" wrap="square" tIns="39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IExternalApp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Interface 상속</a:t>
            </a:r>
            <a:endParaRPr/>
          </a:p>
        </p:txBody>
      </p:sp>
      <p:sp>
        <p:nvSpPr>
          <p:cNvPr id="330" name="Google Shape;330;p8"/>
          <p:cNvSpPr/>
          <p:nvPr/>
        </p:nvSpPr>
        <p:spPr>
          <a:xfrm>
            <a:off x="721148" y="5725954"/>
            <a:ext cx="481921" cy="408180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9650" lIns="39650" spcFirstLastPara="1" rIns="39650" wrap="square" tIns="39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OZ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8"/>
          <p:cNvSpPr/>
          <p:nvPr/>
        </p:nvSpPr>
        <p:spPr>
          <a:xfrm>
            <a:off x="1737276" y="5696731"/>
            <a:ext cx="475830" cy="25373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9650" lIns="39650" spcFirstLastPara="1" rIns="39650" wrap="square" tIns="39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EDMS I/F DLL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2" name="Google Shape;332;p8"/>
          <p:cNvCxnSpPr>
            <a:stCxn id="330" idx="3"/>
            <a:endCxn id="333" idx="1"/>
          </p:cNvCxnSpPr>
          <p:nvPr/>
        </p:nvCxnSpPr>
        <p:spPr>
          <a:xfrm>
            <a:off x="1203069" y="5930044"/>
            <a:ext cx="168000" cy="239100"/>
          </a:xfrm>
          <a:prstGeom prst="bentConnector3">
            <a:avLst>
              <a:gd fmla="val 49987" name="adj1"/>
            </a:avLst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cxnSp>
        <p:nvCxnSpPr>
          <p:cNvPr id="334" name="Google Shape;334;p8"/>
          <p:cNvCxnSpPr>
            <a:stCxn id="331" idx="2"/>
          </p:cNvCxnSpPr>
          <p:nvPr/>
        </p:nvCxnSpPr>
        <p:spPr>
          <a:xfrm rot="5400000">
            <a:off x="1908141" y="6005820"/>
            <a:ext cx="122400" cy="11700"/>
          </a:xfrm>
          <a:prstGeom prst="bentConnector3">
            <a:avLst>
              <a:gd fmla="val 50023" name="adj1"/>
            </a:avLst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sp>
        <p:nvSpPr>
          <p:cNvPr id="335" name="Google Shape;335;p8"/>
          <p:cNvSpPr/>
          <p:nvPr/>
        </p:nvSpPr>
        <p:spPr>
          <a:xfrm>
            <a:off x="2811948" y="1837806"/>
            <a:ext cx="713745" cy="4430058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51525" lIns="99125" spcFirstLastPara="1" rIns="99125" wrap="square" tIns="5152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</a:t>
            </a:r>
            <a:endParaRPr/>
          </a:p>
        </p:txBody>
      </p:sp>
      <p:sp>
        <p:nvSpPr>
          <p:cNvPr id="336" name="Google Shape;336;p8"/>
          <p:cNvSpPr/>
          <p:nvPr/>
        </p:nvSpPr>
        <p:spPr>
          <a:xfrm>
            <a:off x="6515527" y="1909238"/>
            <a:ext cx="651491" cy="233122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74207" lvl="0" marL="374207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52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8"/>
          <p:cNvSpPr/>
          <p:nvPr/>
        </p:nvSpPr>
        <p:spPr>
          <a:xfrm>
            <a:off x="3617381" y="1837804"/>
            <a:ext cx="2711613" cy="2460273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51525" lIns="99125" spcFirstLastPara="1" rIns="99125" wrap="square" tIns="5152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 FWK</a:t>
            </a:r>
            <a:endParaRPr/>
          </a:p>
        </p:txBody>
      </p:sp>
      <p:sp>
        <p:nvSpPr>
          <p:cNvPr id="338" name="Google Shape;338;p8"/>
          <p:cNvSpPr/>
          <p:nvPr/>
        </p:nvSpPr>
        <p:spPr>
          <a:xfrm>
            <a:off x="6578272" y="1906540"/>
            <a:ext cx="508110" cy="275378"/>
          </a:xfrm>
          <a:prstGeom prst="rect">
            <a:avLst/>
          </a:prstGeom>
          <a:solidFill>
            <a:srgbClr val="D2DCFA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9650" lIns="39650" spcFirstLastPara="1" rIns="39650" wrap="square" tIns="19825">
            <a:noAutofit/>
          </a:bodyPr>
          <a:lstStyle/>
          <a:p>
            <a:pPr indent="0" lvl="1" marL="1749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1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SSO/</a:t>
            </a:r>
            <a:endParaRPr/>
          </a:p>
          <a:p>
            <a:pPr indent="0" lvl="1" marL="1749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1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EAM</a:t>
            </a:r>
            <a:endParaRPr/>
          </a:p>
        </p:txBody>
      </p:sp>
      <p:sp>
        <p:nvSpPr>
          <p:cNvPr id="339" name="Google Shape;339;p8"/>
          <p:cNvSpPr/>
          <p:nvPr/>
        </p:nvSpPr>
        <p:spPr>
          <a:xfrm>
            <a:off x="2703572" y="1351343"/>
            <a:ext cx="3714006" cy="4993895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t" bIns="51525" lIns="99125" spcFirstLastPara="1" rIns="99125" wrap="square" tIns="5152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업무시스템 Application</a:t>
            </a:r>
            <a:endParaRPr/>
          </a:p>
        </p:txBody>
      </p:sp>
      <p:sp>
        <p:nvSpPr>
          <p:cNvPr id="340" name="Google Shape;340;p8"/>
          <p:cNvSpPr/>
          <p:nvPr/>
        </p:nvSpPr>
        <p:spPr>
          <a:xfrm>
            <a:off x="6524382" y="1351343"/>
            <a:ext cx="659160" cy="2946734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t" bIns="51525" lIns="99125" spcFirstLastPara="1" rIns="99125" wrap="square" tIns="5152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I/F Tier</a:t>
            </a:r>
            <a:endParaRPr/>
          </a:p>
        </p:txBody>
      </p:sp>
      <p:sp>
        <p:nvSpPr>
          <p:cNvPr id="341" name="Google Shape;341;p8"/>
          <p:cNvSpPr/>
          <p:nvPr/>
        </p:nvSpPr>
        <p:spPr>
          <a:xfrm>
            <a:off x="3617381" y="5237721"/>
            <a:ext cx="2711613" cy="1030142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1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이미지 변환 WAS</a:t>
            </a:r>
            <a:endParaRPr b="0" i="0" sz="991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2" name="Google Shape;342;p8"/>
          <p:cNvGrpSpPr/>
          <p:nvPr/>
        </p:nvGrpSpPr>
        <p:grpSpPr>
          <a:xfrm>
            <a:off x="2876096" y="2144482"/>
            <a:ext cx="580958" cy="2142426"/>
            <a:chOff x="3986931" y="3032570"/>
            <a:chExt cx="464895" cy="1945081"/>
          </a:xfrm>
        </p:grpSpPr>
        <p:sp>
          <p:nvSpPr>
            <p:cNvPr id="343" name="Google Shape;343;p8"/>
            <p:cNvSpPr/>
            <p:nvPr/>
          </p:nvSpPr>
          <p:spPr>
            <a:xfrm>
              <a:off x="3986931" y="3032570"/>
              <a:ext cx="464895" cy="1945081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39650">
              <a:no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81" u="none" cap="none" strike="noStrik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웹자원</a:t>
              </a:r>
              <a:endParaRPr b="0" i="0" sz="881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8"/>
            <p:cNvSpPr/>
            <p:nvPr/>
          </p:nvSpPr>
          <p:spPr>
            <a:xfrm>
              <a:off x="4039378" y="3258269"/>
              <a:ext cx="360000" cy="198000"/>
            </a:xfrm>
            <a:prstGeom prst="rect">
              <a:avLst/>
            </a:prstGeom>
            <a:solidFill>
              <a:schemeClr val="lt1"/>
            </a:solidFill>
            <a:ln cap="flat" cmpd="sng" w="15875">
              <a:solidFill>
                <a:srgbClr val="9FB3F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9650" lIns="39650" spcFirstLastPara="1" rIns="39650" wrap="square" tIns="39650">
              <a:noAutofit/>
            </a:bodyPr>
            <a:lstStyle/>
            <a:p>
              <a:pPr indent="0" lvl="1" marL="1749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81" u="none" cap="none" strike="noStrik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SSL</a:t>
              </a:r>
              <a:endParaRPr/>
            </a:p>
          </p:txBody>
        </p:sp>
        <p:sp>
          <p:nvSpPr>
            <p:cNvPr id="345" name="Google Shape;345;p8"/>
            <p:cNvSpPr/>
            <p:nvPr/>
          </p:nvSpPr>
          <p:spPr>
            <a:xfrm>
              <a:off x="4039378" y="3788975"/>
              <a:ext cx="360000" cy="198000"/>
            </a:xfrm>
            <a:prstGeom prst="rect">
              <a:avLst/>
            </a:prstGeom>
            <a:solidFill>
              <a:schemeClr val="lt1"/>
            </a:solidFill>
            <a:ln cap="flat" cmpd="sng" w="15875">
              <a:solidFill>
                <a:srgbClr val="9FB3F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9650" lIns="39650" spcFirstLastPara="1" rIns="39650" wrap="square" tIns="39650">
              <a:noAutofit/>
            </a:bodyPr>
            <a:lstStyle/>
            <a:p>
              <a:pPr indent="0" lvl="1" marL="1749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81" u="none" cap="none" strike="noStrik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CSS</a:t>
              </a:r>
              <a:endParaRPr/>
            </a:p>
          </p:txBody>
        </p:sp>
        <p:sp>
          <p:nvSpPr>
            <p:cNvPr id="346" name="Google Shape;346;p8"/>
            <p:cNvSpPr/>
            <p:nvPr/>
          </p:nvSpPr>
          <p:spPr>
            <a:xfrm>
              <a:off x="4039378" y="4054328"/>
              <a:ext cx="360000" cy="198000"/>
            </a:xfrm>
            <a:prstGeom prst="rect">
              <a:avLst/>
            </a:prstGeom>
            <a:solidFill>
              <a:schemeClr val="lt1"/>
            </a:solidFill>
            <a:ln cap="flat" cmpd="sng" w="15875">
              <a:solidFill>
                <a:srgbClr val="9FB3F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9650" lIns="39650" spcFirstLastPara="1" rIns="39650" wrap="square" tIns="39650">
              <a:noAutofit/>
            </a:bodyPr>
            <a:lstStyle/>
            <a:p>
              <a:pPr indent="0" lvl="1" marL="1749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81" u="none" cap="none" strike="noStrik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Image</a:t>
              </a:r>
              <a:endParaRPr/>
            </a:p>
          </p:txBody>
        </p:sp>
        <p:sp>
          <p:nvSpPr>
            <p:cNvPr id="347" name="Google Shape;347;p8"/>
            <p:cNvSpPr/>
            <p:nvPr/>
          </p:nvSpPr>
          <p:spPr>
            <a:xfrm>
              <a:off x="4039378" y="4319681"/>
              <a:ext cx="360000" cy="198000"/>
            </a:xfrm>
            <a:prstGeom prst="rect">
              <a:avLst/>
            </a:prstGeom>
            <a:solidFill>
              <a:schemeClr val="lt1"/>
            </a:solidFill>
            <a:ln cap="flat" cmpd="sng" w="15875">
              <a:solidFill>
                <a:srgbClr val="9FB3F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9650" lIns="39650" spcFirstLastPara="1" rIns="39650" wrap="square" tIns="39650">
              <a:noAutofit/>
            </a:bodyPr>
            <a:lstStyle/>
            <a:p>
              <a:pPr indent="0" lvl="1" marL="1749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81" u="none" cap="none" strike="noStrik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JS</a:t>
              </a:r>
              <a:endParaRPr/>
            </a:p>
          </p:txBody>
        </p:sp>
        <p:sp>
          <p:nvSpPr>
            <p:cNvPr id="348" name="Google Shape;348;p8"/>
            <p:cNvSpPr/>
            <p:nvPr/>
          </p:nvSpPr>
          <p:spPr>
            <a:xfrm>
              <a:off x="4039378" y="4585036"/>
              <a:ext cx="360000" cy="198000"/>
            </a:xfrm>
            <a:prstGeom prst="rect">
              <a:avLst/>
            </a:prstGeom>
            <a:solidFill>
              <a:schemeClr val="lt1"/>
            </a:solidFill>
            <a:ln cap="flat" cmpd="sng" w="15875">
              <a:solidFill>
                <a:srgbClr val="9FB3F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9650" lIns="39650" spcFirstLastPara="1" rIns="39650" wrap="square" tIns="39650">
              <a:noAutofit/>
            </a:bodyPr>
            <a:lstStyle/>
            <a:p>
              <a:pPr indent="0" lvl="1" marL="1749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81" u="none" cap="none" strike="noStrik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HTML</a:t>
              </a:r>
              <a:endParaRPr/>
            </a:p>
          </p:txBody>
        </p:sp>
        <p:sp>
          <p:nvSpPr>
            <p:cNvPr id="349" name="Google Shape;349;p8"/>
            <p:cNvSpPr/>
            <p:nvPr/>
          </p:nvSpPr>
          <p:spPr>
            <a:xfrm>
              <a:off x="4039378" y="3523622"/>
              <a:ext cx="360000" cy="198000"/>
            </a:xfrm>
            <a:prstGeom prst="rect">
              <a:avLst/>
            </a:prstGeom>
            <a:solidFill>
              <a:schemeClr val="lt1"/>
            </a:solidFill>
            <a:ln cap="flat" cmpd="sng" w="15875">
              <a:solidFill>
                <a:srgbClr val="9FB3F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9650" lIns="39650" spcFirstLastPara="1" rIns="39650" wrap="square" tIns="39650">
              <a:noAutofit/>
            </a:bodyPr>
            <a:lstStyle/>
            <a:p>
              <a:pPr indent="0" lvl="1" marL="1749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81" u="none" cap="none" strike="noStrik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XML</a:t>
              </a:r>
              <a:endParaRPr/>
            </a:p>
          </p:txBody>
        </p:sp>
      </p:grpSp>
      <p:sp>
        <p:nvSpPr>
          <p:cNvPr id="350" name="Google Shape;350;p8"/>
          <p:cNvSpPr/>
          <p:nvPr/>
        </p:nvSpPr>
        <p:spPr>
          <a:xfrm>
            <a:off x="3617381" y="4450749"/>
            <a:ext cx="2711613" cy="718927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1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OZ WAS</a:t>
            </a:r>
            <a:endParaRPr/>
          </a:p>
        </p:txBody>
      </p:sp>
      <p:sp>
        <p:nvSpPr>
          <p:cNvPr id="351" name="Google Shape;351;p8"/>
          <p:cNvSpPr/>
          <p:nvPr/>
        </p:nvSpPr>
        <p:spPr>
          <a:xfrm>
            <a:off x="3662841" y="4581279"/>
            <a:ext cx="1028833" cy="19397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9650" lIns="39650" spcFirstLastPara="1" rIns="39650" wrap="square" tIns="19825">
            <a:noAutofit/>
          </a:bodyPr>
          <a:lstStyle/>
          <a:p>
            <a:pPr indent="0" lvl="1" marL="1749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1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OZ PreProcessor</a:t>
            </a:r>
            <a:endParaRPr/>
          </a:p>
        </p:txBody>
      </p:sp>
      <p:sp>
        <p:nvSpPr>
          <p:cNvPr id="352" name="Google Shape;352;p8"/>
          <p:cNvSpPr/>
          <p:nvPr/>
        </p:nvSpPr>
        <p:spPr>
          <a:xfrm>
            <a:off x="3662841" y="4826381"/>
            <a:ext cx="1028833" cy="19397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9650" lIns="39650" spcFirstLastPara="1" rIns="39650" wrap="square" tIns="19825">
            <a:noAutofit/>
          </a:bodyPr>
          <a:lstStyle/>
          <a:p>
            <a:pPr indent="0" lvl="1" marL="1749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1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OZ Processor</a:t>
            </a:r>
            <a:endParaRPr/>
          </a:p>
        </p:txBody>
      </p:sp>
      <p:grpSp>
        <p:nvGrpSpPr>
          <p:cNvPr id="353" name="Google Shape;353;p8"/>
          <p:cNvGrpSpPr/>
          <p:nvPr/>
        </p:nvGrpSpPr>
        <p:grpSpPr>
          <a:xfrm>
            <a:off x="4497187" y="4653441"/>
            <a:ext cx="411764" cy="249392"/>
            <a:chOff x="5817160" y="4555718"/>
            <a:chExt cx="411764" cy="249392"/>
          </a:xfrm>
        </p:grpSpPr>
        <p:pic>
          <p:nvPicPr>
            <p:cNvPr id="354" name="Google Shape;354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817160" y="4555718"/>
              <a:ext cx="269422" cy="2493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5" name="Google Shape;355;p8"/>
            <p:cNvSpPr txBox="1"/>
            <p:nvPr/>
          </p:nvSpPr>
          <p:spPr>
            <a:xfrm>
              <a:off x="5930835" y="4604344"/>
              <a:ext cx="298089" cy="1355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0" lIns="39650" spcFirstLastPara="1" rIns="3965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81" u="none" cap="none" strike="noStrik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OZR</a:t>
              </a:r>
              <a:endParaRPr b="1" sz="88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56" name="Google Shape;356;p8"/>
          <p:cNvCxnSpPr/>
          <p:nvPr/>
        </p:nvCxnSpPr>
        <p:spPr>
          <a:xfrm>
            <a:off x="4122098" y="4708696"/>
            <a:ext cx="0" cy="259215"/>
          </a:xfrm>
          <a:prstGeom prst="straightConnector1">
            <a:avLst/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cxnSp>
        <p:nvCxnSpPr>
          <p:cNvPr id="357" name="Google Shape;357;p8"/>
          <p:cNvCxnSpPr/>
          <p:nvPr/>
        </p:nvCxnSpPr>
        <p:spPr>
          <a:xfrm>
            <a:off x="3080306" y="4190902"/>
            <a:ext cx="190525" cy="0"/>
          </a:xfrm>
          <a:prstGeom prst="straightConnector1">
            <a:avLst/>
          </a:prstGeom>
          <a:noFill/>
          <a:ln cap="rnd" cmpd="sng" w="28575">
            <a:solidFill>
              <a:srgbClr val="7F7F7F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58" name="Google Shape;358;p8"/>
          <p:cNvSpPr/>
          <p:nvPr/>
        </p:nvSpPr>
        <p:spPr>
          <a:xfrm>
            <a:off x="2869181" y="5157626"/>
            <a:ext cx="594788" cy="3172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39650" lIns="39650" spcFirstLastPara="1" rIns="39650" wrap="square" tIns="39650">
            <a:noAutofit/>
          </a:bodyPr>
          <a:lstStyle/>
          <a:p>
            <a:pPr indent="0" lvl="1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1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OZ 뷰어</a:t>
            </a:r>
            <a:endParaRPr b="0" i="0" sz="881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9" name="Google Shape;359;p8"/>
          <p:cNvGrpSpPr/>
          <p:nvPr/>
        </p:nvGrpSpPr>
        <p:grpSpPr>
          <a:xfrm>
            <a:off x="6585517" y="2701546"/>
            <a:ext cx="486870" cy="711957"/>
            <a:chOff x="6172317" y="1989980"/>
            <a:chExt cx="553519" cy="646377"/>
          </a:xfrm>
        </p:grpSpPr>
        <p:sp>
          <p:nvSpPr>
            <p:cNvPr id="360" name="Google Shape;360;p8"/>
            <p:cNvSpPr/>
            <p:nvPr/>
          </p:nvSpPr>
          <p:spPr>
            <a:xfrm>
              <a:off x="6246476" y="2072808"/>
              <a:ext cx="479360" cy="563549"/>
            </a:xfrm>
            <a:prstGeom prst="rect">
              <a:avLst/>
            </a:prstGeom>
            <a:solidFill>
              <a:srgbClr val="D2DCFA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9650" lIns="39650" spcFirstLastPara="1" rIns="39650" wrap="square" tIns="396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13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8"/>
            <p:cNvSpPr/>
            <p:nvPr/>
          </p:nvSpPr>
          <p:spPr>
            <a:xfrm>
              <a:off x="6211310" y="2010454"/>
              <a:ext cx="479360" cy="563549"/>
            </a:xfrm>
            <a:prstGeom prst="rect">
              <a:avLst/>
            </a:prstGeom>
            <a:solidFill>
              <a:srgbClr val="D2DCFA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9650" lIns="39650" spcFirstLastPara="1" rIns="39650" wrap="square" tIns="396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13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8"/>
            <p:cNvSpPr/>
            <p:nvPr/>
          </p:nvSpPr>
          <p:spPr>
            <a:xfrm>
              <a:off x="6172317" y="1989980"/>
              <a:ext cx="479360" cy="525081"/>
            </a:xfrm>
            <a:prstGeom prst="rect">
              <a:avLst/>
            </a:prstGeom>
            <a:solidFill>
              <a:srgbClr val="D2DCFA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9650" lIns="39650" spcFirstLastPara="1" rIns="39650" wrap="square" tIns="19825">
              <a:noAutofit/>
            </a:bodyPr>
            <a:lstStyle/>
            <a:p>
              <a:pPr indent="0" lvl="1" marL="1749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81" u="none" cap="none" strike="noStrik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EAI</a:t>
              </a:r>
              <a:endParaRPr/>
            </a:p>
          </p:txBody>
        </p:sp>
        <p:sp>
          <p:nvSpPr>
            <p:cNvPr id="363" name="Google Shape;363;p8"/>
            <p:cNvSpPr txBox="1"/>
            <p:nvPr/>
          </p:nvSpPr>
          <p:spPr>
            <a:xfrm>
              <a:off x="6187459" y="2163540"/>
              <a:ext cx="445121" cy="278254"/>
            </a:xfrm>
            <a:prstGeom prst="rect">
              <a:avLst/>
            </a:prstGeom>
            <a:solidFill>
              <a:srgbClr val="9FB3F3"/>
            </a:solidFill>
            <a:ln>
              <a:noFill/>
            </a:ln>
          </p:spPr>
          <p:txBody>
            <a:bodyPr anchorCtr="0" anchor="ctr" bIns="39650" lIns="39650" spcFirstLastPara="1" rIns="39650" wrap="square" tIns="39650">
              <a:no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991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64" name="Google Shape;364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80073" y="2198130"/>
              <a:ext cx="145871" cy="2089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5" name="Google Shape;365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320637" y="2190485"/>
              <a:ext cx="174474" cy="2242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6" name="Google Shape;366;p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469320" y="2200678"/>
              <a:ext cx="148732" cy="203862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67" name="Google Shape;367;p8"/>
            <p:cNvCxnSpPr/>
            <p:nvPr/>
          </p:nvCxnSpPr>
          <p:spPr>
            <a:xfrm>
              <a:off x="6317017" y="2302609"/>
              <a:ext cx="34240" cy="0"/>
            </a:xfrm>
            <a:prstGeom prst="straightConnector1">
              <a:avLst/>
            </a:prstGeom>
            <a:noFill/>
            <a:ln cap="flat" cmpd="sng" w="12700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8" name="Google Shape;368;p8"/>
            <p:cNvCxnSpPr/>
            <p:nvPr/>
          </p:nvCxnSpPr>
          <p:spPr>
            <a:xfrm>
              <a:off x="6464859" y="2305681"/>
              <a:ext cx="34240" cy="0"/>
            </a:xfrm>
            <a:prstGeom prst="straightConnector1">
              <a:avLst/>
            </a:prstGeom>
            <a:noFill/>
            <a:ln cap="flat" cmpd="sng" w="12700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69" name="Google Shape;369;p8"/>
          <p:cNvSpPr/>
          <p:nvPr/>
        </p:nvSpPr>
        <p:spPr>
          <a:xfrm>
            <a:off x="3694717" y="2579936"/>
            <a:ext cx="2220540" cy="42677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9650" lIns="39650" spcFirstLastPara="1" rIns="39650" wrap="square" tIns="19825">
            <a:noAutofit/>
          </a:bodyPr>
          <a:lstStyle/>
          <a:p>
            <a:pPr indent="0" lvl="1" marL="1749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1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Dispatcher Servlet</a:t>
            </a:r>
            <a:endParaRPr/>
          </a:p>
          <a:p>
            <a:pPr indent="0" lvl="1" marL="1749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1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Gateway</a:t>
            </a:r>
            <a:endParaRPr b="0" i="0" sz="881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8"/>
          <p:cNvSpPr/>
          <p:nvPr/>
        </p:nvSpPr>
        <p:spPr>
          <a:xfrm>
            <a:off x="5969439" y="2560761"/>
            <a:ext cx="263599" cy="1589325"/>
          </a:xfrm>
          <a:prstGeom prst="roundRect">
            <a:avLst>
              <a:gd fmla="val 6244" name="adj"/>
            </a:avLst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8"/>
          <p:cNvSpPr txBox="1"/>
          <p:nvPr/>
        </p:nvSpPr>
        <p:spPr>
          <a:xfrm rot="5400000">
            <a:off x="5311383" y="3228434"/>
            <a:ext cx="1579684" cy="253958"/>
          </a:xfrm>
          <a:prstGeom prst="rect">
            <a:avLst/>
          </a:prstGeom>
          <a:noFill/>
          <a:ln>
            <a:noFill/>
          </a:ln>
        </p:spPr>
        <p:txBody>
          <a:bodyPr anchorCtr="0" anchor="ctr" bIns="39650" lIns="39650" spcFirstLastPara="1" rIns="39650" wrap="square" tIns="39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Internal Adapter</a:t>
            </a:r>
            <a:endParaRPr/>
          </a:p>
        </p:txBody>
      </p:sp>
      <p:sp>
        <p:nvSpPr>
          <p:cNvPr id="372" name="Google Shape;372;p8"/>
          <p:cNvSpPr/>
          <p:nvPr/>
        </p:nvSpPr>
        <p:spPr>
          <a:xfrm>
            <a:off x="3711016" y="2215303"/>
            <a:ext cx="636276" cy="27537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9650" lIns="39650" spcFirstLastPara="1" rIns="39650" wrap="square" tIns="19825">
            <a:noAutofit/>
          </a:bodyPr>
          <a:lstStyle/>
          <a:p>
            <a:pPr indent="0" lvl="1" marL="1749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1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Login</a:t>
            </a:r>
            <a:endParaRPr/>
          </a:p>
        </p:txBody>
      </p:sp>
      <p:sp>
        <p:nvSpPr>
          <p:cNvPr id="373" name="Google Shape;373;p8"/>
          <p:cNvSpPr/>
          <p:nvPr/>
        </p:nvSpPr>
        <p:spPr>
          <a:xfrm>
            <a:off x="5527686" y="2222284"/>
            <a:ext cx="713745" cy="218089"/>
          </a:xfrm>
          <a:prstGeom prst="roundRect">
            <a:avLst>
              <a:gd fmla="val 6244" name="adj"/>
            </a:avLst>
          </a:prstGeom>
          <a:solidFill>
            <a:srgbClr val="D8D8D8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9650" lIns="39650" spcFirstLastPara="1" rIns="39650" wrap="square" tIns="39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Session</a:t>
            </a:r>
            <a:endParaRPr/>
          </a:p>
        </p:txBody>
      </p:sp>
      <p:cxnSp>
        <p:nvCxnSpPr>
          <p:cNvPr id="374" name="Google Shape;374;p8"/>
          <p:cNvCxnSpPr/>
          <p:nvPr/>
        </p:nvCxnSpPr>
        <p:spPr>
          <a:xfrm flipH="1" rot="10800000">
            <a:off x="4369163" y="2342766"/>
            <a:ext cx="1179869" cy="7755"/>
          </a:xfrm>
          <a:prstGeom prst="straightConnector1">
            <a:avLst/>
          </a:prstGeom>
          <a:noFill/>
          <a:ln cap="rnd" cmpd="sng" w="15875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sp>
        <p:nvSpPr>
          <p:cNvPr id="375" name="Google Shape;375;p8"/>
          <p:cNvSpPr txBox="1"/>
          <p:nvPr/>
        </p:nvSpPr>
        <p:spPr>
          <a:xfrm>
            <a:off x="4423718" y="2144482"/>
            <a:ext cx="832703" cy="215630"/>
          </a:xfrm>
          <a:prstGeom prst="rect">
            <a:avLst/>
          </a:prstGeom>
          <a:noFill/>
          <a:ln>
            <a:noFill/>
          </a:ln>
        </p:spPr>
        <p:txBody>
          <a:bodyPr anchorCtr="0" anchor="t" bIns="39650" lIns="39650" spcFirstLastPara="1" rIns="39650" wrap="square" tIns="39650">
            <a:spAutoFit/>
          </a:bodyPr>
          <a:lstStyle/>
          <a:p>
            <a:pPr indent="-85725" lvl="0" marL="857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8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단말정보 등</a:t>
            </a:r>
            <a:endParaRPr b="0" sz="881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8"/>
          <p:cNvSpPr txBox="1"/>
          <p:nvPr/>
        </p:nvSpPr>
        <p:spPr>
          <a:xfrm>
            <a:off x="4845047" y="2641097"/>
            <a:ext cx="989225" cy="296523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39650" lIns="39650" spcFirstLastPara="1" rIns="39650" wrap="square" tIns="39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8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전문 전송 시 Session 정보전송</a:t>
            </a:r>
            <a:endParaRPr/>
          </a:p>
        </p:txBody>
      </p:sp>
      <p:cxnSp>
        <p:nvCxnSpPr>
          <p:cNvPr id="377" name="Google Shape;377;p8"/>
          <p:cNvCxnSpPr/>
          <p:nvPr/>
        </p:nvCxnSpPr>
        <p:spPr>
          <a:xfrm rot="5400000">
            <a:off x="5618366" y="2552501"/>
            <a:ext cx="198263" cy="0"/>
          </a:xfrm>
          <a:prstGeom prst="straightConnector1">
            <a:avLst/>
          </a:prstGeom>
          <a:noFill/>
          <a:ln cap="rnd" cmpd="sng" w="15875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cxnSp>
        <p:nvCxnSpPr>
          <p:cNvPr id="378" name="Google Shape;378;p8"/>
          <p:cNvCxnSpPr/>
          <p:nvPr/>
        </p:nvCxnSpPr>
        <p:spPr>
          <a:xfrm>
            <a:off x="5796812" y="2818649"/>
            <a:ext cx="237915" cy="0"/>
          </a:xfrm>
          <a:prstGeom prst="straightConnector1">
            <a:avLst/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cxnSp>
        <p:nvCxnSpPr>
          <p:cNvPr id="379" name="Google Shape;379;p8"/>
          <p:cNvCxnSpPr>
            <a:stCxn id="370" idx="3"/>
            <a:endCxn id="364" idx="1"/>
          </p:cNvCxnSpPr>
          <p:nvPr/>
        </p:nvCxnSpPr>
        <p:spPr>
          <a:xfrm flipH="1" rot="10800000">
            <a:off x="6233038" y="3045824"/>
            <a:ext cx="359400" cy="309600"/>
          </a:xfrm>
          <a:prstGeom prst="bentConnector3">
            <a:avLst>
              <a:gd fmla="val 49986" name="adj1"/>
            </a:avLst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sp>
        <p:nvSpPr>
          <p:cNvPr id="380" name="Google Shape;380;p8"/>
          <p:cNvSpPr/>
          <p:nvPr/>
        </p:nvSpPr>
        <p:spPr>
          <a:xfrm>
            <a:off x="3700462" y="3144297"/>
            <a:ext cx="2214796" cy="1021437"/>
          </a:xfrm>
          <a:prstGeom prst="rect">
            <a:avLst/>
          </a:prstGeom>
          <a:noFill/>
          <a:ln cap="flat" cmpd="sng" w="19050">
            <a:solidFill>
              <a:srgbClr val="C00000"/>
            </a:solidFill>
            <a:prstDash val="dot"/>
            <a:round/>
            <a:headEnd len="sm" w="sm" type="none"/>
            <a:tailEnd len="sm" w="sm" type="none"/>
          </a:ln>
          <a:effectLst>
            <a:outerShdw blurRad="25400" rotWithShape="0" algn="tl" dir="1980000" dist="127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91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8"/>
          <p:cNvSpPr/>
          <p:nvPr/>
        </p:nvSpPr>
        <p:spPr>
          <a:xfrm rot="5400000">
            <a:off x="3527349" y="3496893"/>
            <a:ext cx="897338" cy="31040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9650" lIns="39650" spcFirstLastPara="1" rIns="39650" wrap="square" tIns="39650">
            <a:noAutofit/>
          </a:bodyPr>
          <a:lstStyle/>
          <a:p>
            <a:pPr indent="0" lvl="1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1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Service Endpoint</a:t>
            </a:r>
            <a:endParaRPr b="0" i="0" sz="881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8"/>
          <p:cNvSpPr/>
          <p:nvPr/>
        </p:nvSpPr>
        <p:spPr>
          <a:xfrm rot="5400000">
            <a:off x="4082546" y="3496893"/>
            <a:ext cx="897338" cy="31040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9650" lIns="39650" spcFirstLastPara="1" rIns="39650" wrap="square" tIns="39650">
            <a:noAutofit/>
          </a:bodyPr>
          <a:lstStyle/>
          <a:p>
            <a:pPr indent="0" lvl="1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1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Service Executor</a:t>
            </a:r>
            <a:endParaRPr/>
          </a:p>
        </p:txBody>
      </p:sp>
      <p:sp>
        <p:nvSpPr>
          <p:cNvPr id="383" name="Google Shape;383;p8"/>
          <p:cNvSpPr/>
          <p:nvPr/>
        </p:nvSpPr>
        <p:spPr>
          <a:xfrm rot="5400000">
            <a:off x="4637743" y="3496893"/>
            <a:ext cx="897338" cy="31040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9650" lIns="39650" spcFirstLastPara="1" rIns="39650" wrap="square" tIns="39650">
            <a:noAutofit/>
          </a:bodyPr>
          <a:lstStyle/>
          <a:p>
            <a:pPr indent="0" lvl="1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1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Main Service</a:t>
            </a:r>
            <a:endParaRPr/>
          </a:p>
        </p:txBody>
      </p:sp>
      <p:sp>
        <p:nvSpPr>
          <p:cNvPr id="384" name="Google Shape;384;p8"/>
          <p:cNvSpPr/>
          <p:nvPr/>
        </p:nvSpPr>
        <p:spPr>
          <a:xfrm rot="5400000">
            <a:off x="5192940" y="3496893"/>
            <a:ext cx="897338" cy="31040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9650" lIns="39650" spcFirstLastPara="1" rIns="39650" wrap="square" tIns="39650">
            <a:noAutofit/>
          </a:bodyPr>
          <a:lstStyle/>
          <a:p>
            <a:pPr indent="0" lvl="1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1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Sub Service</a:t>
            </a:r>
            <a:endParaRPr/>
          </a:p>
        </p:txBody>
      </p:sp>
      <p:cxnSp>
        <p:nvCxnSpPr>
          <p:cNvPr id="385" name="Google Shape;385;p8"/>
          <p:cNvCxnSpPr>
            <a:stCxn id="381" idx="3"/>
            <a:endCxn id="382" idx="1"/>
          </p:cNvCxnSpPr>
          <p:nvPr/>
        </p:nvCxnSpPr>
        <p:spPr>
          <a:xfrm flipH="1" rot="10800000">
            <a:off x="3976018" y="3203466"/>
            <a:ext cx="555300" cy="897300"/>
          </a:xfrm>
          <a:prstGeom prst="straightConnector1">
            <a:avLst/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cxnSp>
        <p:nvCxnSpPr>
          <p:cNvPr id="386" name="Google Shape;386;p8"/>
          <p:cNvCxnSpPr>
            <a:stCxn id="382" idx="3"/>
            <a:endCxn id="383" idx="1"/>
          </p:cNvCxnSpPr>
          <p:nvPr/>
        </p:nvCxnSpPr>
        <p:spPr>
          <a:xfrm flipH="1" rot="10800000">
            <a:off x="4531215" y="3203466"/>
            <a:ext cx="555300" cy="897300"/>
          </a:xfrm>
          <a:prstGeom prst="straightConnector1">
            <a:avLst/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cxnSp>
        <p:nvCxnSpPr>
          <p:cNvPr id="387" name="Google Shape;387;p8"/>
          <p:cNvCxnSpPr>
            <a:stCxn id="383" idx="3"/>
            <a:endCxn id="384" idx="1"/>
          </p:cNvCxnSpPr>
          <p:nvPr/>
        </p:nvCxnSpPr>
        <p:spPr>
          <a:xfrm flipH="1" rot="10800000">
            <a:off x="5086412" y="3203466"/>
            <a:ext cx="555300" cy="897300"/>
          </a:xfrm>
          <a:prstGeom prst="straightConnector1">
            <a:avLst/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sp>
        <p:nvSpPr>
          <p:cNvPr id="388" name="Google Shape;388;p8"/>
          <p:cNvSpPr txBox="1"/>
          <p:nvPr/>
        </p:nvSpPr>
        <p:spPr>
          <a:xfrm>
            <a:off x="4160544" y="3453160"/>
            <a:ext cx="200226" cy="1551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VO</a:t>
            </a:r>
            <a:endParaRPr sz="77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8"/>
          <p:cNvSpPr txBox="1"/>
          <p:nvPr/>
        </p:nvSpPr>
        <p:spPr>
          <a:xfrm>
            <a:off x="4715741" y="3453160"/>
            <a:ext cx="200226" cy="1551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VO</a:t>
            </a:r>
            <a:endParaRPr sz="77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8"/>
          <p:cNvSpPr txBox="1"/>
          <p:nvPr/>
        </p:nvSpPr>
        <p:spPr>
          <a:xfrm>
            <a:off x="5270938" y="3453160"/>
            <a:ext cx="200226" cy="1551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VO</a:t>
            </a:r>
            <a:endParaRPr sz="77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1" name="Google Shape;391;p8"/>
          <p:cNvCxnSpPr/>
          <p:nvPr/>
        </p:nvCxnSpPr>
        <p:spPr>
          <a:xfrm>
            <a:off x="5750308" y="3651444"/>
            <a:ext cx="244789" cy="0"/>
          </a:xfrm>
          <a:prstGeom prst="straightConnector1">
            <a:avLst/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sp>
        <p:nvSpPr>
          <p:cNvPr id="392" name="Google Shape;392;p8"/>
          <p:cNvSpPr txBox="1"/>
          <p:nvPr/>
        </p:nvSpPr>
        <p:spPr>
          <a:xfrm>
            <a:off x="5794871" y="3453160"/>
            <a:ext cx="200226" cy="1551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VO</a:t>
            </a:r>
            <a:endParaRPr sz="77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8"/>
          <p:cNvSpPr/>
          <p:nvPr/>
        </p:nvSpPr>
        <p:spPr>
          <a:xfrm>
            <a:off x="3938202" y="3929043"/>
            <a:ext cx="391304" cy="212801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495E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9650" lIns="39650" spcFirstLastPara="1" rIns="39650" wrap="square" tIns="396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OZ G/W</a:t>
            </a:r>
            <a:endParaRPr sz="771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4" name="Google Shape;394;p8"/>
          <p:cNvCxnSpPr/>
          <p:nvPr/>
        </p:nvCxnSpPr>
        <p:spPr>
          <a:xfrm rot="10800000">
            <a:off x="4131221" y="4087670"/>
            <a:ext cx="0" cy="504000"/>
          </a:xfrm>
          <a:prstGeom prst="straightConnector1">
            <a:avLst/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sp>
        <p:nvSpPr>
          <p:cNvPr id="395" name="Google Shape;395;p8"/>
          <p:cNvSpPr txBox="1"/>
          <p:nvPr/>
        </p:nvSpPr>
        <p:spPr>
          <a:xfrm>
            <a:off x="3946449" y="2977276"/>
            <a:ext cx="1279597" cy="170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Biz. Logic 처리 전문</a:t>
            </a:r>
            <a:endParaRPr/>
          </a:p>
        </p:txBody>
      </p:sp>
      <p:cxnSp>
        <p:nvCxnSpPr>
          <p:cNvPr id="396" name="Google Shape;396;p8"/>
          <p:cNvCxnSpPr/>
          <p:nvPr/>
        </p:nvCxnSpPr>
        <p:spPr>
          <a:xfrm rot="10800000">
            <a:off x="3873027" y="2945572"/>
            <a:ext cx="0" cy="190332"/>
          </a:xfrm>
          <a:prstGeom prst="straightConnector1">
            <a:avLst/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sp>
        <p:nvSpPr>
          <p:cNvPr id="397" name="Google Shape;397;p8"/>
          <p:cNvSpPr/>
          <p:nvPr/>
        </p:nvSpPr>
        <p:spPr>
          <a:xfrm>
            <a:off x="2876744" y="4452997"/>
            <a:ext cx="594788" cy="317220"/>
          </a:xfrm>
          <a:prstGeom prst="rect">
            <a:avLst/>
          </a:prstGeom>
          <a:solidFill>
            <a:srgbClr val="D2DCFA"/>
          </a:solidFill>
          <a:ln>
            <a:noFill/>
          </a:ln>
        </p:spPr>
        <p:txBody>
          <a:bodyPr anchorCtr="0" anchor="ctr" bIns="39650" lIns="39650" spcFirstLastPara="1" rIns="39650" wrap="square" tIns="39650">
            <a:noAutofit/>
          </a:bodyPr>
          <a:lstStyle/>
          <a:p>
            <a:pPr indent="0" lvl="1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1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배포관리</a:t>
            </a:r>
            <a:endParaRPr b="0" i="0" sz="881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8"/>
          <p:cNvSpPr/>
          <p:nvPr/>
        </p:nvSpPr>
        <p:spPr>
          <a:xfrm>
            <a:off x="5527686" y="5272645"/>
            <a:ext cx="690505" cy="31722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9650" lIns="39650" spcFirstLastPara="1" rIns="39650" wrap="square" tIns="19825">
            <a:noAutofit/>
          </a:bodyPr>
          <a:lstStyle/>
          <a:p>
            <a:pPr indent="0" lvl="1" marL="1749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1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EDMS</a:t>
            </a:r>
            <a:endParaRPr/>
          </a:p>
          <a:p>
            <a:pPr indent="0" lvl="1" marL="1749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1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GateWay</a:t>
            </a:r>
            <a:endParaRPr/>
          </a:p>
        </p:txBody>
      </p:sp>
      <p:sp>
        <p:nvSpPr>
          <p:cNvPr id="399" name="Google Shape;399;p8"/>
          <p:cNvSpPr/>
          <p:nvPr/>
        </p:nvSpPr>
        <p:spPr>
          <a:xfrm>
            <a:off x="5527686" y="5925315"/>
            <a:ext cx="690505" cy="31722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9650" lIns="39650" spcFirstLastPara="1" rIns="39650" wrap="square" tIns="19825">
            <a:noAutofit/>
          </a:bodyPr>
          <a:lstStyle/>
          <a:p>
            <a:pPr indent="0" lvl="1" marL="1749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1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FAX</a:t>
            </a:r>
            <a:endParaRPr/>
          </a:p>
          <a:p>
            <a:pPr indent="0" lvl="1" marL="1749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1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GateWay</a:t>
            </a:r>
            <a:endParaRPr/>
          </a:p>
        </p:txBody>
      </p:sp>
      <p:sp>
        <p:nvSpPr>
          <p:cNvPr id="400" name="Google Shape;400;p8"/>
          <p:cNvSpPr/>
          <p:nvPr/>
        </p:nvSpPr>
        <p:spPr>
          <a:xfrm>
            <a:off x="2858954" y="5809668"/>
            <a:ext cx="594788" cy="317220"/>
          </a:xfrm>
          <a:prstGeom prst="rect">
            <a:avLst/>
          </a:prstGeom>
          <a:solidFill>
            <a:srgbClr val="D2DCFA"/>
          </a:solidFill>
          <a:ln>
            <a:noFill/>
          </a:ln>
        </p:spPr>
        <p:txBody>
          <a:bodyPr anchorCtr="0" anchor="ctr" bIns="39650" lIns="39650" spcFirstLastPara="1" rIns="39650" wrap="square" tIns="39650">
            <a:noAutofit/>
          </a:bodyPr>
          <a:lstStyle/>
          <a:p>
            <a:pPr indent="0" lvl="1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1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Image 뷰어</a:t>
            </a:r>
            <a:endParaRPr b="0" i="0" sz="881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8"/>
          <p:cNvSpPr txBox="1"/>
          <p:nvPr/>
        </p:nvSpPr>
        <p:spPr>
          <a:xfrm>
            <a:off x="6483183" y="4761838"/>
            <a:ext cx="780935" cy="247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TCP/IP(Socket)</a:t>
            </a:r>
            <a:endParaRPr sz="881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8"/>
          <p:cNvSpPr txBox="1"/>
          <p:nvPr/>
        </p:nvSpPr>
        <p:spPr>
          <a:xfrm>
            <a:off x="6593892" y="5743830"/>
            <a:ext cx="780935" cy="247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TCP/IP(Netty)</a:t>
            </a:r>
            <a:endParaRPr sz="881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8"/>
          <p:cNvSpPr/>
          <p:nvPr/>
        </p:nvSpPr>
        <p:spPr>
          <a:xfrm>
            <a:off x="3798206" y="5492448"/>
            <a:ext cx="1641694" cy="692374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39650" lIns="39650" spcFirstLastPara="1" rIns="39650" wrap="square" tIns="39650">
            <a:no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91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4" name="Google Shape;404;p8"/>
          <p:cNvGrpSpPr/>
          <p:nvPr/>
        </p:nvGrpSpPr>
        <p:grpSpPr>
          <a:xfrm>
            <a:off x="4258209" y="5583803"/>
            <a:ext cx="1105969" cy="526369"/>
            <a:chOff x="5065970" y="5976833"/>
            <a:chExt cx="1055463" cy="477884"/>
          </a:xfrm>
        </p:grpSpPr>
        <p:sp>
          <p:nvSpPr>
            <p:cNvPr id="405" name="Google Shape;405;p8"/>
            <p:cNvSpPr txBox="1"/>
            <p:nvPr/>
          </p:nvSpPr>
          <p:spPr>
            <a:xfrm>
              <a:off x="5065971" y="5976833"/>
              <a:ext cx="1055462" cy="19800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39650" lIns="39650" spcFirstLastPara="1" rIns="39650" wrap="square" tIns="396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881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썸네일 파일 생성</a:t>
              </a:r>
              <a:endParaRPr/>
            </a:p>
          </p:txBody>
        </p:sp>
        <p:sp>
          <p:nvSpPr>
            <p:cNvPr id="406" name="Google Shape;406;p8"/>
            <p:cNvSpPr txBox="1"/>
            <p:nvPr/>
          </p:nvSpPr>
          <p:spPr>
            <a:xfrm>
              <a:off x="5065970" y="6256717"/>
              <a:ext cx="1055463" cy="19800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39650" lIns="39650" spcFirstLastPara="1" rIns="39650" wrap="square" tIns="396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881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이미지 파일 변환</a:t>
              </a:r>
              <a:endParaRPr/>
            </a:p>
          </p:txBody>
        </p:sp>
      </p:grpSp>
      <p:sp>
        <p:nvSpPr>
          <p:cNvPr id="407" name="Google Shape;407;p8"/>
          <p:cNvSpPr txBox="1"/>
          <p:nvPr/>
        </p:nvSpPr>
        <p:spPr>
          <a:xfrm>
            <a:off x="3734653" y="5885561"/>
            <a:ext cx="619069" cy="2312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Cache</a:t>
            </a:r>
            <a:endParaRPr/>
          </a:p>
        </p:txBody>
      </p:sp>
      <p:pic>
        <p:nvPicPr>
          <p:cNvPr descr="\\10.250.177.62\###   개별 제안팀   ###\### Design Library ###\900. 개인폴더\916.박  성\서버3층-03.png" id="408" name="Google Shape;408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41169" y="5634289"/>
            <a:ext cx="406035" cy="3095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9" name="Google Shape;409;p8"/>
          <p:cNvCxnSpPr>
            <a:stCxn id="400" idx="3"/>
            <a:endCxn id="403" idx="1"/>
          </p:cNvCxnSpPr>
          <p:nvPr/>
        </p:nvCxnSpPr>
        <p:spPr>
          <a:xfrm flipH="1" rot="10800000">
            <a:off x="3453742" y="5838678"/>
            <a:ext cx="344400" cy="129600"/>
          </a:xfrm>
          <a:prstGeom prst="bentConnector3">
            <a:avLst>
              <a:gd fmla="val 50009" name="adj1"/>
            </a:avLst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cxnSp>
        <p:nvCxnSpPr>
          <p:cNvPr id="410" name="Google Shape;410;p8"/>
          <p:cNvCxnSpPr>
            <a:stCxn id="358" idx="3"/>
            <a:endCxn id="351" idx="1"/>
          </p:cNvCxnSpPr>
          <p:nvPr/>
        </p:nvCxnSpPr>
        <p:spPr>
          <a:xfrm flipH="1" rot="10800000">
            <a:off x="3463969" y="4678136"/>
            <a:ext cx="198900" cy="638100"/>
          </a:xfrm>
          <a:prstGeom prst="bentConnector3">
            <a:avLst>
              <a:gd fmla="val 49993" name="adj1"/>
            </a:avLst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sp>
        <p:nvSpPr>
          <p:cNvPr id="411" name="Google Shape;411;p8"/>
          <p:cNvSpPr txBox="1"/>
          <p:nvPr/>
        </p:nvSpPr>
        <p:spPr>
          <a:xfrm>
            <a:off x="6499004" y="3420538"/>
            <a:ext cx="800203" cy="3634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EAI Instance</a:t>
            </a:r>
            <a:br>
              <a:rPr lang="en-US" sz="88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8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구성</a:t>
            </a:r>
            <a:endParaRPr/>
          </a:p>
        </p:txBody>
      </p:sp>
      <p:sp>
        <p:nvSpPr>
          <p:cNvPr id="412" name="Google Shape;412;p8"/>
          <p:cNvSpPr txBox="1"/>
          <p:nvPr/>
        </p:nvSpPr>
        <p:spPr>
          <a:xfrm>
            <a:off x="5910652" y="2501394"/>
            <a:ext cx="798269" cy="247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Internal Direct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전문</a:t>
            </a:r>
            <a:endParaRPr/>
          </a:p>
        </p:txBody>
      </p:sp>
      <p:cxnSp>
        <p:nvCxnSpPr>
          <p:cNvPr id="413" name="Google Shape;413;p8"/>
          <p:cNvCxnSpPr>
            <a:stCxn id="338" idx="0"/>
            <a:endCxn id="324" idx="3"/>
          </p:cNvCxnSpPr>
          <p:nvPr/>
        </p:nvCxnSpPr>
        <p:spPr>
          <a:xfrm flipH="1" rot="5400000">
            <a:off x="4502977" y="-422810"/>
            <a:ext cx="189000" cy="4469700"/>
          </a:xfrm>
          <a:prstGeom prst="bentConnector2">
            <a:avLst/>
          </a:prstGeom>
          <a:noFill/>
          <a:ln cap="rnd" cmpd="sng" w="15875">
            <a:solidFill>
              <a:srgbClr val="7F7F7F"/>
            </a:solidFill>
            <a:prstDash val="dash"/>
            <a:round/>
            <a:headEnd len="med" w="med" type="triangle"/>
            <a:tailEnd len="sm" w="sm" type="none"/>
          </a:ln>
          <a:effectLst>
            <a:outerShdw sx="1000" rotWithShape="0" algn="tl" dist="38100" sy="1000">
              <a:srgbClr val="000000"/>
            </a:outerShdw>
          </a:effectLst>
        </p:spPr>
      </p:cxnSp>
      <p:sp>
        <p:nvSpPr>
          <p:cNvPr id="414" name="Google Shape;414;p8"/>
          <p:cNvSpPr txBox="1"/>
          <p:nvPr/>
        </p:nvSpPr>
        <p:spPr>
          <a:xfrm>
            <a:off x="2592996" y="1531780"/>
            <a:ext cx="2093423" cy="2312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SSO인증(ID/PWD 또는 생체인증 토큰)</a:t>
            </a:r>
            <a:endParaRPr/>
          </a:p>
        </p:txBody>
      </p:sp>
      <p:sp>
        <p:nvSpPr>
          <p:cNvPr id="415" name="Google Shape;415;p8"/>
          <p:cNvSpPr/>
          <p:nvPr/>
        </p:nvSpPr>
        <p:spPr>
          <a:xfrm>
            <a:off x="7316506" y="1827900"/>
            <a:ext cx="1276821" cy="2455137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51525" lIns="99125" spcFirstLastPara="1" rIns="99125" wrap="square" tIns="5152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9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기간계 WAS</a:t>
            </a:r>
            <a:endParaRPr/>
          </a:p>
        </p:txBody>
      </p:sp>
      <p:sp>
        <p:nvSpPr>
          <p:cNvPr id="416" name="Google Shape;416;p8"/>
          <p:cNvSpPr/>
          <p:nvPr/>
        </p:nvSpPr>
        <p:spPr>
          <a:xfrm>
            <a:off x="7256562" y="1341438"/>
            <a:ext cx="1399677" cy="5040312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t" bIns="51525" lIns="99125" spcFirstLastPara="1" rIns="99125" wrap="square" tIns="5152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Biz. Service Tier</a:t>
            </a:r>
            <a:endParaRPr/>
          </a:p>
        </p:txBody>
      </p:sp>
      <p:sp>
        <p:nvSpPr>
          <p:cNvPr id="417" name="Google Shape;417;p8"/>
          <p:cNvSpPr/>
          <p:nvPr/>
        </p:nvSpPr>
        <p:spPr>
          <a:xfrm>
            <a:off x="7316506" y="4488273"/>
            <a:ext cx="1276821" cy="1856966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51525" lIns="99125" spcFirstLastPara="1" rIns="99125" wrap="square" tIns="5152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9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공통 솔루션</a:t>
            </a:r>
            <a:endParaRPr/>
          </a:p>
        </p:txBody>
      </p:sp>
      <p:sp>
        <p:nvSpPr>
          <p:cNvPr id="418" name="Google Shape;418;p8"/>
          <p:cNvSpPr/>
          <p:nvPr/>
        </p:nvSpPr>
        <p:spPr>
          <a:xfrm>
            <a:off x="7411337" y="4894920"/>
            <a:ext cx="1111147" cy="19826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39650" lIns="39650" spcFirstLastPara="1" rIns="39650" wrap="square" tIns="19825">
            <a:no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1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EDMS</a:t>
            </a:r>
            <a:endParaRPr b="0" i="0" sz="991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8"/>
          <p:cNvSpPr/>
          <p:nvPr/>
        </p:nvSpPr>
        <p:spPr>
          <a:xfrm>
            <a:off x="7411337" y="5704779"/>
            <a:ext cx="1111147" cy="19826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39650" lIns="39650" spcFirstLastPara="1" rIns="39650" wrap="square" tIns="19825">
            <a:no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1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FAX</a:t>
            </a:r>
            <a:endParaRPr b="0" i="0" sz="991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8"/>
          <p:cNvSpPr/>
          <p:nvPr/>
        </p:nvSpPr>
        <p:spPr>
          <a:xfrm>
            <a:off x="7411337" y="5974731"/>
            <a:ext cx="1111147" cy="19826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39650" lIns="39650" spcFirstLastPara="1" rIns="39650" wrap="square" tIns="19825">
            <a:no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1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녹취</a:t>
            </a:r>
            <a:endParaRPr/>
          </a:p>
        </p:txBody>
      </p:sp>
      <p:sp>
        <p:nvSpPr>
          <p:cNvPr id="421" name="Google Shape;421;p8"/>
          <p:cNvSpPr/>
          <p:nvPr/>
        </p:nvSpPr>
        <p:spPr>
          <a:xfrm>
            <a:off x="7404300" y="2140384"/>
            <a:ext cx="1110341" cy="1347612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39650" lIns="39650" spcFirstLastPara="1" rIns="39650" wrap="square" tIns="39650">
            <a:no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91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8"/>
          <p:cNvSpPr/>
          <p:nvPr/>
        </p:nvSpPr>
        <p:spPr>
          <a:xfrm>
            <a:off x="7467871" y="2374208"/>
            <a:ext cx="178436" cy="89137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12700">
            <a:solidFill>
              <a:srgbClr val="495EA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9650" lIns="39650" spcFirstLastPara="1" rIns="39650" wrap="square" tIns="39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공통업무</a:t>
            </a:r>
            <a:endParaRPr sz="881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8"/>
          <p:cNvSpPr/>
          <p:nvPr/>
        </p:nvSpPr>
        <p:spPr>
          <a:xfrm>
            <a:off x="7711047" y="2586081"/>
            <a:ext cx="733571" cy="13878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495EA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9650" lIns="39650" spcFirstLastPara="1" rIns="39650" wrap="square" tIns="39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장기</a:t>
            </a:r>
            <a:endParaRPr/>
          </a:p>
        </p:txBody>
      </p:sp>
      <p:sp>
        <p:nvSpPr>
          <p:cNvPr id="424" name="Google Shape;424;p8"/>
          <p:cNvSpPr/>
          <p:nvPr/>
        </p:nvSpPr>
        <p:spPr>
          <a:xfrm>
            <a:off x="7711047" y="2374207"/>
            <a:ext cx="733571" cy="13878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495EA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9650" lIns="39650" spcFirstLastPara="1" rIns="39650" wrap="square" tIns="39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자동차</a:t>
            </a:r>
            <a:endParaRPr/>
          </a:p>
        </p:txBody>
      </p:sp>
      <p:sp>
        <p:nvSpPr>
          <p:cNvPr id="425" name="Google Shape;425;p8"/>
          <p:cNvSpPr/>
          <p:nvPr/>
        </p:nvSpPr>
        <p:spPr>
          <a:xfrm>
            <a:off x="7711047" y="2797954"/>
            <a:ext cx="733571" cy="13878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495EA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9650" lIns="39650" spcFirstLastPara="1" rIns="39650" wrap="square" tIns="39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일반</a:t>
            </a:r>
            <a:endParaRPr/>
          </a:p>
        </p:txBody>
      </p:sp>
      <p:sp>
        <p:nvSpPr>
          <p:cNvPr id="426" name="Google Shape;426;p8"/>
          <p:cNvSpPr/>
          <p:nvPr/>
        </p:nvSpPr>
        <p:spPr>
          <a:xfrm>
            <a:off x="7711047" y="3009828"/>
            <a:ext cx="733571" cy="13878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495EA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9650" lIns="39650" spcFirstLastPara="1" rIns="39650" wrap="square" tIns="39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고객</a:t>
            </a:r>
            <a:endParaRPr/>
          </a:p>
        </p:txBody>
      </p:sp>
      <p:cxnSp>
        <p:nvCxnSpPr>
          <p:cNvPr id="427" name="Google Shape;427;p8"/>
          <p:cNvCxnSpPr/>
          <p:nvPr/>
        </p:nvCxnSpPr>
        <p:spPr>
          <a:xfrm>
            <a:off x="7943263" y="3432706"/>
            <a:ext cx="198254" cy="0"/>
          </a:xfrm>
          <a:prstGeom prst="straightConnector1">
            <a:avLst/>
          </a:prstGeom>
          <a:noFill/>
          <a:ln cap="rnd" cmpd="sng" w="28575">
            <a:solidFill>
              <a:srgbClr val="7F7F7F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28" name="Google Shape;428;p8"/>
          <p:cNvCxnSpPr/>
          <p:nvPr/>
        </p:nvCxnSpPr>
        <p:spPr>
          <a:xfrm rot="10800000">
            <a:off x="7818238" y="2422701"/>
            <a:ext cx="0" cy="232772"/>
          </a:xfrm>
          <a:prstGeom prst="straightConnector1">
            <a:avLst/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cxnSp>
        <p:nvCxnSpPr>
          <p:cNvPr id="429" name="Google Shape;429;p8"/>
          <p:cNvCxnSpPr/>
          <p:nvPr/>
        </p:nvCxnSpPr>
        <p:spPr>
          <a:xfrm rot="10800000">
            <a:off x="7543910" y="4272826"/>
            <a:ext cx="0" cy="232772"/>
          </a:xfrm>
          <a:prstGeom prst="straightConnector1">
            <a:avLst/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sp>
        <p:nvSpPr>
          <p:cNvPr id="430" name="Google Shape;430;p8"/>
          <p:cNvSpPr txBox="1"/>
          <p:nvPr/>
        </p:nvSpPr>
        <p:spPr>
          <a:xfrm>
            <a:off x="7502819" y="4269965"/>
            <a:ext cx="1079142" cy="227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EAI, HTTP, TCP/IP</a:t>
            </a:r>
            <a:endParaRPr sz="881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8"/>
          <p:cNvSpPr txBox="1"/>
          <p:nvPr/>
        </p:nvSpPr>
        <p:spPr>
          <a:xfrm>
            <a:off x="7084814" y="2680589"/>
            <a:ext cx="498754" cy="247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http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(JSON)</a:t>
            </a:r>
            <a:endParaRPr sz="881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2" name="Google Shape;432;p8"/>
          <p:cNvCxnSpPr/>
          <p:nvPr/>
        </p:nvCxnSpPr>
        <p:spPr>
          <a:xfrm>
            <a:off x="7054464" y="3045893"/>
            <a:ext cx="356873" cy="0"/>
          </a:xfrm>
          <a:prstGeom prst="straightConnector1">
            <a:avLst/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cxnSp>
        <p:nvCxnSpPr>
          <p:cNvPr id="433" name="Google Shape;433;p8"/>
          <p:cNvCxnSpPr/>
          <p:nvPr/>
        </p:nvCxnSpPr>
        <p:spPr>
          <a:xfrm rot="10800000">
            <a:off x="7825976" y="2648810"/>
            <a:ext cx="0" cy="232772"/>
          </a:xfrm>
          <a:prstGeom prst="straightConnector1">
            <a:avLst/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cxnSp>
        <p:nvCxnSpPr>
          <p:cNvPr id="434" name="Google Shape;434;p8"/>
          <p:cNvCxnSpPr/>
          <p:nvPr/>
        </p:nvCxnSpPr>
        <p:spPr>
          <a:xfrm rot="10800000">
            <a:off x="7818238" y="2893876"/>
            <a:ext cx="0" cy="232772"/>
          </a:xfrm>
          <a:prstGeom prst="straightConnector1">
            <a:avLst/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sp>
        <p:nvSpPr>
          <p:cNvPr id="435" name="Google Shape;435;p8"/>
          <p:cNvSpPr/>
          <p:nvPr/>
        </p:nvSpPr>
        <p:spPr>
          <a:xfrm>
            <a:off x="7715375" y="3218117"/>
            <a:ext cx="733571" cy="13878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495EA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9650" lIns="39650" spcFirstLastPara="1" rIns="39650" wrap="square" tIns="39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재무</a:t>
            </a:r>
            <a:endParaRPr/>
          </a:p>
        </p:txBody>
      </p:sp>
      <p:cxnSp>
        <p:nvCxnSpPr>
          <p:cNvPr id="436" name="Google Shape;436;p8"/>
          <p:cNvCxnSpPr/>
          <p:nvPr/>
        </p:nvCxnSpPr>
        <p:spPr>
          <a:xfrm rot="10800000">
            <a:off x="7818238" y="3122651"/>
            <a:ext cx="0" cy="232772"/>
          </a:xfrm>
          <a:prstGeom prst="straightConnector1">
            <a:avLst/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cxnSp>
        <p:nvCxnSpPr>
          <p:cNvPr id="437" name="Google Shape;437;p8"/>
          <p:cNvCxnSpPr/>
          <p:nvPr/>
        </p:nvCxnSpPr>
        <p:spPr>
          <a:xfrm>
            <a:off x="7844136" y="6184062"/>
            <a:ext cx="198254" cy="0"/>
          </a:xfrm>
          <a:prstGeom prst="straightConnector1">
            <a:avLst/>
          </a:prstGeom>
          <a:noFill/>
          <a:ln cap="rnd" cmpd="sng" w="28575">
            <a:solidFill>
              <a:srgbClr val="7F7F7F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38" name="Google Shape;438;p8"/>
          <p:cNvSpPr/>
          <p:nvPr/>
        </p:nvSpPr>
        <p:spPr>
          <a:xfrm>
            <a:off x="7411337" y="5434826"/>
            <a:ext cx="1111147" cy="1982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39650" lIns="39650" spcFirstLastPara="1" rIns="39650" wrap="square" tIns="19825">
            <a:no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1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동영상플랫폼</a:t>
            </a:r>
            <a:endParaRPr/>
          </a:p>
        </p:txBody>
      </p:sp>
      <p:sp>
        <p:nvSpPr>
          <p:cNvPr id="439" name="Google Shape;439;p8"/>
          <p:cNvSpPr/>
          <p:nvPr/>
        </p:nvSpPr>
        <p:spPr>
          <a:xfrm>
            <a:off x="8766068" y="1837805"/>
            <a:ext cx="631802" cy="2007188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51525" lIns="99125" spcFirstLastPara="1" rIns="99125" wrap="square" tIns="5152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9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대내 연관 시스템</a:t>
            </a:r>
            <a:endParaRPr b="1" sz="99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8"/>
          <p:cNvSpPr/>
          <p:nvPr/>
        </p:nvSpPr>
        <p:spPr>
          <a:xfrm>
            <a:off x="8697934" y="1351343"/>
            <a:ext cx="809744" cy="4296341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t" bIns="51525" lIns="99125" spcFirstLastPara="1" rIns="99125" wrap="square" tIns="5152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기간계 I/F Tier</a:t>
            </a:r>
            <a:endParaRPr/>
          </a:p>
        </p:txBody>
      </p:sp>
      <p:sp>
        <p:nvSpPr>
          <p:cNvPr id="441" name="Google Shape;441;p8"/>
          <p:cNvSpPr/>
          <p:nvPr/>
        </p:nvSpPr>
        <p:spPr>
          <a:xfrm>
            <a:off x="8697935" y="5687593"/>
            <a:ext cx="809744" cy="694157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t" bIns="51525" lIns="99125" spcFirstLastPara="1" rIns="99125" wrap="square" tIns="5152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I/F Tier</a:t>
            </a:r>
            <a:endParaRPr/>
          </a:p>
        </p:txBody>
      </p:sp>
      <p:sp>
        <p:nvSpPr>
          <p:cNvPr id="442" name="Google Shape;442;p8"/>
          <p:cNvSpPr/>
          <p:nvPr/>
        </p:nvSpPr>
        <p:spPr>
          <a:xfrm>
            <a:off x="8766067" y="3906330"/>
            <a:ext cx="663551" cy="1682190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51525" lIns="99125" spcFirstLastPara="1" rIns="99125" wrap="square" tIns="5152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9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대외기관</a:t>
            </a:r>
            <a:endParaRPr/>
          </a:p>
        </p:txBody>
      </p:sp>
      <p:sp>
        <p:nvSpPr>
          <p:cNvPr id="443" name="Google Shape;443;p8"/>
          <p:cNvSpPr/>
          <p:nvPr/>
        </p:nvSpPr>
        <p:spPr>
          <a:xfrm>
            <a:off x="8738141" y="2840633"/>
            <a:ext cx="631802" cy="138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연관시스템</a:t>
            </a:r>
            <a:endParaRPr/>
          </a:p>
        </p:txBody>
      </p:sp>
      <p:sp>
        <p:nvSpPr>
          <p:cNvPr id="444" name="Google Shape;444;p8"/>
          <p:cNvSpPr/>
          <p:nvPr/>
        </p:nvSpPr>
        <p:spPr>
          <a:xfrm>
            <a:off x="8758096" y="3427220"/>
            <a:ext cx="684241" cy="138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기타 시스템</a:t>
            </a:r>
            <a:endParaRPr/>
          </a:p>
        </p:txBody>
      </p:sp>
      <p:grpSp>
        <p:nvGrpSpPr>
          <p:cNvPr id="445" name="Google Shape;445;p8"/>
          <p:cNvGrpSpPr/>
          <p:nvPr/>
        </p:nvGrpSpPr>
        <p:grpSpPr>
          <a:xfrm>
            <a:off x="8930992" y="2422760"/>
            <a:ext cx="294143" cy="361392"/>
            <a:chOff x="9087096" y="1504171"/>
            <a:chExt cx="1240250" cy="1380614"/>
          </a:xfrm>
        </p:grpSpPr>
        <p:pic>
          <p:nvPicPr>
            <p:cNvPr descr="D:\모스트비주얼\아이콘 작업\왜가리\서버1.png" id="446" name="Google Shape;446;p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flipH="1">
              <a:off x="9087096" y="1504171"/>
              <a:ext cx="804862" cy="1327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\10.250.177.62\###   개별 제안팀   ###\### Design Library ###\900. 개인폴더\916.박  성\DB\DB_05.png" id="447" name="Google Shape;447;p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9610553" y="2241597"/>
              <a:ext cx="716793" cy="643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48" name="Google Shape;448;p8"/>
          <p:cNvGrpSpPr/>
          <p:nvPr/>
        </p:nvGrpSpPr>
        <p:grpSpPr>
          <a:xfrm>
            <a:off x="8944943" y="3007235"/>
            <a:ext cx="294455" cy="345278"/>
            <a:chOff x="9087096" y="1504171"/>
            <a:chExt cx="1240250" cy="1380614"/>
          </a:xfrm>
        </p:grpSpPr>
        <p:pic>
          <p:nvPicPr>
            <p:cNvPr descr="D:\모스트비주얼\아이콘 작업\왜가리\서버1.png" id="449" name="Google Shape;449;p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flipH="1">
              <a:off x="9087096" y="1504171"/>
              <a:ext cx="804862" cy="1327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\10.250.177.62\###   개별 제안팀   ###\### Design Library ###\900. 개인폴더\916.박  성\DB\DB_05.png" id="450" name="Google Shape;450;p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9610553" y="2241597"/>
              <a:ext cx="716793" cy="643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51" name="Google Shape;451;p8"/>
          <p:cNvGrpSpPr/>
          <p:nvPr/>
        </p:nvGrpSpPr>
        <p:grpSpPr>
          <a:xfrm>
            <a:off x="8844913" y="4301218"/>
            <a:ext cx="494516" cy="326344"/>
            <a:chOff x="9637909" y="5517118"/>
            <a:chExt cx="448965" cy="296283"/>
          </a:xfrm>
        </p:grpSpPr>
        <p:sp>
          <p:nvSpPr>
            <p:cNvPr id="452" name="Google Shape;452;p8"/>
            <p:cNvSpPr/>
            <p:nvPr/>
          </p:nvSpPr>
          <p:spPr>
            <a:xfrm>
              <a:off x="9637909" y="5687310"/>
              <a:ext cx="448965" cy="1260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81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금융기관</a:t>
              </a:r>
              <a:endParaRPr/>
            </a:p>
          </p:txBody>
        </p:sp>
        <p:pic>
          <p:nvPicPr>
            <p:cNvPr descr="D:\모스트비주얼\아이콘 작업\01\08.png" id="453" name="Google Shape;453;p8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9818088" y="5517118"/>
              <a:ext cx="106055" cy="16608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54" name="Google Shape;454;p8"/>
          <p:cNvGrpSpPr/>
          <p:nvPr/>
        </p:nvGrpSpPr>
        <p:grpSpPr>
          <a:xfrm>
            <a:off x="8779160" y="4692000"/>
            <a:ext cx="587438" cy="316305"/>
            <a:chOff x="9582294" y="5396120"/>
            <a:chExt cx="533327" cy="287169"/>
          </a:xfrm>
        </p:grpSpPr>
        <p:sp>
          <p:nvSpPr>
            <p:cNvPr id="455" name="Google Shape;455;p8"/>
            <p:cNvSpPr/>
            <p:nvPr/>
          </p:nvSpPr>
          <p:spPr>
            <a:xfrm>
              <a:off x="9582294" y="5557198"/>
              <a:ext cx="533327" cy="1260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81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보험개발원</a:t>
              </a:r>
              <a:endParaRPr/>
            </a:p>
          </p:txBody>
        </p:sp>
        <p:pic>
          <p:nvPicPr>
            <p:cNvPr descr="D:\모스트비주얼\아이콘 작업\01\08.png" id="456" name="Google Shape;456;p8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9842827" y="5396120"/>
              <a:ext cx="84817" cy="13282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57" name="Google Shape;457;p8"/>
          <p:cNvGrpSpPr/>
          <p:nvPr/>
        </p:nvGrpSpPr>
        <p:grpSpPr>
          <a:xfrm>
            <a:off x="8844913" y="5084305"/>
            <a:ext cx="494516" cy="376663"/>
            <a:chOff x="9637909" y="5291970"/>
            <a:chExt cx="448965" cy="341967"/>
          </a:xfrm>
        </p:grpSpPr>
        <p:sp>
          <p:nvSpPr>
            <p:cNvPr id="458" name="Google Shape;458;p8"/>
            <p:cNvSpPr/>
            <p:nvPr/>
          </p:nvSpPr>
          <p:spPr>
            <a:xfrm>
              <a:off x="9637909" y="5507846"/>
              <a:ext cx="448965" cy="1260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81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대외채널</a:t>
              </a:r>
              <a:endParaRPr/>
            </a:p>
          </p:txBody>
        </p:sp>
        <p:pic>
          <p:nvPicPr>
            <p:cNvPr descr="D:\모스트비주얼\아이콘 작업\01\08.png" id="459" name="Google Shape;459;p8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9816351" y="5291970"/>
              <a:ext cx="106055" cy="16608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\\10.250.177.62\###   개별 제안팀   ###\### Design Library ###\900. 개인폴더\916.박  성\DB\DB_05.png" id="460" name="Google Shape;460;p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976695" y="5965810"/>
            <a:ext cx="355020" cy="336648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8"/>
          <p:cNvSpPr/>
          <p:nvPr/>
        </p:nvSpPr>
        <p:spPr>
          <a:xfrm>
            <a:off x="8851263" y="6034428"/>
            <a:ext cx="587438" cy="138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SOLDB</a:t>
            </a:r>
            <a:endParaRPr sz="881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2" name="Google Shape;462;p8"/>
          <p:cNvCxnSpPr/>
          <p:nvPr/>
        </p:nvCxnSpPr>
        <p:spPr>
          <a:xfrm>
            <a:off x="8419801" y="2830008"/>
            <a:ext cx="356873" cy="0"/>
          </a:xfrm>
          <a:prstGeom prst="straightConnector1">
            <a:avLst/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cxnSp>
        <p:nvCxnSpPr>
          <p:cNvPr id="463" name="Google Shape;463;p8"/>
          <p:cNvCxnSpPr/>
          <p:nvPr/>
        </p:nvCxnSpPr>
        <p:spPr>
          <a:xfrm flipH="1" rot="-5400000">
            <a:off x="7794751" y="4028326"/>
            <a:ext cx="1625700" cy="317100"/>
          </a:xfrm>
          <a:prstGeom prst="bentConnector3">
            <a:avLst>
              <a:gd fmla="val 0" name="adj1"/>
            </a:avLst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sp>
        <p:nvSpPr>
          <p:cNvPr id="464" name="Google Shape;464;p8"/>
          <p:cNvSpPr txBox="1"/>
          <p:nvPr/>
        </p:nvSpPr>
        <p:spPr>
          <a:xfrm>
            <a:off x="8370250" y="3135904"/>
            <a:ext cx="585417" cy="227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AnyLink</a:t>
            </a:r>
            <a:endParaRPr sz="881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5" name="Google Shape;465;p8"/>
          <p:cNvCxnSpPr>
            <a:stCxn id="417" idx="3"/>
            <a:endCxn id="460" idx="1"/>
          </p:cNvCxnSpPr>
          <p:nvPr/>
        </p:nvCxnSpPr>
        <p:spPr>
          <a:xfrm>
            <a:off x="8593327" y="5416756"/>
            <a:ext cx="383400" cy="717300"/>
          </a:xfrm>
          <a:prstGeom prst="bentConnector3">
            <a:avLst>
              <a:gd fmla="val 49996" name="adj1"/>
            </a:avLst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cxnSp>
        <p:nvCxnSpPr>
          <p:cNvPr id="466" name="Google Shape;466;p8"/>
          <p:cNvCxnSpPr>
            <a:stCxn id="398" idx="3"/>
            <a:endCxn id="418" idx="1"/>
          </p:cNvCxnSpPr>
          <p:nvPr/>
        </p:nvCxnSpPr>
        <p:spPr>
          <a:xfrm flipH="1" rot="10800000">
            <a:off x="6218191" y="4994155"/>
            <a:ext cx="1193100" cy="437100"/>
          </a:xfrm>
          <a:prstGeom prst="bentConnector3">
            <a:avLst>
              <a:gd fmla="val 50002" name="adj1"/>
            </a:avLst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cxnSp>
        <p:nvCxnSpPr>
          <p:cNvPr id="467" name="Google Shape;467;p8"/>
          <p:cNvCxnSpPr>
            <a:stCxn id="399" idx="3"/>
            <a:endCxn id="419" idx="1"/>
          </p:cNvCxnSpPr>
          <p:nvPr/>
        </p:nvCxnSpPr>
        <p:spPr>
          <a:xfrm flipH="1" rot="10800000">
            <a:off x="6218191" y="5804025"/>
            <a:ext cx="1193100" cy="279900"/>
          </a:xfrm>
          <a:prstGeom prst="bentConnector3">
            <a:avLst>
              <a:gd fmla="val 50002" name="adj1"/>
            </a:avLst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sp>
        <p:nvSpPr>
          <p:cNvPr id="468" name="Google Shape;468;p8"/>
          <p:cNvSpPr/>
          <p:nvPr/>
        </p:nvSpPr>
        <p:spPr>
          <a:xfrm>
            <a:off x="7410805" y="5164873"/>
            <a:ext cx="1111147" cy="1982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39650" lIns="39650" spcFirstLastPara="1" rIns="39650" wrap="square" tIns="19825">
            <a:no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1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이미지변환</a:t>
            </a:r>
            <a:endParaRPr/>
          </a:p>
        </p:txBody>
      </p:sp>
      <p:sp>
        <p:nvSpPr>
          <p:cNvPr id="469" name="Google Shape;469;p8"/>
          <p:cNvSpPr/>
          <p:nvPr/>
        </p:nvSpPr>
        <p:spPr>
          <a:xfrm>
            <a:off x="1251408" y="5672791"/>
            <a:ext cx="1107618" cy="612045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51525" lIns="99125" spcFirstLastPara="1" rIns="99125" wrap="square" tIns="5152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9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0" name="Google Shape;470;p8"/>
          <p:cNvCxnSpPr>
            <a:stCxn id="330" idx="1"/>
            <a:endCxn id="310" idx="1"/>
          </p:cNvCxnSpPr>
          <p:nvPr/>
        </p:nvCxnSpPr>
        <p:spPr>
          <a:xfrm flipH="1" rot="10800000">
            <a:off x="721148" y="3580444"/>
            <a:ext cx="43500" cy="2349600"/>
          </a:xfrm>
          <a:prstGeom prst="bentConnector3">
            <a:avLst>
              <a:gd fmla="val -525517" name="adj1"/>
            </a:avLst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sp>
        <p:nvSpPr>
          <p:cNvPr id="471" name="Google Shape;471;p8"/>
          <p:cNvSpPr/>
          <p:nvPr/>
        </p:nvSpPr>
        <p:spPr>
          <a:xfrm>
            <a:off x="5539305" y="5627490"/>
            <a:ext cx="690505" cy="272498"/>
          </a:xfrm>
          <a:prstGeom prst="rect">
            <a:avLst/>
          </a:prstGeom>
          <a:solidFill>
            <a:srgbClr val="47FED0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9650" lIns="39650" spcFirstLastPara="1" rIns="39650" wrap="square" tIns="19825">
            <a:noAutofit/>
          </a:bodyPr>
          <a:lstStyle/>
          <a:p>
            <a:pPr indent="0" lvl="1" marL="1749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1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MCMS</a:t>
            </a:r>
            <a:endParaRPr/>
          </a:p>
          <a:p>
            <a:pPr indent="0" lvl="1" marL="1749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1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Filter</a:t>
            </a:r>
            <a:endParaRPr/>
          </a:p>
        </p:txBody>
      </p:sp>
      <p:cxnSp>
        <p:nvCxnSpPr>
          <p:cNvPr id="472" name="Google Shape;472;p8"/>
          <p:cNvCxnSpPr>
            <a:stCxn id="471" idx="3"/>
            <a:endCxn id="438" idx="1"/>
          </p:cNvCxnSpPr>
          <p:nvPr/>
        </p:nvCxnSpPr>
        <p:spPr>
          <a:xfrm flipH="1" rot="10800000">
            <a:off x="6229810" y="5533939"/>
            <a:ext cx="1181400" cy="229800"/>
          </a:xfrm>
          <a:prstGeom prst="bentConnector3">
            <a:avLst>
              <a:gd fmla="val 50005" name="adj1"/>
            </a:avLst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sp>
        <p:nvSpPr>
          <p:cNvPr id="473" name="Google Shape;473;p8"/>
          <p:cNvSpPr txBox="1"/>
          <p:nvPr/>
        </p:nvSpPr>
        <p:spPr>
          <a:xfrm>
            <a:off x="6529299" y="5307692"/>
            <a:ext cx="780935" cy="247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TCP/IP(TCP/IP)</a:t>
            </a:r>
            <a:endParaRPr b="1" sz="881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8"/>
          <p:cNvSpPr txBox="1"/>
          <p:nvPr/>
        </p:nvSpPr>
        <p:spPr>
          <a:xfrm>
            <a:off x="3729347" y="4306470"/>
            <a:ext cx="453970" cy="227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JSON</a:t>
            </a:r>
            <a:endParaRPr sz="881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8"/>
          <p:cNvSpPr/>
          <p:nvPr/>
        </p:nvSpPr>
        <p:spPr>
          <a:xfrm>
            <a:off x="5082397" y="4822156"/>
            <a:ext cx="1028833" cy="19397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9650" lIns="39650" spcFirstLastPara="1" rIns="39650" wrap="square" tIns="19825">
            <a:noAutofit/>
          </a:bodyPr>
          <a:lstStyle/>
          <a:p>
            <a:pPr indent="0" lvl="1" marL="1749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1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OZ 스케쥴러</a:t>
            </a:r>
            <a:endParaRPr b="0" i="0" sz="881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6" name="Google Shape;476;p8"/>
          <p:cNvCxnSpPr>
            <a:stCxn id="352" idx="3"/>
            <a:endCxn id="475" idx="1"/>
          </p:cNvCxnSpPr>
          <p:nvPr/>
        </p:nvCxnSpPr>
        <p:spPr>
          <a:xfrm flipH="1" rot="10800000">
            <a:off x="4691674" y="4919170"/>
            <a:ext cx="390600" cy="4200"/>
          </a:xfrm>
          <a:prstGeom prst="straightConnector1">
            <a:avLst/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sp>
        <p:nvSpPr>
          <p:cNvPr id="477" name="Google Shape;477;p8"/>
          <p:cNvSpPr txBox="1"/>
          <p:nvPr/>
        </p:nvSpPr>
        <p:spPr>
          <a:xfrm>
            <a:off x="4508721" y="4943695"/>
            <a:ext cx="780935" cy="247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TCP/IP(Socket)</a:t>
            </a:r>
            <a:endParaRPr sz="881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3" name="Google Shape;333;p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371026" y="6070812"/>
            <a:ext cx="212416" cy="196874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id="478" name="Google Shape;478;p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821242" y="6077234"/>
            <a:ext cx="212415" cy="196873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479" name="Google Shape;479;p8"/>
          <p:cNvSpPr txBox="1"/>
          <p:nvPr/>
        </p:nvSpPr>
        <p:spPr>
          <a:xfrm>
            <a:off x="1279168" y="6300237"/>
            <a:ext cx="348019" cy="194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프린터</a:t>
            </a:r>
            <a:endParaRPr/>
          </a:p>
        </p:txBody>
      </p:sp>
      <p:sp>
        <p:nvSpPr>
          <p:cNvPr id="480" name="Google Shape;480;p8"/>
          <p:cNvSpPr txBox="1"/>
          <p:nvPr/>
        </p:nvSpPr>
        <p:spPr>
          <a:xfrm>
            <a:off x="1703224" y="6300237"/>
            <a:ext cx="316381" cy="194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스캐너</a:t>
            </a:r>
            <a:endParaRPr/>
          </a:p>
        </p:txBody>
      </p:sp>
      <p:sp>
        <p:nvSpPr>
          <p:cNvPr id="481" name="Google Shape;481;p8"/>
          <p:cNvSpPr/>
          <p:nvPr/>
        </p:nvSpPr>
        <p:spPr>
          <a:xfrm>
            <a:off x="1308769" y="5685219"/>
            <a:ext cx="406358" cy="24524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I/F DLL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82" name="Google Shape;482;p8"/>
          <p:cNvCxnSpPr>
            <a:stCxn id="333" idx="0"/>
            <a:endCxn id="481" idx="2"/>
          </p:cNvCxnSpPr>
          <p:nvPr/>
        </p:nvCxnSpPr>
        <p:spPr>
          <a:xfrm rot="-5400000">
            <a:off x="1424434" y="5983212"/>
            <a:ext cx="140400" cy="34800"/>
          </a:xfrm>
          <a:prstGeom prst="bentConnector3">
            <a:avLst>
              <a:gd fmla="val 49983" name="adj1"/>
            </a:avLst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83" name="Google Shape;483;p8"/>
          <p:cNvSpPr/>
          <p:nvPr/>
        </p:nvSpPr>
        <p:spPr>
          <a:xfrm>
            <a:off x="3525693" y="1016000"/>
            <a:ext cx="2469404" cy="867388"/>
          </a:xfrm>
          <a:prstGeom prst="rect">
            <a:avLst/>
          </a:prstGeom>
          <a:solidFill>
            <a:srgbClr val="E7E7F9"/>
          </a:solidFill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OZ 어플리케이션 구성도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기타 시스템은 </a:t>
            </a:r>
            <a:r>
              <a:rPr lang="en-US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(내부,외부로표현)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9"/>
          <p:cNvSpPr txBox="1"/>
          <p:nvPr/>
        </p:nvSpPr>
        <p:spPr>
          <a:xfrm>
            <a:off x="417770" y="714190"/>
            <a:ext cx="8964356" cy="637153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아키텍처 설계</a:t>
            </a:r>
            <a:endParaRPr b="1" i="0" sz="14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2.2 차세대발행물 아키텍쳐 구성도</a:t>
            </a:r>
            <a:endParaRPr b="1" i="0" sz="12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9" name="Google Shape;489;p9"/>
          <p:cNvSpPr/>
          <p:nvPr/>
        </p:nvSpPr>
        <p:spPr>
          <a:xfrm>
            <a:off x="6843437" y="1906541"/>
            <a:ext cx="2573613" cy="4313615"/>
          </a:xfrm>
          <a:prstGeom prst="rect">
            <a:avLst/>
          </a:prstGeom>
          <a:solidFill>
            <a:srgbClr val="D1D1F4"/>
          </a:solidFill>
          <a:ln cap="rnd" cmpd="sng" w="127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51525" lIns="99125" spcFirstLastPara="1" rIns="99125" wrap="square" tIns="5152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F/W</a:t>
            </a:r>
            <a:endParaRPr sz="99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0" name="Google Shape;490;p9"/>
          <p:cNvSpPr/>
          <p:nvPr/>
        </p:nvSpPr>
        <p:spPr>
          <a:xfrm>
            <a:off x="6997337" y="3837853"/>
            <a:ext cx="1308678" cy="1397774"/>
          </a:xfrm>
          <a:prstGeom prst="roundRect">
            <a:avLst>
              <a:gd fmla="val 3752" name="adj"/>
            </a:avLst>
          </a:prstGeom>
          <a:noFill/>
          <a:ln cap="flat" cmpd="sng" w="19050">
            <a:solidFill>
              <a:srgbClr val="FF0000"/>
            </a:solidFill>
            <a:prstDash val="dot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1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9"/>
          <p:cNvSpPr/>
          <p:nvPr/>
        </p:nvSpPr>
        <p:spPr>
          <a:xfrm>
            <a:off x="1686791" y="1906540"/>
            <a:ext cx="4101878" cy="2062160"/>
          </a:xfrm>
          <a:prstGeom prst="rect">
            <a:avLst/>
          </a:prstGeom>
          <a:solidFill>
            <a:srgbClr val="D1D1F4"/>
          </a:solidFill>
          <a:ln cap="rnd" cmpd="sng" w="127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51525" lIns="99125" spcFirstLastPara="1" rIns="99125" wrap="square" tIns="5152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F/W</a:t>
            </a:r>
            <a:endParaRPr sz="99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2" name="Google Shape;492;p9"/>
          <p:cNvSpPr/>
          <p:nvPr/>
        </p:nvSpPr>
        <p:spPr>
          <a:xfrm>
            <a:off x="417770" y="1351344"/>
            <a:ext cx="1038880" cy="5036428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t" bIns="51525" lIns="99125" spcFirstLastPara="1" rIns="99125" wrap="square" tIns="5152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2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Client Tier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2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3" name="Google Shape;493;p9"/>
          <p:cNvSpPr/>
          <p:nvPr/>
        </p:nvSpPr>
        <p:spPr>
          <a:xfrm>
            <a:off x="1606423" y="1351343"/>
            <a:ext cx="4293302" cy="5036429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t" bIns="51525" lIns="99125" spcFirstLastPara="1" rIns="99125" wrap="square" tIns="5152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2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Application Tier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2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(GateWay)</a:t>
            </a:r>
            <a:endParaRPr b="1" sz="1102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4" name="Google Shape;494;p9"/>
          <p:cNvSpPr/>
          <p:nvPr/>
        </p:nvSpPr>
        <p:spPr>
          <a:xfrm>
            <a:off x="5980680" y="1351344"/>
            <a:ext cx="681777" cy="5030406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t" bIns="51525" lIns="99125" spcFirstLastPara="1" rIns="99125" wrap="square" tIns="5152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2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Internal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2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I/F Tier</a:t>
            </a:r>
            <a:endParaRPr b="1" sz="1102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5" name="Google Shape;495;p9"/>
          <p:cNvSpPr/>
          <p:nvPr/>
        </p:nvSpPr>
        <p:spPr>
          <a:xfrm>
            <a:off x="6719739" y="1351343"/>
            <a:ext cx="2768491" cy="5030407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t" bIns="51525" lIns="99125" spcFirstLastPara="1" rIns="99125" wrap="square" tIns="5152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2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Application Tier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2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(Biz. Service)</a:t>
            </a:r>
            <a:endParaRPr b="1" sz="1102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6" name="Google Shape;496;p9"/>
          <p:cNvSpPr/>
          <p:nvPr/>
        </p:nvSpPr>
        <p:spPr>
          <a:xfrm>
            <a:off x="497084" y="1906541"/>
            <a:ext cx="872452" cy="1755946"/>
          </a:xfrm>
          <a:prstGeom prst="rect">
            <a:avLst/>
          </a:prstGeom>
          <a:solidFill>
            <a:srgbClr val="D1D1F4"/>
          </a:solidFill>
          <a:ln cap="rnd" cmpd="sng" w="127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51525" lIns="99125" spcFirstLastPara="1" rIns="99125" wrap="square" tIns="5152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UI</a:t>
            </a:r>
            <a:endParaRPr sz="99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7" name="Google Shape;497;p9"/>
          <p:cNvSpPr/>
          <p:nvPr/>
        </p:nvSpPr>
        <p:spPr>
          <a:xfrm>
            <a:off x="1845420" y="2162712"/>
            <a:ext cx="3763909" cy="436226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39650" lIns="39650" spcFirstLastPara="1" rIns="39650" wrap="square" tIns="39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Dispatcher Servlet Gateway</a:t>
            </a:r>
            <a:endParaRPr/>
          </a:p>
        </p:txBody>
      </p:sp>
      <p:cxnSp>
        <p:nvCxnSpPr>
          <p:cNvPr id="498" name="Google Shape;498;p9"/>
          <p:cNvCxnSpPr>
            <a:stCxn id="496" idx="3"/>
            <a:endCxn id="497" idx="1"/>
          </p:cNvCxnSpPr>
          <p:nvPr/>
        </p:nvCxnSpPr>
        <p:spPr>
          <a:xfrm flipH="1" rot="10800000">
            <a:off x="1369536" y="2380714"/>
            <a:ext cx="475800" cy="403800"/>
          </a:xfrm>
          <a:prstGeom prst="bentConnector3">
            <a:avLst>
              <a:gd fmla="val 50009" name="adj1"/>
            </a:avLst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cxnSp>
        <p:nvCxnSpPr>
          <p:cNvPr id="499" name="Google Shape;499;p9"/>
          <p:cNvCxnSpPr>
            <a:stCxn id="497" idx="2"/>
            <a:endCxn id="500" idx="0"/>
          </p:cNvCxnSpPr>
          <p:nvPr/>
        </p:nvCxnSpPr>
        <p:spPr>
          <a:xfrm rot="5400000">
            <a:off x="2666425" y="2074988"/>
            <a:ext cx="537000" cy="1584900"/>
          </a:xfrm>
          <a:prstGeom prst="bentConnector3">
            <a:avLst>
              <a:gd fmla="val 49997" name="adj1"/>
            </a:avLst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sp>
        <p:nvSpPr>
          <p:cNvPr id="501" name="Google Shape;501;p9"/>
          <p:cNvSpPr/>
          <p:nvPr/>
        </p:nvSpPr>
        <p:spPr>
          <a:xfrm>
            <a:off x="6059984" y="1906541"/>
            <a:ext cx="513572" cy="4313615"/>
          </a:xfrm>
          <a:prstGeom prst="rect">
            <a:avLst/>
          </a:prstGeom>
          <a:solidFill>
            <a:srgbClr val="D1D1F4"/>
          </a:solidFill>
          <a:ln cap="rnd" cmpd="sng" w="127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51525" lIns="99125" spcFirstLastPara="1" rIns="99125" wrap="square" tIns="5152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EAI</a:t>
            </a:r>
            <a:endParaRPr sz="99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502" name="Google Shape;502;p9"/>
          <p:cNvCxnSpPr/>
          <p:nvPr/>
        </p:nvCxnSpPr>
        <p:spPr>
          <a:xfrm>
            <a:off x="5603117" y="2380825"/>
            <a:ext cx="515400" cy="218100"/>
          </a:xfrm>
          <a:prstGeom prst="bentConnector3">
            <a:avLst>
              <a:gd fmla="val 62222" name="adj1"/>
            </a:avLst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cxnSp>
        <p:nvCxnSpPr>
          <p:cNvPr id="503" name="Google Shape;503;p9"/>
          <p:cNvCxnSpPr/>
          <p:nvPr/>
        </p:nvCxnSpPr>
        <p:spPr>
          <a:xfrm flipH="1" rot="10800000">
            <a:off x="5663203" y="3267595"/>
            <a:ext cx="357000" cy="228000"/>
          </a:xfrm>
          <a:prstGeom prst="bentConnector3">
            <a:avLst>
              <a:gd fmla="val 49982" name="adj1"/>
            </a:avLst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sp>
        <p:nvSpPr>
          <p:cNvPr id="504" name="Google Shape;504;p9"/>
          <p:cNvSpPr/>
          <p:nvPr/>
        </p:nvSpPr>
        <p:spPr>
          <a:xfrm>
            <a:off x="1686791" y="4186648"/>
            <a:ext cx="4101878" cy="2033508"/>
          </a:xfrm>
          <a:prstGeom prst="rect">
            <a:avLst/>
          </a:prstGeom>
          <a:solidFill>
            <a:srgbClr val="FFC000"/>
          </a:solidFill>
          <a:ln cap="rnd" cmpd="sng" w="127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51525" lIns="99125" spcFirstLastPara="1" rIns="99125" wrap="square" tIns="5152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OZ</a:t>
            </a:r>
            <a:endParaRPr sz="99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5" name="Google Shape;505;p9"/>
          <p:cNvSpPr/>
          <p:nvPr/>
        </p:nvSpPr>
        <p:spPr>
          <a:xfrm>
            <a:off x="2482446" y="4460760"/>
            <a:ext cx="1472064" cy="16831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51525" lIns="99125" spcFirstLastPara="1" rIns="99125" wrap="square" tIns="515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OZ Listener</a:t>
            </a:r>
            <a:endParaRPr sz="88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6" name="Google Shape;506;p9"/>
          <p:cNvSpPr/>
          <p:nvPr/>
        </p:nvSpPr>
        <p:spPr>
          <a:xfrm>
            <a:off x="2560525" y="5070141"/>
            <a:ext cx="1076134" cy="330971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51525" lIns="99125" spcFirstLastPara="1" rIns="99125" wrap="square" tIns="515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OZ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PreProcessor</a:t>
            </a:r>
            <a:endParaRPr sz="88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7" name="Google Shape;507;p9"/>
          <p:cNvSpPr/>
          <p:nvPr/>
        </p:nvSpPr>
        <p:spPr>
          <a:xfrm>
            <a:off x="2560525" y="5744309"/>
            <a:ext cx="1076134" cy="330971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51525" lIns="99125" spcFirstLastPara="1" rIns="99125" wrap="square" tIns="515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OZ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Processor</a:t>
            </a:r>
            <a:endParaRPr sz="88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508" name="Google Shape;508;p9"/>
          <p:cNvCxnSpPr>
            <a:stCxn id="506" idx="2"/>
            <a:endCxn id="507" idx="0"/>
          </p:cNvCxnSpPr>
          <p:nvPr/>
        </p:nvCxnSpPr>
        <p:spPr>
          <a:xfrm>
            <a:off x="3098592" y="5401112"/>
            <a:ext cx="0" cy="343200"/>
          </a:xfrm>
          <a:prstGeom prst="straightConnector1">
            <a:avLst/>
          </a:prstGeom>
          <a:noFill/>
          <a:ln cap="rnd" cmpd="sng" w="15875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sp>
        <p:nvSpPr>
          <p:cNvPr id="509" name="Google Shape;509;p9"/>
          <p:cNvSpPr/>
          <p:nvPr/>
        </p:nvSpPr>
        <p:spPr>
          <a:xfrm>
            <a:off x="497084" y="3968700"/>
            <a:ext cx="872452" cy="1070737"/>
          </a:xfrm>
          <a:prstGeom prst="rect">
            <a:avLst/>
          </a:prstGeom>
          <a:solidFill>
            <a:srgbClr val="FFB28B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OZ Viewer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8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8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8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8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8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8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510" name="Google Shape;510;p9"/>
          <p:cNvCxnSpPr>
            <a:stCxn id="496" idx="2"/>
            <a:endCxn id="509" idx="0"/>
          </p:cNvCxnSpPr>
          <p:nvPr/>
        </p:nvCxnSpPr>
        <p:spPr>
          <a:xfrm>
            <a:off x="933310" y="3662487"/>
            <a:ext cx="0" cy="306300"/>
          </a:xfrm>
          <a:prstGeom prst="straightConnector1">
            <a:avLst/>
          </a:prstGeom>
          <a:noFill/>
          <a:ln cap="rnd" cmpd="sng" w="15875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cxnSp>
        <p:nvCxnSpPr>
          <p:cNvPr id="511" name="Google Shape;511;p9"/>
          <p:cNvCxnSpPr>
            <a:stCxn id="512" idx="3"/>
          </p:cNvCxnSpPr>
          <p:nvPr/>
        </p:nvCxnSpPr>
        <p:spPr>
          <a:xfrm>
            <a:off x="1333735" y="4391629"/>
            <a:ext cx="1130100" cy="843900"/>
          </a:xfrm>
          <a:prstGeom prst="bentConnector3">
            <a:avLst>
              <a:gd fmla="val 50002" name="adj1"/>
            </a:avLst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cxnSp>
        <p:nvCxnSpPr>
          <p:cNvPr id="513" name="Google Shape;513;p9"/>
          <p:cNvCxnSpPr>
            <a:stCxn id="506" idx="3"/>
            <a:endCxn id="500" idx="2"/>
          </p:cNvCxnSpPr>
          <p:nvPr/>
        </p:nvCxnSpPr>
        <p:spPr>
          <a:xfrm rot="10800000">
            <a:off x="2142359" y="3815727"/>
            <a:ext cx="1494300" cy="1419900"/>
          </a:xfrm>
          <a:prstGeom prst="bentConnector4">
            <a:avLst>
              <a:gd fmla="val -15298" name="adj1"/>
              <a:gd fmla="val 83697" name="adj2"/>
            </a:avLst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sp>
        <p:nvSpPr>
          <p:cNvPr id="514" name="Google Shape;514;p9"/>
          <p:cNvSpPr/>
          <p:nvPr/>
        </p:nvSpPr>
        <p:spPr>
          <a:xfrm>
            <a:off x="7095657" y="2303110"/>
            <a:ext cx="953535" cy="396569"/>
          </a:xfrm>
          <a:prstGeom prst="rect">
            <a:avLst/>
          </a:prstGeom>
          <a:solidFill>
            <a:srgbClr val="DDDDDD"/>
          </a:solidFill>
          <a:ln cap="flat" cmpd="sng" w="9525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9650" lIns="39650" spcFirstLastPara="1" rIns="39650" wrap="square" tIns="39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Service Endpoint</a:t>
            </a:r>
            <a:endParaRPr/>
          </a:p>
        </p:txBody>
      </p:sp>
      <p:sp>
        <p:nvSpPr>
          <p:cNvPr id="515" name="Google Shape;515;p9"/>
          <p:cNvSpPr/>
          <p:nvPr/>
        </p:nvSpPr>
        <p:spPr>
          <a:xfrm>
            <a:off x="7095657" y="3119058"/>
            <a:ext cx="953535" cy="396525"/>
          </a:xfrm>
          <a:prstGeom prst="rect">
            <a:avLst/>
          </a:prstGeom>
          <a:solidFill>
            <a:srgbClr val="DDDDDD"/>
          </a:solidFill>
          <a:ln cap="flat" cmpd="sng" w="9525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9650" lIns="39650" spcFirstLastPara="1" rIns="39650" wrap="square" tIns="39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Service Executor</a:t>
            </a:r>
            <a:endParaRPr/>
          </a:p>
        </p:txBody>
      </p:sp>
      <p:sp>
        <p:nvSpPr>
          <p:cNvPr id="516" name="Google Shape;516;p9"/>
          <p:cNvSpPr/>
          <p:nvPr/>
        </p:nvSpPr>
        <p:spPr>
          <a:xfrm>
            <a:off x="7095657" y="3934963"/>
            <a:ext cx="953535" cy="396525"/>
          </a:xfrm>
          <a:prstGeom prst="rect">
            <a:avLst/>
          </a:prstGeom>
          <a:solidFill>
            <a:srgbClr val="DDDDDD"/>
          </a:solidFill>
          <a:ln cap="flat" cmpd="sng" w="9525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9650" lIns="39650" spcFirstLastPara="1" rIns="39650" wrap="square" tIns="39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Main Service</a:t>
            </a:r>
            <a:endParaRPr/>
          </a:p>
        </p:txBody>
      </p:sp>
      <p:sp>
        <p:nvSpPr>
          <p:cNvPr id="517" name="Google Shape;517;p9"/>
          <p:cNvSpPr/>
          <p:nvPr/>
        </p:nvSpPr>
        <p:spPr>
          <a:xfrm>
            <a:off x="7649943" y="5663564"/>
            <a:ext cx="604354" cy="31722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JDBC DAO</a:t>
            </a:r>
            <a:endParaRPr/>
          </a:p>
        </p:txBody>
      </p:sp>
      <p:sp>
        <p:nvSpPr>
          <p:cNvPr id="518" name="Google Shape;518;p9"/>
          <p:cNvSpPr/>
          <p:nvPr/>
        </p:nvSpPr>
        <p:spPr>
          <a:xfrm>
            <a:off x="7095657" y="4750867"/>
            <a:ext cx="953535" cy="396525"/>
          </a:xfrm>
          <a:prstGeom prst="rect">
            <a:avLst/>
          </a:prstGeom>
          <a:solidFill>
            <a:srgbClr val="DDDDDD"/>
          </a:solidFill>
          <a:ln cap="flat" cmpd="sng" w="9525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9650" lIns="39650" spcFirstLastPara="1" rIns="39650" wrap="square" tIns="39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Sub Service</a:t>
            </a:r>
            <a:endParaRPr/>
          </a:p>
        </p:txBody>
      </p:sp>
      <p:sp>
        <p:nvSpPr>
          <p:cNvPr id="519" name="Google Shape;519;p9"/>
          <p:cNvSpPr/>
          <p:nvPr/>
        </p:nvSpPr>
        <p:spPr>
          <a:xfrm>
            <a:off x="6987958" y="5673948"/>
            <a:ext cx="475830" cy="31722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myBatis DBIO</a:t>
            </a:r>
            <a:endParaRPr/>
          </a:p>
        </p:txBody>
      </p:sp>
      <p:sp>
        <p:nvSpPr>
          <p:cNvPr id="520" name="Google Shape;520;p9"/>
          <p:cNvSpPr/>
          <p:nvPr/>
        </p:nvSpPr>
        <p:spPr>
          <a:xfrm>
            <a:off x="497084" y="5317035"/>
            <a:ext cx="872452" cy="656899"/>
          </a:xfrm>
          <a:prstGeom prst="rect">
            <a:avLst/>
          </a:prstGeom>
          <a:solidFill>
            <a:srgbClr val="FFB28B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OZ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실행모듈(EXE)</a:t>
            </a:r>
            <a:endParaRPr/>
          </a:p>
        </p:txBody>
      </p:sp>
      <p:cxnSp>
        <p:nvCxnSpPr>
          <p:cNvPr id="521" name="Google Shape;521;p9"/>
          <p:cNvCxnSpPr>
            <a:stCxn id="509" idx="2"/>
            <a:endCxn id="520" idx="0"/>
          </p:cNvCxnSpPr>
          <p:nvPr/>
        </p:nvCxnSpPr>
        <p:spPr>
          <a:xfrm>
            <a:off x="933310" y="5039437"/>
            <a:ext cx="0" cy="277500"/>
          </a:xfrm>
          <a:prstGeom prst="straightConnector1">
            <a:avLst/>
          </a:prstGeom>
          <a:noFill/>
          <a:ln cap="rnd" cmpd="sng" w="15875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grpSp>
        <p:nvGrpSpPr>
          <p:cNvPr id="522" name="Google Shape;522;p9"/>
          <p:cNvGrpSpPr/>
          <p:nvPr/>
        </p:nvGrpSpPr>
        <p:grpSpPr>
          <a:xfrm>
            <a:off x="8358248" y="2263453"/>
            <a:ext cx="951574" cy="3132896"/>
            <a:chOff x="7625114" y="2205658"/>
            <a:chExt cx="988651" cy="2844316"/>
          </a:xfrm>
        </p:grpSpPr>
        <p:sp>
          <p:nvSpPr>
            <p:cNvPr id="523" name="Google Shape;523;p9"/>
            <p:cNvSpPr/>
            <p:nvPr/>
          </p:nvSpPr>
          <p:spPr>
            <a:xfrm>
              <a:off x="7625114" y="2205658"/>
              <a:ext cx="988651" cy="2844316"/>
            </a:xfrm>
            <a:prstGeom prst="roundRect">
              <a:avLst>
                <a:gd fmla="val 3653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8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24" name="Google Shape;524;p9"/>
            <p:cNvSpPr/>
            <p:nvPr/>
          </p:nvSpPr>
          <p:spPr>
            <a:xfrm>
              <a:off x="7707569" y="4634899"/>
              <a:ext cx="787810" cy="2880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8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BOM DBIO</a:t>
              </a:r>
              <a:endParaRPr/>
            </a:p>
          </p:txBody>
        </p:sp>
        <p:sp>
          <p:nvSpPr>
            <p:cNvPr id="525" name="Google Shape;525;p9"/>
            <p:cNvSpPr/>
            <p:nvPr/>
          </p:nvSpPr>
          <p:spPr>
            <a:xfrm>
              <a:off x="7707569" y="2332524"/>
              <a:ext cx="787810" cy="288000"/>
            </a:xfrm>
            <a:prstGeom prst="rect">
              <a:avLst/>
            </a:prstGeom>
            <a:solidFill>
              <a:srgbClr val="E3EDF9"/>
            </a:solidFill>
            <a:ln cap="flat" cmpd="sng" w="12700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81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Internal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81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Adaptor</a:t>
              </a:r>
              <a:endParaRPr/>
            </a:p>
          </p:txBody>
        </p:sp>
        <p:sp>
          <p:nvSpPr>
            <p:cNvPr id="526" name="Google Shape;526;p9"/>
            <p:cNvSpPr/>
            <p:nvPr/>
          </p:nvSpPr>
          <p:spPr>
            <a:xfrm>
              <a:off x="7707569" y="3474828"/>
              <a:ext cx="787810" cy="288000"/>
            </a:xfrm>
            <a:prstGeom prst="rect">
              <a:avLst/>
            </a:prstGeom>
            <a:solidFill>
              <a:srgbClr val="E3EDF9"/>
            </a:solidFill>
            <a:ln cap="flat" cmpd="sng" w="12700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81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DBIO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81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Adaptor</a:t>
              </a:r>
              <a:endParaRPr/>
            </a:p>
          </p:txBody>
        </p:sp>
        <p:sp>
          <p:nvSpPr>
            <p:cNvPr id="527" name="Google Shape;527;p9"/>
            <p:cNvSpPr/>
            <p:nvPr/>
          </p:nvSpPr>
          <p:spPr>
            <a:xfrm>
              <a:off x="7707569" y="3094060"/>
              <a:ext cx="787810" cy="288000"/>
            </a:xfrm>
            <a:prstGeom prst="rect">
              <a:avLst/>
            </a:prstGeom>
            <a:solidFill>
              <a:srgbClr val="E3EDF9"/>
            </a:solidFill>
            <a:ln cap="flat" cmpd="sng" w="12700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81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Interface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81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Invoker</a:t>
              </a:r>
              <a:endParaRPr/>
            </a:p>
          </p:txBody>
        </p:sp>
        <p:sp>
          <p:nvSpPr>
            <p:cNvPr id="528" name="Google Shape;528;p9"/>
            <p:cNvSpPr/>
            <p:nvPr/>
          </p:nvSpPr>
          <p:spPr>
            <a:xfrm>
              <a:off x="7707569" y="2713292"/>
              <a:ext cx="787810" cy="288000"/>
            </a:xfrm>
            <a:prstGeom prst="rect">
              <a:avLst/>
            </a:prstGeom>
            <a:solidFill>
              <a:srgbClr val="E3EDF9"/>
            </a:solidFill>
            <a:ln cap="flat" cmpd="sng" w="12700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81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External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81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Adaptor</a:t>
              </a:r>
              <a:endParaRPr/>
            </a:p>
          </p:txBody>
        </p:sp>
        <p:sp>
          <p:nvSpPr>
            <p:cNvPr id="529" name="Google Shape;529;p9"/>
            <p:cNvSpPr/>
            <p:nvPr/>
          </p:nvSpPr>
          <p:spPr>
            <a:xfrm>
              <a:off x="7707569" y="4236362"/>
              <a:ext cx="787810" cy="288000"/>
            </a:xfrm>
            <a:prstGeom prst="rect">
              <a:avLst/>
            </a:prstGeom>
            <a:solidFill>
              <a:srgbClr val="E3EDF9"/>
            </a:solidFill>
            <a:ln cap="flat" cmpd="sng" w="12700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81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BPM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81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Adaptor</a:t>
              </a:r>
              <a:endParaRPr/>
            </a:p>
          </p:txBody>
        </p:sp>
        <p:sp>
          <p:nvSpPr>
            <p:cNvPr id="530" name="Google Shape;530;p9"/>
            <p:cNvSpPr/>
            <p:nvPr/>
          </p:nvSpPr>
          <p:spPr>
            <a:xfrm>
              <a:off x="7707569" y="3855596"/>
              <a:ext cx="787810" cy="288000"/>
            </a:xfrm>
            <a:prstGeom prst="rect">
              <a:avLst/>
            </a:prstGeom>
            <a:solidFill>
              <a:srgbClr val="E3EDF9"/>
            </a:solidFill>
            <a:ln cap="flat" cmpd="sng" w="12700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81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Rule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81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Adaptor</a:t>
              </a:r>
              <a:endParaRPr/>
            </a:p>
          </p:txBody>
        </p:sp>
      </p:grpSp>
      <p:cxnSp>
        <p:nvCxnSpPr>
          <p:cNvPr id="531" name="Google Shape;531;p9"/>
          <p:cNvCxnSpPr/>
          <p:nvPr/>
        </p:nvCxnSpPr>
        <p:spPr>
          <a:xfrm flipH="1" rot="10800000">
            <a:off x="6481797" y="2461708"/>
            <a:ext cx="634500" cy="339300"/>
          </a:xfrm>
          <a:prstGeom prst="bentConnector3">
            <a:avLst>
              <a:gd fmla="val 26846" name="adj1"/>
            </a:avLst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cxnSp>
        <p:nvCxnSpPr>
          <p:cNvPr id="532" name="Google Shape;532;p9"/>
          <p:cNvCxnSpPr>
            <a:stCxn id="514" idx="2"/>
            <a:endCxn id="515" idx="0"/>
          </p:cNvCxnSpPr>
          <p:nvPr/>
        </p:nvCxnSpPr>
        <p:spPr>
          <a:xfrm>
            <a:off x="7572425" y="2699679"/>
            <a:ext cx="0" cy="419400"/>
          </a:xfrm>
          <a:prstGeom prst="straightConnector1">
            <a:avLst/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cxnSp>
        <p:nvCxnSpPr>
          <p:cNvPr id="533" name="Google Shape;533;p9"/>
          <p:cNvCxnSpPr>
            <a:stCxn id="515" idx="2"/>
            <a:endCxn id="516" idx="0"/>
          </p:cNvCxnSpPr>
          <p:nvPr/>
        </p:nvCxnSpPr>
        <p:spPr>
          <a:xfrm>
            <a:off x="7572425" y="3515583"/>
            <a:ext cx="0" cy="419400"/>
          </a:xfrm>
          <a:prstGeom prst="straightConnector1">
            <a:avLst/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cxnSp>
        <p:nvCxnSpPr>
          <p:cNvPr id="534" name="Google Shape;534;p9"/>
          <p:cNvCxnSpPr>
            <a:stCxn id="516" idx="2"/>
            <a:endCxn id="518" idx="0"/>
          </p:cNvCxnSpPr>
          <p:nvPr/>
        </p:nvCxnSpPr>
        <p:spPr>
          <a:xfrm>
            <a:off x="7572425" y="4331488"/>
            <a:ext cx="0" cy="419400"/>
          </a:xfrm>
          <a:prstGeom prst="straightConnector1">
            <a:avLst/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cxnSp>
        <p:nvCxnSpPr>
          <p:cNvPr id="535" name="Google Shape;535;p9"/>
          <p:cNvCxnSpPr>
            <a:stCxn id="519" idx="0"/>
            <a:endCxn id="518" idx="2"/>
          </p:cNvCxnSpPr>
          <p:nvPr/>
        </p:nvCxnSpPr>
        <p:spPr>
          <a:xfrm rot="-5400000">
            <a:off x="7135873" y="5237448"/>
            <a:ext cx="526500" cy="346500"/>
          </a:xfrm>
          <a:prstGeom prst="bentConnector3">
            <a:avLst>
              <a:gd fmla="val 50005" name="adj1"/>
            </a:avLst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cxnSp>
        <p:nvCxnSpPr>
          <p:cNvPr id="536" name="Google Shape;536;p9"/>
          <p:cNvCxnSpPr>
            <a:stCxn id="517" idx="0"/>
            <a:endCxn id="518" idx="2"/>
          </p:cNvCxnSpPr>
          <p:nvPr/>
        </p:nvCxnSpPr>
        <p:spPr>
          <a:xfrm flipH="1" rot="5400000">
            <a:off x="7504070" y="5215514"/>
            <a:ext cx="516300" cy="379800"/>
          </a:xfrm>
          <a:prstGeom prst="bentConnector3">
            <a:avLst>
              <a:gd fmla="val 49988" name="adj1"/>
            </a:avLst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cxnSp>
        <p:nvCxnSpPr>
          <p:cNvPr id="537" name="Google Shape;537;p9"/>
          <p:cNvCxnSpPr>
            <a:stCxn id="523" idx="1"/>
            <a:endCxn id="518" idx="3"/>
          </p:cNvCxnSpPr>
          <p:nvPr/>
        </p:nvCxnSpPr>
        <p:spPr>
          <a:xfrm flipH="1">
            <a:off x="8049248" y="3829901"/>
            <a:ext cx="309000" cy="1119300"/>
          </a:xfrm>
          <a:prstGeom prst="bentConnector3">
            <a:avLst>
              <a:gd fmla="val 50009" name="adj1"/>
            </a:avLst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sp>
        <p:nvSpPr>
          <p:cNvPr id="538" name="Google Shape;538;p9"/>
          <p:cNvSpPr/>
          <p:nvPr/>
        </p:nvSpPr>
        <p:spPr>
          <a:xfrm>
            <a:off x="457427" y="5969451"/>
            <a:ext cx="959566" cy="282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9650" lIns="39650" spcFirstLastPara="1" rIns="39650" wrap="square" tIns="39650">
            <a:no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1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OZ 프린터 출력</a:t>
            </a:r>
            <a:endParaRPr/>
          </a:p>
        </p:txBody>
      </p:sp>
      <p:sp>
        <p:nvSpPr>
          <p:cNvPr id="500" name="Google Shape;500;p9"/>
          <p:cNvSpPr/>
          <p:nvPr/>
        </p:nvSpPr>
        <p:spPr>
          <a:xfrm>
            <a:off x="1845420" y="3135905"/>
            <a:ext cx="594000" cy="679688"/>
          </a:xfrm>
          <a:prstGeom prst="rect">
            <a:avLst/>
          </a:prstGeom>
          <a:solidFill>
            <a:srgbClr val="DDDDDD"/>
          </a:solidFill>
          <a:ln cap="flat" cmpd="sng" w="9525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39650" lIns="39650" spcFirstLastPara="1" rIns="39650" wrap="square" tIns="39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Service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Endpoint</a:t>
            </a:r>
            <a:endParaRPr/>
          </a:p>
        </p:txBody>
      </p:sp>
      <p:sp>
        <p:nvSpPr>
          <p:cNvPr id="539" name="Google Shape;539;p9"/>
          <p:cNvSpPr/>
          <p:nvPr/>
        </p:nvSpPr>
        <p:spPr>
          <a:xfrm>
            <a:off x="2589021" y="3171777"/>
            <a:ext cx="598774" cy="643816"/>
          </a:xfrm>
          <a:prstGeom prst="rect">
            <a:avLst/>
          </a:prstGeom>
          <a:solidFill>
            <a:srgbClr val="DDDDDD"/>
          </a:solidFill>
          <a:ln cap="flat" cmpd="sng" w="9525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39650" lIns="39650" spcFirstLastPara="1" rIns="39650" wrap="square" tIns="39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Service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Executor</a:t>
            </a:r>
            <a:endParaRPr sz="88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0" name="Google Shape;540;p9"/>
          <p:cNvSpPr/>
          <p:nvPr/>
        </p:nvSpPr>
        <p:spPr>
          <a:xfrm>
            <a:off x="3408188" y="3171777"/>
            <a:ext cx="515483" cy="643816"/>
          </a:xfrm>
          <a:prstGeom prst="rect">
            <a:avLst/>
          </a:prstGeom>
          <a:solidFill>
            <a:srgbClr val="DDDDDD"/>
          </a:solidFill>
          <a:ln cap="flat" cmpd="sng" w="9525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39650" lIns="39650" spcFirstLastPara="1" rIns="39650" wrap="square" tIns="39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Main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Service</a:t>
            </a:r>
            <a:endParaRPr sz="88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1" name="Google Shape;541;p9"/>
          <p:cNvSpPr/>
          <p:nvPr/>
        </p:nvSpPr>
        <p:spPr>
          <a:xfrm>
            <a:off x="4144064" y="3171777"/>
            <a:ext cx="594000" cy="658124"/>
          </a:xfrm>
          <a:prstGeom prst="rect">
            <a:avLst/>
          </a:prstGeom>
          <a:solidFill>
            <a:srgbClr val="DDDDDD"/>
          </a:solidFill>
          <a:ln cap="flat" cmpd="sng" w="9525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39650" lIns="39650" spcFirstLastPara="1" rIns="39650" wrap="square" tIns="39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Sub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Service</a:t>
            </a:r>
            <a:endParaRPr sz="88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2" name="Google Shape;542;p9"/>
          <p:cNvSpPr/>
          <p:nvPr/>
        </p:nvSpPr>
        <p:spPr>
          <a:xfrm>
            <a:off x="5016302" y="3175597"/>
            <a:ext cx="593027" cy="639996"/>
          </a:xfrm>
          <a:prstGeom prst="rect">
            <a:avLst/>
          </a:prstGeom>
          <a:solidFill>
            <a:srgbClr val="E3EDF9"/>
          </a:solidFill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Internal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Adapter</a:t>
            </a:r>
            <a:endParaRPr sz="88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543" name="Google Shape;543;p9"/>
          <p:cNvCxnSpPr/>
          <p:nvPr/>
        </p:nvCxnSpPr>
        <p:spPr>
          <a:xfrm flipH="1" rot="10800000">
            <a:off x="2359218" y="3436795"/>
            <a:ext cx="237915" cy="1"/>
          </a:xfrm>
          <a:prstGeom prst="straightConnector1">
            <a:avLst/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cxnSp>
        <p:nvCxnSpPr>
          <p:cNvPr id="544" name="Google Shape;544;p9"/>
          <p:cNvCxnSpPr/>
          <p:nvPr/>
        </p:nvCxnSpPr>
        <p:spPr>
          <a:xfrm flipH="1" rot="10800000">
            <a:off x="3181548" y="3436795"/>
            <a:ext cx="237915" cy="1"/>
          </a:xfrm>
          <a:prstGeom prst="straightConnector1">
            <a:avLst/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cxnSp>
        <p:nvCxnSpPr>
          <p:cNvPr id="545" name="Google Shape;545;p9"/>
          <p:cNvCxnSpPr/>
          <p:nvPr/>
        </p:nvCxnSpPr>
        <p:spPr>
          <a:xfrm flipH="1" rot="10800000">
            <a:off x="3905864" y="3436795"/>
            <a:ext cx="237915" cy="1"/>
          </a:xfrm>
          <a:prstGeom prst="straightConnector1">
            <a:avLst/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cxnSp>
        <p:nvCxnSpPr>
          <p:cNvPr id="546" name="Google Shape;546;p9"/>
          <p:cNvCxnSpPr/>
          <p:nvPr/>
        </p:nvCxnSpPr>
        <p:spPr>
          <a:xfrm flipH="1" rot="10800000">
            <a:off x="4783218" y="3436795"/>
            <a:ext cx="237915" cy="1"/>
          </a:xfrm>
          <a:prstGeom prst="straightConnector1">
            <a:avLst/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sp>
        <p:nvSpPr>
          <p:cNvPr id="547" name="Google Shape;547;p9"/>
          <p:cNvSpPr/>
          <p:nvPr/>
        </p:nvSpPr>
        <p:spPr>
          <a:xfrm>
            <a:off x="4517720" y="1946223"/>
            <a:ext cx="1077429" cy="2156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650" lIns="39650" spcFirstLastPara="1" rIns="39650" wrap="square" tIns="39650">
            <a:sp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1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Internal Direct 전문</a:t>
            </a:r>
            <a:endParaRPr/>
          </a:p>
        </p:txBody>
      </p:sp>
      <p:sp>
        <p:nvSpPr>
          <p:cNvPr id="548" name="Google Shape;548;p9"/>
          <p:cNvSpPr/>
          <p:nvPr/>
        </p:nvSpPr>
        <p:spPr>
          <a:xfrm>
            <a:off x="2083361" y="2620392"/>
            <a:ext cx="1553802" cy="2156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650" lIns="39650" spcFirstLastPara="1" rIns="39650" wrap="square" tIns="39650">
            <a:sp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1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Business 로직 처리 전문</a:t>
            </a:r>
            <a:endParaRPr/>
          </a:p>
        </p:txBody>
      </p:sp>
      <p:sp>
        <p:nvSpPr>
          <p:cNvPr id="549" name="Google Shape;549;p9"/>
          <p:cNvSpPr/>
          <p:nvPr/>
        </p:nvSpPr>
        <p:spPr>
          <a:xfrm>
            <a:off x="2600593" y="4763016"/>
            <a:ext cx="1230585" cy="264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39650" lIns="39650" spcFirstLastPara="1" rIns="39650" wrap="square" tIns="39650">
            <a:spAutoFit/>
          </a:bodyPr>
          <a:lstStyle/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OZ 데이터 조회 전문 요청(전문은 UI에서 String으로 수신)</a:t>
            </a:r>
            <a:endParaRPr b="0" i="0" sz="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0" name="Google Shape;550;p9"/>
          <p:cNvSpPr/>
          <p:nvPr/>
        </p:nvSpPr>
        <p:spPr>
          <a:xfrm>
            <a:off x="1409237" y="2125808"/>
            <a:ext cx="396525" cy="198263"/>
          </a:xfrm>
          <a:prstGeom prst="ellipse">
            <a:avLst/>
          </a:prstGeom>
          <a:solidFill>
            <a:srgbClr val="F2F2F2"/>
          </a:solidFill>
          <a:ln cap="flat" cmpd="sng" w="9525">
            <a:solidFill>
              <a:srgbClr val="0094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7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JSON</a:t>
            </a:r>
            <a:endParaRPr b="1" sz="771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9"/>
          <p:cNvSpPr/>
          <p:nvPr/>
        </p:nvSpPr>
        <p:spPr>
          <a:xfrm>
            <a:off x="2338266" y="3492817"/>
            <a:ext cx="277568" cy="198263"/>
          </a:xfrm>
          <a:prstGeom prst="ellipse">
            <a:avLst/>
          </a:prstGeom>
          <a:solidFill>
            <a:srgbClr val="F2F2F2"/>
          </a:solidFill>
          <a:ln cap="flat" cmpd="sng" w="9525">
            <a:solidFill>
              <a:srgbClr val="0094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7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VO</a:t>
            </a:r>
            <a:endParaRPr b="1" sz="771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9"/>
          <p:cNvSpPr/>
          <p:nvPr/>
        </p:nvSpPr>
        <p:spPr>
          <a:xfrm>
            <a:off x="3162878" y="3492817"/>
            <a:ext cx="277568" cy="198263"/>
          </a:xfrm>
          <a:prstGeom prst="ellipse">
            <a:avLst/>
          </a:prstGeom>
          <a:solidFill>
            <a:srgbClr val="F2F2F2"/>
          </a:solidFill>
          <a:ln cap="flat" cmpd="sng" w="9525">
            <a:solidFill>
              <a:srgbClr val="0094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7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VO</a:t>
            </a:r>
            <a:endParaRPr b="1" sz="771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9"/>
          <p:cNvSpPr/>
          <p:nvPr/>
        </p:nvSpPr>
        <p:spPr>
          <a:xfrm>
            <a:off x="4757338" y="3492817"/>
            <a:ext cx="277568" cy="198263"/>
          </a:xfrm>
          <a:prstGeom prst="ellipse">
            <a:avLst/>
          </a:prstGeom>
          <a:solidFill>
            <a:srgbClr val="F2F2F2"/>
          </a:solidFill>
          <a:ln cap="flat" cmpd="sng" w="9525">
            <a:solidFill>
              <a:srgbClr val="0094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7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VO</a:t>
            </a:r>
            <a:endParaRPr b="1" sz="771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9"/>
          <p:cNvSpPr/>
          <p:nvPr/>
        </p:nvSpPr>
        <p:spPr>
          <a:xfrm>
            <a:off x="3551721" y="3968047"/>
            <a:ext cx="396525" cy="198263"/>
          </a:xfrm>
          <a:prstGeom prst="ellipse">
            <a:avLst/>
          </a:prstGeom>
          <a:solidFill>
            <a:srgbClr val="F2F2F2"/>
          </a:solidFill>
          <a:ln cap="flat" cmpd="sng" w="9525">
            <a:solidFill>
              <a:srgbClr val="0094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7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JSON</a:t>
            </a:r>
            <a:endParaRPr b="1" sz="771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9"/>
          <p:cNvSpPr/>
          <p:nvPr/>
        </p:nvSpPr>
        <p:spPr>
          <a:xfrm>
            <a:off x="5642774" y="2104847"/>
            <a:ext cx="396525" cy="198263"/>
          </a:xfrm>
          <a:prstGeom prst="ellipse">
            <a:avLst/>
          </a:prstGeom>
          <a:solidFill>
            <a:srgbClr val="F2F2F2"/>
          </a:solidFill>
          <a:ln cap="flat" cmpd="sng" w="9525">
            <a:solidFill>
              <a:srgbClr val="0094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7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JSON</a:t>
            </a:r>
            <a:endParaRPr b="1" sz="771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9"/>
          <p:cNvSpPr/>
          <p:nvPr/>
        </p:nvSpPr>
        <p:spPr>
          <a:xfrm>
            <a:off x="5652075" y="3532474"/>
            <a:ext cx="396525" cy="198263"/>
          </a:xfrm>
          <a:prstGeom prst="ellipse">
            <a:avLst/>
          </a:prstGeom>
          <a:solidFill>
            <a:srgbClr val="F2F2F2"/>
          </a:solidFill>
          <a:ln cap="flat" cmpd="sng" w="9525">
            <a:solidFill>
              <a:srgbClr val="0094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7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JSON</a:t>
            </a:r>
            <a:endParaRPr b="1" sz="771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9"/>
          <p:cNvSpPr/>
          <p:nvPr/>
        </p:nvSpPr>
        <p:spPr>
          <a:xfrm>
            <a:off x="6632242" y="2223818"/>
            <a:ext cx="396525" cy="198263"/>
          </a:xfrm>
          <a:prstGeom prst="ellipse">
            <a:avLst/>
          </a:prstGeom>
          <a:solidFill>
            <a:srgbClr val="F2F2F2"/>
          </a:solidFill>
          <a:ln cap="flat" cmpd="sng" w="9525">
            <a:solidFill>
              <a:srgbClr val="0094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7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JSON</a:t>
            </a:r>
            <a:endParaRPr b="1" sz="771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9"/>
          <p:cNvSpPr/>
          <p:nvPr/>
        </p:nvSpPr>
        <p:spPr>
          <a:xfrm>
            <a:off x="7711161" y="2818672"/>
            <a:ext cx="277568" cy="198263"/>
          </a:xfrm>
          <a:prstGeom prst="ellipse">
            <a:avLst/>
          </a:prstGeom>
          <a:solidFill>
            <a:srgbClr val="F2F2F2"/>
          </a:solidFill>
          <a:ln cap="flat" cmpd="sng" w="9525">
            <a:solidFill>
              <a:srgbClr val="0094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7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VO</a:t>
            </a:r>
            <a:endParaRPr b="1" sz="771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9"/>
          <p:cNvSpPr/>
          <p:nvPr/>
        </p:nvSpPr>
        <p:spPr>
          <a:xfrm>
            <a:off x="7711161" y="3611810"/>
            <a:ext cx="277568" cy="198263"/>
          </a:xfrm>
          <a:prstGeom prst="ellipse">
            <a:avLst/>
          </a:prstGeom>
          <a:solidFill>
            <a:srgbClr val="F2F2F2"/>
          </a:solidFill>
          <a:ln cap="flat" cmpd="sng" w="9525">
            <a:solidFill>
              <a:srgbClr val="0094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7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VO</a:t>
            </a:r>
            <a:endParaRPr b="1" sz="771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9"/>
          <p:cNvSpPr/>
          <p:nvPr/>
        </p:nvSpPr>
        <p:spPr>
          <a:xfrm>
            <a:off x="7711161" y="4444605"/>
            <a:ext cx="277568" cy="198263"/>
          </a:xfrm>
          <a:prstGeom prst="ellipse">
            <a:avLst/>
          </a:prstGeom>
          <a:solidFill>
            <a:srgbClr val="F2F2F2"/>
          </a:solidFill>
          <a:ln cap="flat" cmpd="sng" w="9525">
            <a:solidFill>
              <a:srgbClr val="0094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7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VO</a:t>
            </a:r>
            <a:endParaRPr b="1" sz="771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9"/>
          <p:cNvSpPr/>
          <p:nvPr/>
        </p:nvSpPr>
        <p:spPr>
          <a:xfrm>
            <a:off x="3895377" y="3492817"/>
            <a:ext cx="277568" cy="198263"/>
          </a:xfrm>
          <a:prstGeom prst="ellipse">
            <a:avLst/>
          </a:prstGeom>
          <a:solidFill>
            <a:srgbClr val="F2F2F2"/>
          </a:solidFill>
          <a:ln cap="flat" cmpd="sng" w="9525">
            <a:solidFill>
              <a:srgbClr val="0094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7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VO</a:t>
            </a:r>
            <a:endParaRPr b="1" sz="771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9"/>
          <p:cNvSpPr/>
          <p:nvPr/>
        </p:nvSpPr>
        <p:spPr>
          <a:xfrm>
            <a:off x="1683822" y="4810264"/>
            <a:ext cx="1044729" cy="295524"/>
          </a:xfrm>
          <a:prstGeom prst="rect">
            <a:avLst/>
          </a:prstGeom>
          <a:noFill/>
          <a:ln>
            <a:noFill/>
          </a:ln>
        </p:spPr>
        <p:txBody>
          <a:bodyPr anchorCtr="0" anchor="ctr" bIns="39650" lIns="39650" spcFirstLastPara="1" rIns="39650" wrap="square" tIns="39650">
            <a:spAutoFit/>
          </a:bodyPr>
          <a:lstStyle/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조회 전문을 String Data로 전송 </a:t>
            </a:r>
            <a:endParaRPr/>
          </a:p>
        </p:txBody>
      </p:sp>
      <p:sp>
        <p:nvSpPr>
          <p:cNvPr id="512" name="Google Shape;512;p9"/>
          <p:cNvSpPr/>
          <p:nvPr/>
        </p:nvSpPr>
        <p:spPr>
          <a:xfrm>
            <a:off x="540685" y="4246298"/>
            <a:ext cx="793050" cy="29066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9650" lIns="39650" spcFirstLastPara="1" rIns="39650" wrap="square" tIns="39650">
            <a:no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1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조회 전문 전송 시</a:t>
            </a:r>
            <a:endParaRPr/>
          </a:p>
        </p:txBody>
      </p:sp>
      <p:sp>
        <p:nvSpPr>
          <p:cNvPr id="563" name="Google Shape;563;p9"/>
          <p:cNvSpPr/>
          <p:nvPr/>
        </p:nvSpPr>
        <p:spPr>
          <a:xfrm>
            <a:off x="536741" y="4623039"/>
            <a:ext cx="793050" cy="31612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9650" lIns="39650" spcFirstLastPara="1" rIns="39650" wrap="square" tIns="39650">
            <a:no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1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UI 데이터</a:t>
            </a:r>
            <a:endParaRPr b="0" i="0" sz="881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1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전송 시</a:t>
            </a:r>
            <a:endParaRPr/>
          </a:p>
        </p:txBody>
      </p:sp>
      <p:cxnSp>
        <p:nvCxnSpPr>
          <p:cNvPr id="564" name="Google Shape;564;p9"/>
          <p:cNvCxnSpPr>
            <a:stCxn id="563" idx="3"/>
            <a:endCxn id="507" idx="1"/>
          </p:cNvCxnSpPr>
          <p:nvPr/>
        </p:nvCxnSpPr>
        <p:spPr>
          <a:xfrm>
            <a:off x="1329791" y="4781100"/>
            <a:ext cx="1230600" cy="1128600"/>
          </a:xfrm>
          <a:prstGeom prst="bentConnector3">
            <a:avLst>
              <a:gd fmla="val 50005" name="adj1"/>
            </a:avLst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sp>
        <p:nvSpPr>
          <p:cNvPr id="565" name="Google Shape;565;p9"/>
          <p:cNvSpPr/>
          <p:nvPr/>
        </p:nvSpPr>
        <p:spPr>
          <a:xfrm>
            <a:off x="1735325" y="5591776"/>
            <a:ext cx="704095" cy="295524"/>
          </a:xfrm>
          <a:prstGeom prst="rect">
            <a:avLst/>
          </a:prstGeom>
          <a:noFill/>
          <a:ln>
            <a:noFill/>
          </a:ln>
        </p:spPr>
        <p:txBody>
          <a:bodyPr anchorCtr="0" anchor="ctr" bIns="39650" lIns="39650" spcFirstLastPara="1" rIns="39650" wrap="square" tIns="39650">
            <a:spAutoFit/>
          </a:bodyPr>
          <a:lstStyle/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OZ 데이터를JSON으로 전송</a:t>
            </a:r>
            <a:endParaRPr/>
          </a:p>
        </p:txBody>
      </p:sp>
      <p:sp>
        <p:nvSpPr>
          <p:cNvPr id="566" name="Google Shape;566;p9"/>
          <p:cNvSpPr/>
          <p:nvPr/>
        </p:nvSpPr>
        <p:spPr>
          <a:xfrm>
            <a:off x="457427" y="1787570"/>
            <a:ext cx="237941" cy="27465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50700" lIns="101400" spcFirstLastPara="1" rIns="101400" wrap="square" tIns="50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42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1542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7" name="Google Shape;567;p9"/>
          <p:cNvSpPr/>
          <p:nvPr/>
        </p:nvSpPr>
        <p:spPr>
          <a:xfrm>
            <a:off x="457427" y="3770416"/>
            <a:ext cx="237941" cy="27465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50700" lIns="101400" spcFirstLastPara="1" rIns="101400" wrap="square" tIns="50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42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1542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8" name="Google Shape;568;p9"/>
          <p:cNvSpPr/>
          <p:nvPr/>
        </p:nvSpPr>
        <p:spPr>
          <a:xfrm>
            <a:off x="1726448" y="1747913"/>
            <a:ext cx="237941" cy="27465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50700" lIns="101400" spcFirstLastPara="1" rIns="101400" wrap="square" tIns="50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42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1542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9" name="Google Shape;569;p9"/>
          <p:cNvSpPr/>
          <p:nvPr/>
        </p:nvSpPr>
        <p:spPr>
          <a:xfrm>
            <a:off x="2322584" y="4292013"/>
            <a:ext cx="237941" cy="27465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50700" lIns="101400" spcFirstLastPara="1" rIns="101400" wrap="square" tIns="50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42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1542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0" name="Google Shape;570;p9"/>
          <p:cNvSpPr/>
          <p:nvPr/>
        </p:nvSpPr>
        <p:spPr>
          <a:xfrm>
            <a:off x="5999629" y="1814785"/>
            <a:ext cx="237941" cy="27465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50700" lIns="101400" spcFirstLastPara="1" rIns="101400" wrap="square" tIns="50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42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sz="1542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1" name="Google Shape;571;p9"/>
          <p:cNvSpPr/>
          <p:nvPr/>
        </p:nvSpPr>
        <p:spPr>
          <a:xfrm>
            <a:off x="7036994" y="2025512"/>
            <a:ext cx="237941" cy="27465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50700" lIns="101400" spcFirstLastPara="1" rIns="101400" wrap="square" tIns="50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42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sz="1542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2" name="Google Shape;572;p9"/>
          <p:cNvSpPr/>
          <p:nvPr/>
        </p:nvSpPr>
        <p:spPr>
          <a:xfrm>
            <a:off x="7036994" y="2940564"/>
            <a:ext cx="237941" cy="27465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50700" lIns="101400" spcFirstLastPara="1" rIns="101400" wrap="square" tIns="50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42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sz="1542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3" name="Google Shape;573;p9"/>
          <p:cNvSpPr/>
          <p:nvPr/>
        </p:nvSpPr>
        <p:spPr>
          <a:xfrm>
            <a:off x="6918023" y="3694045"/>
            <a:ext cx="237941" cy="27465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50700" lIns="101400" spcFirstLastPara="1" rIns="101400" wrap="square" tIns="50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42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r>
            <a:endParaRPr b="1" sz="1542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4" name="Google Shape;574;p9"/>
          <p:cNvSpPr/>
          <p:nvPr/>
        </p:nvSpPr>
        <p:spPr>
          <a:xfrm>
            <a:off x="8306471" y="2107769"/>
            <a:ext cx="237941" cy="27465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50700" lIns="101400" spcFirstLastPara="1" rIns="101400" wrap="square" tIns="50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42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endParaRPr b="1" sz="1542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5" name="Google Shape;575;p9"/>
          <p:cNvSpPr/>
          <p:nvPr/>
        </p:nvSpPr>
        <p:spPr>
          <a:xfrm>
            <a:off x="576398" y="2621799"/>
            <a:ext cx="748317" cy="29066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9650" lIns="39650" spcFirstLastPara="1" rIns="39650" wrap="square" tIns="39650">
            <a:no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1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DoRequest</a:t>
            </a:r>
            <a:endParaRPr/>
          </a:p>
        </p:txBody>
      </p:sp>
      <p:sp>
        <p:nvSpPr>
          <p:cNvPr id="576" name="Google Shape;576;p9"/>
          <p:cNvSpPr/>
          <p:nvPr/>
        </p:nvSpPr>
        <p:spPr>
          <a:xfrm>
            <a:off x="4200697" y="4460760"/>
            <a:ext cx="1472064" cy="93558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51525" lIns="99125" spcFirstLastPara="1" rIns="99125" wrap="square" tIns="515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OZ 스케쥴러</a:t>
            </a:r>
            <a:endParaRPr sz="88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7" name="Google Shape;577;p9"/>
          <p:cNvSpPr/>
          <p:nvPr/>
        </p:nvSpPr>
        <p:spPr>
          <a:xfrm>
            <a:off x="4413936" y="4883751"/>
            <a:ext cx="1076134" cy="330971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51525" lIns="99125" spcFirstLastPara="1" rIns="99125" wrap="square" tIns="515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스케쥴러</a:t>
            </a:r>
            <a:endParaRPr sz="88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Processor</a:t>
            </a:r>
            <a:endParaRPr sz="88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578" name="Google Shape;578;p9"/>
          <p:cNvCxnSpPr>
            <a:stCxn id="507" idx="3"/>
            <a:endCxn id="577" idx="1"/>
          </p:cNvCxnSpPr>
          <p:nvPr/>
        </p:nvCxnSpPr>
        <p:spPr>
          <a:xfrm flipH="1" rot="10800000">
            <a:off x="3636659" y="5049095"/>
            <a:ext cx="777300" cy="860700"/>
          </a:xfrm>
          <a:prstGeom prst="bentConnector3">
            <a:avLst>
              <a:gd fmla="val 49999" name="adj1"/>
            </a:avLst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sp>
        <p:nvSpPr>
          <p:cNvPr id="579" name="Google Shape;579;p9"/>
          <p:cNvSpPr/>
          <p:nvPr/>
        </p:nvSpPr>
        <p:spPr>
          <a:xfrm>
            <a:off x="4205787" y="5454849"/>
            <a:ext cx="1472064" cy="68896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51525" lIns="99125" spcFirstLastPara="1" rIns="99125" wrap="square" tIns="515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OZ 후처리</a:t>
            </a:r>
            <a:endParaRPr/>
          </a:p>
        </p:txBody>
      </p:sp>
      <p:sp>
        <p:nvSpPr>
          <p:cNvPr id="580" name="Google Shape;580;p9"/>
          <p:cNvSpPr/>
          <p:nvPr/>
        </p:nvSpPr>
        <p:spPr>
          <a:xfrm>
            <a:off x="4451813" y="5748322"/>
            <a:ext cx="1076134" cy="330971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51525" lIns="99125" spcFirstLastPara="1" rIns="99125" wrap="square" tIns="515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후처리</a:t>
            </a:r>
            <a:endParaRPr sz="88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Processor</a:t>
            </a:r>
            <a:endParaRPr sz="88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1" name="Google Shape;581;p9"/>
          <p:cNvSpPr/>
          <p:nvPr/>
        </p:nvSpPr>
        <p:spPr>
          <a:xfrm>
            <a:off x="4237105" y="5236901"/>
            <a:ext cx="2076507" cy="203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9650" lIns="39650" spcFirstLastPara="1" rIns="39650" wrap="square" tIns="39650">
            <a:spAutoFit/>
          </a:bodyPr>
          <a:lstStyle/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OZ Viewer/PDF/TIFF 데이터 생성</a:t>
            </a:r>
            <a:endParaRPr/>
          </a:p>
        </p:txBody>
      </p:sp>
      <p:cxnSp>
        <p:nvCxnSpPr>
          <p:cNvPr id="582" name="Google Shape;582;p9"/>
          <p:cNvCxnSpPr>
            <a:stCxn id="580" idx="0"/>
            <a:endCxn id="577" idx="2"/>
          </p:cNvCxnSpPr>
          <p:nvPr/>
        </p:nvCxnSpPr>
        <p:spPr>
          <a:xfrm flipH="1" rot="5400000">
            <a:off x="4704130" y="5462572"/>
            <a:ext cx="533700" cy="37800"/>
          </a:xfrm>
          <a:prstGeom prst="bentConnector3">
            <a:avLst>
              <a:gd fmla="val 49991" name="adj1"/>
            </a:avLst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sp>
        <p:nvSpPr>
          <p:cNvPr id="583" name="Google Shape;583;p9"/>
          <p:cNvSpPr/>
          <p:nvPr/>
        </p:nvSpPr>
        <p:spPr>
          <a:xfrm>
            <a:off x="3831178" y="448733"/>
            <a:ext cx="2406392" cy="1372977"/>
          </a:xfrm>
          <a:prstGeom prst="rect">
            <a:avLst/>
          </a:prstGeom>
          <a:solidFill>
            <a:srgbClr val="E7E7F9"/>
          </a:solidFill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미리보기 &amp; 인쇄(발행)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8" name="Google Shape;588;p10"/>
          <p:cNvGraphicFramePr/>
          <p:nvPr/>
        </p:nvGraphicFramePr>
        <p:xfrm>
          <a:off x="415925" y="13307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{F6045412-04BD-4F82-B1B7-2730D475FC39}</a:tableStyleId>
              </a:tblPr>
              <a:tblGrid>
                <a:gridCol w="499325"/>
                <a:gridCol w="1665300"/>
                <a:gridCol w="6836475"/>
              </a:tblGrid>
              <a:tr h="24375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구분</a:t>
                      </a:r>
                      <a:endParaRPr/>
                    </a:p>
                  </a:txBody>
                  <a:tcPr marT="51575" marB="51575" marR="91500" marL="91500" anchor="ctr">
                    <a:lnL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상세 설명</a:t>
                      </a:r>
                      <a:endParaRPr/>
                    </a:p>
                  </a:txBody>
                  <a:tcPr marT="51575" marB="51575" marR="91500" marL="915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1545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Client Tier</a:t>
                      </a:r>
                      <a:endParaRPr/>
                    </a:p>
                  </a:txBody>
                  <a:tcPr marT="39650" marB="39650" marR="39650" marL="118950" anchor="ctr">
                    <a:lnL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-93663" lvl="0" marL="93663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사용자가 직접 사용하는 Tier이며 HTML5기반으로 Non-ActiveX를 기반으로 함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9650" marB="39650" marR="39650" marL="396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5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9650" marB="39650" marR="39650" marL="118950" anchor="ctr">
                    <a:lnL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UI</a:t>
                      </a:r>
                      <a:endParaRPr/>
                    </a:p>
                  </a:txBody>
                  <a:tcPr marT="39650" marB="39650" marR="39650" marL="31722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93663" lvl="0" marL="936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UI Client에서 전문 방식으로 Dispatcher Servlet Gateway를 호출</a:t>
                      </a:r>
                      <a:endParaRPr/>
                    </a:p>
                  </a:txBody>
                  <a:tcPr marT="39650" marB="39650" marR="39650" marL="396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5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9650" marB="39650" marR="39650" marL="118950" anchor="ctr">
                    <a:lnL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OZ Viewer</a:t>
                      </a:r>
                      <a:endParaRPr b="1" i="0" sz="105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9650" marB="39650" marR="39650" marL="31722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93663" lvl="0" marL="93663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HTML5기반의 보고서 기능 제공</a:t>
                      </a:r>
                      <a:endParaRPr/>
                    </a:p>
                  </a:txBody>
                  <a:tcPr marT="39650" marB="39650" marR="39650" marL="396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545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Application Tier(GateWay)</a:t>
                      </a:r>
                      <a:endParaRPr/>
                    </a:p>
                  </a:txBody>
                  <a:tcPr marT="39650" marB="39650" marR="39650" marL="118950" anchor="ctr">
                    <a:lnL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-93663" lvl="0" marL="93663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외부망 시스템과 내부망 시스템 간에 EAI를 통한 GateWay역할을 수행하며 제한된 Biz로직 처리 가능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9650" marB="39650" marR="39650" marL="396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3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9650" marB="39650" marR="39650" marL="118950" anchor="ctr">
                    <a:lnL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Framework</a:t>
                      </a:r>
                      <a:endParaRPr/>
                    </a:p>
                  </a:txBody>
                  <a:tcPr marT="39650" marB="39650" marR="39650" marL="31722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93663" lvl="0" marL="93663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Client로부터 요청을 받아들여 내부망 시스템에 EAI 시스템을 통해 내부망 시스템 서비스를 요청하여 Client에 전달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-93663" lvl="0" marL="93663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Client 및 OZ서버로부터 요청을 받아 Business Layer로 전달하여 외부망 Biz.로직을 처리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9650" marB="39650" marR="39650" marL="396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82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9650" marB="39650" marR="39650" marL="118950" anchor="ctr">
                    <a:lnL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OZ Listener</a:t>
                      </a:r>
                      <a:endParaRPr/>
                    </a:p>
                  </a:txBody>
                  <a:tcPr marT="39650" marB="39650" marR="39650" marL="31722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93663" lvl="0" marL="93663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HTML5기반의 OZ 보고서 생성을 담당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-93663" lvl="0" marL="93663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HTML5기반의 OZ는 데이터 바인딩을 서버에서 처리하며, 데이터 조회 필요시 F/W에 조회 전문을 전송하여 데이터를 가져옴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9650" marB="39650" marR="39650" marL="396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545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Internal I/F Tier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9650" marB="39650" marR="39650" marL="118950" anchor="ctr">
                    <a:lnL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-93663" lvl="0" marL="93663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외부망 서비스 및 내부망 서비스 연계</a:t>
                      </a:r>
                      <a:endParaRPr/>
                    </a:p>
                  </a:txBody>
                  <a:tcPr marT="39650" marB="39650" marR="39650" marL="396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5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9650" marB="39650" marR="39650" marL="118950" anchor="ctr">
                    <a:lnL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EAI</a:t>
                      </a:r>
                      <a:endParaRPr b="1" i="0" sz="105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9650" marB="39650" marR="39650" marL="31722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30163" lvl="0" marL="93663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9650" marB="39650" marR="39650" marL="396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545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Application Tier(Biz. Service)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9650" marB="39650" marR="39650" marL="118950" anchor="ctr">
                    <a:lnL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-93663" lvl="0" marL="93663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기간계 업무로직을 처리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9650" marB="39650" marR="39650" marL="396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20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9650" marB="39650" marR="39650" marL="118950" anchor="ctr">
                    <a:lnL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Channel Layer</a:t>
                      </a:r>
                      <a:endParaRPr/>
                    </a:p>
                  </a:txBody>
                  <a:tcPr marT="39650" marB="39650" marR="39650" marL="27757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93663" lvl="0" marL="93663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다양한 형식의 전문과 Data Object의 상호변환 지원</a:t>
                      </a:r>
                      <a:b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 XML, FLD, Serialized Object, JSON, SOAP</a:t>
                      </a:r>
                      <a:b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 HTTP, TCP 프로토콜 지원</a:t>
                      </a:r>
                      <a:endParaRPr/>
                    </a:p>
                    <a:p>
                      <a:pPr indent="-93663" lvl="0" marL="93663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거래 요청/응답에 대한 Logging 처리 지원</a:t>
                      </a:r>
                      <a:endParaRPr/>
                    </a:p>
                  </a:txBody>
                  <a:tcPr marT="39650" marB="39650" marR="39650" marL="396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20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9650" marB="39650" marR="39650" marL="118950" anchor="ctr">
                    <a:lnL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Service Control Layer</a:t>
                      </a:r>
                      <a:endParaRPr/>
                    </a:p>
                  </a:txBody>
                  <a:tcPr marT="39650" marB="39650" marR="39650" marL="27757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93663" lvl="0" marL="93663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거래제어 및 서비스 타임아웃/로그레벨 변경 적용 처리</a:t>
                      </a:r>
                      <a:endParaRPr/>
                    </a:p>
                    <a:p>
                      <a:pPr indent="-93663" lvl="0" marL="93663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계층적 거래처리 구조</a:t>
                      </a:r>
                      <a:b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 시스템 선/후 처리를 이용하여 전체 거래에 대한 공통 선/후처리 지원</a:t>
                      </a:r>
                      <a:b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 업무 선/후 처리를 이용한 단위 업무 거래에 대한 공통 선/후처리 지원</a:t>
                      </a:r>
                      <a:endParaRPr/>
                    </a:p>
                  </a:txBody>
                  <a:tcPr marT="39650" marB="39650" marR="39650" marL="396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82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9650" marB="39650" marR="39650" marL="118950" anchor="ctr">
                    <a:lnL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Business Layer</a:t>
                      </a:r>
                      <a:endParaRPr/>
                    </a:p>
                  </a:txBody>
                  <a:tcPr marT="39650" marB="39650" marR="39650" marL="27757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93663" lvl="0" marL="93663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단위 업무의 Service 처리</a:t>
                      </a:r>
                      <a:endParaRPr/>
                    </a:p>
                    <a:p>
                      <a:pPr indent="-93663" lvl="0" marL="93663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서비스 to 서비스의 비동기 처리 지원</a:t>
                      </a:r>
                      <a:endParaRPr/>
                    </a:p>
                    <a:p>
                      <a:pPr indent="-93663" lvl="0" marL="93663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Sub Service (Bean) 모듈의 재사용</a:t>
                      </a:r>
                      <a:endParaRPr/>
                    </a:p>
                  </a:txBody>
                  <a:tcPr marT="39650" marB="39650" marR="39650" marL="396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5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9650" marB="39650" marR="39650" marL="118950" anchor="ctr">
                    <a:lnL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Integration Layer</a:t>
                      </a:r>
                      <a:endParaRPr/>
                    </a:p>
                  </a:txBody>
                  <a:tcPr marT="39650" marB="39650" marR="39650" marL="27757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93663" lvl="0" marL="93663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DBIO, Rule, 대내(EAI), 대외 연동 등 다양한 Interface 연동 지원</a:t>
                      </a:r>
                      <a:endParaRPr/>
                    </a:p>
                  </a:txBody>
                  <a:tcPr marT="39650" marB="39650" marR="39650" marL="396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89" name="Google Shape;589;p10"/>
          <p:cNvSpPr/>
          <p:nvPr/>
        </p:nvSpPr>
        <p:spPr>
          <a:xfrm>
            <a:off x="942060" y="1871625"/>
            <a:ext cx="197588" cy="197587"/>
          </a:xfrm>
          <a:prstGeom prst="ellipse">
            <a:avLst/>
          </a:prstGeom>
          <a:solidFill>
            <a:srgbClr val="000000">
              <a:alpha val="98824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sz="1102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10"/>
          <p:cNvSpPr/>
          <p:nvPr/>
        </p:nvSpPr>
        <p:spPr>
          <a:xfrm>
            <a:off x="942060" y="2117749"/>
            <a:ext cx="197588" cy="197587"/>
          </a:xfrm>
          <a:prstGeom prst="ellipse">
            <a:avLst/>
          </a:prstGeom>
          <a:solidFill>
            <a:srgbClr val="000000">
              <a:alpha val="98824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sz="1102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10"/>
          <p:cNvSpPr/>
          <p:nvPr/>
        </p:nvSpPr>
        <p:spPr>
          <a:xfrm>
            <a:off x="942060" y="2648237"/>
            <a:ext cx="197588" cy="197587"/>
          </a:xfrm>
          <a:prstGeom prst="ellipse">
            <a:avLst/>
          </a:prstGeom>
          <a:solidFill>
            <a:srgbClr val="000000">
              <a:alpha val="98824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sz="1102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10"/>
          <p:cNvSpPr/>
          <p:nvPr/>
        </p:nvSpPr>
        <p:spPr>
          <a:xfrm>
            <a:off x="942060" y="3095169"/>
            <a:ext cx="197588" cy="197587"/>
          </a:xfrm>
          <a:prstGeom prst="ellipse">
            <a:avLst/>
          </a:prstGeom>
          <a:solidFill>
            <a:srgbClr val="000000">
              <a:alpha val="98824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sz="1102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10"/>
          <p:cNvSpPr/>
          <p:nvPr/>
        </p:nvSpPr>
        <p:spPr>
          <a:xfrm>
            <a:off x="942060" y="3758845"/>
            <a:ext cx="197588" cy="197587"/>
          </a:xfrm>
          <a:prstGeom prst="ellipse">
            <a:avLst/>
          </a:prstGeom>
          <a:solidFill>
            <a:srgbClr val="000000">
              <a:alpha val="98824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sz="1102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10"/>
          <p:cNvSpPr/>
          <p:nvPr/>
        </p:nvSpPr>
        <p:spPr>
          <a:xfrm>
            <a:off x="942060" y="4474924"/>
            <a:ext cx="197588" cy="197587"/>
          </a:xfrm>
          <a:prstGeom prst="ellipse">
            <a:avLst/>
          </a:prstGeom>
          <a:solidFill>
            <a:srgbClr val="000000">
              <a:alpha val="98824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sz="1102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10"/>
          <p:cNvSpPr/>
          <p:nvPr/>
        </p:nvSpPr>
        <p:spPr>
          <a:xfrm>
            <a:off x="942060" y="5096666"/>
            <a:ext cx="197588" cy="197587"/>
          </a:xfrm>
          <a:prstGeom prst="ellipse">
            <a:avLst/>
          </a:prstGeom>
          <a:solidFill>
            <a:srgbClr val="000000">
              <a:alpha val="98824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sz="1102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10"/>
          <p:cNvSpPr/>
          <p:nvPr/>
        </p:nvSpPr>
        <p:spPr>
          <a:xfrm>
            <a:off x="942060" y="5711751"/>
            <a:ext cx="197588" cy="197587"/>
          </a:xfrm>
          <a:prstGeom prst="ellipse">
            <a:avLst/>
          </a:prstGeom>
          <a:solidFill>
            <a:srgbClr val="000000">
              <a:alpha val="98824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1" sz="1102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10"/>
          <p:cNvSpPr/>
          <p:nvPr/>
        </p:nvSpPr>
        <p:spPr>
          <a:xfrm>
            <a:off x="942060" y="6148675"/>
            <a:ext cx="197588" cy="197587"/>
          </a:xfrm>
          <a:prstGeom prst="ellipse">
            <a:avLst/>
          </a:prstGeom>
          <a:solidFill>
            <a:srgbClr val="000000">
              <a:alpha val="98824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1" sz="1102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10"/>
          <p:cNvSpPr txBox="1"/>
          <p:nvPr/>
        </p:nvSpPr>
        <p:spPr>
          <a:xfrm>
            <a:off x="417770" y="714190"/>
            <a:ext cx="8964356" cy="637153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아키텍처 설계</a:t>
            </a:r>
            <a:endParaRPr b="1" i="0" sz="14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2.2 차세대발행물 아키텍쳐 구성도</a:t>
            </a:r>
            <a:endParaRPr b="1" i="0" sz="12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1"/>
          <p:cNvSpPr txBox="1"/>
          <p:nvPr/>
        </p:nvSpPr>
        <p:spPr>
          <a:xfrm>
            <a:off x="453462" y="1252444"/>
            <a:ext cx="9348775" cy="316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EDMS 및 FAX 시스템 통합 연계 Gateway 어플리케이션 아키텍처로 상세 처리 절차는 아래와 같습니다. </a:t>
            </a:r>
            <a:endParaRPr/>
          </a:p>
        </p:txBody>
      </p:sp>
      <p:sp>
        <p:nvSpPr>
          <p:cNvPr id="604" name="Google Shape;604;p11"/>
          <p:cNvSpPr/>
          <p:nvPr/>
        </p:nvSpPr>
        <p:spPr>
          <a:xfrm>
            <a:off x="546784" y="1508782"/>
            <a:ext cx="1634324" cy="2517838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t" bIns="45450" lIns="87400" spcFirstLastPara="1" rIns="87400" wrap="square" tIns="4545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2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Client Tier(PC)</a:t>
            </a:r>
            <a:endParaRPr/>
          </a:p>
        </p:txBody>
      </p:sp>
      <p:sp>
        <p:nvSpPr>
          <p:cNvPr id="605" name="Google Shape;605;p11"/>
          <p:cNvSpPr/>
          <p:nvPr/>
        </p:nvSpPr>
        <p:spPr>
          <a:xfrm>
            <a:off x="2422967" y="1508781"/>
            <a:ext cx="4263480" cy="2517839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t" bIns="45450" lIns="87400" spcFirstLastPara="1" rIns="87400" wrap="square" tIns="4545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2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Application Tier(Image/Fax Gateway )</a:t>
            </a:r>
            <a:endParaRPr b="1" sz="972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6" name="Google Shape;606;p11"/>
          <p:cNvSpPr/>
          <p:nvPr/>
        </p:nvSpPr>
        <p:spPr>
          <a:xfrm>
            <a:off x="7086167" y="2339314"/>
            <a:ext cx="2298665" cy="1687306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t" bIns="45450" lIns="87400" spcFirstLastPara="1" rIns="87400" wrap="square" tIns="4545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2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Fax System</a:t>
            </a:r>
            <a:endParaRPr/>
          </a:p>
        </p:txBody>
      </p:sp>
      <p:sp>
        <p:nvSpPr>
          <p:cNvPr id="607" name="Google Shape;607;p11"/>
          <p:cNvSpPr/>
          <p:nvPr/>
        </p:nvSpPr>
        <p:spPr>
          <a:xfrm>
            <a:off x="686664" y="1823512"/>
            <a:ext cx="1363828" cy="81117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450" lIns="87400" spcFirstLastPara="1" rIns="87400" wrap="square" tIns="4545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77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HTML5 뷰어</a:t>
            </a:r>
            <a:endParaRPr/>
          </a:p>
        </p:txBody>
      </p:sp>
      <p:graphicFrame>
        <p:nvGraphicFramePr>
          <p:cNvPr id="608" name="Google Shape;608;p11"/>
          <p:cNvGraphicFramePr/>
          <p:nvPr/>
        </p:nvGraphicFramePr>
        <p:xfrm>
          <a:off x="556985" y="413152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{F6045412-04BD-4F82-B1B7-2730D475FC39}</a:tableStyleId>
              </a:tblPr>
              <a:tblGrid>
                <a:gridCol w="1633375"/>
                <a:gridCol w="7194450"/>
              </a:tblGrid>
              <a:tr h="238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구분</a:t>
                      </a:r>
                      <a:endParaRPr/>
                    </a:p>
                  </a:txBody>
                  <a:tcPr marT="45475" marB="45475" marR="80700" marL="80700" anchor="ctr">
                    <a:lnL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확인 내용</a:t>
                      </a:r>
                      <a:endParaRPr/>
                    </a:p>
                  </a:txBody>
                  <a:tcPr marT="45475" marB="45475" marR="80700" marL="807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17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HTML5 뷰어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4975" marB="34975" marR="34975" marL="279725" anchor="ctr">
                    <a:lnL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93663" lvl="0" marL="93663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EDMS 이미지 및 FAX 시스템 이미지를 통합 HTML5 Image Viewer 기능  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4975" marB="34975" marR="34975" marL="3497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2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EDMS/FAX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Gateway Service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4975" marB="34975" marR="34975" marL="279725" anchor="ctr">
                    <a:lnL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93663" lvl="0" marL="93663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EDMS 시스템 및 FAX 시스템과 통신 HTML5뷰어를 위한 이미지 변환 기능 및 EDMS Image Upload/Download 기능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-93663" lvl="0" marL="93663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Scan Fax 이미지를 FAX 시스템에 전송하여 FAX를 발송하는 기능  </a:t>
                      </a:r>
                      <a:endParaRPr/>
                    </a:p>
                  </a:txBody>
                  <a:tcPr marT="34975" marB="34975" marR="34975" marL="3497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5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Image  변환</a:t>
                      </a:r>
                      <a:endParaRPr/>
                    </a:p>
                  </a:txBody>
                  <a:tcPr marT="34975" marB="34975" marR="34975" marL="279725" anchor="ctr">
                    <a:lnL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93663" lvl="0" marL="93663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Image 암/보호화 기능 및 이미지 변환 수행, 썸네일 이미지 생성 등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-93663" lvl="0" marL="93663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변환된 이미지 및 썸네일 이미지를 NAS 저장하여 캐쉬 처리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4975" marB="34975" marR="34975" marL="3497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8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EDMS Gateway Agent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4975" marB="34975" marR="34975" marL="279725" anchor="ctr">
                    <a:lnL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93663" lvl="0" marL="936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EDMS 시스템과 Image등록 및 조회 기능을 수행하는 API</a:t>
                      </a:r>
                      <a:endParaRPr/>
                    </a:p>
                  </a:txBody>
                  <a:tcPr marT="34975" marB="34975" marR="34975" marL="3497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5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Scan 스테이션</a:t>
                      </a:r>
                      <a:endParaRPr/>
                    </a:p>
                  </a:txBody>
                  <a:tcPr marT="34975" marB="34975" marR="34975" marL="279725" anchor="ctr">
                    <a:lnL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93663" lvl="0" marL="936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스케너를 통해 스켄된 이미지를 편집하여 EDMS Gateway 서비스를 통해 EDMS시스템에 이미지 등록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-93663" lvl="0" marL="936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Fax 박송을 위한 이미지 Scan하여 Scan Fax 화면에 Tiff파일 Return 기능  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4975" marB="34975" marR="34975" marL="3497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7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Scan Fax 화면</a:t>
                      </a:r>
                      <a:endParaRPr/>
                    </a:p>
                  </a:txBody>
                  <a:tcPr marT="34975" marB="34975" marR="34975" marL="279725" anchor="ctr">
                    <a:lnL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93663" lvl="0" marL="936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Scan 스테이션에 이미지 스켄을 요청하여 이미지파일(Tiff)을 Fax 발송 Gateway Service를 통해 Fax 발송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4975" marB="34975" marR="34975" marL="3497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FAX Gateway Agent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4975" marB="34975" marR="34975" marL="279725" anchor="ctr">
                    <a:lnL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93663" lvl="0" marL="936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FAX 시스템(서버)와 팩스이미지 Download 및 팩스 발송 기능 수행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4975" marB="34975" marR="34975" marL="3497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09" name="Google Shape;609;p11"/>
          <p:cNvSpPr/>
          <p:nvPr/>
        </p:nvSpPr>
        <p:spPr>
          <a:xfrm>
            <a:off x="598221" y="4402653"/>
            <a:ext cx="174236" cy="174235"/>
          </a:xfrm>
          <a:prstGeom prst="ellipse">
            <a:avLst/>
          </a:prstGeom>
          <a:solidFill>
            <a:srgbClr val="000000">
              <a:alpha val="98824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sz="972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11"/>
          <p:cNvSpPr/>
          <p:nvPr/>
        </p:nvSpPr>
        <p:spPr>
          <a:xfrm>
            <a:off x="598221" y="4691050"/>
            <a:ext cx="174236" cy="174235"/>
          </a:xfrm>
          <a:prstGeom prst="ellipse">
            <a:avLst/>
          </a:prstGeom>
          <a:solidFill>
            <a:srgbClr val="000000">
              <a:alpha val="98824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sz="972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11"/>
          <p:cNvSpPr/>
          <p:nvPr/>
        </p:nvSpPr>
        <p:spPr>
          <a:xfrm>
            <a:off x="598221" y="5050001"/>
            <a:ext cx="174236" cy="174235"/>
          </a:xfrm>
          <a:prstGeom prst="ellipse">
            <a:avLst/>
          </a:prstGeom>
          <a:solidFill>
            <a:srgbClr val="000000">
              <a:alpha val="98824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sz="972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11"/>
          <p:cNvSpPr/>
          <p:nvPr/>
        </p:nvSpPr>
        <p:spPr>
          <a:xfrm>
            <a:off x="598221" y="5355479"/>
            <a:ext cx="174236" cy="174235"/>
          </a:xfrm>
          <a:prstGeom prst="ellipse">
            <a:avLst/>
          </a:prstGeom>
          <a:solidFill>
            <a:srgbClr val="000000">
              <a:alpha val="98824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sz="972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11"/>
          <p:cNvSpPr/>
          <p:nvPr/>
        </p:nvSpPr>
        <p:spPr>
          <a:xfrm>
            <a:off x="5583705" y="3480111"/>
            <a:ext cx="977915" cy="406628"/>
          </a:xfrm>
          <a:prstGeom prst="rect">
            <a:avLst/>
          </a:prstGeom>
          <a:solidFill>
            <a:srgbClr val="DDDDDD"/>
          </a:solidFill>
          <a:ln cap="flat" cmpd="sng" w="9525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950" lIns="34950" spcFirstLastPara="1" rIns="34950" wrap="square" tIns="34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4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FAX Gateway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4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Agent</a:t>
            </a:r>
            <a:endParaRPr sz="874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14" name="Google Shape;614;p11"/>
          <p:cNvSpPr/>
          <p:nvPr/>
        </p:nvSpPr>
        <p:spPr>
          <a:xfrm>
            <a:off x="7156108" y="2602209"/>
            <a:ext cx="1154009" cy="1319499"/>
          </a:xfrm>
          <a:prstGeom prst="rect">
            <a:avLst/>
          </a:prstGeom>
          <a:solidFill>
            <a:srgbClr val="DDDDDD"/>
          </a:solidFill>
          <a:ln cap="flat" cmpd="sng" w="9525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34950" lIns="34950" spcFirstLastPara="1" rIns="34950" wrap="square" tIns="34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4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Service Worker</a:t>
            </a:r>
            <a:endParaRPr sz="874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15" name="Google Shape;615;p11"/>
          <p:cNvSpPr/>
          <p:nvPr/>
        </p:nvSpPr>
        <p:spPr>
          <a:xfrm>
            <a:off x="7226048" y="2837799"/>
            <a:ext cx="944769" cy="230895"/>
          </a:xfrm>
          <a:prstGeom prst="rect">
            <a:avLst/>
          </a:prstGeom>
          <a:solidFill>
            <a:srgbClr val="A4A4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4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Image service</a:t>
            </a:r>
            <a:endParaRPr sz="874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16" name="Google Shape;616;p11"/>
          <p:cNvSpPr/>
          <p:nvPr/>
        </p:nvSpPr>
        <p:spPr>
          <a:xfrm>
            <a:off x="7227293" y="3683550"/>
            <a:ext cx="977915" cy="203190"/>
          </a:xfrm>
          <a:prstGeom prst="rect">
            <a:avLst/>
          </a:prstGeom>
          <a:solidFill>
            <a:srgbClr val="A4A4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4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Outbound service</a:t>
            </a:r>
            <a:endParaRPr sz="874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17" name="Google Shape;617;p11"/>
          <p:cNvSpPr/>
          <p:nvPr/>
        </p:nvSpPr>
        <p:spPr>
          <a:xfrm>
            <a:off x="8599230" y="2602209"/>
            <a:ext cx="690046" cy="308774"/>
          </a:xfrm>
          <a:prstGeom prst="rect">
            <a:avLst/>
          </a:prstGeom>
          <a:solidFill>
            <a:srgbClr val="DDDDDD"/>
          </a:solidFill>
          <a:ln cap="flat" cmpd="sng" w="9525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950" lIns="34950" spcFirstLastPara="1" rIns="34950" wrap="square" tIns="34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4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NAS</a:t>
            </a:r>
            <a:endParaRPr sz="874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18" name="Google Shape;618;p11"/>
          <p:cNvSpPr/>
          <p:nvPr/>
        </p:nvSpPr>
        <p:spPr>
          <a:xfrm>
            <a:off x="8599230" y="3502070"/>
            <a:ext cx="690046" cy="331001"/>
          </a:xfrm>
          <a:prstGeom prst="rect">
            <a:avLst/>
          </a:prstGeom>
          <a:solidFill>
            <a:srgbClr val="DDDDDD"/>
          </a:solidFill>
          <a:ln cap="flat" cmpd="sng" w="9525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950" lIns="34950" spcFirstLastPara="1" rIns="34950" wrap="square" tIns="34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4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DB</a:t>
            </a:r>
            <a:endParaRPr/>
          </a:p>
        </p:txBody>
      </p:sp>
      <p:cxnSp>
        <p:nvCxnSpPr>
          <p:cNvPr id="619" name="Google Shape;619;p11"/>
          <p:cNvCxnSpPr/>
          <p:nvPr/>
        </p:nvCxnSpPr>
        <p:spPr>
          <a:xfrm>
            <a:off x="7413404" y="3383471"/>
            <a:ext cx="0" cy="292537"/>
          </a:xfrm>
          <a:prstGeom prst="straightConnector1">
            <a:avLst/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sp>
        <p:nvSpPr>
          <p:cNvPr id="620" name="Google Shape;620;p11"/>
          <p:cNvSpPr/>
          <p:nvPr/>
        </p:nvSpPr>
        <p:spPr>
          <a:xfrm>
            <a:off x="7243129" y="3222311"/>
            <a:ext cx="927689" cy="153617"/>
          </a:xfrm>
          <a:prstGeom prst="rect">
            <a:avLst/>
          </a:prstGeom>
          <a:solidFill>
            <a:srgbClr val="A4A4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4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Image handler</a:t>
            </a:r>
            <a:endParaRPr sz="874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1" name="Google Shape;621;p11"/>
          <p:cNvSpPr/>
          <p:nvPr/>
        </p:nvSpPr>
        <p:spPr>
          <a:xfrm>
            <a:off x="7685670" y="3413958"/>
            <a:ext cx="488958" cy="175944"/>
          </a:xfrm>
          <a:prstGeom prst="rect">
            <a:avLst/>
          </a:prstGeom>
          <a:solidFill>
            <a:srgbClr val="A4A4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4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DAO</a:t>
            </a:r>
            <a:endParaRPr sz="874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622" name="Google Shape;622;p11"/>
          <p:cNvCxnSpPr>
            <a:stCxn id="620" idx="3"/>
            <a:endCxn id="617" idx="1"/>
          </p:cNvCxnSpPr>
          <p:nvPr/>
        </p:nvCxnSpPr>
        <p:spPr>
          <a:xfrm flipH="1" rot="10800000">
            <a:off x="8170818" y="2756720"/>
            <a:ext cx="428400" cy="542400"/>
          </a:xfrm>
          <a:prstGeom prst="bentConnector3">
            <a:avLst>
              <a:gd fmla="val 60066" name="adj1"/>
            </a:avLst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cxnSp>
        <p:nvCxnSpPr>
          <p:cNvPr id="623" name="Google Shape;623;p11"/>
          <p:cNvCxnSpPr/>
          <p:nvPr/>
        </p:nvCxnSpPr>
        <p:spPr>
          <a:xfrm>
            <a:off x="7413404" y="3053087"/>
            <a:ext cx="0" cy="169223"/>
          </a:xfrm>
          <a:prstGeom prst="straightConnector1">
            <a:avLst/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cxnSp>
        <p:nvCxnSpPr>
          <p:cNvPr id="624" name="Google Shape;624;p11"/>
          <p:cNvCxnSpPr>
            <a:endCxn id="618" idx="1"/>
          </p:cNvCxnSpPr>
          <p:nvPr/>
        </p:nvCxnSpPr>
        <p:spPr>
          <a:xfrm>
            <a:off x="8174730" y="3541571"/>
            <a:ext cx="424500" cy="126000"/>
          </a:xfrm>
          <a:prstGeom prst="bentConnector3">
            <a:avLst>
              <a:gd fmla="val 62176" name="adj1"/>
            </a:avLst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cxnSp>
        <p:nvCxnSpPr>
          <p:cNvPr id="625" name="Google Shape;625;p11"/>
          <p:cNvCxnSpPr/>
          <p:nvPr/>
        </p:nvCxnSpPr>
        <p:spPr>
          <a:xfrm>
            <a:off x="7910395" y="3577118"/>
            <a:ext cx="0" cy="169223"/>
          </a:xfrm>
          <a:prstGeom prst="straightConnector1">
            <a:avLst/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cxnSp>
        <p:nvCxnSpPr>
          <p:cNvPr id="626" name="Google Shape;626;p11"/>
          <p:cNvCxnSpPr>
            <a:stCxn id="613" idx="3"/>
            <a:endCxn id="615" idx="1"/>
          </p:cNvCxnSpPr>
          <p:nvPr/>
        </p:nvCxnSpPr>
        <p:spPr>
          <a:xfrm flipH="1" rot="10800000">
            <a:off x="6561620" y="2953225"/>
            <a:ext cx="664500" cy="730200"/>
          </a:xfrm>
          <a:prstGeom prst="bentConnector3">
            <a:avLst>
              <a:gd fmla="val 49995" name="adj1"/>
            </a:avLst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cxnSp>
        <p:nvCxnSpPr>
          <p:cNvPr id="627" name="Google Shape;627;p11"/>
          <p:cNvCxnSpPr/>
          <p:nvPr/>
        </p:nvCxnSpPr>
        <p:spPr>
          <a:xfrm>
            <a:off x="6561618" y="3711898"/>
            <a:ext cx="664500" cy="69900"/>
          </a:xfrm>
          <a:prstGeom prst="bentConnector3">
            <a:avLst>
              <a:gd fmla="val 49989" name="adj1"/>
            </a:avLst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sp>
        <p:nvSpPr>
          <p:cNvPr id="628" name="Google Shape;628;p11"/>
          <p:cNvSpPr txBox="1"/>
          <p:nvPr/>
        </p:nvSpPr>
        <p:spPr>
          <a:xfrm>
            <a:off x="6771439" y="2788006"/>
            <a:ext cx="298159" cy="11958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TCP/IP</a:t>
            </a:r>
            <a:endParaRPr sz="77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11"/>
          <p:cNvSpPr txBox="1"/>
          <p:nvPr/>
        </p:nvSpPr>
        <p:spPr>
          <a:xfrm>
            <a:off x="6771439" y="3872074"/>
            <a:ext cx="298159" cy="11958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TCP/IP</a:t>
            </a:r>
            <a:endParaRPr sz="77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:\01.현대해상 보상포탈\Skype 받은 파일\사고접수지샘플\샘플10_2.jpg" id="630" name="Google Shape;63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6896" y="2071859"/>
            <a:ext cx="963970" cy="491255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31" name="Google Shape;631;p11"/>
          <p:cNvSpPr/>
          <p:nvPr/>
        </p:nvSpPr>
        <p:spPr>
          <a:xfrm>
            <a:off x="1526256" y="2872610"/>
            <a:ext cx="524238" cy="559520"/>
          </a:xfrm>
          <a:prstGeom prst="rect">
            <a:avLst/>
          </a:prstGeom>
          <a:solidFill>
            <a:srgbClr val="D8D8D8"/>
          </a:solidFill>
          <a:ln cap="flat" cmpd="sng" w="1905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950" lIns="34950" spcFirstLastPara="1" rIns="34950" wrap="square" tIns="34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Scan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스테이션</a:t>
            </a:r>
            <a:endParaRPr/>
          </a:p>
        </p:txBody>
      </p:sp>
      <p:sp>
        <p:nvSpPr>
          <p:cNvPr id="632" name="Google Shape;632;p11"/>
          <p:cNvSpPr/>
          <p:nvPr/>
        </p:nvSpPr>
        <p:spPr>
          <a:xfrm>
            <a:off x="7086167" y="1506816"/>
            <a:ext cx="2298665" cy="699669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t" bIns="45450" lIns="87400" spcFirstLastPara="1" rIns="87400" wrap="square" tIns="4545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2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Image System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72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3" name="Google Shape;633;p11"/>
          <p:cNvSpPr/>
          <p:nvPr/>
        </p:nvSpPr>
        <p:spPr>
          <a:xfrm>
            <a:off x="5579649" y="1955642"/>
            <a:ext cx="977915" cy="406628"/>
          </a:xfrm>
          <a:prstGeom prst="rect">
            <a:avLst/>
          </a:prstGeom>
          <a:solidFill>
            <a:srgbClr val="DDDDDD"/>
          </a:solidFill>
          <a:ln cap="flat" cmpd="sng" w="9525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950" lIns="34950" spcFirstLastPara="1" rIns="34950" wrap="square" tIns="34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4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EDMS Gateway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4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Agent</a:t>
            </a:r>
            <a:endParaRPr sz="874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4" name="Google Shape;634;p11"/>
          <p:cNvSpPr/>
          <p:nvPr/>
        </p:nvSpPr>
        <p:spPr>
          <a:xfrm>
            <a:off x="7183308" y="1753572"/>
            <a:ext cx="727088" cy="359857"/>
          </a:xfrm>
          <a:prstGeom prst="rect">
            <a:avLst/>
          </a:prstGeom>
          <a:solidFill>
            <a:srgbClr val="DDDDDD"/>
          </a:solidFill>
          <a:ln cap="flat" cmpd="sng" w="9525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950" lIns="34950" spcFirstLastPara="1" rIns="34950" wrap="square" tIns="34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4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EDMS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4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Agent</a:t>
            </a:r>
            <a:endParaRPr sz="874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5" name="Google Shape;635;p11"/>
          <p:cNvSpPr/>
          <p:nvPr/>
        </p:nvSpPr>
        <p:spPr>
          <a:xfrm>
            <a:off x="8310117" y="1758873"/>
            <a:ext cx="979160" cy="359857"/>
          </a:xfrm>
          <a:prstGeom prst="rect">
            <a:avLst/>
          </a:prstGeom>
          <a:solidFill>
            <a:srgbClr val="DDDDDD"/>
          </a:solidFill>
          <a:ln cap="flat" cmpd="sng" w="9525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950" lIns="34950" spcFirstLastPara="1" rIns="34950" wrap="square" tIns="34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4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ECM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4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(EDMS 엔진)</a:t>
            </a:r>
            <a:endParaRPr/>
          </a:p>
        </p:txBody>
      </p:sp>
      <p:cxnSp>
        <p:nvCxnSpPr>
          <p:cNvPr id="636" name="Google Shape;636;p11"/>
          <p:cNvCxnSpPr>
            <a:stCxn id="634" idx="3"/>
            <a:endCxn id="635" idx="1"/>
          </p:cNvCxnSpPr>
          <p:nvPr/>
        </p:nvCxnSpPr>
        <p:spPr>
          <a:xfrm>
            <a:off x="7910396" y="1933501"/>
            <a:ext cx="399600" cy="5400"/>
          </a:xfrm>
          <a:prstGeom prst="straightConnector1">
            <a:avLst/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cxnSp>
        <p:nvCxnSpPr>
          <p:cNvPr id="637" name="Google Shape;637;p11"/>
          <p:cNvCxnSpPr>
            <a:stCxn id="633" idx="3"/>
            <a:endCxn id="634" idx="1"/>
          </p:cNvCxnSpPr>
          <p:nvPr/>
        </p:nvCxnSpPr>
        <p:spPr>
          <a:xfrm flipH="1" rot="10800000">
            <a:off x="6557564" y="1933356"/>
            <a:ext cx="625800" cy="225600"/>
          </a:xfrm>
          <a:prstGeom prst="bentConnector3">
            <a:avLst>
              <a:gd fmla="val 49996" name="adj1"/>
            </a:avLst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sp>
        <p:nvSpPr>
          <p:cNvPr id="638" name="Google Shape;638;p11"/>
          <p:cNvSpPr/>
          <p:nvPr/>
        </p:nvSpPr>
        <p:spPr>
          <a:xfrm>
            <a:off x="4128710" y="1955641"/>
            <a:ext cx="1104051" cy="944757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7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 변환</a:t>
            </a:r>
            <a:endParaRPr b="1" sz="87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175"/>
              </a:spcBef>
              <a:spcAft>
                <a:spcPts val="0"/>
              </a:spcAft>
              <a:buNone/>
            </a:pPr>
            <a:r>
              <a:t/>
            </a:r>
            <a:endParaRPr b="1" sz="87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175"/>
              </a:spcBef>
              <a:spcAft>
                <a:spcPts val="0"/>
              </a:spcAft>
              <a:buNone/>
            </a:pPr>
            <a:r>
              <a:t/>
            </a:r>
            <a:endParaRPr b="1" sz="87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175"/>
              </a:spcBef>
              <a:spcAft>
                <a:spcPts val="0"/>
              </a:spcAft>
              <a:buNone/>
            </a:pPr>
            <a:r>
              <a:t/>
            </a:r>
            <a:endParaRPr b="1" sz="87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175"/>
              </a:spcBef>
              <a:spcAft>
                <a:spcPts val="0"/>
              </a:spcAft>
              <a:buNone/>
            </a:pPr>
            <a:r>
              <a:t/>
            </a:r>
            <a:endParaRPr b="1" sz="87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175"/>
              </a:spcBef>
              <a:spcAft>
                <a:spcPts val="0"/>
              </a:spcAft>
              <a:buNone/>
            </a:pPr>
            <a:r>
              <a:t/>
            </a:r>
            <a:endParaRPr b="1" sz="87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11"/>
          <p:cNvSpPr/>
          <p:nvPr/>
        </p:nvSpPr>
        <p:spPr>
          <a:xfrm>
            <a:off x="2587549" y="1955641"/>
            <a:ext cx="1246413" cy="1966067"/>
          </a:xfrm>
          <a:prstGeom prst="rect">
            <a:avLst/>
          </a:prstGeom>
          <a:solidFill>
            <a:srgbClr val="DDDDDD"/>
          </a:solidFill>
          <a:ln cap="flat" cmpd="sng" w="9525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34950" lIns="34950" spcFirstLastPara="1" rIns="34950" wrap="square" tIns="34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4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EDMS/FAX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4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Gateway Service</a:t>
            </a:r>
            <a:endParaRPr sz="874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0" name="Google Shape;640;p11"/>
          <p:cNvSpPr/>
          <p:nvPr/>
        </p:nvSpPr>
        <p:spPr>
          <a:xfrm>
            <a:off x="2705719" y="2418002"/>
            <a:ext cx="1023218" cy="230895"/>
          </a:xfrm>
          <a:prstGeom prst="rect">
            <a:avLst/>
          </a:prstGeom>
          <a:solidFill>
            <a:srgbClr val="A4A4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4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Image Viewer</a:t>
            </a:r>
            <a:endParaRPr sz="874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1" name="Google Shape;641;p11"/>
          <p:cNvSpPr/>
          <p:nvPr/>
        </p:nvSpPr>
        <p:spPr>
          <a:xfrm>
            <a:off x="2714921" y="2837641"/>
            <a:ext cx="1014017" cy="314695"/>
          </a:xfrm>
          <a:prstGeom prst="rect">
            <a:avLst/>
          </a:prstGeom>
          <a:solidFill>
            <a:srgbClr val="A4A4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4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Image Upload/Download</a:t>
            </a:r>
            <a:endParaRPr sz="874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2" name="Google Shape;642;p11"/>
          <p:cNvSpPr/>
          <p:nvPr/>
        </p:nvSpPr>
        <p:spPr>
          <a:xfrm>
            <a:off x="4708272" y="3257320"/>
            <a:ext cx="559457" cy="349661"/>
          </a:xfrm>
          <a:prstGeom prst="can">
            <a:avLst>
              <a:gd fmla="val 25000" name="adj"/>
            </a:avLst>
          </a:prstGeom>
          <a:gradFill>
            <a:gsLst>
              <a:gs pos="0">
                <a:srgbClr val="939393"/>
              </a:gs>
              <a:gs pos="50000">
                <a:srgbClr val="D5D5D5"/>
              </a:gs>
              <a:gs pos="100000">
                <a:schemeClr val="lt1"/>
              </a:gs>
            </a:gsLst>
            <a:lin ang="2700000" scaled="0"/>
          </a:gra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2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NAS</a:t>
            </a:r>
            <a:endParaRPr/>
          </a:p>
        </p:txBody>
      </p:sp>
      <p:sp>
        <p:nvSpPr>
          <p:cNvPr id="643" name="Google Shape;643;p11"/>
          <p:cNvSpPr/>
          <p:nvPr/>
        </p:nvSpPr>
        <p:spPr>
          <a:xfrm>
            <a:off x="4268590" y="2187262"/>
            <a:ext cx="832217" cy="230895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7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 암복호화</a:t>
            </a:r>
            <a:endParaRPr b="1" sz="87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11"/>
          <p:cNvSpPr/>
          <p:nvPr/>
        </p:nvSpPr>
        <p:spPr>
          <a:xfrm>
            <a:off x="2705833" y="3585905"/>
            <a:ext cx="1023218" cy="230895"/>
          </a:xfrm>
          <a:prstGeom prst="rect">
            <a:avLst/>
          </a:prstGeom>
          <a:solidFill>
            <a:srgbClr val="A4A4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4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Fax 발송</a:t>
            </a:r>
            <a:endParaRPr/>
          </a:p>
        </p:txBody>
      </p:sp>
      <p:sp>
        <p:nvSpPr>
          <p:cNvPr id="645" name="Google Shape;645;p11"/>
          <p:cNvSpPr/>
          <p:nvPr/>
        </p:nvSpPr>
        <p:spPr>
          <a:xfrm>
            <a:off x="4268590" y="2502274"/>
            <a:ext cx="832217" cy="279759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7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썸네일 이미지 생성</a:t>
            </a:r>
            <a:endParaRPr b="1" sz="87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6" name="Google Shape;646;p11"/>
          <p:cNvCxnSpPr>
            <a:stCxn id="640" idx="3"/>
          </p:cNvCxnSpPr>
          <p:nvPr/>
        </p:nvCxnSpPr>
        <p:spPr>
          <a:xfrm flipH="1" rot="10800000">
            <a:off x="3728937" y="2159050"/>
            <a:ext cx="399900" cy="374400"/>
          </a:xfrm>
          <a:prstGeom prst="bentConnector3">
            <a:avLst>
              <a:gd fmla="val 49984" name="adj1"/>
            </a:avLst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cxnSp>
        <p:nvCxnSpPr>
          <p:cNvPr id="647" name="Google Shape;647;p11"/>
          <p:cNvCxnSpPr>
            <a:stCxn id="641" idx="3"/>
          </p:cNvCxnSpPr>
          <p:nvPr/>
        </p:nvCxnSpPr>
        <p:spPr>
          <a:xfrm flipH="1" rot="10800000">
            <a:off x="3728938" y="2753789"/>
            <a:ext cx="399900" cy="241200"/>
          </a:xfrm>
          <a:prstGeom prst="bentConnector3">
            <a:avLst>
              <a:gd fmla="val 49984" name="adj1"/>
            </a:avLst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cxnSp>
        <p:nvCxnSpPr>
          <p:cNvPr id="648" name="Google Shape;648;p11"/>
          <p:cNvCxnSpPr>
            <a:stCxn id="638" idx="3"/>
            <a:endCxn id="633" idx="1"/>
          </p:cNvCxnSpPr>
          <p:nvPr/>
        </p:nvCxnSpPr>
        <p:spPr>
          <a:xfrm flipH="1" rot="10800000">
            <a:off x="5232761" y="2158920"/>
            <a:ext cx="346800" cy="269100"/>
          </a:xfrm>
          <a:prstGeom prst="bentConnector3">
            <a:avLst>
              <a:gd fmla="val 50013" name="adj1"/>
            </a:avLst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sp>
        <p:nvSpPr>
          <p:cNvPr id="649" name="Google Shape;649;p11"/>
          <p:cNvSpPr txBox="1"/>
          <p:nvPr/>
        </p:nvSpPr>
        <p:spPr>
          <a:xfrm>
            <a:off x="6651536" y="1732913"/>
            <a:ext cx="298159" cy="11958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TCP/IP</a:t>
            </a:r>
            <a:endParaRPr sz="77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0" name="Google Shape;650;p11"/>
          <p:cNvCxnSpPr/>
          <p:nvPr/>
        </p:nvCxnSpPr>
        <p:spPr>
          <a:xfrm flipH="1" rot="-5400000">
            <a:off x="4936210" y="2857943"/>
            <a:ext cx="944100" cy="351000"/>
          </a:xfrm>
          <a:prstGeom prst="bentConnector3">
            <a:avLst>
              <a:gd fmla="val 0" name="adj1"/>
            </a:avLst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sp>
        <p:nvSpPr>
          <p:cNvPr id="651" name="Google Shape;651;p11"/>
          <p:cNvSpPr txBox="1"/>
          <p:nvPr/>
        </p:nvSpPr>
        <p:spPr>
          <a:xfrm>
            <a:off x="5442580" y="3277585"/>
            <a:ext cx="1226851" cy="119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Fax Image Download</a:t>
            </a:r>
            <a:endParaRPr sz="77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11"/>
          <p:cNvSpPr txBox="1"/>
          <p:nvPr/>
        </p:nvSpPr>
        <p:spPr>
          <a:xfrm>
            <a:off x="5264828" y="1724243"/>
            <a:ext cx="1226851" cy="239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EDMS Image Upload/Download</a:t>
            </a:r>
            <a:endParaRPr sz="77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3" name="Google Shape;653;p11"/>
          <p:cNvCxnSpPr/>
          <p:nvPr/>
        </p:nvCxnSpPr>
        <p:spPr>
          <a:xfrm>
            <a:off x="3729053" y="3711889"/>
            <a:ext cx="1854652" cy="0"/>
          </a:xfrm>
          <a:prstGeom prst="straightConnector1">
            <a:avLst/>
          </a:prstGeom>
          <a:noFill/>
          <a:ln cap="rnd" cmpd="sng" w="15875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sp>
        <p:nvSpPr>
          <p:cNvPr id="654" name="Google Shape;654;p11"/>
          <p:cNvSpPr txBox="1"/>
          <p:nvPr/>
        </p:nvSpPr>
        <p:spPr>
          <a:xfrm>
            <a:off x="3883043" y="3746860"/>
            <a:ext cx="1226851" cy="119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Fax 발송 요청</a:t>
            </a:r>
            <a:endParaRPr/>
          </a:p>
        </p:txBody>
      </p:sp>
      <p:sp>
        <p:nvSpPr>
          <p:cNvPr id="655" name="Google Shape;655;p11"/>
          <p:cNvSpPr/>
          <p:nvPr/>
        </p:nvSpPr>
        <p:spPr>
          <a:xfrm>
            <a:off x="691506" y="2872633"/>
            <a:ext cx="592889" cy="577019"/>
          </a:xfrm>
          <a:prstGeom prst="roundRect">
            <a:avLst>
              <a:gd fmla="val 5977" name="adj"/>
            </a:avLst>
          </a:prstGeom>
          <a:solidFill>
            <a:srgbClr val="D8D8D8"/>
          </a:solidFill>
          <a:ln cap="flat" cmpd="sng" w="1905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4950" spcFirstLastPara="1" rIns="34950" wrap="square" tIns="34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 통신표준모듈</a:t>
            </a:r>
            <a:endParaRPr/>
          </a:p>
        </p:txBody>
      </p:sp>
      <p:sp>
        <p:nvSpPr>
          <p:cNvPr id="656" name="Google Shape;656;p11"/>
          <p:cNvSpPr/>
          <p:nvPr/>
        </p:nvSpPr>
        <p:spPr>
          <a:xfrm>
            <a:off x="661847" y="3628054"/>
            <a:ext cx="1388646" cy="3032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450" lIns="87400" spcFirstLastPara="1" rIns="87400" wrap="square" tIns="4545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77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Scan Fax 화면</a:t>
            </a:r>
            <a:endParaRPr/>
          </a:p>
        </p:txBody>
      </p:sp>
      <p:cxnSp>
        <p:nvCxnSpPr>
          <p:cNvPr id="657" name="Google Shape;657;p11"/>
          <p:cNvCxnSpPr>
            <a:stCxn id="655" idx="0"/>
            <a:endCxn id="630" idx="2"/>
          </p:cNvCxnSpPr>
          <p:nvPr/>
        </p:nvCxnSpPr>
        <p:spPr>
          <a:xfrm rot="-5400000">
            <a:off x="993651" y="2557333"/>
            <a:ext cx="309600" cy="321000"/>
          </a:xfrm>
          <a:prstGeom prst="bentConnector3">
            <a:avLst>
              <a:gd fmla="val 49987" name="adj1"/>
            </a:avLst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cxnSp>
        <p:nvCxnSpPr>
          <p:cNvPr id="658" name="Google Shape;658;p11"/>
          <p:cNvCxnSpPr>
            <a:stCxn id="656" idx="0"/>
            <a:endCxn id="655" idx="2"/>
          </p:cNvCxnSpPr>
          <p:nvPr/>
        </p:nvCxnSpPr>
        <p:spPr>
          <a:xfrm flipH="1" rot="5400000">
            <a:off x="1082870" y="3354754"/>
            <a:ext cx="178500" cy="368100"/>
          </a:xfrm>
          <a:prstGeom prst="bentConnector3">
            <a:avLst>
              <a:gd fmla="val 49972" name="adj1"/>
            </a:avLst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cxnSp>
        <p:nvCxnSpPr>
          <p:cNvPr id="659" name="Google Shape;659;p11"/>
          <p:cNvCxnSpPr/>
          <p:nvPr/>
        </p:nvCxnSpPr>
        <p:spPr>
          <a:xfrm>
            <a:off x="1284394" y="3152335"/>
            <a:ext cx="244763" cy="0"/>
          </a:xfrm>
          <a:prstGeom prst="straightConnector1">
            <a:avLst/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cxnSp>
        <p:nvCxnSpPr>
          <p:cNvPr id="660" name="Google Shape;660;p11"/>
          <p:cNvCxnSpPr>
            <a:stCxn id="631" idx="3"/>
            <a:endCxn id="641" idx="1"/>
          </p:cNvCxnSpPr>
          <p:nvPr/>
        </p:nvCxnSpPr>
        <p:spPr>
          <a:xfrm flipH="1" rot="10800000">
            <a:off x="2050494" y="2994870"/>
            <a:ext cx="664500" cy="157500"/>
          </a:xfrm>
          <a:prstGeom prst="bentConnector3">
            <a:avLst>
              <a:gd fmla="val 49995" name="adj1"/>
            </a:avLst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sp>
        <p:nvSpPr>
          <p:cNvPr id="661" name="Google Shape;661;p11"/>
          <p:cNvSpPr txBox="1"/>
          <p:nvPr/>
        </p:nvSpPr>
        <p:spPr>
          <a:xfrm>
            <a:off x="2260313" y="2837640"/>
            <a:ext cx="349661" cy="119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</a:t>
            </a:r>
            <a:endParaRPr sz="77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2" name="Google Shape;662;p11"/>
          <p:cNvCxnSpPr>
            <a:stCxn id="607" idx="3"/>
            <a:endCxn id="640" idx="1"/>
          </p:cNvCxnSpPr>
          <p:nvPr/>
        </p:nvCxnSpPr>
        <p:spPr>
          <a:xfrm>
            <a:off x="2050492" y="2229102"/>
            <a:ext cx="655200" cy="304200"/>
          </a:xfrm>
          <a:prstGeom prst="bentConnector3">
            <a:avLst>
              <a:gd fmla="val 50002" name="adj1"/>
            </a:avLst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cxnSp>
        <p:nvCxnSpPr>
          <p:cNvPr id="663" name="Google Shape;663;p11"/>
          <p:cNvCxnSpPr/>
          <p:nvPr/>
        </p:nvCxnSpPr>
        <p:spPr>
          <a:xfrm flipH="1" rot="10800000">
            <a:off x="2050493" y="3689601"/>
            <a:ext cx="655200" cy="127200"/>
          </a:xfrm>
          <a:prstGeom prst="bentConnector3">
            <a:avLst>
              <a:gd fmla="val 50011" name="adj1"/>
            </a:avLst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sp>
        <p:nvSpPr>
          <p:cNvPr id="664" name="Google Shape;664;p11"/>
          <p:cNvSpPr txBox="1"/>
          <p:nvPr/>
        </p:nvSpPr>
        <p:spPr>
          <a:xfrm>
            <a:off x="2120472" y="2053636"/>
            <a:ext cx="349661" cy="119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</a:t>
            </a:r>
            <a:endParaRPr sz="77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11"/>
          <p:cNvSpPr txBox="1"/>
          <p:nvPr/>
        </p:nvSpPr>
        <p:spPr>
          <a:xfrm>
            <a:off x="2225343" y="3537040"/>
            <a:ext cx="349661" cy="119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</a:t>
            </a:r>
            <a:endParaRPr sz="77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11"/>
          <p:cNvSpPr/>
          <p:nvPr/>
        </p:nvSpPr>
        <p:spPr>
          <a:xfrm>
            <a:off x="673225" y="1776803"/>
            <a:ext cx="209819" cy="242194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4700" lIns="89425" spcFirstLastPara="1" rIns="89425" wrap="square" tIns="44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6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136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67" name="Google Shape;667;p11"/>
          <p:cNvSpPr/>
          <p:nvPr/>
        </p:nvSpPr>
        <p:spPr>
          <a:xfrm>
            <a:off x="2543994" y="1868865"/>
            <a:ext cx="209819" cy="242194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4700" lIns="89425" spcFirstLastPara="1" rIns="89425" wrap="square" tIns="44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6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136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68" name="Google Shape;668;p11"/>
          <p:cNvSpPr/>
          <p:nvPr/>
        </p:nvSpPr>
        <p:spPr>
          <a:xfrm>
            <a:off x="4110790" y="1869155"/>
            <a:ext cx="209819" cy="242194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4700" lIns="89425" spcFirstLastPara="1" rIns="89425" wrap="square" tIns="44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6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136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69" name="Google Shape;669;p11"/>
          <p:cNvSpPr/>
          <p:nvPr/>
        </p:nvSpPr>
        <p:spPr>
          <a:xfrm>
            <a:off x="6365443" y="2257901"/>
            <a:ext cx="209819" cy="242194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4700" lIns="89425" spcFirstLastPara="1" rIns="89425" wrap="square" tIns="44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6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136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0" name="Google Shape;670;p11"/>
          <p:cNvSpPr/>
          <p:nvPr/>
        </p:nvSpPr>
        <p:spPr>
          <a:xfrm>
            <a:off x="1445557" y="2737802"/>
            <a:ext cx="209819" cy="242194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4700" lIns="89425" spcFirstLastPara="1" rIns="89425" wrap="square" tIns="44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6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sz="136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1" name="Google Shape;671;p11"/>
          <p:cNvSpPr/>
          <p:nvPr/>
        </p:nvSpPr>
        <p:spPr>
          <a:xfrm>
            <a:off x="593928" y="3546473"/>
            <a:ext cx="209819" cy="242194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4700" lIns="89425" spcFirstLastPara="1" rIns="89425" wrap="square" tIns="44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6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sz="136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2" name="Google Shape;672;p11"/>
          <p:cNvSpPr/>
          <p:nvPr/>
        </p:nvSpPr>
        <p:spPr>
          <a:xfrm>
            <a:off x="6421045" y="3303482"/>
            <a:ext cx="209819" cy="242194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4700" lIns="89425" spcFirstLastPara="1" rIns="89425" wrap="square" tIns="44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6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sz="136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3" name="Google Shape;673;p11"/>
          <p:cNvSpPr/>
          <p:nvPr/>
        </p:nvSpPr>
        <p:spPr>
          <a:xfrm>
            <a:off x="598221" y="5670824"/>
            <a:ext cx="174236" cy="174235"/>
          </a:xfrm>
          <a:prstGeom prst="ellipse">
            <a:avLst/>
          </a:prstGeom>
          <a:solidFill>
            <a:srgbClr val="000000">
              <a:alpha val="98824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sz="972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11"/>
          <p:cNvSpPr/>
          <p:nvPr/>
        </p:nvSpPr>
        <p:spPr>
          <a:xfrm>
            <a:off x="598221" y="5950584"/>
            <a:ext cx="174236" cy="174235"/>
          </a:xfrm>
          <a:prstGeom prst="ellipse">
            <a:avLst/>
          </a:prstGeom>
          <a:solidFill>
            <a:srgbClr val="000000">
              <a:alpha val="98824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sz="972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11"/>
          <p:cNvSpPr/>
          <p:nvPr/>
        </p:nvSpPr>
        <p:spPr>
          <a:xfrm>
            <a:off x="598221" y="6159788"/>
            <a:ext cx="174236" cy="174235"/>
          </a:xfrm>
          <a:prstGeom prst="ellipse">
            <a:avLst/>
          </a:prstGeom>
          <a:solidFill>
            <a:srgbClr val="000000">
              <a:alpha val="98824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sz="972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6" name="Google Shape;676;p11"/>
          <p:cNvCxnSpPr/>
          <p:nvPr/>
        </p:nvCxnSpPr>
        <p:spPr>
          <a:xfrm>
            <a:off x="5127850" y="2900397"/>
            <a:ext cx="0" cy="384627"/>
          </a:xfrm>
          <a:prstGeom prst="straightConnector1">
            <a:avLst/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sp>
        <p:nvSpPr>
          <p:cNvPr id="677" name="Google Shape;677;p11"/>
          <p:cNvSpPr txBox="1"/>
          <p:nvPr/>
        </p:nvSpPr>
        <p:spPr>
          <a:xfrm>
            <a:off x="3973842" y="2942550"/>
            <a:ext cx="1079483" cy="239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변환된 Image 및</a:t>
            </a:r>
            <a:endParaRPr sz="77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썸네일 Image 파일 저장</a:t>
            </a:r>
            <a:endParaRPr/>
          </a:p>
        </p:txBody>
      </p:sp>
      <p:sp>
        <p:nvSpPr>
          <p:cNvPr id="678" name="Google Shape;678;p11"/>
          <p:cNvSpPr txBox="1"/>
          <p:nvPr/>
        </p:nvSpPr>
        <p:spPr>
          <a:xfrm>
            <a:off x="417770" y="714190"/>
            <a:ext cx="8964356" cy="637153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아키텍처 설계</a:t>
            </a:r>
            <a:endParaRPr b="1" i="0" sz="14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2.4 EDMS/FAX 통합관리(뷰어)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12"/>
          <p:cNvSpPr/>
          <p:nvPr/>
        </p:nvSpPr>
        <p:spPr>
          <a:xfrm>
            <a:off x="4116665" y="4513560"/>
            <a:ext cx="1104051" cy="944757"/>
          </a:xfrm>
          <a:prstGeom prst="rect">
            <a:avLst/>
          </a:prstGeom>
          <a:solidFill>
            <a:srgbClr val="DDDDDD"/>
          </a:solidFill>
          <a:ln cap="flat" cmpd="sng" w="9525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34950" lIns="34950" spcFirstLastPara="1" rIns="34950" wrap="square" tIns="34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4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MCMS</a:t>
            </a:r>
            <a:endParaRPr sz="874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4" name="Google Shape;684;p12"/>
          <p:cNvSpPr/>
          <p:nvPr/>
        </p:nvSpPr>
        <p:spPr>
          <a:xfrm>
            <a:off x="4256545" y="4745181"/>
            <a:ext cx="832217" cy="230895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4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트랜스코딩</a:t>
            </a:r>
            <a:endParaRPr/>
          </a:p>
        </p:txBody>
      </p:sp>
      <p:sp>
        <p:nvSpPr>
          <p:cNvPr id="685" name="Google Shape;685;p12"/>
          <p:cNvSpPr/>
          <p:nvPr/>
        </p:nvSpPr>
        <p:spPr>
          <a:xfrm>
            <a:off x="2587548" y="4491758"/>
            <a:ext cx="1246413" cy="1651340"/>
          </a:xfrm>
          <a:prstGeom prst="rect">
            <a:avLst/>
          </a:prstGeom>
          <a:solidFill>
            <a:srgbClr val="DDDDDD"/>
          </a:solidFill>
          <a:ln cap="flat" cmpd="sng" w="9525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34950" lIns="34950" spcFirstLastPara="1" rIns="34950" wrap="square" tIns="34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4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MCMS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4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Gateway Service</a:t>
            </a:r>
            <a:endParaRPr sz="874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6" name="Google Shape;686;p12"/>
          <p:cNvSpPr/>
          <p:nvPr/>
        </p:nvSpPr>
        <p:spPr>
          <a:xfrm>
            <a:off x="2587549" y="1917542"/>
            <a:ext cx="1246413" cy="1651340"/>
          </a:xfrm>
          <a:prstGeom prst="rect">
            <a:avLst/>
          </a:prstGeom>
          <a:solidFill>
            <a:srgbClr val="DDDDDD"/>
          </a:solidFill>
          <a:ln cap="flat" cmpd="sng" w="9525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34950" lIns="34950" spcFirstLastPara="1" rIns="34950" wrap="square" tIns="34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4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EDMS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4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Gateway Service</a:t>
            </a:r>
            <a:endParaRPr sz="874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7" name="Google Shape;687;p12"/>
          <p:cNvSpPr txBox="1"/>
          <p:nvPr/>
        </p:nvSpPr>
        <p:spPr>
          <a:xfrm>
            <a:off x="417770" y="714190"/>
            <a:ext cx="8964356" cy="637153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아키텍처 설계 &gt; 2.4 동영상플랫폼</a:t>
            </a:r>
            <a:endParaRPr b="1" i="0" sz="14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2.4.1 동영상플랫폼 온라인 아키텍쳐</a:t>
            </a:r>
            <a:endParaRPr b="1" i="0" sz="12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8" name="Google Shape;688;p12"/>
          <p:cNvSpPr/>
          <p:nvPr/>
        </p:nvSpPr>
        <p:spPr>
          <a:xfrm>
            <a:off x="546784" y="1470682"/>
            <a:ext cx="1634324" cy="2186918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t" bIns="45450" lIns="87400" spcFirstLastPara="1" rIns="87400" wrap="square" tIns="4545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2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Client Tier(PC)</a:t>
            </a:r>
            <a:endParaRPr/>
          </a:p>
        </p:txBody>
      </p:sp>
      <p:sp>
        <p:nvSpPr>
          <p:cNvPr id="689" name="Google Shape;689;p12"/>
          <p:cNvSpPr/>
          <p:nvPr/>
        </p:nvSpPr>
        <p:spPr>
          <a:xfrm>
            <a:off x="686664" y="1785412"/>
            <a:ext cx="1363828" cy="81117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450" lIns="87400" spcFirstLastPara="1" rIns="87400" wrap="square" tIns="4545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77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HTML5 뷰어</a:t>
            </a:r>
            <a:endParaRPr/>
          </a:p>
        </p:txBody>
      </p:sp>
      <p:pic>
        <p:nvPicPr>
          <p:cNvPr descr="D:\01.현대해상 보상포탈\Skype 받은 파일\사고접수지샘플\샘플10_2.jpg" id="690" name="Google Shape;69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6896" y="2033759"/>
            <a:ext cx="963970" cy="491255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91" name="Google Shape;691;p12"/>
          <p:cNvSpPr/>
          <p:nvPr/>
        </p:nvSpPr>
        <p:spPr>
          <a:xfrm>
            <a:off x="673225" y="1738703"/>
            <a:ext cx="209819" cy="242194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4700" lIns="89425" spcFirstLastPara="1" rIns="89425" wrap="square" tIns="44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6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136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2" name="Google Shape;692;p12"/>
          <p:cNvSpPr txBox="1"/>
          <p:nvPr/>
        </p:nvSpPr>
        <p:spPr>
          <a:xfrm>
            <a:off x="694269" y="2669018"/>
            <a:ext cx="1363828" cy="334937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보상포탈</a:t>
            </a:r>
            <a:endParaRPr sz="882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82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손사포탈</a:t>
            </a:r>
            <a:endParaRPr sz="882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12"/>
          <p:cNvSpPr txBox="1"/>
          <p:nvPr/>
        </p:nvSpPr>
        <p:spPr>
          <a:xfrm>
            <a:off x="694269" y="3035468"/>
            <a:ext cx="1363828" cy="244787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하이유피</a:t>
            </a:r>
            <a:endParaRPr sz="882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12"/>
          <p:cNvSpPr/>
          <p:nvPr/>
        </p:nvSpPr>
        <p:spPr>
          <a:xfrm>
            <a:off x="2422967" y="1470682"/>
            <a:ext cx="4263480" cy="2186918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t" bIns="45450" lIns="87400" spcFirstLastPara="1" rIns="87400" wrap="square" tIns="4545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2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Application Tier(Image )</a:t>
            </a:r>
            <a:endParaRPr b="1" sz="972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5" name="Google Shape;695;p12"/>
          <p:cNvSpPr/>
          <p:nvPr/>
        </p:nvSpPr>
        <p:spPr>
          <a:xfrm>
            <a:off x="5579649" y="1917542"/>
            <a:ext cx="977915" cy="406628"/>
          </a:xfrm>
          <a:prstGeom prst="rect">
            <a:avLst/>
          </a:prstGeom>
          <a:solidFill>
            <a:srgbClr val="DDDDDD"/>
          </a:solidFill>
          <a:ln cap="flat" cmpd="sng" w="9525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950" lIns="34950" spcFirstLastPara="1" rIns="34950" wrap="square" tIns="34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4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EDMS Gateway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4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Agent</a:t>
            </a:r>
            <a:endParaRPr sz="874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6" name="Google Shape;696;p12"/>
          <p:cNvSpPr/>
          <p:nvPr/>
        </p:nvSpPr>
        <p:spPr>
          <a:xfrm>
            <a:off x="4128710" y="1917541"/>
            <a:ext cx="1104051" cy="944757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7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 변환</a:t>
            </a:r>
            <a:endParaRPr b="1" sz="87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175"/>
              </a:spcBef>
              <a:spcAft>
                <a:spcPts val="0"/>
              </a:spcAft>
              <a:buNone/>
            </a:pPr>
            <a:r>
              <a:t/>
            </a:r>
            <a:endParaRPr sz="87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175"/>
              </a:spcBef>
              <a:spcAft>
                <a:spcPts val="0"/>
              </a:spcAft>
              <a:buNone/>
            </a:pPr>
            <a:r>
              <a:t/>
            </a:r>
            <a:endParaRPr sz="87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175"/>
              </a:spcBef>
              <a:spcAft>
                <a:spcPts val="0"/>
              </a:spcAft>
              <a:buNone/>
            </a:pPr>
            <a:r>
              <a:t/>
            </a:r>
            <a:endParaRPr sz="87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175"/>
              </a:spcBef>
              <a:spcAft>
                <a:spcPts val="0"/>
              </a:spcAft>
              <a:buNone/>
            </a:pPr>
            <a:r>
              <a:t/>
            </a:r>
            <a:endParaRPr sz="87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175"/>
              </a:spcBef>
              <a:spcAft>
                <a:spcPts val="0"/>
              </a:spcAft>
              <a:buNone/>
            </a:pPr>
            <a:r>
              <a:t/>
            </a:r>
            <a:endParaRPr sz="87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12"/>
          <p:cNvSpPr/>
          <p:nvPr/>
        </p:nvSpPr>
        <p:spPr>
          <a:xfrm>
            <a:off x="2705719" y="2379902"/>
            <a:ext cx="1023218" cy="230895"/>
          </a:xfrm>
          <a:prstGeom prst="rect">
            <a:avLst/>
          </a:prstGeom>
          <a:solidFill>
            <a:srgbClr val="A5A5A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4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Image Viewer</a:t>
            </a:r>
            <a:endParaRPr sz="874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8" name="Google Shape;698;p12"/>
          <p:cNvSpPr/>
          <p:nvPr/>
        </p:nvSpPr>
        <p:spPr>
          <a:xfrm>
            <a:off x="2714921" y="2799541"/>
            <a:ext cx="1014017" cy="314695"/>
          </a:xfrm>
          <a:prstGeom prst="rect">
            <a:avLst/>
          </a:prstGeom>
          <a:solidFill>
            <a:srgbClr val="A5A5A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4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Image Upload/Download</a:t>
            </a:r>
            <a:endParaRPr sz="874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9" name="Google Shape;699;p12"/>
          <p:cNvSpPr/>
          <p:nvPr/>
        </p:nvSpPr>
        <p:spPr>
          <a:xfrm>
            <a:off x="4154289" y="2149162"/>
            <a:ext cx="1044000" cy="230895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7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 암복호화</a:t>
            </a:r>
            <a:endParaRPr b="1" sz="87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12"/>
          <p:cNvSpPr/>
          <p:nvPr/>
        </p:nvSpPr>
        <p:spPr>
          <a:xfrm>
            <a:off x="4154289" y="2464174"/>
            <a:ext cx="1044000" cy="279759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7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썸네일 이미지 생성</a:t>
            </a:r>
            <a:endParaRPr b="1" sz="87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1" name="Google Shape;701;p12"/>
          <p:cNvCxnSpPr>
            <a:stCxn id="697" idx="3"/>
          </p:cNvCxnSpPr>
          <p:nvPr/>
        </p:nvCxnSpPr>
        <p:spPr>
          <a:xfrm flipH="1" rot="10800000">
            <a:off x="3728937" y="2120950"/>
            <a:ext cx="399900" cy="374400"/>
          </a:xfrm>
          <a:prstGeom prst="bentConnector3">
            <a:avLst>
              <a:gd fmla="val 49984" name="adj1"/>
            </a:avLst>
          </a:prstGeom>
          <a:noFill/>
          <a:ln cap="flat" cmpd="sng" w="12700">
            <a:solidFill>
              <a:srgbClr val="FF99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2" name="Google Shape;702;p12"/>
          <p:cNvCxnSpPr>
            <a:stCxn id="698" idx="3"/>
          </p:cNvCxnSpPr>
          <p:nvPr/>
        </p:nvCxnSpPr>
        <p:spPr>
          <a:xfrm flipH="1" rot="10800000">
            <a:off x="3728938" y="2715689"/>
            <a:ext cx="399900" cy="241200"/>
          </a:xfrm>
          <a:prstGeom prst="bentConnector3">
            <a:avLst>
              <a:gd fmla="val 49984" name="adj1"/>
            </a:avLst>
          </a:prstGeom>
          <a:noFill/>
          <a:ln cap="flat" cmpd="sng" w="12700">
            <a:solidFill>
              <a:srgbClr val="FF99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3" name="Google Shape;703;p12"/>
          <p:cNvCxnSpPr>
            <a:stCxn id="696" idx="3"/>
            <a:endCxn id="695" idx="1"/>
          </p:cNvCxnSpPr>
          <p:nvPr/>
        </p:nvCxnSpPr>
        <p:spPr>
          <a:xfrm flipH="1" rot="10800000">
            <a:off x="5232761" y="2120820"/>
            <a:ext cx="346800" cy="269100"/>
          </a:xfrm>
          <a:prstGeom prst="bentConnector3">
            <a:avLst>
              <a:gd fmla="val 50013" name="adj1"/>
            </a:avLst>
          </a:prstGeom>
          <a:noFill/>
          <a:ln cap="flat" cmpd="sng" w="12700">
            <a:solidFill>
              <a:srgbClr val="FF99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4" name="Google Shape;704;p12"/>
          <p:cNvSpPr txBox="1"/>
          <p:nvPr/>
        </p:nvSpPr>
        <p:spPr>
          <a:xfrm>
            <a:off x="5264828" y="1686143"/>
            <a:ext cx="1226851" cy="239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EDMS Image Upload/Download</a:t>
            </a:r>
            <a:endParaRPr sz="77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12"/>
          <p:cNvSpPr/>
          <p:nvPr/>
        </p:nvSpPr>
        <p:spPr>
          <a:xfrm>
            <a:off x="2543994" y="1830765"/>
            <a:ext cx="209819" cy="242194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4700" lIns="89425" spcFirstLastPara="1" rIns="89425" wrap="square" tIns="44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6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136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06" name="Google Shape;706;p12"/>
          <p:cNvSpPr/>
          <p:nvPr/>
        </p:nvSpPr>
        <p:spPr>
          <a:xfrm>
            <a:off x="4110790" y="1831055"/>
            <a:ext cx="209819" cy="242194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4700" lIns="89425" spcFirstLastPara="1" rIns="89425" wrap="square" tIns="44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6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136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07" name="Google Shape;707;p12"/>
          <p:cNvSpPr/>
          <p:nvPr/>
        </p:nvSpPr>
        <p:spPr>
          <a:xfrm>
            <a:off x="6365443" y="2219801"/>
            <a:ext cx="209819" cy="242194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4700" lIns="89425" spcFirstLastPara="1" rIns="89425" wrap="square" tIns="44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6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136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08" name="Google Shape;708;p12"/>
          <p:cNvSpPr txBox="1"/>
          <p:nvPr/>
        </p:nvSpPr>
        <p:spPr>
          <a:xfrm>
            <a:off x="3973842" y="2904450"/>
            <a:ext cx="1079483" cy="239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변환된 Image 및</a:t>
            </a:r>
            <a:endParaRPr sz="77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썸네일 Image 파일 저장</a:t>
            </a:r>
            <a:endParaRPr/>
          </a:p>
        </p:txBody>
      </p:sp>
      <p:sp>
        <p:nvSpPr>
          <p:cNvPr id="709" name="Google Shape;709;p12"/>
          <p:cNvSpPr/>
          <p:nvPr/>
        </p:nvSpPr>
        <p:spPr>
          <a:xfrm>
            <a:off x="7086167" y="1468716"/>
            <a:ext cx="2298665" cy="699669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t" bIns="45450" lIns="87400" spcFirstLastPara="1" rIns="87400" wrap="square" tIns="4545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2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Image System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72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0" name="Google Shape;710;p12"/>
          <p:cNvSpPr/>
          <p:nvPr/>
        </p:nvSpPr>
        <p:spPr>
          <a:xfrm>
            <a:off x="7183308" y="1715472"/>
            <a:ext cx="727088" cy="359857"/>
          </a:xfrm>
          <a:prstGeom prst="rect">
            <a:avLst/>
          </a:prstGeom>
          <a:solidFill>
            <a:srgbClr val="DDDDDD"/>
          </a:solidFill>
          <a:ln cap="flat" cmpd="sng" w="9525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950" lIns="34950" spcFirstLastPara="1" rIns="34950" wrap="square" tIns="34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4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EDMS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4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Agent</a:t>
            </a:r>
            <a:endParaRPr sz="874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1" name="Google Shape;711;p12"/>
          <p:cNvSpPr/>
          <p:nvPr/>
        </p:nvSpPr>
        <p:spPr>
          <a:xfrm>
            <a:off x="8310117" y="1720773"/>
            <a:ext cx="979160" cy="359857"/>
          </a:xfrm>
          <a:prstGeom prst="rect">
            <a:avLst/>
          </a:prstGeom>
          <a:solidFill>
            <a:srgbClr val="DDDDDD"/>
          </a:solidFill>
          <a:ln cap="flat" cmpd="sng" w="9525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950" lIns="34950" spcFirstLastPara="1" rIns="34950" wrap="square" tIns="34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4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ECM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4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(EDMS 엔진)</a:t>
            </a:r>
            <a:endParaRPr/>
          </a:p>
        </p:txBody>
      </p:sp>
      <p:cxnSp>
        <p:nvCxnSpPr>
          <p:cNvPr id="712" name="Google Shape;712;p12"/>
          <p:cNvCxnSpPr>
            <a:stCxn id="710" idx="3"/>
            <a:endCxn id="711" idx="1"/>
          </p:cNvCxnSpPr>
          <p:nvPr/>
        </p:nvCxnSpPr>
        <p:spPr>
          <a:xfrm>
            <a:off x="7910396" y="1895401"/>
            <a:ext cx="399600" cy="5400"/>
          </a:xfrm>
          <a:prstGeom prst="straightConnector1">
            <a:avLst/>
          </a:prstGeom>
          <a:noFill/>
          <a:ln cap="flat" cmpd="sng" w="12700">
            <a:solidFill>
              <a:srgbClr val="FF99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3" name="Google Shape;713;p12"/>
          <p:cNvCxnSpPr>
            <a:endCxn id="710" idx="1"/>
          </p:cNvCxnSpPr>
          <p:nvPr/>
        </p:nvCxnSpPr>
        <p:spPr>
          <a:xfrm flipH="1" rot="10800000">
            <a:off x="6557508" y="1895401"/>
            <a:ext cx="625800" cy="225600"/>
          </a:xfrm>
          <a:prstGeom prst="bentConnector3">
            <a:avLst>
              <a:gd fmla="val 50004" name="adj1"/>
            </a:avLst>
          </a:prstGeom>
          <a:noFill/>
          <a:ln cap="flat" cmpd="sng" w="12700">
            <a:solidFill>
              <a:srgbClr val="FF99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4" name="Google Shape;714;p12"/>
          <p:cNvSpPr txBox="1"/>
          <p:nvPr/>
        </p:nvSpPr>
        <p:spPr>
          <a:xfrm>
            <a:off x="6651536" y="1694813"/>
            <a:ext cx="298159" cy="11958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TCP/IP</a:t>
            </a:r>
            <a:endParaRPr sz="77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12"/>
          <p:cNvSpPr/>
          <p:nvPr/>
        </p:nvSpPr>
        <p:spPr>
          <a:xfrm>
            <a:off x="4708272" y="3219220"/>
            <a:ext cx="559457" cy="349661"/>
          </a:xfrm>
          <a:prstGeom prst="can">
            <a:avLst>
              <a:gd fmla="val 25000" name="adj"/>
            </a:avLst>
          </a:prstGeom>
          <a:gradFill>
            <a:gsLst>
              <a:gs pos="0">
                <a:srgbClr val="939393"/>
              </a:gs>
              <a:gs pos="50000">
                <a:srgbClr val="D5D5D5"/>
              </a:gs>
              <a:gs pos="100000">
                <a:schemeClr val="lt1"/>
              </a:gs>
            </a:gsLst>
            <a:lin ang="2700000" scaled="0"/>
          </a:gra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2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NAS</a:t>
            </a:r>
            <a:endParaRPr/>
          </a:p>
        </p:txBody>
      </p:sp>
      <p:cxnSp>
        <p:nvCxnSpPr>
          <p:cNvPr id="716" name="Google Shape;716;p12"/>
          <p:cNvCxnSpPr/>
          <p:nvPr/>
        </p:nvCxnSpPr>
        <p:spPr>
          <a:xfrm>
            <a:off x="5127850" y="2862297"/>
            <a:ext cx="0" cy="384627"/>
          </a:xfrm>
          <a:prstGeom prst="straightConnector1">
            <a:avLst/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grpSp>
        <p:nvGrpSpPr>
          <p:cNvPr id="717" name="Google Shape;717;p12"/>
          <p:cNvGrpSpPr/>
          <p:nvPr/>
        </p:nvGrpSpPr>
        <p:grpSpPr>
          <a:xfrm>
            <a:off x="3894662" y="3432733"/>
            <a:ext cx="571145" cy="633968"/>
            <a:chOff x="4529960" y="2518411"/>
            <a:chExt cx="571145" cy="633968"/>
          </a:xfrm>
        </p:grpSpPr>
        <p:sp>
          <p:nvSpPr>
            <p:cNvPr id="718" name="Google Shape;718;p12"/>
            <p:cNvSpPr/>
            <p:nvPr/>
          </p:nvSpPr>
          <p:spPr>
            <a:xfrm>
              <a:off x="4529960" y="2518411"/>
              <a:ext cx="571145" cy="633968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12"/>
            <p:cNvSpPr/>
            <p:nvPr/>
          </p:nvSpPr>
          <p:spPr>
            <a:xfrm>
              <a:off x="4561463" y="2926515"/>
              <a:ext cx="508139" cy="20117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94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EDMS DB</a:t>
              </a:r>
              <a:endParaRPr sz="794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j0431637" id="720" name="Google Shape;720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83859" y="2628756"/>
              <a:ext cx="275315" cy="2745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j0431626" id="721" name="Google Shape;721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830566" y="2757962"/>
              <a:ext cx="154117" cy="15486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722" name="Google Shape;722;p12"/>
          <p:cNvCxnSpPr/>
          <p:nvPr/>
        </p:nvCxnSpPr>
        <p:spPr>
          <a:xfrm>
            <a:off x="4187349" y="2862297"/>
            <a:ext cx="0" cy="576000"/>
          </a:xfrm>
          <a:prstGeom prst="straightConnector1">
            <a:avLst/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sp>
        <p:nvSpPr>
          <p:cNvPr id="723" name="Google Shape;723;p12"/>
          <p:cNvSpPr/>
          <p:nvPr/>
        </p:nvSpPr>
        <p:spPr>
          <a:xfrm>
            <a:off x="2422967" y="4104459"/>
            <a:ext cx="4263480" cy="2147662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t" bIns="45450" lIns="87400" spcFirstLastPara="1" rIns="87400" wrap="square" tIns="4545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2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Application Tier(동영상 )</a:t>
            </a:r>
            <a:endParaRPr b="1" sz="972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24" name="Google Shape;724;p12"/>
          <p:cNvCxnSpPr/>
          <p:nvPr/>
        </p:nvCxnSpPr>
        <p:spPr>
          <a:xfrm>
            <a:off x="2050492" y="2191002"/>
            <a:ext cx="655200" cy="304200"/>
          </a:xfrm>
          <a:prstGeom prst="bentConnector3">
            <a:avLst>
              <a:gd fmla="val 50002" name="adj1"/>
            </a:avLst>
          </a:prstGeom>
          <a:noFill/>
          <a:ln cap="flat" cmpd="sng" w="12700">
            <a:solidFill>
              <a:srgbClr val="FF99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5" name="Google Shape;725;p12"/>
          <p:cNvSpPr txBox="1"/>
          <p:nvPr/>
        </p:nvSpPr>
        <p:spPr>
          <a:xfrm>
            <a:off x="2120472" y="2015536"/>
            <a:ext cx="349661" cy="119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</a:t>
            </a:r>
            <a:endParaRPr sz="77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6" name="Google Shape;726;p12"/>
          <p:cNvCxnSpPr/>
          <p:nvPr/>
        </p:nvCxnSpPr>
        <p:spPr>
          <a:xfrm>
            <a:off x="2076017" y="2460174"/>
            <a:ext cx="591000" cy="406500"/>
          </a:xfrm>
          <a:prstGeom prst="bentConnector3">
            <a:avLst>
              <a:gd fmla="val 50004" name="adj1"/>
            </a:avLst>
          </a:prstGeom>
          <a:noFill/>
          <a:ln cap="flat" cmpd="sng" w="12700">
            <a:solidFill>
              <a:srgbClr val="FF99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7" name="Google Shape;727;p12"/>
          <p:cNvSpPr txBox="1"/>
          <p:nvPr/>
        </p:nvSpPr>
        <p:spPr>
          <a:xfrm>
            <a:off x="2120472" y="2598830"/>
            <a:ext cx="349661" cy="119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</a:t>
            </a:r>
            <a:endParaRPr sz="77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12"/>
          <p:cNvSpPr/>
          <p:nvPr/>
        </p:nvSpPr>
        <p:spPr>
          <a:xfrm>
            <a:off x="2543994" y="4398181"/>
            <a:ext cx="209819" cy="242194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4700" lIns="89425" spcFirstLastPara="1" rIns="89425" wrap="square" tIns="44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6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136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9" name="Google Shape;729;p12"/>
          <p:cNvSpPr/>
          <p:nvPr/>
        </p:nvSpPr>
        <p:spPr>
          <a:xfrm>
            <a:off x="4110790" y="4398471"/>
            <a:ext cx="209819" cy="242194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4700" lIns="89425" spcFirstLastPara="1" rIns="89425" wrap="square" tIns="44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6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136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30" name="Google Shape;730;p12"/>
          <p:cNvSpPr/>
          <p:nvPr/>
        </p:nvSpPr>
        <p:spPr>
          <a:xfrm>
            <a:off x="2699145" y="4934097"/>
            <a:ext cx="1023218" cy="230895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4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동영상 Viewer</a:t>
            </a:r>
            <a:endParaRPr sz="874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31" name="Google Shape;731;p12"/>
          <p:cNvSpPr/>
          <p:nvPr/>
        </p:nvSpPr>
        <p:spPr>
          <a:xfrm>
            <a:off x="4256545" y="5029411"/>
            <a:ext cx="832217" cy="230895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4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스트리밍</a:t>
            </a:r>
            <a:endParaRPr/>
          </a:p>
        </p:txBody>
      </p:sp>
      <p:sp>
        <p:nvSpPr>
          <p:cNvPr id="732" name="Google Shape;732;p12"/>
          <p:cNvSpPr/>
          <p:nvPr/>
        </p:nvSpPr>
        <p:spPr>
          <a:xfrm>
            <a:off x="4256545" y="5326427"/>
            <a:ext cx="832217" cy="230895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4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편집처리</a:t>
            </a:r>
            <a:endParaRPr/>
          </a:p>
        </p:txBody>
      </p:sp>
      <p:grpSp>
        <p:nvGrpSpPr>
          <p:cNvPr id="733" name="Google Shape;733;p12"/>
          <p:cNvGrpSpPr/>
          <p:nvPr/>
        </p:nvGrpSpPr>
        <p:grpSpPr>
          <a:xfrm>
            <a:off x="4434304" y="5733242"/>
            <a:ext cx="571145" cy="633968"/>
            <a:chOff x="4529960" y="2518411"/>
            <a:chExt cx="571145" cy="633968"/>
          </a:xfrm>
        </p:grpSpPr>
        <p:sp>
          <p:nvSpPr>
            <p:cNvPr id="734" name="Google Shape;734;p12"/>
            <p:cNvSpPr/>
            <p:nvPr/>
          </p:nvSpPr>
          <p:spPr>
            <a:xfrm>
              <a:off x="4529960" y="2518411"/>
              <a:ext cx="571145" cy="633968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12"/>
            <p:cNvSpPr/>
            <p:nvPr/>
          </p:nvSpPr>
          <p:spPr>
            <a:xfrm>
              <a:off x="4561463" y="2926515"/>
              <a:ext cx="508139" cy="20117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94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MCMS DB</a:t>
              </a:r>
              <a:endParaRPr sz="794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j0431637" id="736" name="Google Shape;736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83859" y="2628756"/>
              <a:ext cx="275315" cy="2745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j0431626" id="737" name="Google Shape;737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830566" y="2757962"/>
              <a:ext cx="154117" cy="15486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738" name="Google Shape;738;p12"/>
          <p:cNvCxnSpPr/>
          <p:nvPr/>
        </p:nvCxnSpPr>
        <p:spPr>
          <a:xfrm flipH="1">
            <a:off x="4726991" y="5458317"/>
            <a:ext cx="7919" cy="280489"/>
          </a:xfrm>
          <a:prstGeom prst="straightConnector1">
            <a:avLst/>
          </a:prstGeom>
          <a:noFill/>
          <a:ln cap="rnd" cmpd="sng" w="1587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cxnSp>
        <p:nvCxnSpPr>
          <p:cNvPr id="739" name="Google Shape;739;p12"/>
          <p:cNvCxnSpPr>
            <a:stCxn id="684" idx="3"/>
            <a:endCxn id="710" idx="1"/>
          </p:cNvCxnSpPr>
          <p:nvPr/>
        </p:nvCxnSpPr>
        <p:spPr>
          <a:xfrm flipH="1" rot="10800000">
            <a:off x="5088762" y="1895429"/>
            <a:ext cx="2094600" cy="2965200"/>
          </a:xfrm>
          <a:prstGeom prst="bentConnector3">
            <a:avLst>
              <a:gd fmla="val 73645" name="adj1"/>
            </a:avLst>
          </a:pr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40" name="Google Shape;740;p12"/>
          <p:cNvCxnSpPr>
            <a:stCxn id="689" idx="3"/>
            <a:endCxn id="731" idx="1"/>
          </p:cNvCxnSpPr>
          <p:nvPr/>
        </p:nvCxnSpPr>
        <p:spPr>
          <a:xfrm>
            <a:off x="2050492" y="2191002"/>
            <a:ext cx="2206200" cy="2953800"/>
          </a:xfrm>
          <a:prstGeom prst="bentConnector3">
            <a:avLst>
              <a:gd fmla="val 9125" name="adj1"/>
            </a:avLst>
          </a:pr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1" name="Google Shape;741;p12"/>
          <p:cNvSpPr txBox="1"/>
          <p:nvPr/>
        </p:nvSpPr>
        <p:spPr>
          <a:xfrm>
            <a:off x="2272872" y="3768136"/>
            <a:ext cx="349661" cy="119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</a:t>
            </a:r>
            <a:endParaRPr sz="77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12"/>
          <p:cNvSpPr/>
          <p:nvPr/>
        </p:nvSpPr>
        <p:spPr>
          <a:xfrm>
            <a:off x="4206436" y="5006282"/>
            <a:ext cx="921414" cy="619817"/>
          </a:xfrm>
          <a:prstGeom prst="roundRect">
            <a:avLst>
              <a:gd fmla="val 3752" name="adj"/>
            </a:avLst>
          </a:prstGeom>
          <a:noFill/>
          <a:ln cap="flat" cmpd="sng" w="19050">
            <a:solidFill>
              <a:srgbClr val="FF0000"/>
            </a:solidFill>
            <a:prstDash val="dot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1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3" name="Google Shape;743;p12"/>
          <p:cNvCxnSpPr/>
          <p:nvPr/>
        </p:nvCxnSpPr>
        <p:spPr>
          <a:xfrm>
            <a:off x="5070417" y="1345621"/>
            <a:ext cx="487047" cy="0"/>
          </a:xfrm>
          <a:prstGeom prst="straightConnector1">
            <a:avLst/>
          </a:prstGeom>
          <a:noFill/>
          <a:ln cap="flat" cmpd="sng" w="12700">
            <a:solidFill>
              <a:srgbClr val="FF99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4" name="Google Shape;744;p12"/>
          <p:cNvSpPr txBox="1"/>
          <p:nvPr/>
        </p:nvSpPr>
        <p:spPr>
          <a:xfrm>
            <a:off x="5612066" y="1272955"/>
            <a:ext cx="648386" cy="1524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AS-IS </a:t>
            </a:r>
            <a:endParaRPr sz="99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45" name="Google Shape;745;p12"/>
          <p:cNvCxnSpPr/>
          <p:nvPr/>
        </p:nvCxnSpPr>
        <p:spPr>
          <a:xfrm>
            <a:off x="6401866" y="1346318"/>
            <a:ext cx="487047" cy="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6" name="Google Shape;746;p12"/>
          <p:cNvSpPr txBox="1"/>
          <p:nvPr/>
        </p:nvSpPr>
        <p:spPr>
          <a:xfrm>
            <a:off x="6933025" y="1272955"/>
            <a:ext cx="693188" cy="1524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TO-BE</a:t>
            </a:r>
            <a:endParaRPr sz="99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47" name="Google Shape;747;p12"/>
          <p:cNvSpPr/>
          <p:nvPr/>
        </p:nvSpPr>
        <p:spPr>
          <a:xfrm>
            <a:off x="4267479" y="1256684"/>
            <a:ext cx="663922" cy="18214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9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범례</a:t>
            </a:r>
            <a:endParaRPr b="1" sz="99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48" name="Google Shape;748;p12"/>
          <p:cNvCxnSpPr/>
          <p:nvPr/>
        </p:nvCxnSpPr>
        <p:spPr>
          <a:xfrm>
            <a:off x="7776307" y="1346318"/>
            <a:ext cx="487047" cy="0"/>
          </a:xfrm>
          <a:prstGeom prst="straightConnector1">
            <a:avLst/>
          </a:prstGeom>
          <a:noFill/>
          <a:ln cap="flat" cmpd="sng" w="12700">
            <a:solidFill>
              <a:srgbClr val="7676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9" name="Google Shape;749;p12"/>
          <p:cNvSpPr txBox="1"/>
          <p:nvPr/>
        </p:nvSpPr>
        <p:spPr>
          <a:xfrm>
            <a:off x="8307465" y="1272955"/>
            <a:ext cx="1164964" cy="1524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데이터관리 및 활용</a:t>
            </a:r>
            <a:endParaRPr/>
          </a:p>
        </p:txBody>
      </p:sp>
      <p:sp>
        <p:nvSpPr>
          <p:cNvPr id="750" name="Google Shape;750;p12"/>
          <p:cNvSpPr/>
          <p:nvPr/>
        </p:nvSpPr>
        <p:spPr>
          <a:xfrm>
            <a:off x="7122423" y="2548186"/>
            <a:ext cx="3222200" cy="1269759"/>
          </a:xfrm>
          <a:prstGeom prst="rect">
            <a:avLst/>
          </a:prstGeom>
          <a:noFill/>
          <a:ln>
            <a:noFill/>
          </a:ln>
        </p:spPr>
        <p:txBody>
          <a:bodyPr anchorCtr="0" anchor="t" bIns="50350" lIns="100700" spcFirstLastPara="1" rIns="100700" wrap="square" tIns="503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EDMS뷰어 </a:t>
            </a:r>
            <a:endParaRPr b="1" sz="11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AS-IS 이미지+문서 </a:t>
            </a:r>
            <a:endParaRPr b="1" sz="11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TO-BE 동영상추가</a:t>
            </a:r>
            <a:endParaRPr b="1" sz="11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이미지뷰어(HTTP)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10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이미지변환/섬네일이미지생성</a:t>
            </a:r>
            <a:endParaRPr b="1" i="1" sz="110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10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 OS 및 JDK업그레이드 진행 )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Agent게이트웨이를 통해서 등록</a:t>
            </a:r>
            <a:endParaRPr b="1" sz="11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1" name="Google Shape;751;p12"/>
          <p:cNvSpPr txBox="1"/>
          <p:nvPr/>
        </p:nvSpPr>
        <p:spPr>
          <a:xfrm>
            <a:off x="6970534" y="2326172"/>
            <a:ext cx="3302760" cy="26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1" u="sng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업무데이터 연계 및 활용 흐름</a:t>
            </a:r>
            <a:endParaRPr/>
          </a:p>
        </p:txBody>
      </p:sp>
      <p:sp>
        <p:nvSpPr>
          <p:cNvPr id="752" name="Google Shape;752;p12"/>
          <p:cNvSpPr/>
          <p:nvPr/>
        </p:nvSpPr>
        <p:spPr>
          <a:xfrm>
            <a:off x="6970533" y="2623509"/>
            <a:ext cx="158585" cy="158585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4700" lIns="89425" spcFirstLastPara="1" rIns="89425" wrap="square" tIns="44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6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136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3" name="Google Shape;753;p12"/>
          <p:cNvSpPr/>
          <p:nvPr/>
        </p:nvSpPr>
        <p:spPr>
          <a:xfrm>
            <a:off x="6975864" y="3235669"/>
            <a:ext cx="158585" cy="15858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4700" lIns="89425" spcFirstLastPara="1" rIns="89425" wrap="square" tIns="44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6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136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4" name="Google Shape;754;p12"/>
          <p:cNvSpPr/>
          <p:nvPr/>
        </p:nvSpPr>
        <p:spPr>
          <a:xfrm>
            <a:off x="6975864" y="3438444"/>
            <a:ext cx="158585" cy="158585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74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874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5" name="Google Shape;755;p12"/>
          <p:cNvSpPr/>
          <p:nvPr/>
        </p:nvSpPr>
        <p:spPr>
          <a:xfrm>
            <a:off x="6975864" y="3831720"/>
            <a:ext cx="158585" cy="15858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4700" lIns="89425" spcFirstLastPara="1" rIns="89425" wrap="square" tIns="44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6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136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6" name="Google Shape;756;p12"/>
          <p:cNvSpPr/>
          <p:nvPr/>
        </p:nvSpPr>
        <p:spPr>
          <a:xfrm>
            <a:off x="1073694" y="2237886"/>
            <a:ext cx="1023218" cy="230895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4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동영상 Viewer</a:t>
            </a:r>
            <a:endParaRPr sz="874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7" name="Google Shape;757;p12"/>
          <p:cNvSpPr/>
          <p:nvPr/>
        </p:nvSpPr>
        <p:spPr>
          <a:xfrm>
            <a:off x="1066082" y="1973586"/>
            <a:ext cx="1023218" cy="230895"/>
          </a:xfrm>
          <a:prstGeom prst="rect">
            <a:avLst/>
          </a:prstGeom>
          <a:solidFill>
            <a:srgbClr val="A5A5A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4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Image Viewer</a:t>
            </a:r>
            <a:endParaRPr sz="874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8" name="Google Shape;758;p12"/>
          <p:cNvSpPr/>
          <p:nvPr/>
        </p:nvSpPr>
        <p:spPr>
          <a:xfrm>
            <a:off x="7122423" y="4465704"/>
            <a:ext cx="3222200" cy="1269759"/>
          </a:xfrm>
          <a:prstGeom prst="rect">
            <a:avLst/>
          </a:prstGeom>
          <a:noFill/>
          <a:ln>
            <a:noFill/>
          </a:ln>
        </p:spPr>
        <p:txBody>
          <a:bodyPr anchorCtr="0" anchor="t" bIns="50350" lIns="100700" spcFirstLastPara="1" rIns="100700" wrap="square" tIns="503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동영상일경우 동영상Viewer를 로딩</a:t>
            </a:r>
            <a:endParaRPr b="1" sz="11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엔진에서 트랜스코딩/스트리밍/편집처리</a:t>
            </a:r>
            <a:endParaRPr b="1" sz="11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수행</a:t>
            </a:r>
            <a:endParaRPr b="1" sz="11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EDMSAgent를 통해서 트랜스코딩/편집</a:t>
            </a:r>
            <a:endParaRPr b="1" sz="11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동영상을 등록</a:t>
            </a:r>
            <a:endParaRPr b="1" sz="11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9" name="Google Shape;759;p12"/>
          <p:cNvSpPr/>
          <p:nvPr/>
        </p:nvSpPr>
        <p:spPr>
          <a:xfrm>
            <a:off x="6975864" y="4518307"/>
            <a:ext cx="158585" cy="158585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4700" lIns="89425" spcFirstLastPara="1" rIns="89425" wrap="square" tIns="44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6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136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0" name="Google Shape;760;p12"/>
          <p:cNvSpPr/>
          <p:nvPr/>
        </p:nvSpPr>
        <p:spPr>
          <a:xfrm>
            <a:off x="6975864" y="4721082"/>
            <a:ext cx="158585" cy="158585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4700" lIns="89425" spcFirstLastPara="1" rIns="89425" wrap="square" tIns="44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6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136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1" name="Google Shape;761;p12"/>
          <p:cNvSpPr/>
          <p:nvPr/>
        </p:nvSpPr>
        <p:spPr>
          <a:xfrm>
            <a:off x="6975864" y="5139758"/>
            <a:ext cx="158585" cy="158585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4700" lIns="89425" spcFirstLastPara="1" rIns="89425" wrap="square" tIns="44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6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136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2" name="Google Shape;762;p12"/>
          <p:cNvSpPr/>
          <p:nvPr/>
        </p:nvSpPr>
        <p:spPr>
          <a:xfrm>
            <a:off x="6498740" y="4313533"/>
            <a:ext cx="209819" cy="242194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4700" lIns="89425" spcFirstLastPara="1" rIns="89425" wrap="square" tIns="44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6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136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7" name="Google Shape;767;p13"/>
          <p:cNvGraphicFramePr/>
          <p:nvPr/>
        </p:nvGraphicFramePr>
        <p:xfrm>
          <a:off x="417770" y="1787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{9216E51F-281C-4444-9FEC-27A87119D8F7}</a:tableStyleId>
              </a:tblPr>
              <a:tblGrid>
                <a:gridCol w="739150"/>
                <a:gridCol w="1342125"/>
                <a:gridCol w="964100"/>
                <a:gridCol w="2038125"/>
              </a:tblGrid>
              <a:tr h="256250">
                <a:tc>
                  <a:txBody>
                    <a:bodyPr/>
                    <a:lstStyle/>
                    <a:p>
                      <a:pPr indent="0" lvl="0" marL="36195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번호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6195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업무 코드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6195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수행 구분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6195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업무명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256250">
                <a:tc>
                  <a:txBody>
                    <a:bodyPr/>
                    <a:lstStyle/>
                    <a:p>
                      <a:pPr indent="0" lvl="0" marL="36195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6195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CF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6195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6195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손사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250">
                <a:tc>
                  <a:txBody>
                    <a:bodyPr/>
                    <a:lstStyle/>
                    <a:p>
                      <a:pPr indent="0" lvl="0" marL="36195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6195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CM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6195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6195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보상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250">
                <a:tc>
                  <a:txBody>
                    <a:bodyPr/>
                    <a:lstStyle/>
                    <a:p>
                      <a:pPr indent="0" lvl="0" marL="36195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6195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LT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6195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6195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장기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250">
                <a:tc>
                  <a:txBody>
                    <a:bodyPr/>
                    <a:lstStyle/>
                    <a:p>
                      <a:pPr indent="0" lvl="0" marL="36195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6195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MT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6195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6195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자동차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250">
                <a:tc>
                  <a:txBody>
                    <a:bodyPr/>
                    <a:lstStyle/>
                    <a:p>
                      <a:pPr indent="0" lvl="0" marL="36195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6195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ZZ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6195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6195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공통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250">
                <a:tc>
                  <a:txBody>
                    <a:bodyPr/>
                    <a:lstStyle/>
                    <a:p>
                      <a:pPr indent="0" lvl="0" marL="36195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6195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6195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6195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출납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250">
                <a:tc>
                  <a:txBody>
                    <a:bodyPr/>
                    <a:lstStyle/>
                    <a:p>
                      <a:pPr indent="0" lvl="0" marL="36195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6195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CC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6195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6195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구상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250">
                <a:tc>
                  <a:txBody>
                    <a:bodyPr/>
                    <a:lstStyle/>
                    <a:p>
                      <a:pPr indent="0" lvl="0" marL="36195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6195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6195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6195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소송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250">
                <a:tc>
                  <a:txBody>
                    <a:bodyPr/>
                    <a:lstStyle/>
                    <a:p>
                      <a:pPr indent="0" lvl="0" marL="36195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6195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6195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6195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일반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250">
                <a:tc>
                  <a:txBody>
                    <a:bodyPr/>
                    <a:lstStyle/>
                    <a:p>
                      <a:pPr indent="0" lvl="0" marL="36195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6195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6195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6195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대출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250">
                <a:tc>
                  <a:txBody>
                    <a:bodyPr/>
                    <a:lstStyle/>
                    <a:p>
                      <a:pPr indent="0" lvl="0" marL="36195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6195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MK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6195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6195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마케팅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250">
                <a:tc>
                  <a:txBody>
                    <a:bodyPr/>
                    <a:lstStyle/>
                    <a:p>
                      <a:pPr indent="0" lvl="0" marL="36195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6195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6195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6195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보험조사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250">
                <a:tc>
                  <a:txBody>
                    <a:bodyPr/>
                    <a:lstStyle/>
                    <a:p>
                      <a:pPr indent="0" lvl="0" marL="36195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6195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DC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6195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6195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다이렉트손사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250">
                <a:tc>
                  <a:txBody>
                    <a:bodyPr/>
                    <a:lstStyle/>
                    <a:p>
                      <a:pPr indent="0" lvl="0" marL="36195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6195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DD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6195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6195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다이렉트보상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250">
                <a:tc>
                  <a:txBody>
                    <a:bodyPr/>
                    <a:lstStyle/>
                    <a:p>
                      <a:pPr indent="0" lvl="0" marL="36195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6195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DG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6195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6195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다이렉트 일반계약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250">
                <a:tc>
                  <a:txBody>
                    <a:bodyPr/>
                    <a:lstStyle/>
                    <a:p>
                      <a:pPr indent="0" lvl="0" marL="36195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6195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DM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6195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6195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다이렉트 자동차계약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68" name="Google Shape;768;p13"/>
          <p:cNvSpPr txBox="1"/>
          <p:nvPr/>
        </p:nvSpPr>
        <p:spPr>
          <a:xfrm>
            <a:off x="417770" y="714190"/>
            <a:ext cx="8964356" cy="637153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아키텍처 설계 &gt; 2.4 동영상플랫폼</a:t>
            </a:r>
            <a:endParaRPr b="1" i="0" sz="14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2.4.1 동영상플랫폼 온라인 아키텍쳐</a:t>
            </a:r>
            <a:endParaRPr b="1" i="0" sz="12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9" name="Google Shape;769;p13"/>
          <p:cNvSpPr txBox="1"/>
          <p:nvPr/>
        </p:nvSpPr>
        <p:spPr>
          <a:xfrm>
            <a:off x="417770" y="1454112"/>
            <a:ext cx="3460564" cy="230832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rgbClr val="262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191966"/>
                </a:solidFill>
                <a:latin typeface="Arial"/>
                <a:ea typeface="Arial"/>
                <a:cs typeface="Arial"/>
                <a:sym typeface="Arial"/>
              </a:rPr>
              <a:t>※ EDMS업무카테고리</a:t>
            </a:r>
            <a:endParaRPr sz="900">
              <a:solidFill>
                <a:srgbClr val="1919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14"/>
          <p:cNvSpPr txBox="1"/>
          <p:nvPr/>
        </p:nvSpPr>
        <p:spPr>
          <a:xfrm>
            <a:off x="417770" y="714190"/>
            <a:ext cx="8964356" cy="637153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2. 아키텍처 설계 &gt; 2.4 동영상플랫폼</a:t>
            </a:r>
            <a:endParaRPr b="1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2.4.6 보상포탈 EDMS등록 프로세스</a:t>
            </a:r>
            <a:endParaRPr b="1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14"/>
          <p:cNvSpPr/>
          <p:nvPr/>
        </p:nvSpPr>
        <p:spPr>
          <a:xfrm>
            <a:off x="416972" y="1449238"/>
            <a:ext cx="931248" cy="1891839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t" bIns="46775" lIns="89975" spcFirstLastPara="1" rIns="89975" wrap="square" tIns="4677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 Tier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14"/>
          <p:cNvSpPr/>
          <p:nvPr/>
        </p:nvSpPr>
        <p:spPr>
          <a:xfrm>
            <a:off x="495061" y="1745393"/>
            <a:ext cx="782062" cy="14918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6775" lIns="89975" spcFirstLastPara="1" rIns="89975" wrap="square" tIns="4677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EDMS등록</a:t>
            </a:r>
            <a:endParaRPr/>
          </a:p>
        </p:txBody>
      </p:sp>
      <p:sp>
        <p:nvSpPr>
          <p:cNvPr id="777" name="Google Shape;777;p14"/>
          <p:cNvSpPr/>
          <p:nvPr/>
        </p:nvSpPr>
        <p:spPr>
          <a:xfrm>
            <a:off x="529972" y="2053917"/>
            <a:ext cx="710886" cy="1183311"/>
          </a:xfrm>
          <a:prstGeom prst="roundRect">
            <a:avLst>
              <a:gd fmla="val 6201" name="adj"/>
            </a:avLst>
          </a:prstGeom>
          <a:noFill/>
          <a:ln cap="flat" cmpd="sng" w="19050">
            <a:solidFill>
              <a:srgbClr val="FF0000"/>
            </a:solidFill>
            <a:prstDash val="dot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14"/>
          <p:cNvSpPr/>
          <p:nvPr/>
        </p:nvSpPr>
        <p:spPr>
          <a:xfrm>
            <a:off x="561783" y="2147570"/>
            <a:ext cx="639797" cy="46774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975" lIns="35975" spcFirstLastPara="1" rIns="35975" wrap="square" tIns="35975">
            <a:no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이미지+</a:t>
            </a:r>
            <a:endParaRPr/>
          </a:p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문서</a:t>
            </a:r>
            <a:endParaRPr/>
          </a:p>
        </p:txBody>
      </p:sp>
      <p:sp>
        <p:nvSpPr>
          <p:cNvPr id="779" name="Google Shape;779;p14"/>
          <p:cNvSpPr/>
          <p:nvPr/>
        </p:nvSpPr>
        <p:spPr>
          <a:xfrm>
            <a:off x="561783" y="2689746"/>
            <a:ext cx="639797" cy="44597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975" lIns="35975" spcFirstLastPara="1" rIns="35975" wrap="square" tIns="35975">
            <a:no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동영상</a:t>
            </a:r>
            <a:endParaRPr/>
          </a:p>
        </p:txBody>
      </p:sp>
      <p:sp>
        <p:nvSpPr>
          <p:cNvPr id="780" name="Google Shape;780;p14"/>
          <p:cNvSpPr/>
          <p:nvPr/>
        </p:nvSpPr>
        <p:spPr>
          <a:xfrm>
            <a:off x="416971" y="3533384"/>
            <a:ext cx="931249" cy="389790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 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통신표준 Agent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cxnSp>
        <p:nvCxnSpPr>
          <p:cNvPr id="781" name="Google Shape;781;p14"/>
          <p:cNvCxnSpPr>
            <a:stCxn id="777" idx="2"/>
            <a:endCxn id="780" idx="0"/>
          </p:cNvCxnSpPr>
          <p:nvPr/>
        </p:nvCxnSpPr>
        <p:spPr>
          <a:xfrm flipH="1">
            <a:off x="882715" y="3237228"/>
            <a:ext cx="2700" cy="2961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82" name="Google Shape;782;p14"/>
          <p:cNvSpPr/>
          <p:nvPr/>
        </p:nvSpPr>
        <p:spPr>
          <a:xfrm>
            <a:off x="1426309" y="1449238"/>
            <a:ext cx="5950438" cy="2779862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t" bIns="46775" lIns="89975" spcFirstLastPara="1" rIns="89975" wrap="square" tIns="4677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 Tier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(epedms.hi.co.kr)</a:t>
            </a:r>
            <a:endParaRPr b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14"/>
          <p:cNvSpPr/>
          <p:nvPr/>
        </p:nvSpPr>
        <p:spPr>
          <a:xfrm>
            <a:off x="1683217" y="1961782"/>
            <a:ext cx="2594943" cy="231457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1F65A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F65A8"/>
                </a:solidFill>
                <a:latin typeface="Arial"/>
                <a:ea typeface="Arial"/>
                <a:cs typeface="Arial"/>
                <a:sym typeface="Arial"/>
              </a:rPr>
              <a:t>/imageviewer/edms/image/register</a:t>
            </a:r>
            <a:endParaRPr/>
          </a:p>
        </p:txBody>
      </p:sp>
      <p:sp>
        <p:nvSpPr>
          <p:cNvPr id="784" name="Google Shape;784;p14"/>
          <p:cNvSpPr/>
          <p:nvPr/>
        </p:nvSpPr>
        <p:spPr>
          <a:xfrm>
            <a:off x="1683217" y="2358481"/>
            <a:ext cx="2594943" cy="331265"/>
          </a:xfrm>
          <a:prstGeom prst="roundRect">
            <a:avLst>
              <a:gd fmla="val 16667" name="adj"/>
            </a:avLst>
          </a:prstGeom>
          <a:solidFill>
            <a:srgbClr val="1F65A8"/>
          </a:solidFill>
          <a:ln cap="flat" cmpd="sng" w="10150">
            <a:solidFill>
              <a:srgbClr val="1F65A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EdmsVideoRoutingFilter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14"/>
          <p:cNvSpPr/>
          <p:nvPr/>
        </p:nvSpPr>
        <p:spPr>
          <a:xfrm>
            <a:off x="1691883" y="2840557"/>
            <a:ext cx="2583602" cy="41015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975" lIns="35975" spcFirstLastPara="1" rIns="35975" wrap="square" tIns="359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Non-Video</a:t>
            </a:r>
            <a:b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Multipart Rebuild</a:t>
            </a:r>
            <a:endParaRPr/>
          </a:p>
        </p:txBody>
      </p:sp>
      <p:sp>
        <p:nvSpPr>
          <p:cNvPr id="786" name="Google Shape;786;p14"/>
          <p:cNvSpPr/>
          <p:nvPr/>
        </p:nvSpPr>
        <p:spPr>
          <a:xfrm>
            <a:off x="1691883" y="3363034"/>
            <a:ext cx="2583601" cy="410151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5903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F272A"/>
                </a:solidFill>
                <a:latin typeface="Arial"/>
                <a:ea typeface="Arial"/>
                <a:cs typeface="Arial"/>
                <a:sym typeface="Arial"/>
              </a:rPr>
              <a:t>Video Split</a:t>
            </a:r>
            <a:br>
              <a:rPr b="1" lang="en-US" sz="1000">
                <a:solidFill>
                  <a:srgbClr val="1F272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000">
                <a:solidFill>
                  <a:srgbClr val="1F272A"/>
                </a:solidFill>
                <a:latin typeface="Arial"/>
                <a:ea typeface="Arial"/>
                <a:cs typeface="Arial"/>
                <a:sym typeface="Arial"/>
              </a:rPr>
              <a:t>&amp; Chunk Client</a:t>
            </a:r>
            <a:endParaRPr/>
          </a:p>
        </p:txBody>
      </p:sp>
      <p:sp>
        <p:nvSpPr>
          <p:cNvPr id="787" name="Google Shape;787;p14"/>
          <p:cNvSpPr/>
          <p:nvPr/>
        </p:nvSpPr>
        <p:spPr>
          <a:xfrm>
            <a:off x="4619781" y="2361931"/>
            <a:ext cx="1731030" cy="360485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975" lIns="35975" spcFirstLastPara="1" rIns="35975" wrap="square" tIns="359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EdmsRegisterServlet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14"/>
          <p:cNvSpPr/>
          <p:nvPr/>
        </p:nvSpPr>
        <p:spPr>
          <a:xfrm>
            <a:off x="4619781" y="2822098"/>
            <a:ext cx="1731030" cy="360485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975" lIns="35975" spcFirstLastPara="1" rIns="35975" wrap="square" tIns="359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RegisterServlet /</a:t>
            </a:r>
            <a:b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XGWA Connector</a:t>
            </a:r>
            <a:endParaRPr/>
          </a:p>
        </p:txBody>
      </p:sp>
      <p:sp>
        <p:nvSpPr>
          <p:cNvPr id="789" name="Google Shape;789;p14"/>
          <p:cNvSpPr/>
          <p:nvPr/>
        </p:nvSpPr>
        <p:spPr>
          <a:xfrm>
            <a:off x="4619780" y="3248757"/>
            <a:ext cx="1731029" cy="360485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975" lIns="35975" spcFirstLastPara="1" rIns="35975" wrap="square" tIns="359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EDMS Repository</a:t>
            </a:r>
            <a:endParaRPr/>
          </a:p>
        </p:txBody>
      </p:sp>
      <p:cxnSp>
        <p:nvCxnSpPr>
          <p:cNvPr id="790" name="Google Shape;790;p14"/>
          <p:cNvCxnSpPr>
            <a:stCxn id="787" idx="2"/>
            <a:endCxn id="788" idx="0"/>
          </p:cNvCxnSpPr>
          <p:nvPr/>
        </p:nvCxnSpPr>
        <p:spPr>
          <a:xfrm>
            <a:off x="5485296" y="2722416"/>
            <a:ext cx="0" cy="996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91" name="Google Shape;791;p14"/>
          <p:cNvCxnSpPr>
            <a:stCxn id="788" idx="2"/>
            <a:endCxn id="789" idx="0"/>
          </p:cNvCxnSpPr>
          <p:nvPr/>
        </p:nvCxnSpPr>
        <p:spPr>
          <a:xfrm>
            <a:off x="5485296" y="3182583"/>
            <a:ext cx="0" cy="663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92" name="Google Shape;792;p14"/>
          <p:cNvSpPr/>
          <p:nvPr/>
        </p:nvSpPr>
        <p:spPr>
          <a:xfrm>
            <a:off x="7585652" y="1961782"/>
            <a:ext cx="1711997" cy="443307"/>
          </a:xfrm>
          <a:prstGeom prst="roundRect">
            <a:avLst>
              <a:gd fmla="val 16667" name="adj"/>
            </a:avLst>
          </a:prstGeom>
          <a:solidFill>
            <a:srgbClr val="E59037"/>
          </a:solidFill>
          <a:ln cap="flat" cmpd="sng" w="10150">
            <a:solidFill>
              <a:srgbClr val="E5903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MCMS</a:t>
            </a:r>
            <a:b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chunkUpload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14"/>
          <p:cNvSpPr/>
          <p:nvPr/>
        </p:nvSpPr>
        <p:spPr>
          <a:xfrm>
            <a:off x="7585652" y="2566282"/>
            <a:ext cx="1713600" cy="442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5903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F272A"/>
                </a:solidFill>
                <a:latin typeface="Arial"/>
                <a:ea typeface="Arial"/>
                <a:cs typeface="Arial"/>
                <a:sym typeface="Arial"/>
              </a:rPr>
              <a:t>Temp / Original</a:t>
            </a:r>
            <a:br>
              <a:rPr b="1" lang="en-US" sz="1000">
                <a:solidFill>
                  <a:srgbClr val="1F272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000">
                <a:solidFill>
                  <a:srgbClr val="1F272A"/>
                </a:solidFill>
                <a:latin typeface="Arial"/>
                <a:ea typeface="Arial"/>
                <a:cs typeface="Arial"/>
                <a:sym typeface="Arial"/>
              </a:rPr>
              <a:t>Video Storage</a:t>
            </a:r>
            <a:endParaRPr/>
          </a:p>
        </p:txBody>
      </p:sp>
      <p:sp>
        <p:nvSpPr>
          <p:cNvPr id="794" name="Google Shape;794;p14"/>
          <p:cNvSpPr/>
          <p:nvPr/>
        </p:nvSpPr>
        <p:spPr>
          <a:xfrm>
            <a:off x="7585652" y="3170274"/>
            <a:ext cx="1713600" cy="442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8DDD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97376"/>
                </a:solidFill>
                <a:latin typeface="Arial"/>
                <a:ea typeface="Arial"/>
                <a:cs typeface="Arial"/>
                <a:sym typeface="Arial"/>
              </a:rPr>
              <a:t>트랜스코딩 (후속 연계)</a:t>
            </a:r>
            <a:endParaRPr/>
          </a:p>
        </p:txBody>
      </p:sp>
      <p:cxnSp>
        <p:nvCxnSpPr>
          <p:cNvPr id="795" name="Google Shape;795;p14"/>
          <p:cNvCxnSpPr>
            <a:stCxn id="780" idx="3"/>
            <a:endCxn id="783" idx="1"/>
          </p:cNvCxnSpPr>
          <p:nvPr/>
        </p:nvCxnSpPr>
        <p:spPr>
          <a:xfrm flipH="1" rot="10800000">
            <a:off x="1348220" y="2077379"/>
            <a:ext cx="335100" cy="1650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96" name="Google Shape;796;p14"/>
          <p:cNvSpPr/>
          <p:nvPr/>
        </p:nvSpPr>
        <p:spPr>
          <a:xfrm>
            <a:off x="4580188" y="1964905"/>
            <a:ext cx="2594943" cy="231457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1F65A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F65A8"/>
                </a:solidFill>
                <a:latin typeface="Arial"/>
                <a:ea typeface="Arial"/>
                <a:cs typeface="Arial"/>
                <a:sym typeface="Arial"/>
              </a:rPr>
              <a:t>/imageviewer/edms/image/register</a:t>
            </a:r>
            <a:endParaRPr/>
          </a:p>
        </p:txBody>
      </p:sp>
      <p:cxnSp>
        <p:nvCxnSpPr>
          <p:cNvPr id="797" name="Google Shape;797;p14"/>
          <p:cNvCxnSpPr>
            <a:stCxn id="785" idx="3"/>
            <a:endCxn id="796" idx="1"/>
          </p:cNvCxnSpPr>
          <p:nvPr/>
        </p:nvCxnSpPr>
        <p:spPr>
          <a:xfrm flipH="1" rot="10800000">
            <a:off x="4275485" y="2080533"/>
            <a:ext cx="304800" cy="965100"/>
          </a:xfrm>
          <a:prstGeom prst="bentConnector3">
            <a:avLst>
              <a:gd fmla="val 49984" name="adj1"/>
            </a:avLst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98" name="Google Shape;798;p14"/>
          <p:cNvSpPr/>
          <p:nvPr/>
        </p:nvSpPr>
        <p:spPr>
          <a:xfrm>
            <a:off x="7428298" y="1441222"/>
            <a:ext cx="1915919" cy="2787878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t" bIns="46775" lIns="89975" spcFirstLastPara="1" rIns="89975" wrap="square" tIns="4677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 Tier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(dev-mcms.hi.co.kr)</a:t>
            </a:r>
            <a:endParaRPr b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9" name="Google Shape;799;p14"/>
          <p:cNvCxnSpPr>
            <a:stCxn id="786" idx="2"/>
            <a:endCxn id="792" idx="1"/>
          </p:cNvCxnSpPr>
          <p:nvPr/>
        </p:nvCxnSpPr>
        <p:spPr>
          <a:xfrm rot="-5400000">
            <a:off x="4489834" y="677335"/>
            <a:ext cx="1589700" cy="4602000"/>
          </a:xfrm>
          <a:prstGeom prst="bentConnector4">
            <a:avLst>
              <a:gd fmla="val -14380" name="adj1"/>
              <a:gd fmla="val 92692" name="adj2"/>
            </a:avLst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00" name="Google Shape;800;p14"/>
          <p:cNvCxnSpPr>
            <a:stCxn id="792" idx="2"/>
            <a:endCxn id="793" idx="0"/>
          </p:cNvCxnSpPr>
          <p:nvPr/>
        </p:nvCxnSpPr>
        <p:spPr>
          <a:xfrm>
            <a:off x="8441651" y="2405089"/>
            <a:ext cx="900" cy="1611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01" name="Google Shape;801;p14"/>
          <p:cNvCxnSpPr>
            <a:stCxn id="793" idx="2"/>
            <a:endCxn id="794" idx="0"/>
          </p:cNvCxnSpPr>
          <p:nvPr/>
        </p:nvCxnSpPr>
        <p:spPr>
          <a:xfrm>
            <a:off x="8442452" y="3009082"/>
            <a:ext cx="0" cy="1611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02" name="Google Shape;802;p14"/>
          <p:cNvSpPr/>
          <p:nvPr/>
        </p:nvSpPr>
        <p:spPr>
          <a:xfrm>
            <a:off x="1496721" y="4064105"/>
            <a:ext cx="3429000" cy="196510"/>
          </a:xfrm>
          <a:prstGeom prst="roundRect">
            <a:avLst>
              <a:gd fmla="val 16667" name="adj"/>
            </a:avLst>
          </a:prstGeom>
          <a:solidFill>
            <a:srgbClr val="EEF1ED"/>
          </a:solidFill>
          <a:ln cap="flat" cmpd="sng" w="10150">
            <a:solidFill>
              <a:srgbClr val="EEF1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8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RequestSpooler: 대용량 Body를 디스크에 임시 저장</a:t>
            </a:r>
            <a:endParaRPr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8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/NFS/temp/</a:t>
            </a:r>
            <a:endParaRPr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14"/>
          <p:cNvSpPr/>
          <p:nvPr/>
        </p:nvSpPr>
        <p:spPr>
          <a:xfrm>
            <a:off x="1605716" y="2286296"/>
            <a:ext cx="2746475" cy="1705421"/>
          </a:xfrm>
          <a:prstGeom prst="roundRect">
            <a:avLst>
              <a:gd fmla="val 6201" name="adj"/>
            </a:avLst>
          </a:prstGeom>
          <a:noFill/>
          <a:ln cap="flat" cmpd="sng" w="19050">
            <a:solidFill>
              <a:srgbClr val="FF0000"/>
            </a:solidFill>
            <a:prstDash val="dot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04" name="Google Shape;804;p14"/>
          <p:cNvGraphicFramePr/>
          <p:nvPr/>
        </p:nvGraphicFramePr>
        <p:xfrm>
          <a:off x="428048" y="43857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{F6045412-04BD-4F82-B1B7-2730D475FC39}</a:tableStyleId>
              </a:tblPr>
              <a:tblGrid>
                <a:gridCol w="1596750"/>
                <a:gridCol w="7357325"/>
              </a:tblGrid>
              <a:tr h="229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구분</a:t>
                      </a:r>
                      <a:endParaRPr/>
                    </a:p>
                  </a:txBody>
                  <a:tcPr marT="46800" marB="46800" marR="83050" marL="83050" anchor="ctr">
                    <a:lnL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상세 설명</a:t>
                      </a:r>
                      <a:endParaRPr/>
                    </a:p>
                  </a:txBody>
                  <a:tcPr marT="46800" marB="46800" marR="83050" marL="830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419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Client통신표준 Agent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287925" anchor="ctr">
                    <a:lnL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93663" lvl="0" marL="93663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EDMS등록시 이미지+문서,동영상파일을 표준통신프로그램으로 보상포탈이미지변환서버에 전송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9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동영상/비동영상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필터추가</a:t>
                      </a:r>
                      <a:endParaRPr/>
                    </a:p>
                  </a:txBody>
                  <a:tcPr marT="36000" marB="36000" marR="36000" marL="287925" anchor="ctr">
                    <a:lnL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93663" lvl="0" marL="93663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비동영상과 동영상을 분리해 임시 request Body화일을 생성한다.</a:t>
                      </a:r>
                      <a:endParaRPr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9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비동영상 처리</a:t>
                      </a:r>
                      <a:endParaRPr/>
                    </a:p>
                  </a:txBody>
                  <a:tcPr marT="36000" marB="36000" marR="36000" marL="287925" anchor="ctr">
                    <a:lnL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93663" lvl="0" marL="93663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先 이미지와문서를 분리해서 기존 EDMS등록처리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9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동영상 처리</a:t>
                      </a:r>
                      <a:endParaRPr/>
                    </a:p>
                  </a:txBody>
                  <a:tcPr marT="36000" marB="36000" marR="36000" marL="287925" anchor="ctr">
                    <a:lnL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93663" lvl="0" marL="93663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MCMS업로드 🡪 TEMP 화일생성 🡪 트랜스코딩 🡪 EDMS등록처리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05" name="Google Shape;805;p14"/>
          <p:cNvSpPr/>
          <p:nvPr/>
        </p:nvSpPr>
        <p:spPr>
          <a:xfrm>
            <a:off x="1399805" y="1975712"/>
            <a:ext cx="179346" cy="179345"/>
          </a:xfrm>
          <a:prstGeom prst="ellipse">
            <a:avLst/>
          </a:prstGeom>
          <a:solidFill>
            <a:srgbClr val="000000">
              <a:alpha val="98824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10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06" name="Google Shape;806;p14"/>
          <p:cNvSpPr/>
          <p:nvPr/>
        </p:nvSpPr>
        <p:spPr>
          <a:xfrm>
            <a:off x="1478198" y="2395618"/>
            <a:ext cx="179346" cy="179345"/>
          </a:xfrm>
          <a:prstGeom prst="ellipse">
            <a:avLst/>
          </a:prstGeom>
          <a:solidFill>
            <a:srgbClr val="000000">
              <a:alpha val="98824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10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07" name="Google Shape;807;p14"/>
          <p:cNvSpPr/>
          <p:nvPr/>
        </p:nvSpPr>
        <p:spPr>
          <a:xfrm>
            <a:off x="1516043" y="2935899"/>
            <a:ext cx="179346" cy="179345"/>
          </a:xfrm>
          <a:prstGeom prst="ellipse">
            <a:avLst/>
          </a:prstGeom>
          <a:solidFill>
            <a:srgbClr val="000000">
              <a:alpha val="98824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10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08" name="Google Shape;808;p14"/>
          <p:cNvSpPr/>
          <p:nvPr/>
        </p:nvSpPr>
        <p:spPr>
          <a:xfrm>
            <a:off x="1533326" y="3441039"/>
            <a:ext cx="179346" cy="179345"/>
          </a:xfrm>
          <a:prstGeom prst="ellipse">
            <a:avLst/>
          </a:prstGeom>
          <a:solidFill>
            <a:srgbClr val="000000">
              <a:alpha val="98824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10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09" name="Google Shape;809;p14"/>
          <p:cNvSpPr/>
          <p:nvPr/>
        </p:nvSpPr>
        <p:spPr>
          <a:xfrm>
            <a:off x="4361758" y="2315416"/>
            <a:ext cx="179346" cy="179345"/>
          </a:xfrm>
          <a:prstGeom prst="ellipse">
            <a:avLst/>
          </a:prstGeom>
          <a:solidFill>
            <a:srgbClr val="000000">
              <a:alpha val="98824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10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10" name="Google Shape;810;p14"/>
          <p:cNvSpPr/>
          <p:nvPr/>
        </p:nvSpPr>
        <p:spPr>
          <a:xfrm>
            <a:off x="7576135" y="3858559"/>
            <a:ext cx="1731030" cy="360485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975" lIns="35975" spcFirstLastPara="1" rIns="35975" wrap="square" tIns="359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EDMS등록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1" name="Google Shape;811;p14"/>
          <p:cNvCxnSpPr>
            <a:stCxn id="794" idx="2"/>
            <a:endCxn id="810" idx="0"/>
          </p:cNvCxnSpPr>
          <p:nvPr/>
        </p:nvCxnSpPr>
        <p:spPr>
          <a:xfrm flipH="1">
            <a:off x="8441552" y="3613074"/>
            <a:ext cx="900" cy="2454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12" name="Google Shape;812;p14"/>
          <p:cNvSpPr/>
          <p:nvPr/>
        </p:nvSpPr>
        <p:spPr>
          <a:xfrm>
            <a:off x="434201" y="4789300"/>
            <a:ext cx="179346" cy="179345"/>
          </a:xfrm>
          <a:prstGeom prst="ellipse">
            <a:avLst/>
          </a:prstGeom>
          <a:solidFill>
            <a:srgbClr val="000000">
              <a:alpha val="98824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10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13" name="Google Shape;813;p14"/>
          <p:cNvSpPr/>
          <p:nvPr/>
        </p:nvSpPr>
        <p:spPr>
          <a:xfrm>
            <a:off x="512594" y="5209206"/>
            <a:ext cx="179346" cy="179345"/>
          </a:xfrm>
          <a:prstGeom prst="ellipse">
            <a:avLst/>
          </a:prstGeom>
          <a:solidFill>
            <a:srgbClr val="000000">
              <a:alpha val="98824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10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14" name="Google Shape;814;p14"/>
          <p:cNvSpPr/>
          <p:nvPr/>
        </p:nvSpPr>
        <p:spPr>
          <a:xfrm>
            <a:off x="550439" y="5749487"/>
            <a:ext cx="179346" cy="179345"/>
          </a:xfrm>
          <a:prstGeom prst="ellipse">
            <a:avLst/>
          </a:prstGeom>
          <a:solidFill>
            <a:srgbClr val="000000">
              <a:alpha val="98824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10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15" name="Google Shape;815;p14"/>
          <p:cNvSpPr/>
          <p:nvPr/>
        </p:nvSpPr>
        <p:spPr>
          <a:xfrm>
            <a:off x="567722" y="6254627"/>
            <a:ext cx="179346" cy="179345"/>
          </a:xfrm>
          <a:prstGeom prst="ellipse">
            <a:avLst/>
          </a:prstGeom>
          <a:solidFill>
            <a:srgbClr val="000000">
              <a:alpha val="98824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10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" name="Google Shape;820;p15"/>
          <p:cNvGrpSpPr/>
          <p:nvPr/>
        </p:nvGrpSpPr>
        <p:grpSpPr>
          <a:xfrm>
            <a:off x="457200" y="1428736"/>
            <a:ext cx="8986753" cy="4972064"/>
            <a:chOff x="271465" y="838197"/>
            <a:chExt cx="9333878" cy="5705284"/>
          </a:xfrm>
        </p:grpSpPr>
        <p:sp>
          <p:nvSpPr>
            <p:cNvPr id="821" name="Google Shape;821;p15"/>
            <p:cNvSpPr/>
            <p:nvPr/>
          </p:nvSpPr>
          <p:spPr>
            <a:xfrm>
              <a:off x="595316" y="5697427"/>
              <a:ext cx="8038819" cy="792267"/>
            </a:xfrm>
            <a:prstGeom prst="rect">
              <a:avLst/>
            </a:prstGeom>
            <a:solidFill>
              <a:srgbClr val="CBEDD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15"/>
            <p:cNvSpPr/>
            <p:nvPr/>
          </p:nvSpPr>
          <p:spPr>
            <a:xfrm>
              <a:off x="595315" y="838198"/>
              <a:ext cx="8952555" cy="646112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15"/>
            <p:cNvSpPr/>
            <p:nvPr/>
          </p:nvSpPr>
          <p:spPr>
            <a:xfrm>
              <a:off x="595314" y="4833932"/>
              <a:ext cx="8964605" cy="828674"/>
            </a:xfrm>
            <a:prstGeom prst="rect">
              <a:avLst/>
            </a:prstGeom>
            <a:solidFill>
              <a:srgbClr val="83FF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15"/>
            <p:cNvSpPr/>
            <p:nvPr/>
          </p:nvSpPr>
          <p:spPr>
            <a:xfrm>
              <a:off x="595315" y="4078283"/>
              <a:ext cx="8974192" cy="71326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15"/>
            <p:cNvSpPr/>
            <p:nvPr/>
          </p:nvSpPr>
          <p:spPr>
            <a:xfrm>
              <a:off x="595315" y="2790434"/>
              <a:ext cx="8964604" cy="1251336"/>
            </a:xfrm>
            <a:prstGeom prst="rect">
              <a:avLst/>
            </a:prstGeom>
            <a:solidFill>
              <a:srgbClr val="83FF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15"/>
            <p:cNvSpPr/>
            <p:nvPr/>
          </p:nvSpPr>
          <p:spPr>
            <a:xfrm>
              <a:off x="595315" y="1881185"/>
              <a:ext cx="8952555" cy="862011"/>
            </a:xfrm>
            <a:prstGeom prst="rect">
              <a:avLst/>
            </a:prstGeom>
            <a:solidFill>
              <a:srgbClr val="C1FFE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15"/>
            <p:cNvSpPr/>
            <p:nvPr/>
          </p:nvSpPr>
          <p:spPr>
            <a:xfrm rot="-5400000">
              <a:off x="1591" y="5103808"/>
              <a:ext cx="828676" cy="288924"/>
            </a:xfrm>
            <a:prstGeom prst="rect">
              <a:avLst/>
            </a:prstGeom>
            <a:solidFill>
              <a:srgbClr val="83FFE0"/>
            </a:solidFill>
            <a:ln cap="flat" cmpd="sng" w="12700">
              <a:solidFill>
                <a:srgbClr val="99999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0950" lIns="61925" spcFirstLastPara="1" rIns="61925" wrap="square" tIns="309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Application</a:t>
              </a:r>
              <a:endParaRPr/>
            </a:p>
          </p:txBody>
        </p:sp>
        <p:sp>
          <p:nvSpPr>
            <p:cNvPr id="828" name="Google Shape;828;p15"/>
            <p:cNvSpPr/>
            <p:nvPr/>
          </p:nvSpPr>
          <p:spPr>
            <a:xfrm rot="-5400000">
              <a:off x="20429" y="5949730"/>
              <a:ext cx="791001" cy="288923"/>
            </a:xfrm>
            <a:prstGeom prst="rect">
              <a:avLst/>
            </a:prstGeom>
            <a:solidFill>
              <a:srgbClr val="93CDDD"/>
            </a:solidFill>
            <a:ln cap="flat" cmpd="sng" w="12700">
              <a:solidFill>
                <a:srgbClr val="99999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0950" lIns="61925" spcFirstLastPara="1" rIns="61925" wrap="square" tIns="309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Information</a:t>
              </a:r>
              <a:endParaRPr/>
            </a:p>
          </p:txBody>
        </p:sp>
        <p:sp>
          <p:nvSpPr>
            <p:cNvPr id="829" name="Google Shape;829;p15"/>
            <p:cNvSpPr/>
            <p:nvPr/>
          </p:nvSpPr>
          <p:spPr>
            <a:xfrm rot="-5400000">
              <a:off x="-16665" y="2169314"/>
              <a:ext cx="865187" cy="288925"/>
            </a:xfrm>
            <a:prstGeom prst="rect">
              <a:avLst/>
            </a:prstGeom>
            <a:solidFill>
              <a:srgbClr val="C1FFEF"/>
            </a:solidFill>
            <a:ln cap="flat" cmpd="sng" w="12700">
              <a:solidFill>
                <a:srgbClr val="99999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0950" lIns="61925" spcFirstLastPara="1" rIns="61925" wrap="square" tIns="309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Presentation</a:t>
              </a:r>
              <a:endParaRPr/>
            </a:p>
          </p:txBody>
        </p:sp>
        <p:sp>
          <p:nvSpPr>
            <p:cNvPr id="830" name="Google Shape;830;p15"/>
            <p:cNvSpPr/>
            <p:nvPr/>
          </p:nvSpPr>
          <p:spPr>
            <a:xfrm rot="-5400000">
              <a:off x="-88100" y="1197765"/>
              <a:ext cx="1008061" cy="288925"/>
            </a:xfrm>
            <a:prstGeom prst="rect">
              <a:avLst/>
            </a:prstGeom>
            <a:solidFill>
              <a:srgbClr val="FFFFCC"/>
            </a:solidFill>
            <a:ln cap="flat" cmpd="sng" w="12700">
              <a:solidFill>
                <a:srgbClr val="99999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0950" lIns="61925" spcFirstLastPara="1" rIns="61925" wrap="square" tIns="309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Client</a:t>
              </a:r>
              <a:endParaRPr/>
            </a:p>
          </p:txBody>
        </p:sp>
        <p:sp>
          <p:nvSpPr>
            <p:cNvPr id="831" name="Google Shape;831;p15"/>
            <p:cNvSpPr/>
            <p:nvPr/>
          </p:nvSpPr>
          <p:spPr>
            <a:xfrm rot="-5400000">
              <a:off x="57153" y="4292597"/>
              <a:ext cx="719136" cy="290510"/>
            </a:xfrm>
            <a:prstGeom prst="rect">
              <a:avLst/>
            </a:prstGeom>
            <a:solidFill>
              <a:srgbClr val="D7E4BD"/>
            </a:solidFill>
            <a:ln cap="flat" cmpd="sng" w="12700">
              <a:solidFill>
                <a:srgbClr val="99999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0950" lIns="61925" spcFirstLastPara="1" rIns="61925" wrap="square" tIns="309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Integration</a:t>
              </a:r>
              <a:endParaRPr/>
            </a:p>
          </p:txBody>
        </p:sp>
        <p:sp>
          <p:nvSpPr>
            <p:cNvPr id="832" name="Google Shape;832;p15"/>
            <p:cNvSpPr/>
            <p:nvPr/>
          </p:nvSpPr>
          <p:spPr>
            <a:xfrm rot="-5400000">
              <a:off x="-214311" y="3267071"/>
              <a:ext cx="1260476" cy="288925"/>
            </a:xfrm>
            <a:prstGeom prst="rect">
              <a:avLst/>
            </a:prstGeom>
            <a:solidFill>
              <a:srgbClr val="83FFE0"/>
            </a:solidFill>
            <a:ln cap="flat" cmpd="sng" w="12700">
              <a:solidFill>
                <a:srgbClr val="99999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0950" lIns="61925" spcFirstLastPara="1" rIns="61925" wrap="square" tIns="309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Application</a:t>
              </a:r>
              <a:endParaRPr/>
            </a:p>
          </p:txBody>
        </p:sp>
        <p:grpSp>
          <p:nvGrpSpPr>
            <p:cNvPr id="833" name="Google Shape;833;p15"/>
            <p:cNvGrpSpPr/>
            <p:nvPr/>
          </p:nvGrpSpPr>
          <p:grpSpPr>
            <a:xfrm>
              <a:off x="8653618" y="5688904"/>
              <a:ext cx="951725" cy="854577"/>
              <a:chOff x="8764075" y="5626038"/>
              <a:chExt cx="951877" cy="854379"/>
            </a:xfrm>
          </p:grpSpPr>
          <p:sp>
            <p:nvSpPr>
              <p:cNvPr id="834" name="Google Shape;834;p15"/>
              <p:cNvSpPr/>
              <p:nvPr/>
            </p:nvSpPr>
            <p:spPr>
              <a:xfrm>
                <a:off x="8764075" y="5646045"/>
                <a:ext cx="904213" cy="774475"/>
              </a:xfrm>
              <a:prstGeom prst="rect">
                <a:avLst/>
              </a:prstGeom>
              <a:solidFill>
                <a:schemeClr val="accent3"/>
              </a:solidFill>
              <a:ln cap="flat" cmpd="sng" w="12700">
                <a:solidFill>
                  <a:srgbClr val="7F7F7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35" name="Google Shape;835;p15"/>
              <p:cNvCxnSpPr/>
              <p:nvPr/>
            </p:nvCxnSpPr>
            <p:spPr>
              <a:xfrm>
                <a:off x="8813024" y="5707476"/>
                <a:ext cx="285293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36" name="Google Shape;836;p15"/>
              <p:cNvCxnSpPr/>
              <p:nvPr/>
            </p:nvCxnSpPr>
            <p:spPr>
              <a:xfrm rot="10800000">
                <a:off x="8813024" y="5805336"/>
                <a:ext cx="285293" cy="1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37" name="Google Shape;837;p15"/>
              <p:cNvCxnSpPr/>
              <p:nvPr/>
            </p:nvCxnSpPr>
            <p:spPr>
              <a:xfrm>
                <a:off x="8813024" y="5911734"/>
                <a:ext cx="285293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B0F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838" name="Google Shape;838;p15"/>
              <p:cNvSpPr txBox="1"/>
              <p:nvPr/>
            </p:nvSpPr>
            <p:spPr>
              <a:xfrm>
                <a:off x="9064611" y="5626038"/>
                <a:ext cx="508959" cy="2096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0950" lIns="61925" spcFirstLastPara="1" rIns="61925" wrap="square" tIns="3095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b="1" lang="en-US" sz="7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Service</a:t>
                </a:r>
                <a:endParaRPr b="1" sz="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9" name="Google Shape;839;p15"/>
              <p:cNvSpPr txBox="1"/>
              <p:nvPr/>
            </p:nvSpPr>
            <p:spPr>
              <a:xfrm>
                <a:off x="9064611" y="5718422"/>
                <a:ext cx="603678" cy="2096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0950" lIns="61925" spcFirstLastPara="1" rIns="61925" wrap="square" tIns="3095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b="1" lang="en-US" sz="7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EAI(Service)</a:t>
                </a:r>
                <a:endParaRPr b="1" sz="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0" name="Google Shape;840;p15"/>
              <p:cNvSpPr txBox="1"/>
              <p:nvPr/>
            </p:nvSpPr>
            <p:spPr>
              <a:xfrm>
                <a:off x="9064611" y="5823025"/>
                <a:ext cx="603678" cy="2096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0950" lIns="61925" spcFirstLastPara="1" rIns="61925" wrap="square" tIns="3095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b="1" lang="en-US" sz="7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Back-End</a:t>
                </a:r>
                <a:endParaRPr b="1" sz="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41" name="Google Shape;841;p15"/>
              <p:cNvCxnSpPr/>
              <p:nvPr/>
            </p:nvCxnSpPr>
            <p:spPr>
              <a:xfrm flipH="1">
                <a:off x="8813024" y="6112385"/>
                <a:ext cx="266427" cy="458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16165C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sp>
            <p:nvSpPr>
              <p:cNvPr id="842" name="Google Shape;842;p15"/>
              <p:cNvSpPr txBox="1"/>
              <p:nvPr/>
            </p:nvSpPr>
            <p:spPr>
              <a:xfrm>
                <a:off x="9065052" y="6031829"/>
                <a:ext cx="603678" cy="2096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0950" lIns="61925" spcFirstLastPara="1" rIns="61925" wrap="square" tIns="3095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b="1" lang="en-US" sz="7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방화벽</a:t>
                </a:r>
                <a:endParaRPr/>
              </a:p>
            </p:txBody>
          </p:sp>
          <p:cxnSp>
            <p:nvCxnSpPr>
              <p:cNvPr id="843" name="Google Shape;843;p15"/>
              <p:cNvCxnSpPr/>
              <p:nvPr/>
            </p:nvCxnSpPr>
            <p:spPr>
              <a:xfrm>
                <a:off x="8813024" y="6004990"/>
                <a:ext cx="285293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C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844" name="Google Shape;844;p15"/>
              <p:cNvSpPr txBox="1"/>
              <p:nvPr/>
            </p:nvSpPr>
            <p:spPr>
              <a:xfrm>
                <a:off x="9065052" y="5924436"/>
                <a:ext cx="603678" cy="2096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0950" lIns="61925" spcFirstLastPara="1" rIns="61925" wrap="square" tIns="3095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b="1" lang="en-US" sz="7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Internet</a:t>
                </a:r>
                <a:endParaRPr b="1" sz="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5" name="Google Shape;845;p15"/>
              <p:cNvSpPr txBox="1"/>
              <p:nvPr/>
            </p:nvSpPr>
            <p:spPr>
              <a:xfrm>
                <a:off x="9056506" y="6135415"/>
                <a:ext cx="659446" cy="2096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0950" lIns="61925" spcFirstLastPara="1" rIns="61925" wrap="square" tIns="3095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b="1" lang="en-US" sz="7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L4(부하분산)</a:t>
                </a:r>
                <a:endParaRPr b="1" sz="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846" name="Google Shape;846;p1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873832" y="6150022"/>
                <a:ext cx="144810" cy="14481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47" name="Google Shape;847;p15"/>
              <p:cNvSpPr/>
              <p:nvPr/>
            </p:nvSpPr>
            <p:spPr>
              <a:xfrm>
                <a:off x="8841605" y="6308686"/>
                <a:ext cx="179053" cy="83450"/>
              </a:xfrm>
              <a:prstGeom prst="ellipse">
                <a:avLst/>
              </a:prstGeom>
              <a:noFill/>
              <a:ln cap="flat" cmpd="sng" w="9525">
                <a:solidFill>
                  <a:srgbClr val="00946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60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LB</a:t>
                </a:r>
                <a:endParaRPr b="1" sz="6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" name="Google Shape;848;p15"/>
              <p:cNvSpPr txBox="1"/>
              <p:nvPr/>
            </p:nvSpPr>
            <p:spPr>
              <a:xfrm>
                <a:off x="9056506" y="6270764"/>
                <a:ext cx="659446" cy="2096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0950" lIns="61925" spcFirstLastPara="1" rIns="61925" wrap="square" tIns="3095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b="1" lang="en-US" sz="7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자체부하분산</a:t>
                </a:r>
                <a:endParaRPr/>
              </a:p>
            </p:txBody>
          </p:sp>
        </p:grpSp>
        <p:cxnSp>
          <p:nvCxnSpPr>
            <p:cNvPr id="849" name="Google Shape;849;p15"/>
            <p:cNvCxnSpPr/>
            <p:nvPr/>
          </p:nvCxnSpPr>
          <p:spPr>
            <a:xfrm>
              <a:off x="1304666" y="1665595"/>
              <a:ext cx="8100561" cy="242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</p:cxnSp>
        <p:grpSp>
          <p:nvGrpSpPr>
            <p:cNvPr id="850" name="Google Shape;850;p15"/>
            <p:cNvGrpSpPr/>
            <p:nvPr/>
          </p:nvGrpSpPr>
          <p:grpSpPr>
            <a:xfrm>
              <a:off x="7652505" y="1533799"/>
              <a:ext cx="893442" cy="264980"/>
              <a:chOff x="4866252" y="2027544"/>
              <a:chExt cx="824980" cy="264858"/>
            </a:xfrm>
          </p:grpSpPr>
          <p:pic>
            <p:nvPicPr>
              <p:cNvPr id="851" name="Google Shape;851;p1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rot="5400000">
                <a:off x="5146313" y="1747483"/>
                <a:ext cx="264858" cy="82498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pic>
          <p:sp>
            <p:nvSpPr>
              <p:cNvPr id="852" name="Google Shape;852;p15"/>
              <p:cNvSpPr txBox="1"/>
              <p:nvPr/>
            </p:nvSpPr>
            <p:spPr>
              <a:xfrm>
                <a:off x="4996762" y="2078588"/>
                <a:ext cx="531692" cy="1894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내부망</a:t>
                </a:r>
                <a:endParaRPr/>
              </a:p>
            </p:txBody>
          </p:sp>
        </p:grpSp>
        <p:grpSp>
          <p:nvGrpSpPr>
            <p:cNvPr id="853" name="Google Shape;853;p15"/>
            <p:cNvGrpSpPr/>
            <p:nvPr/>
          </p:nvGrpSpPr>
          <p:grpSpPr>
            <a:xfrm>
              <a:off x="4932037" y="5845778"/>
              <a:ext cx="582469" cy="580295"/>
              <a:chOff x="2730651" y="6656933"/>
              <a:chExt cx="1421161" cy="972000"/>
            </a:xfrm>
          </p:grpSpPr>
          <p:sp>
            <p:nvSpPr>
              <p:cNvPr id="854" name="Google Shape;854;p15"/>
              <p:cNvSpPr/>
              <p:nvPr/>
            </p:nvSpPr>
            <p:spPr>
              <a:xfrm>
                <a:off x="2730651" y="6656933"/>
                <a:ext cx="1421161" cy="972000"/>
              </a:xfrm>
              <a:prstGeom prst="rect">
                <a:avLst/>
              </a:prstGeom>
              <a:solidFill>
                <a:srgbClr val="F2F2F2"/>
              </a:solidFill>
              <a:ln cap="flat" cmpd="sng" w="19050">
                <a:solidFill>
                  <a:srgbClr val="99999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180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DB</a:t>
                </a:r>
                <a:endParaRPr/>
              </a:p>
            </p:txBody>
          </p:sp>
          <p:sp>
            <p:nvSpPr>
              <p:cNvPr id="855" name="Google Shape;855;p15"/>
              <p:cNvSpPr/>
              <p:nvPr/>
            </p:nvSpPr>
            <p:spPr>
              <a:xfrm>
                <a:off x="2856651" y="7002883"/>
                <a:ext cx="1187871" cy="491165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4D4D4D"/>
                </a:solidFill>
                <a:prstDash val="dot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53850" lIns="72000" spcFirstLastPara="1" rIns="72000" wrap="square" tIns="538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                </a:t>
                </a:r>
                <a:endParaRPr/>
              </a:p>
            </p:txBody>
          </p:sp>
        </p:grpSp>
        <p:grpSp>
          <p:nvGrpSpPr>
            <p:cNvPr id="856" name="Google Shape;856;p15"/>
            <p:cNvGrpSpPr/>
            <p:nvPr/>
          </p:nvGrpSpPr>
          <p:grpSpPr>
            <a:xfrm>
              <a:off x="5006431" y="6060609"/>
              <a:ext cx="431979" cy="287798"/>
              <a:chOff x="4702201" y="5281971"/>
              <a:chExt cx="184574" cy="378362"/>
            </a:xfrm>
          </p:grpSpPr>
          <p:pic>
            <p:nvPicPr>
              <p:cNvPr descr="Picture37" id="857" name="Google Shape;857;p1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4702201" y="5281971"/>
                <a:ext cx="135496" cy="37836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58" name="Google Shape;858;p15"/>
              <p:cNvSpPr/>
              <p:nvPr/>
            </p:nvSpPr>
            <p:spPr>
              <a:xfrm>
                <a:off x="4804168" y="5463823"/>
                <a:ext cx="82607" cy="168692"/>
              </a:xfrm>
              <a:prstGeom prst="can">
                <a:avLst>
                  <a:gd fmla="val 41176" name="adj"/>
                </a:avLst>
              </a:prstGeom>
              <a:solidFill>
                <a:srgbClr val="EAEAEA"/>
              </a:solidFill>
              <a:ln cap="flat" cmpd="sng" w="9525">
                <a:solidFill>
                  <a:srgbClr val="9696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59" name="Google Shape;859;p15"/>
            <p:cNvSpPr txBox="1"/>
            <p:nvPr/>
          </p:nvSpPr>
          <p:spPr>
            <a:xfrm>
              <a:off x="4187086" y="5792640"/>
              <a:ext cx="741711" cy="2875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875" lIns="37700" spcFirstLastPara="1" rIns="37700" wrap="square" tIns="478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lang="en-US" sz="1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SOLDB</a:t>
              </a:r>
              <a:endParaRPr/>
            </a:p>
          </p:txBody>
        </p:sp>
        <p:grpSp>
          <p:nvGrpSpPr>
            <p:cNvPr id="860" name="Google Shape;860;p15"/>
            <p:cNvGrpSpPr/>
            <p:nvPr/>
          </p:nvGrpSpPr>
          <p:grpSpPr>
            <a:xfrm>
              <a:off x="8233448" y="4971427"/>
              <a:ext cx="577364" cy="580295"/>
              <a:chOff x="4333182" y="1909364"/>
              <a:chExt cx="533124" cy="580028"/>
            </a:xfrm>
          </p:grpSpPr>
          <p:grpSp>
            <p:nvGrpSpPr>
              <p:cNvPr id="861" name="Google Shape;861;p15"/>
              <p:cNvGrpSpPr/>
              <p:nvPr/>
            </p:nvGrpSpPr>
            <p:grpSpPr>
              <a:xfrm>
                <a:off x="4333182" y="1909364"/>
                <a:ext cx="533124" cy="580028"/>
                <a:chOff x="3909589" y="5192384"/>
                <a:chExt cx="1408712" cy="972000"/>
              </a:xfrm>
            </p:grpSpPr>
            <p:sp>
              <p:nvSpPr>
                <p:cNvPr id="862" name="Google Shape;862;p15"/>
                <p:cNvSpPr/>
                <p:nvPr/>
              </p:nvSpPr>
              <p:spPr>
                <a:xfrm>
                  <a:off x="3909589" y="5192384"/>
                  <a:ext cx="1408712" cy="972000"/>
                </a:xfrm>
                <a:prstGeom prst="rect">
                  <a:avLst/>
                </a:prstGeom>
                <a:solidFill>
                  <a:srgbClr val="F2F2F2"/>
                </a:solidFill>
                <a:ln cap="flat" cmpd="sng" w="19050">
                  <a:solidFill>
                    <a:srgbClr val="999999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180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0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COWAS</a:t>
                  </a:r>
                  <a:endParaRPr/>
                </a:p>
              </p:txBody>
            </p:sp>
            <p:sp>
              <p:nvSpPr>
                <p:cNvPr id="863" name="Google Shape;863;p15"/>
                <p:cNvSpPr/>
                <p:nvPr/>
              </p:nvSpPr>
              <p:spPr>
                <a:xfrm>
                  <a:off x="4035589" y="5538338"/>
                  <a:ext cx="1194174" cy="491164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4D4D4D"/>
                  </a:solidFill>
                  <a:prstDash val="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53850" lIns="72000" spcFirstLastPara="1" rIns="72000" wrap="square" tIns="5385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                 </a:t>
                  </a:r>
                  <a:endParaRPr/>
                </a:p>
              </p:txBody>
            </p:sp>
          </p:grpSp>
          <p:pic>
            <p:nvPicPr>
              <p:cNvPr descr="Picture37" id="864" name="Google Shape;864;p1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4498062" y="2113096"/>
                <a:ext cx="232177" cy="28766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865" name="Google Shape;865;p15"/>
            <p:cNvSpPr txBox="1"/>
            <p:nvPr/>
          </p:nvSpPr>
          <p:spPr>
            <a:xfrm>
              <a:off x="8544816" y="4635882"/>
              <a:ext cx="741711" cy="2875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875" lIns="37700" spcFirstLastPara="1" rIns="37700" wrap="square" tIns="478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21218A"/>
                </a:buClr>
                <a:buSzPts val="1000"/>
                <a:buFont typeface="Arial"/>
                <a:buNone/>
              </a:pPr>
              <a:r>
                <a:rPr b="1" lang="en-US" sz="1000">
                  <a:solidFill>
                    <a:srgbClr val="21218A"/>
                  </a:solidFill>
                  <a:latin typeface="Arial"/>
                  <a:ea typeface="Arial"/>
                  <a:cs typeface="Arial"/>
                  <a:sym typeface="Arial"/>
                </a:rPr>
                <a:t>기간계</a:t>
              </a:r>
              <a:endParaRPr b="1" sz="1000">
                <a:solidFill>
                  <a:srgbClr val="21218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66" name="Google Shape;866;p15"/>
            <p:cNvGrpSpPr/>
            <p:nvPr/>
          </p:nvGrpSpPr>
          <p:grpSpPr>
            <a:xfrm>
              <a:off x="7492822" y="4176426"/>
              <a:ext cx="486802" cy="580295"/>
              <a:chOff x="5145999" y="4245287"/>
              <a:chExt cx="486881" cy="580162"/>
            </a:xfrm>
          </p:grpSpPr>
          <p:grpSp>
            <p:nvGrpSpPr>
              <p:cNvPr id="867" name="Google Shape;867;p15"/>
              <p:cNvGrpSpPr/>
              <p:nvPr/>
            </p:nvGrpSpPr>
            <p:grpSpPr>
              <a:xfrm>
                <a:off x="5145999" y="4245287"/>
                <a:ext cx="398442" cy="580162"/>
                <a:chOff x="2730651" y="6656933"/>
                <a:chExt cx="972000" cy="972000"/>
              </a:xfrm>
            </p:grpSpPr>
            <p:sp>
              <p:nvSpPr>
                <p:cNvPr id="868" name="Google Shape;868;p15"/>
                <p:cNvSpPr/>
                <p:nvPr/>
              </p:nvSpPr>
              <p:spPr>
                <a:xfrm>
                  <a:off x="2730651" y="6656933"/>
                  <a:ext cx="972000" cy="972000"/>
                </a:xfrm>
                <a:prstGeom prst="rect">
                  <a:avLst/>
                </a:prstGeom>
                <a:solidFill>
                  <a:srgbClr val="D1D1F4"/>
                </a:solidFill>
                <a:ln cap="flat" cmpd="sng" w="19050">
                  <a:solidFill>
                    <a:srgbClr val="999999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180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000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EAI</a:t>
                  </a:r>
                  <a:endParaRPr/>
                </a:p>
              </p:txBody>
            </p:sp>
            <p:sp>
              <p:nvSpPr>
                <p:cNvPr id="869" name="Google Shape;869;p15"/>
                <p:cNvSpPr/>
                <p:nvPr/>
              </p:nvSpPr>
              <p:spPr>
                <a:xfrm>
                  <a:off x="2856651" y="7002884"/>
                  <a:ext cx="720000" cy="491165"/>
                </a:xfrm>
                <a:prstGeom prst="rect">
                  <a:avLst/>
                </a:prstGeom>
                <a:solidFill>
                  <a:srgbClr val="D1D1F4"/>
                </a:solidFill>
                <a:ln cap="flat" cmpd="sng" w="9525">
                  <a:solidFill>
                    <a:srgbClr val="4D4D4D"/>
                  </a:solidFill>
                  <a:prstDash val="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53850" lIns="72000" spcFirstLastPara="1" rIns="72000" wrap="square" tIns="5385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                 </a:t>
                  </a:r>
                  <a:endParaRPr/>
                </a:p>
              </p:txBody>
            </p:sp>
            <p:pic>
              <p:nvPicPr>
                <p:cNvPr descr="Picture37" id="870" name="Google Shape;870;p15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3037636" y="7027112"/>
                  <a:ext cx="358030" cy="43389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871" name="Google Shape;871;p1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5419554" y="4609425"/>
                <a:ext cx="213326" cy="2133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872" name="Google Shape;872;p15"/>
            <p:cNvCxnSpPr/>
            <p:nvPr/>
          </p:nvCxnSpPr>
          <p:spPr>
            <a:xfrm flipH="1">
              <a:off x="3622226" y="1167575"/>
              <a:ext cx="39109" cy="5324071"/>
            </a:xfrm>
            <a:prstGeom prst="straightConnector1">
              <a:avLst/>
            </a:prstGeom>
            <a:noFill/>
            <a:ln cap="flat" cmpd="sng" w="28575">
              <a:solidFill>
                <a:srgbClr val="21218A"/>
              </a:solidFill>
              <a:prstDash val="dash"/>
              <a:round/>
              <a:headEnd len="sm" w="sm" type="none"/>
              <a:tailEnd len="sm" w="sm" type="none"/>
            </a:ln>
          </p:spPr>
        </p:cxnSp>
        <p:grpSp>
          <p:nvGrpSpPr>
            <p:cNvPr id="873" name="Google Shape;873;p15"/>
            <p:cNvGrpSpPr/>
            <p:nvPr/>
          </p:nvGrpSpPr>
          <p:grpSpPr>
            <a:xfrm>
              <a:off x="5509718" y="6222922"/>
              <a:ext cx="391185" cy="276604"/>
              <a:chOff x="4605802" y="3567864"/>
              <a:chExt cx="391248" cy="276540"/>
            </a:xfrm>
          </p:grpSpPr>
          <p:pic>
            <p:nvPicPr>
              <p:cNvPr id="874" name="Google Shape;874;p15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4605802" y="3567864"/>
                <a:ext cx="391248" cy="27654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75" name="Google Shape;875;p15"/>
              <p:cNvSpPr txBox="1"/>
              <p:nvPr/>
            </p:nvSpPr>
            <p:spPr>
              <a:xfrm>
                <a:off x="4645588" y="3663554"/>
                <a:ext cx="287954" cy="1136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Arial"/>
                  <a:buNone/>
                </a:pPr>
                <a:r>
                  <a:rPr b="1" lang="en-US" sz="6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SAN</a:t>
                </a:r>
                <a:endParaRPr/>
              </a:p>
            </p:txBody>
          </p:sp>
        </p:grpSp>
        <p:cxnSp>
          <p:nvCxnSpPr>
            <p:cNvPr id="876" name="Google Shape;876;p15"/>
            <p:cNvCxnSpPr>
              <a:stCxn id="854" idx="3"/>
              <a:endCxn id="874" idx="0"/>
            </p:cNvCxnSpPr>
            <p:nvPr/>
          </p:nvCxnSpPr>
          <p:spPr>
            <a:xfrm>
              <a:off x="5514506" y="6135926"/>
              <a:ext cx="190800" cy="87000"/>
            </a:xfrm>
            <a:prstGeom prst="bentConnector2">
              <a:avLst/>
            </a:prstGeom>
            <a:noFill/>
            <a:ln cap="flat" cmpd="sng" w="9525">
              <a:solidFill>
                <a:srgbClr val="21218A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pic>
          <p:nvPicPr>
            <p:cNvPr descr="Picture11" id="877" name="Google Shape;877;p1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553341" y="1091876"/>
              <a:ext cx="240397" cy="2578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8" name="Google Shape;878;p15"/>
            <p:cNvSpPr/>
            <p:nvPr/>
          </p:nvSpPr>
          <p:spPr>
            <a:xfrm>
              <a:off x="1173066" y="1741790"/>
              <a:ext cx="91650" cy="1122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79" name="Google Shape;879;p1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249143" y="3773651"/>
              <a:ext cx="216477" cy="162601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80" name="Google Shape;880;p15"/>
            <p:cNvCxnSpPr>
              <a:stCxn id="868" idx="0"/>
              <a:endCxn id="879" idx="2"/>
            </p:cNvCxnSpPr>
            <p:nvPr/>
          </p:nvCxnSpPr>
          <p:spPr>
            <a:xfrm rot="10800000">
              <a:off x="6357311" y="3936126"/>
              <a:ext cx="1334700" cy="240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dash"/>
              <a:round/>
              <a:headEnd len="med" w="med" type="oval"/>
              <a:tailEnd len="med" w="med" type="oval"/>
            </a:ln>
          </p:spPr>
        </p:cxnSp>
        <p:sp>
          <p:nvSpPr>
            <p:cNvPr id="881" name="Google Shape;881;p15"/>
            <p:cNvSpPr/>
            <p:nvPr/>
          </p:nvSpPr>
          <p:spPr>
            <a:xfrm>
              <a:off x="2726289" y="2591790"/>
              <a:ext cx="104166" cy="457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15"/>
            <p:cNvSpPr/>
            <p:nvPr/>
          </p:nvSpPr>
          <p:spPr>
            <a:xfrm>
              <a:off x="1307430" y="2596188"/>
              <a:ext cx="104166" cy="457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15"/>
            <p:cNvSpPr/>
            <p:nvPr/>
          </p:nvSpPr>
          <p:spPr>
            <a:xfrm>
              <a:off x="5814727" y="2572349"/>
              <a:ext cx="104166" cy="457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15"/>
            <p:cNvSpPr/>
            <p:nvPr/>
          </p:nvSpPr>
          <p:spPr>
            <a:xfrm>
              <a:off x="5425143" y="5889467"/>
              <a:ext cx="91652" cy="1647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5" name="Google Shape;885;p15"/>
            <p:cNvGrpSpPr/>
            <p:nvPr/>
          </p:nvGrpSpPr>
          <p:grpSpPr>
            <a:xfrm>
              <a:off x="2935898" y="3121351"/>
              <a:ext cx="574851" cy="580295"/>
              <a:chOff x="-9007" y="6656933"/>
              <a:chExt cx="971997" cy="972000"/>
            </a:xfrm>
          </p:grpSpPr>
          <p:sp>
            <p:nvSpPr>
              <p:cNvPr id="886" name="Google Shape;886;p15"/>
              <p:cNvSpPr/>
              <p:nvPr/>
            </p:nvSpPr>
            <p:spPr>
              <a:xfrm>
                <a:off x="-9007" y="6656933"/>
                <a:ext cx="971997" cy="972000"/>
              </a:xfrm>
              <a:prstGeom prst="rect">
                <a:avLst/>
              </a:prstGeom>
              <a:solidFill>
                <a:srgbClr val="F2F2F2"/>
              </a:solidFill>
              <a:ln cap="flat" cmpd="sng" w="19050">
                <a:solidFill>
                  <a:srgbClr val="99999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180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WAS</a:t>
                </a:r>
                <a:endParaRPr/>
              </a:p>
            </p:txBody>
          </p:sp>
          <p:sp>
            <p:nvSpPr>
              <p:cNvPr id="887" name="Google Shape;887;p15"/>
              <p:cNvSpPr/>
              <p:nvPr/>
            </p:nvSpPr>
            <p:spPr>
              <a:xfrm>
                <a:off x="116976" y="7002883"/>
                <a:ext cx="720003" cy="491166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4D4D4D"/>
                </a:solidFill>
                <a:prstDash val="dot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53850" lIns="72000" spcFirstLastPara="1" rIns="72000" wrap="square" tIns="538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                </a:t>
                </a:r>
                <a:endParaRPr/>
              </a:p>
            </p:txBody>
          </p:sp>
          <p:pic>
            <p:nvPicPr>
              <p:cNvPr descr="Picture37" id="888" name="Google Shape;888;p1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97959" y="7027110"/>
                <a:ext cx="358031" cy="4338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889" name="Google Shape;889;p15"/>
            <p:cNvSpPr txBox="1"/>
            <p:nvPr/>
          </p:nvSpPr>
          <p:spPr>
            <a:xfrm>
              <a:off x="7420814" y="3856622"/>
              <a:ext cx="298737" cy="2454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7700" lIns="37700" spcFirstLastPara="1" rIns="37700" wrap="square" tIns="37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800">
                  <a:solidFill>
                    <a:srgbClr val="3366FF"/>
                  </a:solidFill>
                  <a:latin typeface="Arial"/>
                  <a:ea typeface="Arial"/>
                  <a:cs typeface="Arial"/>
                  <a:sym typeface="Arial"/>
                </a:rPr>
                <a:t>Http</a:t>
              </a:r>
              <a:endParaRPr b="1" i="1" sz="800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90" name="Google Shape;890;p15"/>
            <p:cNvCxnSpPr>
              <a:stCxn id="862" idx="0"/>
              <a:endCxn id="868" idx="2"/>
            </p:cNvCxnSpPr>
            <p:nvPr/>
          </p:nvCxnSpPr>
          <p:spPr>
            <a:xfrm flipH="1" rot="5400000">
              <a:off x="7999680" y="4448977"/>
              <a:ext cx="214800" cy="830100"/>
            </a:xfrm>
            <a:prstGeom prst="curvedConnector3">
              <a:avLst>
                <a:gd fmla="val 89094" name="adj1"/>
              </a:avLst>
            </a:prstGeom>
            <a:noFill/>
            <a:ln cap="flat" cmpd="sng" w="19050">
              <a:solidFill>
                <a:srgbClr val="666666"/>
              </a:solidFill>
              <a:prstDash val="dash"/>
              <a:round/>
              <a:headEnd len="med" w="med" type="oval"/>
              <a:tailEnd len="med" w="med" type="oval"/>
            </a:ln>
          </p:spPr>
        </p:cxnSp>
        <p:cxnSp>
          <p:nvCxnSpPr>
            <p:cNvPr id="891" name="Google Shape;891;p15"/>
            <p:cNvCxnSpPr>
              <a:stCxn id="879" idx="0"/>
              <a:endCxn id="892" idx="2"/>
            </p:cNvCxnSpPr>
            <p:nvPr/>
          </p:nvCxnSpPr>
          <p:spPr>
            <a:xfrm flipH="1" rot="5400000">
              <a:off x="5694982" y="3111251"/>
              <a:ext cx="114300" cy="1210500"/>
            </a:xfrm>
            <a:prstGeom prst="curvedConnector3">
              <a:avLst>
                <a:gd fmla="val 271392" name="adj1"/>
              </a:avLst>
            </a:prstGeom>
            <a:noFill/>
            <a:ln cap="flat" cmpd="sng" w="19050">
              <a:solidFill>
                <a:srgbClr val="666666"/>
              </a:solidFill>
              <a:prstDash val="dash"/>
              <a:round/>
              <a:headEnd len="med" w="med" type="oval"/>
              <a:tailEnd len="med" w="med" type="oval"/>
            </a:ln>
          </p:spPr>
        </p:cxnSp>
        <p:grpSp>
          <p:nvGrpSpPr>
            <p:cNvPr id="893" name="Google Shape;893;p15"/>
            <p:cNvGrpSpPr/>
            <p:nvPr/>
          </p:nvGrpSpPr>
          <p:grpSpPr>
            <a:xfrm>
              <a:off x="775744" y="1540957"/>
              <a:ext cx="893442" cy="264980"/>
              <a:chOff x="4866252" y="2027544"/>
              <a:chExt cx="824980" cy="264858"/>
            </a:xfrm>
          </p:grpSpPr>
          <p:pic>
            <p:nvPicPr>
              <p:cNvPr id="894" name="Google Shape;894;p1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rot="5400000">
                <a:off x="5146313" y="1747483"/>
                <a:ext cx="264858" cy="82498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pic>
          <p:sp>
            <p:nvSpPr>
              <p:cNvPr id="895" name="Google Shape;895;p15"/>
              <p:cNvSpPr txBox="1"/>
              <p:nvPr/>
            </p:nvSpPr>
            <p:spPr>
              <a:xfrm>
                <a:off x="4996762" y="2078588"/>
                <a:ext cx="531692" cy="1894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인터넷</a:t>
                </a:r>
                <a:endParaRPr/>
              </a:p>
            </p:txBody>
          </p:sp>
        </p:grpSp>
        <p:pic>
          <p:nvPicPr>
            <p:cNvPr id="896" name="Google Shape;896;p1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414595" y="1565824"/>
              <a:ext cx="218585" cy="218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7" name="Google Shape;897;p15"/>
            <p:cNvSpPr txBox="1"/>
            <p:nvPr/>
          </p:nvSpPr>
          <p:spPr>
            <a:xfrm>
              <a:off x="5056694" y="5566049"/>
              <a:ext cx="329201" cy="2286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7700" lIns="37700" spcFirstLastPara="1" rIns="37700" wrap="square" tIns="37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800">
                  <a:solidFill>
                    <a:srgbClr val="3366FF"/>
                  </a:solidFill>
                  <a:latin typeface="Arial"/>
                  <a:ea typeface="Arial"/>
                  <a:cs typeface="Arial"/>
                  <a:sym typeface="Arial"/>
                </a:rPr>
                <a:t>JDBC</a:t>
              </a:r>
              <a:endParaRPr b="1" i="1" sz="800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98" name="Google Shape;898;p15"/>
            <p:cNvGrpSpPr/>
            <p:nvPr/>
          </p:nvGrpSpPr>
          <p:grpSpPr>
            <a:xfrm>
              <a:off x="1962106" y="1544634"/>
              <a:ext cx="893442" cy="264980"/>
              <a:chOff x="2738908" y="2012014"/>
              <a:chExt cx="824980" cy="264858"/>
            </a:xfrm>
          </p:grpSpPr>
          <p:pic>
            <p:nvPicPr>
              <p:cNvPr id="899" name="Google Shape;899;p1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rot="5400000">
                <a:off x="3018969" y="1731953"/>
                <a:ext cx="264858" cy="82498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pic>
          <p:sp>
            <p:nvSpPr>
              <p:cNvPr id="900" name="Google Shape;900;p15"/>
              <p:cNvSpPr txBox="1"/>
              <p:nvPr/>
            </p:nvSpPr>
            <p:spPr>
              <a:xfrm>
                <a:off x="2869418" y="2063058"/>
                <a:ext cx="531692" cy="1894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DMZ</a:t>
                </a:r>
                <a:endParaRPr b="1" sz="1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01" name="Google Shape;901;p15"/>
            <p:cNvGrpSpPr/>
            <p:nvPr/>
          </p:nvGrpSpPr>
          <p:grpSpPr>
            <a:xfrm>
              <a:off x="2113602" y="2074263"/>
              <a:ext cx="537624" cy="580295"/>
              <a:chOff x="3613027" y="6656933"/>
              <a:chExt cx="972000" cy="972000"/>
            </a:xfrm>
          </p:grpSpPr>
          <p:sp>
            <p:nvSpPr>
              <p:cNvPr id="902" name="Google Shape;902;p15"/>
              <p:cNvSpPr/>
              <p:nvPr/>
            </p:nvSpPr>
            <p:spPr>
              <a:xfrm>
                <a:off x="3613027" y="6656933"/>
                <a:ext cx="972000" cy="972000"/>
              </a:xfrm>
              <a:prstGeom prst="rect">
                <a:avLst/>
              </a:prstGeom>
              <a:solidFill>
                <a:srgbClr val="F2F2F2"/>
              </a:solidFill>
              <a:ln cap="flat" cmpd="sng" w="19050">
                <a:solidFill>
                  <a:srgbClr val="99999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180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Web</a:t>
                </a:r>
                <a:endParaRPr/>
              </a:p>
            </p:txBody>
          </p:sp>
          <p:sp>
            <p:nvSpPr>
              <p:cNvPr id="903" name="Google Shape;903;p15"/>
              <p:cNvSpPr/>
              <p:nvPr/>
            </p:nvSpPr>
            <p:spPr>
              <a:xfrm>
                <a:off x="3739027" y="7002883"/>
                <a:ext cx="720001" cy="49116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4D4D4D"/>
                </a:solidFill>
                <a:prstDash val="dot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53850" lIns="72000" spcFirstLastPara="1" rIns="72000" wrap="square" tIns="538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                </a:t>
                </a:r>
                <a:endParaRPr/>
              </a:p>
            </p:txBody>
          </p:sp>
        </p:grpSp>
        <p:grpSp>
          <p:nvGrpSpPr>
            <p:cNvPr id="904" name="Google Shape;904;p15"/>
            <p:cNvGrpSpPr/>
            <p:nvPr/>
          </p:nvGrpSpPr>
          <p:grpSpPr>
            <a:xfrm>
              <a:off x="1836486" y="934113"/>
              <a:ext cx="1109220" cy="397361"/>
              <a:chOff x="1264923" y="854311"/>
              <a:chExt cx="931643" cy="397178"/>
            </a:xfrm>
          </p:grpSpPr>
          <p:sp>
            <p:nvSpPr>
              <p:cNvPr id="905" name="Google Shape;905;p15"/>
              <p:cNvSpPr/>
              <p:nvPr/>
            </p:nvSpPr>
            <p:spPr>
              <a:xfrm>
                <a:off x="1296566" y="854311"/>
                <a:ext cx="900000" cy="397178"/>
              </a:xfrm>
              <a:prstGeom prst="roundRect">
                <a:avLst>
                  <a:gd fmla="val 31676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0" spcFirstLastPara="1" rIns="108000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GA</a:t>
                </a:r>
                <a:endParaRPr/>
              </a:p>
            </p:txBody>
          </p:sp>
          <p:pic>
            <p:nvPicPr>
              <p:cNvPr descr="Picture1" id="906" name="Google Shape;906;p15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1264923" y="924156"/>
                <a:ext cx="134947" cy="288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907" name="Google Shape;907;p15"/>
            <p:cNvCxnSpPr>
              <a:stCxn id="905" idx="2"/>
              <a:endCxn id="899" idx="1"/>
            </p:cNvCxnSpPr>
            <p:nvPr/>
          </p:nvCxnSpPr>
          <p:spPr>
            <a:xfrm flipH="1">
              <a:off x="2408733" y="1331474"/>
              <a:ext cx="1200" cy="213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pic>
          <p:nvPicPr>
            <p:cNvPr descr="Picture48" id="908" name="Google Shape;908;p1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216580" y="2290706"/>
              <a:ext cx="336253" cy="273422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09" name="Google Shape;909;p15"/>
            <p:cNvCxnSpPr>
              <a:stCxn id="910" idx="2"/>
              <a:endCxn id="902" idx="0"/>
            </p:cNvCxnSpPr>
            <p:nvPr/>
          </p:nvCxnSpPr>
          <p:spPr>
            <a:xfrm flipH="1">
              <a:off x="2382487" y="1989631"/>
              <a:ext cx="7500" cy="84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911" name="Google Shape;911;p15"/>
            <p:cNvSpPr/>
            <p:nvPr/>
          </p:nvSpPr>
          <p:spPr>
            <a:xfrm>
              <a:off x="2517565" y="2554168"/>
              <a:ext cx="104166" cy="457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10" name="Google Shape;910;p1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281748" y="1827030"/>
              <a:ext cx="216477" cy="1626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2" name="Google Shape;912;p15"/>
            <p:cNvSpPr txBox="1"/>
            <p:nvPr/>
          </p:nvSpPr>
          <p:spPr>
            <a:xfrm>
              <a:off x="2664478" y="1315773"/>
              <a:ext cx="603378" cy="2454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7700" lIns="37700" spcFirstLastPara="1" rIns="37700" wrap="square" tIns="37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800">
                  <a:solidFill>
                    <a:srgbClr val="3366FF"/>
                  </a:solidFill>
                  <a:latin typeface="Arial"/>
                  <a:ea typeface="Arial"/>
                  <a:cs typeface="Arial"/>
                  <a:sym typeface="Arial"/>
                </a:rPr>
                <a:t>Http/Https</a:t>
              </a:r>
              <a:endParaRPr b="1" i="1" sz="800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13" name="Google Shape;913;p15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2100152" y="2103340"/>
              <a:ext cx="155025" cy="1550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4" name="Google Shape;914;p15"/>
            <p:cNvSpPr txBox="1"/>
            <p:nvPr/>
          </p:nvSpPr>
          <p:spPr>
            <a:xfrm>
              <a:off x="2227139" y="2776503"/>
              <a:ext cx="298737" cy="2454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7700" lIns="37700" spcFirstLastPara="1" rIns="37700" wrap="square" tIns="37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800">
                  <a:solidFill>
                    <a:srgbClr val="3366FF"/>
                  </a:solidFill>
                  <a:latin typeface="Arial"/>
                  <a:ea typeface="Arial"/>
                  <a:cs typeface="Arial"/>
                  <a:sym typeface="Arial"/>
                </a:rPr>
                <a:t>Http</a:t>
              </a:r>
              <a:endParaRPr b="1" i="1" sz="800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15"/>
            <p:cNvSpPr/>
            <p:nvPr/>
          </p:nvSpPr>
          <p:spPr>
            <a:xfrm>
              <a:off x="2173561" y="2662088"/>
              <a:ext cx="179024" cy="83469"/>
            </a:xfrm>
            <a:prstGeom prst="ellipse">
              <a:avLst/>
            </a:prstGeom>
            <a:noFill/>
            <a:ln cap="flat" cmpd="sng" w="9525">
              <a:solidFill>
                <a:srgbClr val="00946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6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LB</a:t>
              </a:r>
              <a:endParaRPr b="1" sz="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16" name="Google Shape;916;p15"/>
            <p:cNvCxnSpPr>
              <a:stCxn id="902" idx="2"/>
              <a:endCxn id="886" idx="0"/>
            </p:cNvCxnSpPr>
            <p:nvPr/>
          </p:nvCxnSpPr>
          <p:spPr>
            <a:xfrm flipH="1" rot="-5400000">
              <a:off x="2569464" y="2467508"/>
              <a:ext cx="466800" cy="840900"/>
            </a:xfrm>
            <a:prstGeom prst="curvedConnector3">
              <a:avLst>
                <a:gd fmla="val -30411" name="adj1"/>
              </a:avLst>
            </a:prstGeom>
            <a:noFill/>
            <a:ln cap="flat" cmpd="sng" w="1905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17" name="Google Shape;917;p15"/>
            <p:cNvCxnSpPr>
              <a:stCxn id="886" idx="1"/>
            </p:cNvCxnSpPr>
            <p:nvPr/>
          </p:nvCxnSpPr>
          <p:spPr>
            <a:xfrm flipH="1">
              <a:off x="1990598" y="3411499"/>
              <a:ext cx="945300" cy="1454700"/>
            </a:xfrm>
            <a:prstGeom prst="curvedConnector2">
              <a:avLst/>
            </a:prstGeom>
            <a:noFill/>
            <a:ln cap="flat" cmpd="sng" w="19050">
              <a:solidFill>
                <a:srgbClr val="7F7F7F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918" name="Google Shape;918;p15"/>
            <p:cNvSpPr/>
            <p:nvPr/>
          </p:nvSpPr>
          <p:spPr>
            <a:xfrm>
              <a:off x="814573" y="4927921"/>
              <a:ext cx="2329586" cy="644972"/>
            </a:xfrm>
            <a:prstGeom prst="rect">
              <a:avLst/>
            </a:prstGeom>
            <a:solidFill>
              <a:srgbClr val="F2F2F2"/>
            </a:solidFill>
            <a:ln cap="flat" cmpd="sng" w="19050">
              <a:solidFill>
                <a:srgbClr val="99999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18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(장기,일반,자동차,마케팅,보상,손사,소송,구상,출납,공통 외)</a:t>
              </a:r>
              <a:endParaRPr/>
            </a:p>
          </p:txBody>
        </p:sp>
        <p:sp>
          <p:nvSpPr>
            <p:cNvPr id="919" name="Google Shape;919;p15"/>
            <p:cNvSpPr/>
            <p:nvPr/>
          </p:nvSpPr>
          <p:spPr>
            <a:xfrm>
              <a:off x="933556" y="5278945"/>
              <a:ext cx="430700" cy="249587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4D4D4D"/>
              </a:solidFill>
              <a:prstDash val="dot"/>
              <a:miter lim="8000"/>
              <a:headEnd len="sm" w="sm" type="none"/>
              <a:tailEnd len="sm" w="sm" type="none"/>
            </a:ln>
          </p:spPr>
          <p:txBody>
            <a:bodyPr anchorCtr="0" anchor="ctr" bIns="53850" lIns="72000" spcFirstLastPara="1" rIns="72000" wrap="square" tIns="53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             </a:t>
              </a:r>
              <a:endParaRPr/>
            </a:p>
          </p:txBody>
        </p:sp>
        <p:pic>
          <p:nvPicPr>
            <p:cNvPr descr="Picture37" id="920" name="Google Shape;920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42148" y="5303349"/>
              <a:ext cx="261734" cy="206544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21" name="Google Shape;921;p15"/>
            <p:cNvCxnSpPr>
              <a:stCxn id="886" idx="1"/>
              <a:endCxn id="918" idx="0"/>
            </p:cNvCxnSpPr>
            <p:nvPr/>
          </p:nvCxnSpPr>
          <p:spPr>
            <a:xfrm flipH="1">
              <a:off x="1979498" y="3411499"/>
              <a:ext cx="956400" cy="1516500"/>
            </a:xfrm>
            <a:prstGeom prst="curvedConnector2">
              <a:avLst/>
            </a:prstGeom>
            <a:noFill/>
            <a:ln cap="flat" cmpd="sng" w="19050">
              <a:solidFill>
                <a:srgbClr val="7F7F7F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grpSp>
          <p:nvGrpSpPr>
            <p:cNvPr id="922" name="Google Shape;922;p15"/>
            <p:cNvGrpSpPr/>
            <p:nvPr/>
          </p:nvGrpSpPr>
          <p:grpSpPr>
            <a:xfrm>
              <a:off x="3702128" y="3594158"/>
              <a:ext cx="391186" cy="276604"/>
              <a:chOff x="1802198" y="4048654"/>
              <a:chExt cx="391248" cy="276540"/>
            </a:xfrm>
          </p:grpSpPr>
          <p:pic>
            <p:nvPicPr>
              <p:cNvPr id="923" name="Google Shape;923;p15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1802198" y="4048654"/>
                <a:ext cx="391248" cy="27654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24" name="Google Shape;924;p15"/>
              <p:cNvSpPr txBox="1"/>
              <p:nvPr/>
            </p:nvSpPr>
            <p:spPr>
              <a:xfrm>
                <a:off x="1865733" y="4152887"/>
                <a:ext cx="287954" cy="1136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Arial"/>
                  <a:buNone/>
                </a:pPr>
                <a:r>
                  <a:rPr b="1" lang="en-US" sz="6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NAS</a:t>
                </a:r>
                <a:endParaRPr/>
              </a:p>
            </p:txBody>
          </p:sp>
        </p:grpSp>
        <p:cxnSp>
          <p:nvCxnSpPr>
            <p:cNvPr id="925" name="Google Shape;925;p15"/>
            <p:cNvCxnSpPr>
              <a:stCxn id="887" idx="3"/>
              <a:endCxn id="923" idx="0"/>
            </p:cNvCxnSpPr>
            <p:nvPr/>
          </p:nvCxnSpPr>
          <p:spPr>
            <a:xfrm>
              <a:off x="3436225" y="3474503"/>
              <a:ext cx="461400" cy="119700"/>
            </a:xfrm>
            <a:prstGeom prst="bentConnector2">
              <a:avLst/>
            </a:prstGeom>
            <a:noFill/>
            <a:ln cap="flat" cmpd="sng" w="1905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26" name="Google Shape;926;p15"/>
            <p:cNvCxnSpPr>
              <a:stCxn id="927" idx="2"/>
              <a:endCxn id="862" idx="0"/>
            </p:cNvCxnSpPr>
            <p:nvPr/>
          </p:nvCxnSpPr>
          <p:spPr>
            <a:xfrm rot="5400000">
              <a:off x="7464512" y="3653336"/>
              <a:ext cx="2375700" cy="260700"/>
            </a:xfrm>
            <a:prstGeom prst="curvedConnector3">
              <a:avLst>
                <a:gd fmla="val 37647" name="adj1"/>
              </a:avLst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928" name="Google Shape;928;p15"/>
            <p:cNvSpPr txBox="1"/>
            <p:nvPr/>
          </p:nvSpPr>
          <p:spPr>
            <a:xfrm>
              <a:off x="5733395" y="2845754"/>
              <a:ext cx="298737" cy="2454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7700" lIns="37700" spcFirstLastPara="1" rIns="37700" wrap="square" tIns="37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800">
                  <a:solidFill>
                    <a:srgbClr val="3366FF"/>
                  </a:solidFill>
                  <a:latin typeface="Arial"/>
                  <a:ea typeface="Arial"/>
                  <a:cs typeface="Arial"/>
                  <a:sym typeface="Arial"/>
                </a:rPr>
                <a:t>Http</a:t>
              </a:r>
              <a:endParaRPr b="1" i="1" sz="800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15"/>
            <p:cNvSpPr/>
            <p:nvPr/>
          </p:nvSpPr>
          <p:spPr>
            <a:xfrm>
              <a:off x="4859492" y="3079001"/>
              <a:ext cx="574853" cy="580295"/>
            </a:xfrm>
            <a:prstGeom prst="rect">
              <a:avLst/>
            </a:prstGeom>
            <a:solidFill>
              <a:srgbClr val="F2F2F2"/>
            </a:solidFill>
            <a:ln cap="flat" cmpd="sng" w="19050">
              <a:solidFill>
                <a:srgbClr val="99999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18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WAS</a:t>
              </a:r>
              <a:endParaRPr/>
            </a:p>
          </p:txBody>
        </p:sp>
        <p:sp>
          <p:nvSpPr>
            <p:cNvPr id="929" name="Google Shape;929;p15"/>
            <p:cNvSpPr/>
            <p:nvPr/>
          </p:nvSpPr>
          <p:spPr>
            <a:xfrm>
              <a:off x="4934013" y="3285537"/>
              <a:ext cx="425818" cy="29323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4D4D4D"/>
              </a:solidFill>
              <a:prstDash val="dot"/>
              <a:miter lim="8000"/>
              <a:headEnd len="sm" w="sm" type="none"/>
              <a:tailEnd len="sm" w="sm" type="none"/>
            </a:ln>
          </p:spPr>
          <p:txBody>
            <a:bodyPr anchorCtr="0" anchor="ctr" bIns="53850" lIns="72000" spcFirstLastPara="1" rIns="72000" wrap="square" tIns="53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             </a:t>
              </a:r>
              <a:endParaRPr/>
            </a:p>
          </p:txBody>
        </p:sp>
        <p:pic>
          <p:nvPicPr>
            <p:cNvPr descr="Picture37" id="930" name="Google Shape;930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041051" y="3300002"/>
              <a:ext cx="211744" cy="259042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31" name="Google Shape;931;p15"/>
            <p:cNvCxnSpPr>
              <a:stCxn id="899" idx="3"/>
              <a:endCxn id="910" idx="0"/>
            </p:cNvCxnSpPr>
            <p:nvPr/>
          </p:nvCxnSpPr>
          <p:spPr>
            <a:xfrm flipH="1">
              <a:off x="2389927" y="1809614"/>
              <a:ext cx="18900" cy="17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932" name="Google Shape;932;p15"/>
            <p:cNvCxnSpPr>
              <a:stCxn id="933" idx="2"/>
              <a:endCxn id="854" idx="0"/>
            </p:cNvCxnSpPr>
            <p:nvPr/>
          </p:nvCxnSpPr>
          <p:spPr>
            <a:xfrm flipH="1" rot="-5400000">
              <a:off x="5016530" y="5639007"/>
              <a:ext cx="399300" cy="14400"/>
            </a:xfrm>
            <a:prstGeom prst="curvedConnector3">
              <a:avLst>
                <a:gd fmla="val 57864" name="adj1"/>
              </a:avLst>
            </a:prstGeom>
            <a:noFill/>
            <a:ln cap="flat" cmpd="sng" w="19050">
              <a:solidFill>
                <a:srgbClr val="7F7F7F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934" name="Google Shape;934;p15"/>
            <p:cNvCxnSpPr/>
            <p:nvPr/>
          </p:nvCxnSpPr>
          <p:spPr>
            <a:xfrm flipH="1">
              <a:off x="6875272" y="1162032"/>
              <a:ext cx="39109" cy="5324071"/>
            </a:xfrm>
            <a:prstGeom prst="straightConnector1">
              <a:avLst/>
            </a:prstGeom>
            <a:noFill/>
            <a:ln cap="flat" cmpd="sng" w="28575">
              <a:solidFill>
                <a:srgbClr val="21218A"/>
              </a:solidFill>
              <a:prstDash val="dash"/>
              <a:round/>
              <a:headEnd len="sm" w="sm" type="none"/>
              <a:tailEnd len="sm" w="sm" type="none"/>
            </a:ln>
          </p:spPr>
        </p:cxnSp>
        <p:pic>
          <p:nvPicPr>
            <p:cNvPr descr="Picture11" id="935" name="Google Shape;935;p1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806388" y="1086336"/>
              <a:ext cx="240397" cy="25789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36" name="Google Shape;936;p15"/>
            <p:cNvGrpSpPr/>
            <p:nvPr/>
          </p:nvGrpSpPr>
          <p:grpSpPr>
            <a:xfrm>
              <a:off x="4767187" y="1529899"/>
              <a:ext cx="893442" cy="264980"/>
              <a:chOff x="4866252" y="2027544"/>
              <a:chExt cx="824980" cy="264858"/>
            </a:xfrm>
          </p:grpSpPr>
          <p:pic>
            <p:nvPicPr>
              <p:cNvPr id="937" name="Google Shape;937;p1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rot="5400000">
                <a:off x="5146313" y="1747483"/>
                <a:ext cx="264858" cy="82498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pic>
          <p:sp>
            <p:nvSpPr>
              <p:cNvPr id="938" name="Google Shape;938;p15"/>
              <p:cNvSpPr txBox="1"/>
              <p:nvPr/>
            </p:nvSpPr>
            <p:spPr>
              <a:xfrm>
                <a:off x="4996762" y="2078588"/>
                <a:ext cx="531692" cy="1894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외부망</a:t>
                </a:r>
                <a:endParaRPr/>
              </a:p>
            </p:txBody>
          </p:sp>
        </p:grpSp>
        <p:sp>
          <p:nvSpPr>
            <p:cNvPr id="939" name="Google Shape;939;p15"/>
            <p:cNvSpPr txBox="1"/>
            <p:nvPr/>
          </p:nvSpPr>
          <p:spPr>
            <a:xfrm>
              <a:off x="3886637" y="4454633"/>
              <a:ext cx="293877" cy="2286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7700" lIns="37700" spcFirstLastPara="1" rIns="37700" wrap="square" tIns="37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800">
                  <a:solidFill>
                    <a:srgbClr val="3366FF"/>
                  </a:solidFill>
                  <a:latin typeface="Arial"/>
                  <a:ea typeface="Arial"/>
                  <a:cs typeface="Arial"/>
                  <a:sym typeface="Arial"/>
                </a:rPr>
                <a:t>Http</a:t>
              </a:r>
              <a:endParaRPr b="1" i="1" sz="800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15"/>
            <p:cNvSpPr txBox="1"/>
            <p:nvPr/>
          </p:nvSpPr>
          <p:spPr>
            <a:xfrm>
              <a:off x="2930419" y="3946884"/>
              <a:ext cx="398767" cy="2286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7700" lIns="37700" spcFirstLastPara="1" rIns="37700" wrap="square" tIns="37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800">
                  <a:solidFill>
                    <a:srgbClr val="3366FF"/>
                  </a:solidFill>
                  <a:latin typeface="Arial"/>
                  <a:ea typeface="Arial"/>
                  <a:cs typeface="Arial"/>
                  <a:sym typeface="Arial"/>
                </a:rPr>
                <a:t>Socket</a:t>
              </a:r>
              <a:endParaRPr b="1" i="1" sz="800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1" name="Google Shape;941;p15"/>
          <p:cNvSpPr/>
          <p:nvPr/>
        </p:nvSpPr>
        <p:spPr>
          <a:xfrm>
            <a:off x="4707100" y="1538210"/>
            <a:ext cx="1031694" cy="346294"/>
          </a:xfrm>
          <a:prstGeom prst="roundRect">
            <a:avLst>
              <a:gd fmla="val 31676" name="adj"/>
            </a:avLst>
          </a:prstGeom>
          <a:solidFill>
            <a:srgbClr val="FFFFF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1080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하이플래너</a:t>
            </a:r>
            <a:endParaRPr b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영업관리자</a:t>
            </a:r>
            <a:endParaRPr b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icture1" id="942" name="Google Shape;942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670827" y="1599107"/>
            <a:ext cx="154693" cy="251103"/>
          </a:xfrm>
          <a:prstGeom prst="rect">
            <a:avLst/>
          </a:prstGeom>
          <a:noFill/>
          <a:ln>
            <a:noFill/>
          </a:ln>
        </p:spPr>
      </p:pic>
      <p:sp>
        <p:nvSpPr>
          <p:cNvPr id="943" name="Google Shape;943;p15"/>
          <p:cNvSpPr txBox="1"/>
          <p:nvPr/>
        </p:nvSpPr>
        <p:spPr>
          <a:xfrm>
            <a:off x="5468026" y="1870819"/>
            <a:ext cx="580938" cy="213874"/>
          </a:xfrm>
          <a:prstGeom prst="rect">
            <a:avLst/>
          </a:prstGeom>
          <a:noFill/>
          <a:ln>
            <a:noFill/>
          </a:ln>
        </p:spPr>
        <p:txBody>
          <a:bodyPr anchorCtr="0" anchor="t" bIns="37700" lIns="37700" spcFirstLastPara="1" rIns="37700" wrap="square" tIns="37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800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Http/Https</a:t>
            </a:r>
            <a:endParaRPr b="1" i="1" sz="800">
              <a:solidFill>
                <a:srgbClr val="3366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15"/>
          <p:cNvSpPr/>
          <p:nvPr/>
        </p:nvSpPr>
        <p:spPr>
          <a:xfrm>
            <a:off x="7461928" y="1525043"/>
            <a:ext cx="1031694" cy="346294"/>
          </a:xfrm>
          <a:prstGeom prst="roundRect">
            <a:avLst>
              <a:gd fmla="val 31676" name="adj"/>
            </a:avLst>
          </a:prstGeom>
          <a:solidFill>
            <a:srgbClr val="FFFFFF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1080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직원</a:t>
            </a:r>
            <a:endParaRPr b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icture1" id="945" name="Google Shape;945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425655" y="1585940"/>
            <a:ext cx="154693" cy="251103"/>
          </a:xfrm>
          <a:prstGeom prst="rect">
            <a:avLst/>
          </a:prstGeom>
          <a:noFill/>
          <a:ln>
            <a:noFill/>
          </a:ln>
        </p:spPr>
      </p:pic>
      <p:sp>
        <p:nvSpPr>
          <p:cNvPr id="946" name="Google Shape;946;p15"/>
          <p:cNvSpPr txBox="1"/>
          <p:nvPr/>
        </p:nvSpPr>
        <p:spPr>
          <a:xfrm>
            <a:off x="8222854" y="1857652"/>
            <a:ext cx="580938" cy="213874"/>
          </a:xfrm>
          <a:prstGeom prst="rect">
            <a:avLst/>
          </a:prstGeom>
          <a:noFill/>
          <a:ln>
            <a:noFill/>
          </a:ln>
        </p:spPr>
        <p:txBody>
          <a:bodyPr anchorCtr="0" anchor="t" bIns="37700" lIns="37700" spcFirstLastPara="1" rIns="37700" wrap="square" tIns="37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800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Http/Https</a:t>
            </a:r>
            <a:endParaRPr b="1" i="1" sz="800">
              <a:solidFill>
                <a:srgbClr val="3366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7" name="Google Shape;947;p15"/>
          <p:cNvCxnSpPr>
            <a:stCxn id="941" idx="2"/>
            <a:endCxn id="937" idx="1"/>
          </p:cNvCxnSpPr>
          <p:nvPr/>
        </p:nvCxnSpPr>
        <p:spPr>
          <a:xfrm flipH="1">
            <a:off x="5215747" y="1884504"/>
            <a:ext cx="7200" cy="1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948" name="Google Shape;948;p15"/>
          <p:cNvCxnSpPr>
            <a:stCxn id="944" idx="2"/>
            <a:endCxn id="852" idx="0"/>
          </p:cNvCxnSpPr>
          <p:nvPr/>
        </p:nvCxnSpPr>
        <p:spPr>
          <a:xfrm flipH="1">
            <a:off x="7977175" y="1871337"/>
            <a:ext cx="600" cy="208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949" name="Google Shape;949;p15"/>
          <p:cNvSpPr/>
          <p:nvPr/>
        </p:nvSpPr>
        <p:spPr>
          <a:xfrm>
            <a:off x="4900601" y="2454772"/>
            <a:ext cx="517630" cy="505718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rgbClr val="99999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1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</a:t>
            </a:r>
            <a:endParaRPr/>
          </a:p>
        </p:txBody>
      </p:sp>
      <p:pic>
        <p:nvPicPr>
          <p:cNvPr descr="Picture48" id="950" name="Google Shape;950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025155" y="2643398"/>
            <a:ext cx="323747" cy="2382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51" name="Google Shape;951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887657" y="2480110"/>
            <a:ext cx="149260" cy="135155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p15"/>
          <p:cNvSpPr/>
          <p:nvPr/>
        </p:nvSpPr>
        <p:spPr>
          <a:xfrm>
            <a:off x="7326301" y="2467472"/>
            <a:ext cx="509599" cy="505718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rgbClr val="C55A11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1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</a:t>
            </a:r>
            <a:endParaRPr/>
          </a:p>
        </p:txBody>
      </p:sp>
      <p:pic>
        <p:nvPicPr>
          <p:cNvPr descr="Picture48" id="953" name="Google Shape;953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450855" y="2656098"/>
            <a:ext cx="323747" cy="2382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54" name="Google Shape;954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313357" y="2492810"/>
            <a:ext cx="149260" cy="135155"/>
          </a:xfrm>
          <a:prstGeom prst="rect">
            <a:avLst/>
          </a:prstGeom>
          <a:noFill/>
          <a:ln>
            <a:noFill/>
          </a:ln>
        </p:spPr>
      </p:pic>
      <p:sp>
        <p:nvSpPr>
          <p:cNvPr id="927" name="Google Shape;927;p15"/>
          <p:cNvSpPr/>
          <p:nvPr/>
        </p:nvSpPr>
        <p:spPr>
          <a:xfrm>
            <a:off x="8393101" y="2454772"/>
            <a:ext cx="517630" cy="505718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rgbClr val="99999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1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</a:t>
            </a:r>
            <a:endParaRPr/>
          </a:p>
        </p:txBody>
      </p:sp>
      <p:pic>
        <p:nvPicPr>
          <p:cNvPr descr="Picture48" id="955" name="Google Shape;955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517655" y="2643398"/>
            <a:ext cx="323747" cy="2382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56" name="Google Shape;956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380157" y="2480110"/>
            <a:ext cx="149260" cy="135155"/>
          </a:xfrm>
          <a:prstGeom prst="rect">
            <a:avLst/>
          </a:prstGeom>
          <a:noFill/>
          <a:ln>
            <a:noFill/>
          </a:ln>
        </p:spPr>
      </p:pic>
      <p:sp>
        <p:nvSpPr>
          <p:cNvPr id="957" name="Google Shape;957;p15"/>
          <p:cNvSpPr txBox="1"/>
          <p:nvPr/>
        </p:nvSpPr>
        <p:spPr>
          <a:xfrm>
            <a:off x="6912822" y="2145740"/>
            <a:ext cx="542333" cy="380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내부</a:t>
            </a:r>
            <a:endParaRPr sz="10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포탈</a:t>
            </a:r>
            <a:endParaRPr/>
          </a:p>
        </p:txBody>
      </p:sp>
      <p:sp>
        <p:nvSpPr>
          <p:cNvPr id="958" name="Google Shape;958;p15"/>
          <p:cNvSpPr txBox="1"/>
          <p:nvPr/>
        </p:nvSpPr>
        <p:spPr>
          <a:xfrm>
            <a:off x="8782707" y="2247173"/>
            <a:ext cx="428570" cy="22659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기간계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9" name="Google Shape;959;p15"/>
          <p:cNvCxnSpPr>
            <a:stCxn id="852" idx="2"/>
            <a:endCxn id="952" idx="0"/>
          </p:cNvCxnSpPr>
          <p:nvPr/>
        </p:nvCxnSpPr>
        <p:spPr>
          <a:xfrm flipH="1">
            <a:off x="7581025" y="2244612"/>
            <a:ext cx="396000" cy="22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960" name="Google Shape;960;p15"/>
          <p:cNvCxnSpPr>
            <a:stCxn id="852" idx="2"/>
            <a:endCxn id="927" idx="0"/>
          </p:cNvCxnSpPr>
          <p:nvPr/>
        </p:nvCxnSpPr>
        <p:spPr>
          <a:xfrm>
            <a:off x="7977025" y="2244612"/>
            <a:ext cx="675000" cy="21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oval"/>
            <a:tailEnd len="med" w="med" type="oval"/>
          </a:ln>
        </p:spPr>
      </p:cxnSp>
      <p:pic>
        <p:nvPicPr>
          <p:cNvPr id="961" name="Google Shape;961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56401" y="2282151"/>
            <a:ext cx="208426" cy="1417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62" name="Google Shape;962;p15"/>
          <p:cNvCxnSpPr>
            <a:stCxn id="961" idx="3"/>
            <a:endCxn id="868" idx="3"/>
          </p:cNvCxnSpPr>
          <p:nvPr/>
        </p:nvCxnSpPr>
        <p:spPr>
          <a:xfrm flipH="1">
            <a:off x="7793427" y="2353003"/>
            <a:ext cx="71400" cy="2237700"/>
          </a:xfrm>
          <a:prstGeom prst="curvedConnector3">
            <a:avLst>
              <a:gd fmla="val -320168" name="adj1"/>
            </a:avLst>
          </a:prstGeom>
          <a:noFill/>
          <a:ln cap="flat" cmpd="sng" w="9525">
            <a:solidFill>
              <a:srgbClr val="FF0000"/>
            </a:solidFill>
            <a:prstDash val="dash"/>
            <a:round/>
            <a:headEnd len="med" w="med" type="oval"/>
            <a:tailEnd len="med" w="med" type="oval"/>
          </a:ln>
        </p:spPr>
      </p:cxnSp>
      <p:sp>
        <p:nvSpPr>
          <p:cNvPr id="963" name="Google Shape;963;p15"/>
          <p:cNvSpPr/>
          <p:nvPr/>
        </p:nvSpPr>
        <p:spPr>
          <a:xfrm>
            <a:off x="1577872" y="5298777"/>
            <a:ext cx="414682" cy="21751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D4D4D"/>
            </a:solidFill>
            <a:prstDash val="dot"/>
            <a:miter lim="8000"/>
            <a:headEnd len="sm" w="sm" type="none"/>
            <a:tailEnd len="sm" w="sm" type="none"/>
          </a:ln>
        </p:spPr>
        <p:txBody>
          <a:bodyPr anchorCtr="0" anchor="ctr" bIns="53850" lIns="72000" spcFirstLastPara="1" rIns="72000" wrap="square" tIns="53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</a:t>
            </a:r>
            <a:endParaRPr/>
          </a:p>
        </p:txBody>
      </p:sp>
      <p:pic>
        <p:nvPicPr>
          <p:cNvPr descr="Picture37" id="964" name="Google Shape;96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82425" y="5320045"/>
            <a:ext cx="252000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15"/>
          <p:cNvSpPr/>
          <p:nvPr/>
        </p:nvSpPr>
        <p:spPr>
          <a:xfrm>
            <a:off x="2061219" y="5299610"/>
            <a:ext cx="414682" cy="21751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D4D4D"/>
            </a:solidFill>
            <a:prstDash val="dot"/>
            <a:miter lim="8000"/>
            <a:headEnd len="sm" w="sm" type="none"/>
            <a:tailEnd len="sm" w="sm" type="none"/>
          </a:ln>
        </p:spPr>
        <p:txBody>
          <a:bodyPr anchorCtr="0" anchor="ctr" bIns="53850" lIns="72000" spcFirstLastPara="1" rIns="72000" wrap="square" tIns="53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</a:t>
            </a:r>
            <a:endParaRPr/>
          </a:p>
        </p:txBody>
      </p:sp>
      <p:pic>
        <p:nvPicPr>
          <p:cNvPr descr="Picture37" id="966" name="Google Shape;96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65772" y="5320878"/>
            <a:ext cx="252000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7" name="Google Shape;967;p15"/>
          <p:cNvSpPr/>
          <p:nvPr/>
        </p:nvSpPr>
        <p:spPr>
          <a:xfrm>
            <a:off x="2555165" y="5310545"/>
            <a:ext cx="414682" cy="21751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D4D4D"/>
            </a:solidFill>
            <a:prstDash val="dot"/>
            <a:miter lim="8000"/>
            <a:headEnd len="sm" w="sm" type="none"/>
            <a:tailEnd len="sm" w="sm" type="none"/>
          </a:ln>
        </p:spPr>
        <p:txBody>
          <a:bodyPr anchorCtr="0" anchor="ctr" bIns="53850" lIns="72000" spcFirstLastPara="1" rIns="72000" wrap="square" tIns="53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</a:t>
            </a:r>
            <a:endParaRPr/>
          </a:p>
        </p:txBody>
      </p:sp>
      <p:pic>
        <p:nvPicPr>
          <p:cNvPr descr="Picture37" id="968" name="Google Shape;96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59718" y="5331813"/>
            <a:ext cx="252000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9" name="Google Shape;969;p15"/>
          <p:cNvSpPr txBox="1"/>
          <p:nvPr/>
        </p:nvSpPr>
        <p:spPr>
          <a:xfrm>
            <a:off x="1433213" y="4634188"/>
            <a:ext cx="1260529" cy="22659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EDMS(xtorm) : 4EA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15"/>
          <p:cNvSpPr txBox="1"/>
          <p:nvPr/>
        </p:nvSpPr>
        <p:spPr>
          <a:xfrm>
            <a:off x="2368714" y="3388122"/>
            <a:ext cx="665815" cy="226591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이미지변환</a:t>
            </a:r>
            <a:endParaRPr/>
          </a:p>
        </p:txBody>
      </p:sp>
      <p:pic>
        <p:nvPicPr>
          <p:cNvPr id="971" name="Google Shape;971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088364" y="4399396"/>
            <a:ext cx="266592" cy="181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2" name="Google Shape;972;p15"/>
          <p:cNvCxnSpPr>
            <a:stCxn id="971" idx="0"/>
            <a:endCxn id="886" idx="2"/>
          </p:cNvCxnSpPr>
          <p:nvPr/>
        </p:nvCxnSpPr>
        <p:spPr>
          <a:xfrm rot="-5400000">
            <a:off x="3022910" y="4122946"/>
            <a:ext cx="475200" cy="777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rgbClr val="666666"/>
            </a:solidFill>
            <a:prstDash val="dash"/>
            <a:round/>
            <a:headEnd len="med" w="med" type="oval"/>
            <a:tailEnd len="med" w="med" type="oval"/>
          </a:ln>
        </p:spPr>
      </p:cxnSp>
      <p:cxnSp>
        <p:nvCxnSpPr>
          <p:cNvPr id="973" name="Google Shape;973;p15"/>
          <p:cNvCxnSpPr>
            <a:stCxn id="918" idx="0"/>
            <a:endCxn id="971" idx="2"/>
          </p:cNvCxnSpPr>
          <p:nvPr/>
        </p:nvCxnSpPr>
        <p:spPr>
          <a:xfrm rot="-5400000">
            <a:off x="2455585" y="4226665"/>
            <a:ext cx="412200" cy="1120200"/>
          </a:xfrm>
          <a:prstGeom prst="curvedConnector3">
            <a:avLst>
              <a:gd fmla="val 50002" name="adj1"/>
            </a:avLst>
          </a:prstGeom>
          <a:noFill/>
          <a:ln cap="flat" cmpd="sng" w="19050">
            <a:solidFill>
              <a:srgbClr val="666666"/>
            </a:solidFill>
            <a:prstDash val="dash"/>
            <a:round/>
            <a:headEnd len="med" w="med" type="oval"/>
            <a:tailEnd len="med" w="med" type="oval"/>
          </a:ln>
        </p:spPr>
      </p:cxnSp>
      <p:sp>
        <p:nvSpPr>
          <p:cNvPr id="933" name="Google Shape;933;p15"/>
          <p:cNvSpPr/>
          <p:nvPr/>
        </p:nvSpPr>
        <p:spPr>
          <a:xfrm>
            <a:off x="4930687" y="4939130"/>
            <a:ext cx="560807" cy="505718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rgbClr val="99999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1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SOWAS</a:t>
            </a:r>
            <a:endParaRPr/>
          </a:p>
        </p:txBody>
      </p:sp>
      <p:sp>
        <p:nvSpPr>
          <p:cNvPr id="974" name="Google Shape;974;p15"/>
          <p:cNvSpPr/>
          <p:nvPr/>
        </p:nvSpPr>
        <p:spPr>
          <a:xfrm>
            <a:off x="4980408" y="5119123"/>
            <a:ext cx="468748" cy="25554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D4D4D"/>
            </a:solidFill>
            <a:prstDash val="dot"/>
            <a:miter lim="8000"/>
            <a:headEnd len="sm" w="sm" type="none"/>
            <a:tailEnd len="sm" w="sm" type="none"/>
          </a:ln>
        </p:spPr>
        <p:txBody>
          <a:bodyPr anchorCtr="0" anchor="ctr" bIns="53850" lIns="72000" spcFirstLastPara="1" rIns="72000" wrap="square" tIns="53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</a:t>
            </a:r>
            <a:endParaRPr/>
          </a:p>
        </p:txBody>
      </p:sp>
      <p:pic>
        <p:nvPicPr>
          <p:cNvPr descr="Picture37" id="975" name="Google Shape;97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02315" y="5126352"/>
            <a:ext cx="305323" cy="250811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15"/>
          <p:cNvSpPr txBox="1"/>
          <p:nvPr/>
        </p:nvSpPr>
        <p:spPr>
          <a:xfrm>
            <a:off x="5239578" y="4735947"/>
            <a:ext cx="430173" cy="24198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EDMS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7" name="Google Shape;977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616582" y="5249908"/>
            <a:ext cx="469357" cy="300398"/>
          </a:xfrm>
          <a:prstGeom prst="rect">
            <a:avLst/>
          </a:prstGeom>
          <a:noFill/>
          <a:ln>
            <a:noFill/>
          </a:ln>
        </p:spPr>
      </p:pic>
      <p:sp>
        <p:nvSpPr>
          <p:cNvPr id="978" name="Google Shape;978;p15"/>
          <p:cNvSpPr txBox="1"/>
          <p:nvPr/>
        </p:nvSpPr>
        <p:spPr>
          <a:xfrm>
            <a:off x="5677757" y="5391295"/>
            <a:ext cx="319849" cy="92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lang="en-US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NAS</a:t>
            </a:r>
            <a:endParaRPr/>
          </a:p>
        </p:txBody>
      </p:sp>
      <p:cxnSp>
        <p:nvCxnSpPr>
          <p:cNvPr id="979" name="Google Shape;979;p15"/>
          <p:cNvCxnSpPr>
            <a:stCxn id="933" idx="3"/>
            <a:endCxn id="977" idx="0"/>
          </p:cNvCxnSpPr>
          <p:nvPr/>
        </p:nvCxnSpPr>
        <p:spPr>
          <a:xfrm>
            <a:off x="5491494" y="5191989"/>
            <a:ext cx="359700" cy="57900"/>
          </a:xfrm>
          <a:prstGeom prst="bentConnector2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980" name="Google Shape;980;p15"/>
          <p:cNvCxnSpPr>
            <a:stCxn id="933" idx="0"/>
            <a:endCxn id="971" idx="2"/>
          </p:cNvCxnSpPr>
          <p:nvPr/>
        </p:nvCxnSpPr>
        <p:spPr>
          <a:xfrm flipH="1" rot="5400000">
            <a:off x="4037191" y="3765230"/>
            <a:ext cx="358500" cy="1989300"/>
          </a:xfrm>
          <a:prstGeom prst="curvedConnector3">
            <a:avLst>
              <a:gd fmla="val 49998" name="adj1"/>
            </a:avLst>
          </a:prstGeom>
          <a:noFill/>
          <a:ln cap="flat" cmpd="sng" w="19050">
            <a:solidFill>
              <a:srgbClr val="666666"/>
            </a:solidFill>
            <a:prstDash val="dash"/>
            <a:round/>
            <a:headEnd len="med" w="med" type="oval"/>
            <a:tailEnd len="med" w="med" type="oval"/>
          </a:ln>
        </p:spPr>
      </p:cxnSp>
      <p:sp>
        <p:nvSpPr>
          <p:cNvPr id="981" name="Google Shape;981;p15"/>
          <p:cNvSpPr txBox="1"/>
          <p:nvPr/>
        </p:nvSpPr>
        <p:spPr>
          <a:xfrm>
            <a:off x="2748459" y="4617945"/>
            <a:ext cx="383937" cy="199271"/>
          </a:xfrm>
          <a:prstGeom prst="rect">
            <a:avLst/>
          </a:prstGeom>
          <a:noFill/>
          <a:ln>
            <a:noFill/>
          </a:ln>
        </p:spPr>
        <p:txBody>
          <a:bodyPr anchorCtr="0" anchor="t" bIns="37700" lIns="37700" spcFirstLastPara="1" rIns="37700" wrap="square" tIns="37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800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Socket</a:t>
            </a:r>
            <a:endParaRPr b="1" i="1" sz="800">
              <a:solidFill>
                <a:srgbClr val="3366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2" name="Google Shape;982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667156" y="5373497"/>
            <a:ext cx="376638" cy="241056"/>
          </a:xfrm>
          <a:prstGeom prst="rect">
            <a:avLst/>
          </a:prstGeom>
          <a:noFill/>
          <a:ln>
            <a:noFill/>
          </a:ln>
        </p:spPr>
      </p:pic>
      <p:sp>
        <p:nvSpPr>
          <p:cNvPr id="983" name="Google Shape;983;p15"/>
          <p:cNvSpPr txBox="1"/>
          <p:nvPr/>
        </p:nvSpPr>
        <p:spPr>
          <a:xfrm>
            <a:off x="7728330" y="5464357"/>
            <a:ext cx="277201" cy="990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lang="en-US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NAS</a:t>
            </a:r>
            <a:endParaRPr/>
          </a:p>
        </p:txBody>
      </p:sp>
      <p:cxnSp>
        <p:nvCxnSpPr>
          <p:cNvPr id="984" name="Google Shape;984;p15"/>
          <p:cNvCxnSpPr>
            <a:endCxn id="982" idx="0"/>
          </p:cNvCxnSpPr>
          <p:nvPr/>
        </p:nvCxnSpPr>
        <p:spPr>
          <a:xfrm flipH="1">
            <a:off x="7855475" y="5245097"/>
            <a:ext cx="267600" cy="128400"/>
          </a:xfrm>
          <a:prstGeom prst="bentConnector2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985" name="Google Shape;985;p15"/>
          <p:cNvCxnSpPr>
            <a:stCxn id="892" idx="2"/>
            <a:endCxn id="982" idx="0"/>
          </p:cNvCxnSpPr>
          <p:nvPr/>
        </p:nvCxnSpPr>
        <p:spPr>
          <a:xfrm flipH="1" rot="-5400000">
            <a:off x="5760337" y="3278279"/>
            <a:ext cx="1486200" cy="27042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6" name="Google Shape;986;p15"/>
          <p:cNvSpPr txBox="1"/>
          <p:nvPr/>
        </p:nvSpPr>
        <p:spPr>
          <a:xfrm>
            <a:off x="4350834" y="2289870"/>
            <a:ext cx="542333" cy="380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외부</a:t>
            </a:r>
            <a:endParaRPr sz="10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포탈</a:t>
            </a:r>
            <a:endParaRPr/>
          </a:p>
        </p:txBody>
      </p:sp>
      <p:cxnSp>
        <p:nvCxnSpPr>
          <p:cNvPr id="987" name="Google Shape;987;p15"/>
          <p:cNvCxnSpPr>
            <a:stCxn id="952" idx="2"/>
          </p:cNvCxnSpPr>
          <p:nvPr/>
        </p:nvCxnSpPr>
        <p:spPr>
          <a:xfrm flipH="1" rot="-5400000">
            <a:off x="6878501" y="3675790"/>
            <a:ext cx="1770000" cy="3648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FF0000"/>
            </a:solidFill>
            <a:prstDash val="dash"/>
            <a:round/>
            <a:headEnd len="med" w="med" type="oval"/>
            <a:tailEnd len="med" w="med" type="oval"/>
          </a:ln>
        </p:spPr>
      </p:cxnSp>
      <p:sp>
        <p:nvSpPr>
          <p:cNvPr id="988" name="Google Shape;988;p15"/>
          <p:cNvSpPr txBox="1"/>
          <p:nvPr/>
        </p:nvSpPr>
        <p:spPr>
          <a:xfrm>
            <a:off x="6273781" y="4421258"/>
            <a:ext cx="579503" cy="199271"/>
          </a:xfrm>
          <a:prstGeom prst="rect">
            <a:avLst/>
          </a:prstGeom>
          <a:noFill/>
          <a:ln>
            <a:noFill/>
          </a:ln>
        </p:spPr>
        <p:txBody>
          <a:bodyPr anchorCtr="0" anchor="t" bIns="37700" lIns="37700" spcFirstLastPara="1" rIns="37700" wrap="square" tIns="37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800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Read/Write</a:t>
            </a:r>
            <a:endParaRPr b="1" i="1" sz="800">
              <a:solidFill>
                <a:srgbClr val="3366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9" name="Google Shape;989;p15"/>
          <p:cNvCxnSpPr>
            <a:stCxn id="971" idx="0"/>
            <a:endCxn id="892" idx="2"/>
          </p:cNvCxnSpPr>
          <p:nvPr/>
        </p:nvCxnSpPr>
        <p:spPr>
          <a:xfrm rot="-5400000">
            <a:off x="3930410" y="3178546"/>
            <a:ext cx="512100" cy="19296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rgbClr val="666666"/>
            </a:solidFill>
            <a:prstDash val="dash"/>
            <a:round/>
            <a:headEnd len="med" w="med" type="oval"/>
            <a:tailEnd len="med" w="med" type="oval"/>
          </a:ln>
        </p:spPr>
      </p:cxnSp>
      <p:sp>
        <p:nvSpPr>
          <p:cNvPr id="990" name="Google Shape;990;p15"/>
          <p:cNvSpPr txBox="1"/>
          <p:nvPr/>
        </p:nvSpPr>
        <p:spPr>
          <a:xfrm>
            <a:off x="7817224" y="3154700"/>
            <a:ext cx="542333" cy="22659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EAI</a:t>
            </a:r>
            <a:endParaRPr sz="10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1" name="Google Shape;991;p15"/>
          <p:cNvCxnSpPr>
            <a:stCxn id="952" idx="2"/>
            <a:endCxn id="892" idx="0"/>
          </p:cNvCxnSpPr>
          <p:nvPr/>
        </p:nvCxnSpPr>
        <p:spPr>
          <a:xfrm rot="5400000">
            <a:off x="6162101" y="1962490"/>
            <a:ext cx="408300" cy="2429700"/>
          </a:xfrm>
          <a:prstGeom prst="curvedConnector3">
            <a:avLst>
              <a:gd fmla="val 50009" name="adj1"/>
            </a:avLst>
          </a:prstGeom>
          <a:noFill/>
          <a:ln cap="flat" cmpd="sng" w="9525">
            <a:solidFill>
              <a:srgbClr val="FF0000"/>
            </a:solidFill>
            <a:prstDash val="dash"/>
            <a:round/>
            <a:headEnd len="med" w="med" type="oval"/>
            <a:tailEnd len="med" w="med" type="oval"/>
          </a:ln>
        </p:spPr>
      </p:cxnSp>
      <p:pic>
        <p:nvPicPr>
          <p:cNvPr id="992" name="Google Shape;99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61028" y="2282151"/>
            <a:ext cx="208426" cy="1417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93" name="Google Shape;993;p15"/>
          <p:cNvCxnSpPr>
            <a:stCxn id="938" idx="2"/>
            <a:endCxn id="949" idx="0"/>
          </p:cNvCxnSpPr>
          <p:nvPr/>
        </p:nvCxnSpPr>
        <p:spPr>
          <a:xfrm flipH="1">
            <a:off x="5159412" y="2241213"/>
            <a:ext cx="39600" cy="213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oval"/>
            <a:tailEnd len="med" w="med" type="oval"/>
          </a:ln>
        </p:spPr>
      </p:cxnSp>
      <p:pic>
        <p:nvPicPr>
          <p:cNvPr id="994" name="Google Shape;994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093985" y="2284504"/>
            <a:ext cx="208426" cy="1417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95" name="Google Shape;995;p15"/>
          <p:cNvCxnSpPr>
            <a:stCxn id="892" idx="0"/>
            <a:endCxn id="949" idx="2"/>
          </p:cNvCxnSpPr>
          <p:nvPr/>
        </p:nvCxnSpPr>
        <p:spPr>
          <a:xfrm rot="-5400000">
            <a:off x="4944787" y="3166911"/>
            <a:ext cx="421200" cy="8100"/>
          </a:xfrm>
          <a:prstGeom prst="curvedConnector3">
            <a:avLst>
              <a:gd fmla="val 49984" name="adj1"/>
            </a:avLst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996" name="Google Shape;996;p15"/>
          <p:cNvCxnSpPr>
            <a:stCxn id="886" idx="0"/>
          </p:cNvCxnSpPr>
          <p:nvPr/>
        </p:nvCxnSpPr>
        <p:spPr>
          <a:xfrm rot="-5400000">
            <a:off x="4019130" y="2250718"/>
            <a:ext cx="447900" cy="1887600"/>
          </a:xfrm>
          <a:prstGeom prst="curvedConnector2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997" name="Google Shape;997;p15"/>
          <p:cNvCxnSpPr>
            <a:stCxn id="902" idx="2"/>
            <a:endCxn id="892" idx="0"/>
          </p:cNvCxnSpPr>
          <p:nvPr/>
        </p:nvCxnSpPr>
        <p:spPr>
          <a:xfrm flipH="1" rot="-5400000">
            <a:off x="3635494" y="1865816"/>
            <a:ext cx="369900" cy="2661600"/>
          </a:xfrm>
          <a:prstGeom prst="curvedConnector3">
            <a:avLst>
              <a:gd fmla="val 49999" name="adj1"/>
            </a:avLst>
          </a:prstGeom>
          <a:noFill/>
          <a:ln cap="flat" cmpd="sng" w="1905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8" name="Google Shape;998;p15"/>
          <p:cNvCxnSpPr>
            <a:stCxn id="952" idx="2"/>
            <a:endCxn id="886" idx="0"/>
          </p:cNvCxnSpPr>
          <p:nvPr/>
        </p:nvCxnSpPr>
        <p:spPr>
          <a:xfrm rot="5400000">
            <a:off x="5217551" y="1054840"/>
            <a:ext cx="445200" cy="4281900"/>
          </a:xfrm>
          <a:prstGeom prst="curvedConnector3">
            <a:avLst>
              <a:gd fmla="val 50009" name="adj1"/>
            </a:avLst>
          </a:prstGeom>
          <a:noFill/>
          <a:ln cap="flat" cmpd="sng" w="9525">
            <a:solidFill>
              <a:srgbClr val="FF0000"/>
            </a:solidFill>
            <a:prstDash val="dash"/>
            <a:round/>
            <a:headEnd len="med" w="med" type="oval"/>
            <a:tailEnd len="med" w="med" type="oval"/>
          </a:ln>
        </p:spPr>
      </p:cxnSp>
      <p:cxnSp>
        <p:nvCxnSpPr>
          <p:cNvPr id="999" name="Google Shape;999;p15"/>
          <p:cNvCxnSpPr>
            <a:stCxn id="952" idx="2"/>
            <a:endCxn id="924" idx="3"/>
          </p:cNvCxnSpPr>
          <p:nvPr/>
        </p:nvCxnSpPr>
        <p:spPr>
          <a:xfrm rot="5400000">
            <a:off x="5341001" y="1730890"/>
            <a:ext cx="997800" cy="3482400"/>
          </a:xfrm>
          <a:prstGeom prst="curvedConnector2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med" w="med" type="oval"/>
            <a:tailEnd len="med" w="med" type="oval"/>
          </a:ln>
        </p:spPr>
      </p:cxnSp>
      <p:sp>
        <p:nvSpPr>
          <p:cNvPr id="1000" name="Google Shape;1000;p15"/>
          <p:cNvSpPr/>
          <p:nvPr/>
        </p:nvSpPr>
        <p:spPr>
          <a:xfrm>
            <a:off x="5069194" y="3007521"/>
            <a:ext cx="172366" cy="72742"/>
          </a:xfrm>
          <a:prstGeom prst="ellipse">
            <a:avLst/>
          </a:prstGeom>
          <a:noFill/>
          <a:ln cap="flat" cmpd="sng" w="9525">
            <a:solidFill>
              <a:srgbClr val="0094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LB</a:t>
            </a:r>
            <a:endParaRPr b="1" sz="6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Google Shape;1001;p15"/>
          <p:cNvSpPr/>
          <p:nvPr/>
        </p:nvSpPr>
        <p:spPr>
          <a:xfrm>
            <a:off x="7489836" y="3027630"/>
            <a:ext cx="172366" cy="72742"/>
          </a:xfrm>
          <a:prstGeom prst="ellipse">
            <a:avLst/>
          </a:prstGeom>
          <a:noFill/>
          <a:ln cap="flat" cmpd="sng" w="9525">
            <a:solidFill>
              <a:srgbClr val="0094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LB</a:t>
            </a:r>
            <a:endParaRPr b="1" sz="6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15"/>
          <p:cNvSpPr/>
          <p:nvPr/>
        </p:nvSpPr>
        <p:spPr>
          <a:xfrm>
            <a:off x="8595148" y="3007780"/>
            <a:ext cx="172366" cy="72742"/>
          </a:xfrm>
          <a:prstGeom prst="ellipse">
            <a:avLst/>
          </a:prstGeom>
          <a:noFill/>
          <a:ln cap="flat" cmpd="sng" w="9525">
            <a:solidFill>
              <a:srgbClr val="0094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LB</a:t>
            </a:r>
            <a:endParaRPr b="1" sz="6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p15"/>
          <p:cNvSpPr/>
          <p:nvPr/>
        </p:nvSpPr>
        <p:spPr>
          <a:xfrm>
            <a:off x="3174025" y="3961093"/>
            <a:ext cx="172366" cy="72742"/>
          </a:xfrm>
          <a:prstGeom prst="ellipse">
            <a:avLst/>
          </a:prstGeom>
          <a:noFill/>
          <a:ln cap="flat" cmpd="sng" w="9525">
            <a:solidFill>
              <a:srgbClr val="0094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LB</a:t>
            </a:r>
            <a:endParaRPr b="1" sz="6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p15"/>
          <p:cNvSpPr txBox="1"/>
          <p:nvPr/>
        </p:nvSpPr>
        <p:spPr>
          <a:xfrm>
            <a:off x="417770" y="714190"/>
            <a:ext cx="8964356" cy="637153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아키텍처 설계 &gt; 2.4 동영상플랫폼</a:t>
            </a:r>
            <a:endParaRPr b="1" i="0" sz="14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2.4.6 EDMS 프로세스 흐름도</a:t>
            </a:r>
            <a:endParaRPr b="1" i="0" sz="12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05" name="Google Shape;1005;p15"/>
          <p:cNvSpPr/>
          <p:nvPr/>
        </p:nvSpPr>
        <p:spPr>
          <a:xfrm>
            <a:off x="1594101" y="3417909"/>
            <a:ext cx="553472" cy="505718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rgbClr val="99999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1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WAS</a:t>
            </a:r>
            <a:endParaRPr/>
          </a:p>
        </p:txBody>
      </p:sp>
      <p:sp>
        <p:nvSpPr>
          <p:cNvPr id="1006" name="Google Shape;1006;p15"/>
          <p:cNvSpPr/>
          <p:nvPr/>
        </p:nvSpPr>
        <p:spPr>
          <a:xfrm>
            <a:off x="1665838" y="3597902"/>
            <a:ext cx="409982" cy="25554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D4D4D"/>
            </a:solidFill>
            <a:prstDash val="dot"/>
            <a:miter lim="8000"/>
            <a:headEnd len="sm" w="sm" type="none"/>
            <a:tailEnd len="sm" w="sm" type="none"/>
          </a:ln>
        </p:spPr>
        <p:txBody>
          <a:bodyPr anchorCtr="0" anchor="ctr" bIns="53850" lIns="72000" spcFirstLastPara="1" rIns="72000" wrap="square" tIns="53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</a:t>
            </a:r>
            <a:endParaRPr/>
          </a:p>
        </p:txBody>
      </p:sp>
      <p:pic>
        <p:nvPicPr>
          <p:cNvPr descr="Picture37" id="1007" name="Google Shape;100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68893" y="3610507"/>
            <a:ext cx="203869" cy="225751"/>
          </a:xfrm>
          <a:prstGeom prst="rect">
            <a:avLst/>
          </a:prstGeom>
          <a:noFill/>
          <a:ln>
            <a:noFill/>
          </a:ln>
        </p:spPr>
      </p:pic>
      <p:sp>
        <p:nvSpPr>
          <p:cNvPr id="1008" name="Google Shape;1008;p15"/>
          <p:cNvSpPr txBox="1"/>
          <p:nvPr/>
        </p:nvSpPr>
        <p:spPr>
          <a:xfrm>
            <a:off x="857365" y="3357385"/>
            <a:ext cx="811688" cy="226591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동영상MCMS</a:t>
            </a:r>
            <a:endParaRPr b="1"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9" name="Google Shape;1009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17111" y="3849879"/>
            <a:ext cx="583061" cy="373171"/>
          </a:xfrm>
          <a:prstGeom prst="rect">
            <a:avLst/>
          </a:prstGeom>
          <a:noFill/>
          <a:ln>
            <a:noFill/>
          </a:ln>
        </p:spPr>
      </p:pic>
      <p:sp>
        <p:nvSpPr>
          <p:cNvPr id="1010" name="Google Shape;1010;p15"/>
          <p:cNvSpPr txBox="1"/>
          <p:nvPr/>
        </p:nvSpPr>
        <p:spPr>
          <a:xfrm>
            <a:off x="1106033" y="3999283"/>
            <a:ext cx="335240" cy="92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lang="en-US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NAS</a:t>
            </a:r>
            <a:endParaRPr/>
          </a:p>
        </p:txBody>
      </p:sp>
      <p:cxnSp>
        <p:nvCxnSpPr>
          <p:cNvPr id="1011" name="Google Shape;1011;p15"/>
          <p:cNvCxnSpPr>
            <a:stCxn id="1006" idx="1"/>
            <a:endCxn id="1009" idx="0"/>
          </p:cNvCxnSpPr>
          <p:nvPr/>
        </p:nvCxnSpPr>
        <p:spPr>
          <a:xfrm flipH="1">
            <a:off x="1308538" y="3725675"/>
            <a:ext cx="357300" cy="124200"/>
          </a:xfrm>
          <a:prstGeom prst="bentConnector2">
            <a:avLst/>
          </a:prstGeom>
          <a:noFill/>
          <a:ln cap="flat" cmpd="sng" w="1905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16"/>
          <p:cNvSpPr txBox="1"/>
          <p:nvPr/>
        </p:nvSpPr>
        <p:spPr>
          <a:xfrm>
            <a:off x="417770" y="714190"/>
            <a:ext cx="8964356" cy="637153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아키텍처 설계 &gt; 2.4 동영상플랫폼</a:t>
            </a:r>
            <a:endParaRPr b="1" i="0" sz="14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2.4.2 동영상플랫폼 업무흐름도 (인코딩 일괄처리)</a:t>
            </a:r>
            <a:endParaRPr/>
          </a:p>
        </p:txBody>
      </p:sp>
      <p:sp>
        <p:nvSpPr>
          <p:cNvPr id="1017" name="Google Shape;1017;p16"/>
          <p:cNvSpPr/>
          <p:nvPr/>
        </p:nvSpPr>
        <p:spPr>
          <a:xfrm>
            <a:off x="7409010" y="1755333"/>
            <a:ext cx="1738727" cy="435801"/>
          </a:xfrm>
          <a:prstGeom prst="flowChartMagneticDisk">
            <a:avLst/>
          </a:prstGeom>
          <a:solidFill>
            <a:schemeClr val="lt1"/>
          </a:solidFill>
          <a:ln cap="flat" cmpd="sng" w="25400">
            <a:solidFill>
              <a:srgbClr val="0094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8" name="Google Shape;1018;p16"/>
          <p:cNvGrpSpPr/>
          <p:nvPr/>
        </p:nvGrpSpPr>
        <p:grpSpPr>
          <a:xfrm>
            <a:off x="7889681" y="5623022"/>
            <a:ext cx="1191211" cy="768371"/>
            <a:chOff x="8543636" y="5188229"/>
            <a:chExt cx="1191211" cy="768371"/>
          </a:xfrm>
        </p:grpSpPr>
        <p:sp>
          <p:nvSpPr>
            <p:cNvPr id="1019" name="Google Shape;1019;p16"/>
            <p:cNvSpPr/>
            <p:nvPr/>
          </p:nvSpPr>
          <p:spPr>
            <a:xfrm>
              <a:off x="8543636" y="5188230"/>
              <a:ext cx="1191211" cy="768370"/>
            </a:xfrm>
            <a:prstGeom prst="rect">
              <a:avLst/>
            </a:prstGeom>
            <a:noFill/>
            <a:ln cap="flat" cmpd="sng" w="25400">
              <a:solidFill>
                <a:srgbClr val="CBED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16"/>
            <p:cNvSpPr/>
            <p:nvPr/>
          </p:nvSpPr>
          <p:spPr>
            <a:xfrm>
              <a:off x="8543636" y="5188229"/>
              <a:ext cx="1191211" cy="187507"/>
            </a:xfrm>
            <a:prstGeom prst="rect">
              <a:avLst/>
            </a:prstGeom>
            <a:solidFill>
              <a:srgbClr val="CBEDDE"/>
            </a:solidFill>
            <a:ln cap="flat" cmpd="sng" w="25400">
              <a:solidFill>
                <a:srgbClr val="CBED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PTL</a:t>
              </a:r>
              <a:endPara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1" name="Google Shape;1021;p16"/>
          <p:cNvGrpSpPr/>
          <p:nvPr/>
        </p:nvGrpSpPr>
        <p:grpSpPr>
          <a:xfrm>
            <a:off x="4334561" y="3709261"/>
            <a:ext cx="2253758" cy="1668288"/>
            <a:chOff x="4589272" y="3274468"/>
            <a:chExt cx="2253758" cy="1668288"/>
          </a:xfrm>
        </p:grpSpPr>
        <p:sp>
          <p:nvSpPr>
            <p:cNvPr id="1022" name="Google Shape;1022;p16"/>
            <p:cNvSpPr txBox="1"/>
            <p:nvPr/>
          </p:nvSpPr>
          <p:spPr>
            <a:xfrm>
              <a:off x="4589272" y="3534007"/>
              <a:ext cx="592609" cy="215444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NAS</a:t>
              </a:r>
              <a:endParaRPr/>
            </a:p>
          </p:txBody>
        </p:sp>
        <p:grpSp>
          <p:nvGrpSpPr>
            <p:cNvPr id="1023" name="Google Shape;1023;p16"/>
            <p:cNvGrpSpPr/>
            <p:nvPr/>
          </p:nvGrpSpPr>
          <p:grpSpPr>
            <a:xfrm>
              <a:off x="4589272" y="3274468"/>
              <a:ext cx="2253758" cy="1668288"/>
              <a:chOff x="4589272" y="3274468"/>
              <a:chExt cx="2253758" cy="1668288"/>
            </a:xfrm>
          </p:grpSpPr>
          <p:sp>
            <p:nvSpPr>
              <p:cNvPr id="1024" name="Google Shape;1024;p16"/>
              <p:cNvSpPr/>
              <p:nvPr/>
            </p:nvSpPr>
            <p:spPr>
              <a:xfrm>
                <a:off x="4589272" y="3274468"/>
                <a:ext cx="2253758" cy="1668288"/>
              </a:xfrm>
              <a:prstGeom prst="rect">
                <a:avLst/>
              </a:prstGeom>
              <a:noFill/>
              <a:ln cap="flat" cmpd="sng" w="25400">
                <a:solidFill>
                  <a:srgbClr val="CBED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5" name="Google Shape;1025;p16"/>
              <p:cNvSpPr/>
              <p:nvPr/>
            </p:nvSpPr>
            <p:spPr>
              <a:xfrm>
                <a:off x="4589272" y="3274468"/>
                <a:ext cx="2253758" cy="265801"/>
              </a:xfrm>
              <a:prstGeom prst="rect">
                <a:avLst/>
              </a:prstGeom>
              <a:solidFill>
                <a:srgbClr val="CBEDDE"/>
              </a:solidFill>
              <a:ln cap="flat" cmpd="sng" w="25400">
                <a:solidFill>
                  <a:srgbClr val="CBED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EDMS 1차 스토리지</a:t>
                </a:r>
                <a:endParaRPr/>
              </a:p>
            </p:txBody>
          </p:sp>
        </p:grpSp>
      </p:grpSp>
      <p:pic>
        <p:nvPicPr>
          <p:cNvPr id="1026" name="Google Shape;10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755" y="2930623"/>
            <a:ext cx="437212" cy="408105"/>
          </a:xfrm>
          <a:prstGeom prst="rect">
            <a:avLst/>
          </a:prstGeom>
          <a:noFill/>
          <a:ln>
            <a:noFill/>
          </a:ln>
        </p:spPr>
      </p:pic>
      <p:sp>
        <p:nvSpPr>
          <p:cNvPr id="1027" name="Google Shape;1027;p16"/>
          <p:cNvSpPr txBox="1"/>
          <p:nvPr/>
        </p:nvSpPr>
        <p:spPr>
          <a:xfrm>
            <a:off x="1405584" y="3093941"/>
            <a:ext cx="895457" cy="244787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대표홈페이지</a:t>
            </a:r>
            <a:endParaRPr sz="882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어두운 상향 대각선" id="1028" name="Google Shape;1028;p16"/>
          <p:cNvSpPr/>
          <p:nvPr/>
        </p:nvSpPr>
        <p:spPr>
          <a:xfrm>
            <a:off x="682305" y="3358358"/>
            <a:ext cx="647745" cy="139854"/>
          </a:xfrm>
          <a:prstGeom prst="roundRect">
            <a:avLst>
              <a:gd fmla="val 5000" name="adj"/>
            </a:avLst>
          </a:prstGeom>
          <a:solidFill>
            <a:srgbClr val="E6EAEE"/>
          </a:solidFill>
          <a:ln cap="flat" cmpd="sng" w="9525">
            <a:solidFill>
              <a:srgbClr val="D8DEE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고객</a:t>
            </a:r>
            <a:endParaRPr/>
          </a:p>
        </p:txBody>
      </p:sp>
      <p:pic>
        <p:nvPicPr>
          <p:cNvPr id="1029" name="Google Shape;10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755" y="1700845"/>
            <a:ext cx="437212" cy="408105"/>
          </a:xfrm>
          <a:prstGeom prst="rect">
            <a:avLst/>
          </a:prstGeom>
          <a:noFill/>
          <a:ln>
            <a:noFill/>
          </a:ln>
        </p:spPr>
      </p:pic>
      <p:sp>
        <p:nvSpPr>
          <p:cNvPr id="1030" name="Google Shape;1030;p16"/>
          <p:cNvSpPr txBox="1"/>
          <p:nvPr/>
        </p:nvSpPr>
        <p:spPr>
          <a:xfrm>
            <a:off x="1405584" y="1758194"/>
            <a:ext cx="895457" cy="334937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보상포탈</a:t>
            </a:r>
            <a:endParaRPr sz="882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82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손사포탈</a:t>
            </a:r>
            <a:endParaRPr sz="882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어두운 상향 대각선" id="1031" name="Google Shape;1031;p16"/>
          <p:cNvSpPr/>
          <p:nvPr/>
        </p:nvSpPr>
        <p:spPr>
          <a:xfrm>
            <a:off x="682305" y="2126614"/>
            <a:ext cx="647745" cy="139854"/>
          </a:xfrm>
          <a:prstGeom prst="roundRect">
            <a:avLst>
              <a:gd fmla="val 5000" name="adj"/>
            </a:avLst>
          </a:prstGeom>
          <a:solidFill>
            <a:srgbClr val="E6EAEE"/>
          </a:solidFill>
          <a:ln cap="flat" cmpd="sng" w="9525">
            <a:solidFill>
              <a:srgbClr val="D8DEE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업무 담당</a:t>
            </a:r>
            <a:endParaRPr/>
          </a:p>
        </p:txBody>
      </p:sp>
      <p:grpSp>
        <p:nvGrpSpPr>
          <p:cNvPr id="1032" name="Google Shape;1032;p16"/>
          <p:cNvGrpSpPr/>
          <p:nvPr/>
        </p:nvGrpSpPr>
        <p:grpSpPr>
          <a:xfrm>
            <a:off x="4770971" y="2387290"/>
            <a:ext cx="571145" cy="633968"/>
            <a:chOff x="5025682" y="1952497"/>
            <a:chExt cx="571145" cy="633968"/>
          </a:xfrm>
        </p:grpSpPr>
        <p:sp>
          <p:nvSpPr>
            <p:cNvPr id="1033" name="Google Shape;1033;p16"/>
            <p:cNvSpPr/>
            <p:nvPr/>
          </p:nvSpPr>
          <p:spPr>
            <a:xfrm>
              <a:off x="5025682" y="1952497"/>
              <a:ext cx="571145" cy="633968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16"/>
            <p:cNvSpPr/>
            <p:nvPr/>
          </p:nvSpPr>
          <p:spPr>
            <a:xfrm>
              <a:off x="5057185" y="2360601"/>
              <a:ext cx="508139" cy="20117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94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EDMS</a:t>
              </a:r>
              <a:endParaRPr sz="794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j0431637" id="1035" name="Google Shape;1035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179581" y="2062842"/>
              <a:ext cx="275315" cy="2745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j0431626" id="1036" name="Google Shape;1036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326288" y="2192048"/>
              <a:ext cx="154117" cy="15486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37" name="Google Shape;1037;p16"/>
          <p:cNvGrpSpPr/>
          <p:nvPr/>
        </p:nvGrpSpPr>
        <p:grpSpPr>
          <a:xfrm>
            <a:off x="6250816" y="2387289"/>
            <a:ext cx="571145" cy="633968"/>
            <a:chOff x="6505527" y="1952496"/>
            <a:chExt cx="571145" cy="633968"/>
          </a:xfrm>
        </p:grpSpPr>
        <p:sp>
          <p:nvSpPr>
            <p:cNvPr id="1038" name="Google Shape;1038;p16"/>
            <p:cNvSpPr/>
            <p:nvPr/>
          </p:nvSpPr>
          <p:spPr>
            <a:xfrm>
              <a:off x="6505527" y="1952496"/>
              <a:ext cx="571145" cy="633968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16"/>
            <p:cNvSpPr/>
            <p:nvPr/>
          </p:nvSpPr>
          <p:spPr>
            <a:xfrm>
              <a:off x="6537030" y="2360600"/>
              <a:ext cx="508139" cy="20117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94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MCMS</a:t>
              </a:r>
              <a:endParaRPr sz="794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j0431637" id="1040" name="Google Shape;1040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659426" y="2062841"/>
              <a:ext cx="275315" cy="2745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j0431626" id="1041" name="Google Shape;1041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806133" y="2192047"/>
              <a:ext cx="154117" cy="15486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42" name="Google Shape;1042;p16"/>
          <p:cNvGrpSpPr/>
          <p:nvPr/>
        </p:nvGrpSpPr>
        <p:grpSpPr>
          <a:xfrm>
            <a:off x="4461372" y="4233370"/>
            <a:ext cx="968187" cy="406769"/>
            <a:chOff x="4716083" y="3724689"/>
            <a:chExt cx="968187" cy="406769"/>
          </a:xfrm>
        </p:grpSpPr>
        <p:sp>
          <p:nvSpPr>
            <p:cNvPr id="1043" name="Google Shape;1043;p16"/>
            <p:cNvSpPr/>
            <p:nvPr/>
          </p:nvSpPr>
          <p:spPr>
            <a:xfrm>
              <a:off x="4716083" y="3724689"/>
              <a:ext cx="968187" cy="406769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 cap="flat" cmpd="sng" w="25400">
              <a:solidFill>
                <a:srgbClr val="0C0C0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16"/>
            <p:cNvSpPr txBox="1"/>
            <p:nvPr/>
          </p:nvSpPr>
          <p:spPr>
            <a:xfrm>
              <a:off x="4716083" y="3743407"/>
              <a:ext cx="96818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문서 원본</a:t>
              </a: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(6~7개월 보관)</a:t>
              </a: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5" name="Google Shape;1045;p16"/>
          <p:cNvGrpSpPr/>
          <p:nvPr/>
        </p:nvGrpSpPr>
        <p:grpSpPr>
          <a:xfrm>
            <a:off x="8014916" y="4078798"/>
            <a:ext cx="968187" cy="406769"/>
            <a:chOff x="8668871" y="3724690"/>
            <a:chExt cx="968187" cy="406769"/>
          </a:xfrm>
        </p:grpSpPr>
        <p:sp>
          <p:nvSpPr>
            <p:cNvPr id="1046" name="Google Shape;1046;p16"/>
            <p:cNvSpPr/>
            <p:nvPr/>
          </p:nvSpPr>
          <p:spPr>
            <a:xfrm>
              <a:off x="8668871" y="3724690"/>
              <a:ext cx="968187" cy="406769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16"/>
            <p:cNvSpPr txBox="1"/>
            <p:nvPr/>
          </p:nvSpPr>
          <p:spPr>
            <a:xfrm>
              <a:off x="8668871" y="3743408"/>
              <a:ext cx="96818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영상 원본</a:t>
              </a: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(3개월 보관)</a:t>
              </a: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8" name="Google Shape;1048;p16"/>
          <p:cNvGrpSpPr/>
          <p:nvPr/>
        </p:nvGrpSpPr>
        <p:grpSpPr>
          <a:xfrm>
            <a:off x="8014916" y="4841360"/>
            <a:ext cx="968187" cy="406769"/>
            <a:chOff x="8668871" y="4254162"/>
            <a:chExt cx="968187" cy="406769"/>
          </a:xfrm>
        </p:grpSpPr>
        <p:sp>
          <p:nvSpPr>
            <p:cNvPr id="1049" name="Google Shape;1049;p16"/>
            <p:cNvSpPr/>
            <p:nvPr/>
          </p:nvSpPr>
          <p:spPr>
            <a:xfrm>
              <a:off x="8668871" y="4254162"/>
              <a:ext cx="968187" cy="406769"/>
            </a:xfrm>
            <a:prstGeom prst="roundRect">
              <a:avLst>
                <a:gd fmla="val 16667" name="adj"/>
              </a:avLst>
            </a:prstGeom>
            <a:solidFill>
              <a:srgbClr val="D5D5F4"/>
            </a:solidFill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16"/>
            <p:cNvSpPr txBox="1"/>
            <p:nvPr/>
          </p:nvSpPr>
          <p:spPr>
            <a:xfrm>
              <a:off x="8668871" y="4272880"/>
              <a:ext cx="96818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영상 트랜스 0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(영구 보관)</a:t>
              </a:r>
              <a:endPara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1" name="Google Shape;1051;p16"/>
          <p:cNvGrpSpPr/>
          <p:nvPr/>
        </p:nvGrpSpPr>
        <p:grpSpPr>
          <a:xfrm>
            <a:off x="6983975" y="4851759"/>
            <a:ext cx="968187" cy="397089"/>
            <a:chOff x="7655860" y="3726676"/>
            <a:chExt cx="968187" cy="397089"/>
          </a:xfrm>
        </p:grpSpPr>
        <p:sp>
          <p:nvSpPr>
            <p:cNvPr id="1052" name="Google Shape;1052;p16"/>
            <p:cNvSpPr/>
            <p:nvPr/>
          </p:nvSpPr>
          <p:spPr>
            <a:xfrm>
              <a:off x="7655860" y="3726676"/>
              <a:ext cx="968187" cy="397089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 cap="flat" cmpd="sng" w="25400">
              <a:solidFill>
                <a:srgbClr val="0C0C0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16"/>
            <p:cNvSpPr txBox="1"/>
            <p:nvPr/>
          </p:nvSpPr>
          <p:spPr>
            <a:xfrm>
              <a:off x="7655860" y="3743408"/>
              <a:ext cx="96818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문서 원본</a:t>
              </a: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(영구보관)</a:t>
              </a:r>
              <a:endPara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4" name="Google Shape;1054;p16"/>
          <p:cNvGrpSpPr/>
          <p:nvPr/>
        </p:nvGrpSpPr>
        <p:grpSpPr>
          <a:xfrm>
            <a:off x="8002418" y="5893831"/>
            <a:ext cx="968187" cy="415759"/>
            <a:chOff x="8656373" y="5432143"/>
            <a:chExt cx="968187" cy="415759"/>
          </a:xfrm>
        </p:grpSpPr>
        <p:sp>
          <p:nvSpPr>
            <p:cNvPr id="1055" name="Google Shape;1055;p16"/>
            <p:cNvSpPr/>
            <p:nvPr/>
          </p:nvSpPr>
          <p:spPr>
            <a:xfrm>
              <a:off x="8656373" y="5441133"/>
              <a:ext cx="968187" cy="406769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16"/>
            <p:cNvSpPr txBox="1"/>
            <p:nvPr/>
          </p:nvSpPr>
          <p:spPr>
            <a:xfrm>
              <a:off x="8656373" y="5432143"/>
              <a:ext cx="96818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영상 원본</a:t>
              </a: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(영구 보관)</a:t>
              </a:r>
              <a:endPara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7" name="Google Shape;1057;p16"/>
          <p:cNvSpPr txBox="1"/>
          <p:nvPr/>
        </p:nvSpPr>
        <p:spPr>
          <a:xfrm>
            <a:off x="4546384" y="1698370"/>
            <a:ext cx="2075016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음성/동영상 업로드 ① 원본 업로드</a:t>
            </a:r>
            <a:endParaRPr sz="9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8" name="Google Shape;1058;p16"/>
          <p:cNvCxnSpPr>
            <a:stCxn id="1047" idx="3"/>
            <a:endCxn id="1055" idx="3"/>
          </p:cNvCxnSpPr>
          <p:nvPr/>
        </p:nvCxnSpPr>
        <p:spPr>
          <a:xfrm flipH="1">
            <a:off x="8970503" y="4282182"/>
            <a:ext cx="12600" cy="1824000"/>
          </a:xfrm>
          <a:prstGeom prst="bentConnector3">
            <a:avLst>
              <a:gd fmla="val -1814286" name="adj1"/>
            </a:avLst>
          </a:prstGeom>
          <a:noFill/>
          <a:ln cap="flat" cmpd="sng" w="22225">
            <a:solidFill>
              <a:srgbClr val="FF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1059" name="Google Shape;1059;p16"/>
          <p:cNvCxnSpPr>
            <a:stCxn id="1043" idx="2"/>
            <a:endCxn id="1053" idx="1"/>
          </p:cNvCxnSpPr>
          <p:nvPr/>
        </p:nvCxnSpPr>
        <p:spPr>
          <a:xfrm flipH="1" rot="-5400000">
            <a:off x="5758166" y="3827439"/>
            <a:ext cx="413100" cy="2038500"/>
          </a:xfrm>
          <a:prstGeom prst="bentConnector2">
            <a:avLst/>
          </a:prstGeom>
          <a:noFill/>
          <a:ln cap="flat" cmpd="sng" w="9525">
            <a:solidFill>
              <a:srgbClr val="595959"/>
            </a:solidFill>
            <a:prstDash val="dash"/>
            <a:round/>
            <a:headEnd len="sm" w="sm" type="none"/>
            <a:tailEnd len="med" w="med" type="triangle"/>
          </a:ln>
        </p:spPr>
      </p:cxnSp>
      <p:grpSp>
        <p:nvGrpSpPr>
          <p:cNvPr id="1060" name="Google Shape;1060;p16"/>
          <p:cNvGrpSpPr/>
          <p:nvPr/>
        </p:nvGrpSpPr>
        <p:grpSpPr>
          <a:xfrm>
            <a:off x="5509871" y="4233834"/>
            <a:ext cx="968187" cy="406769"/>
            <a:chOff x="5764582" y="3725153"/>
            <a:chExt cx="968187" cy="406769"/>
          </a:xfrm>
        </p:grpSpPr>
        <p:sp>
          <p:nvSpPr>
            <p:cNvPr id="1061" name="Google Shape;1061;p16"/>
            <p:cNvSpPr/>
            <p:nvPr/>
          </p:nvSpPr>
          <p:spPr>
            <a:xfrm>
              <a:off x="5764582" y="3725153"/>
              <a:ext cx="968187" cy="406769"/>
            </a:xfrm>
            <a:prstGeom prst="roundRect">
              <a:avLst>
                <a:gd fmla="val 16667" name="adj"/>
              </a:avLst>
            </a:prstGeom>
            <a:solidFill>
              <a:srgbClr val="D5D5F4"/>
            </a:solidFill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16"/>
            <p:cNvSpPr txBox="1"/>
            <p:nvPr/>
          </p:nvSpPr>
          <p:spPr>
            <a:xfrm>
              <a:off x="5764582" y="3743871"/>
              <a:ext cx="96818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영상 트랜스 0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(1년 보관)</a:t>
              </a: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63" name="Google Shape;1063;p16"/>
          <p:cNvCxnSpPr>
            <a:stCxn id="1038" idx="1"/>
            <a:endCxn id="1033" idx="3"/>
          </p:cNvCxnSpPr>
          <p:nvPr/>
        </p:nvCxnSpPr>
        <p:spPr>
          <a:xfrm flipH="1">
            <a:off x="5342116" y="2704273"/>
            <a:ext cx="908700" cy="600"/>
          </a:xfrm>
          <a:prstGeom prst="bentConnector3">
            <a:avLst>
              <a:gd fmla="val 50000" name="adj1"/>
            </a:avLst>
          </a:prstGeom>
          <a:noFill/>
          <a:ln cap="flat" cmpd="sng" w="25400">
            <a:solidFill>
              <a:srgbClr val="26269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64" name="Google Shape;1064;p16"/>
          <p:cNvSpPr txBox="1"/>
          <p:nvPr/>
        </p:nvSpPr>
        <p:spPr>
          <a:xfrm>
            <a:off x="5353252" y="2284722"/>
            <a:ext cx="9116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191966"/>
                </a:solidFill>
                <a:latin typeface="Arial"/>
                <a:ea typeface="Arial"/>
                <a:cs typeface="Arial"/>
                <a:sym typeface="Arial"/>
              </a:rPr>
              <a:t>⑤ 트랜스본 </a:t>
            </a:r>
            <a:endParaRPr sz="900">
              <a:solidFill>
                <a:srgbClr val="1919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191966"/>
                </a:solidFill>
                <a:latin typeface="Arial"/>
                <a:ea typeface="Arial"/>
                <a:cs typeface="Arial"/>
                <a:sym typeface="Arial"/>
              </a:rPr>
              <a:t>등록요청 </a:t>
            </a:r>
            <a:endParaRPr sz="900">
              <a:solidFill>
                <a:srgbClr val="1919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5" name="Google Shape;1065;p16"/>
          <p:cNvCxnSpPr/>
          <p:nvPr/>
        </p:nvCxnSpPr>
        <p:spPr>
          <a:xfrm flipH="1" rot="-5400000">
            <a:off x="5001350" y="3231940"/>
            <a:ext cx="1198500" cy="786600"/>
          </a:xfrm>
          <a:prstGeom prst="bentConnector3">
            <a:avLst>
              <a:gd fmla="val 40281" name="adj1"/>
            </a:avLst>
          </a:prstGeom>
          <a:noFill/>
          <a:ln cap="flat" cmpd="sng" w="25400">
            <a:solidFill>
              <a:srgbClr val="26269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66" name="Google Shape;1066;p16"/>
          <p:cNvCxnSpPr>
            <a:stCxn id="1061" idx="2"/>
            <a:endCxn id="1050" idx="2"/>
          </p:cNvCxnSpPr>
          <p:nvPr/>
        </p:nvCxnSpPr>
        <p:spPr>
          <a:xfrm flipH="1" rot="-5400000">
            <a:off x="6952014" y="3682553"/>
            <a:ext cx="588900" cy="2505000"/>
          </a:xfrm>
          <a:prstGeom prst="bentConnector3">
            <a:avLst>
              <a:gd fmla="val 138802" name="adj1"/>
            </a:avLst>
          </a:prstGeom>
          <a:noFill/>
          <a:ln cap="flat" cmpd="sng" w="22225">
            <a:solidFill>
              <a:srgbClr val="262699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1067" name="Google Shape;1067;p16"/>
          <p:cNvSpPr txBox="1"/>
          <p:nvPr/>
        </p:nvSpPr>
        <p:spPr>
          <a:xfrm>
            <a:off x="4277897" y="5486523"/>
            <a:ext cx="4000476" cy="923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62699"/>
                </a:solidFill>
                <a:latin typeface="Arial"/>
                <a:ea typeface="Arial"/>
                <a:cs typeface="Arial"/>
                <a:sym typeface="Arial"/>
              </a:rPr>
              <a:t>(추가작업) 마이그</a:t>
            </a:r>
            <a:endParaRPr sz="900">
              <a:solidFill>
                <a:srgbClr val="2626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62699"/>
                </a:solidFill>
                <a:latin typeface="Arial"/>
                <a:ea typeface="Arial"/>
                <a:cs typeface="Arial"/>
                <a:sym typeface="Arial"/>
              </a:rPr>
              <a:t>1차 스토리지 내 데이터는  1년 보관 후 삭제</a:t>
            </a:r>
            <a:endParaRPr sz="900">
              <a:solidFill>
                <a:srgbClr val="2626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626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62699"/>
                </a:solidFill>
                <a:latin typeface="Arial"/>
                <a:ea typeface="Arial"/>
                <a:cs typeface="Arial"/>
                <a:sym typeface="Arial"/>
              </a:rPr>
              <a:t>EDMS 기본 스케쥴에 따라  Daily로 2차로 복제 되며 1차에서 </a:t>
            </a:r>
            <a:endParaRPr sz="900">
              <a:solidFill>
                <a:srgbClr val="2626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62699"/>
                </a:solidFill>
                <a:latin typeface="Arial"/>
                <a:ea typeface="Arial"/>
                <a:cs typeface="Arial"/>
                <a:sym typeface="Arial"/>
              </a:rPr>
              <a:t>지정된 스케쥴에 따라 삭제됨  (삭제된 영상은 2차에서 스트리밍)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62699"/>
                </a:solidFill>
                <a:latin typeface="Arial"/>
                <a:ea typeface="Arial"/>
                <a:cs typeface="Arial"/>
                <a:sym typeface="Arial"/>
              </a:rPr>
              <a:t>※ EDMS 솔루션사는 유지보수 차원에서 트랜스본 마이그 처리 작업 지원</a:t>
            </a:r>
            <a:endParaRPr sz="900">
              <a:solidFill>
                <a:srgbClr val="2626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8" name="Google Shape;106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755" y="2327473"/>
            <a:ext cx="437212" cy="408105"/>
          </a:xfrm>
          <a:prstGeom prst="rect">
            <a:avLst/>
          </a:prstGeom>
          <a:noFill/>
          <a:ln>
            <a:noFill/>
          </a:ln>
        </p:spPr>
      </p:pic>
      <p:sp>
        <p:nvSpPr>
          <p:cNvPr id="1069" name="Google Shape;1069;p16"/>
          <p:cNvSpPr txBox="1"/>
          <p:nvPr/>
        </p:nvSpPr>
        <p:spPr>
          <a:xfrm>
            <a:off x="1405584" y="2528557"/>
            <a:ext cx="895457" cy="244787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하이유피</a:t>
            </a:r>
            <a:endParaRPr sz="882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어두운 상향 대각선" id="1070" name="Google Shape;1070;p16"/>
          <p:cNvSpPr/>
          <p:nvPr/>
        </p:nvSpPr>
        <p:spPr>
          <a:xfrm>
            <a:off x="682305" y="2755587"/>
            <a:ext cx="647745" cy="139854"/>
          </a:xfrm>
          <a:prstGeom prst="roundRect">
            <a:avLst>
              <a:gd fmla="val 5000" name="adj"/>
            </a:avLst>
          </a:prstGeom>
          <a:solidFill>
            <a:srgbClr val="E6EAEE"/>
          </a:solidFill>
          <a:ln cap="flat" cmpd="sng" w="9525">
            <a:solidFill>
              <a:srgbClr val="D8DEE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보상 담당</a:t>
            </a:r>
            <a:endParaRPr/>
          </a:p>
        </p:txBody>
      </p:sp>
      <p:cxnSp>
        <p:nvCxnSpPr>
          <p:cNvPr id="1071" name="Google Shape;1071;p16"/>
          <p:cNvCxnSpPr/>
          <p:nvPr/>
        </p:nvCxnSpPr>
        <p:spPr>
          <a:xfrm>
            <a:off x="4953229" y="3035224"/>
            <a:ext cx="1202" cy="1216864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1072" name="Google Shape;1072;p16"/>
          <p:cNvGrpSpPr/>
          <p:nvPr/>
        </p:nvGrpSpPr>
        <p:grpSpPr>
          <a:xfrm>
            <a:off x="4275249" y="2953204"/>
            <a:ext cx="571145" cy="633968"/>
            <a:chOff x="4529960" y="2518411"/>
            <a:chExt cx="571145" cy="633968"/>
          </a:xfrm>
        </p:grpSpPr>
        <p:sp>
          <p:nvSpPr>
            <p:cNvPr id="1073" name="Google Shape;1073;p16"/>
            <p:cNvSpPr/>
            <p:nvPr/>
          </p:nvSpPr>
          <p:spPr>
            <a:xfrm>
              <a:off x="4529960" y="2518411"/>
              <a:ext cx="571145" cy="633968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16"/>
            <p:cNvSpPr/>
            <p:nvPr/>
          </p:nvSpPr>
          <p:spPr>
            <a:xfrm>
              <a:off x="4561463" y="2926515"/>
              <a:ext cx="508139" cy="20117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94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EDMS DB</a:t>
              </a:r>
              <a:endParaRPr sz="794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j0431637" id="1075" name="Google Shape;1075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83859" y="2628756"/>
              <a:ext cx="275315" cy="2745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j0431626" id="1076" name="Google Shape;1076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830566" y="2757962"/>
              <a:ext cx="154117" cy="15486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77" name="Google Shape;1077;p16"/>
          <p:cNvGrpSpPr/>
          <p:nvPr/>
        </p:nvGrpSpPr>
        <p:grpSpPr>
          <a:xfrm>
            <a:off x="6774374" y="2688298"/>
            <a:ext cx="571145" cy="633968"/>
            <a:chOff x="7003109" y="2510816"/>
            <a:chExt cx="571145" cy="633968"/>
          </a:xfrm>
        </p:grpSpPr>
        <p:sp>
          <p:nvSpPr>
            <p:cNvPr id="1078" name="Google Shape;1078;p16"/>
            <p:cNvSpPr/>
            <p:nvPr/>
          </p:nvSpPr>
          <p:spPr>
            <a:xfrm>
              <a:off x="7003109" y="2510816"/>
              <a:ext cx="571145" cy="633968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16"/>
            <p:cNvSpPr/>
            <p:nvPr/>
          </p:nvSpPr>
          <p:spPr>
            <a:xfrm>
              <a:off x="7034612" y="2918920"/>
              <a:ext cx="508139" cy="20117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94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MCMS DB</a:t>
              </a:r>
              <a:endParaRPr sz="794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j0431637" id="1080" name="Google Shape;1080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157008" y="2621161"/>
              <a:ext cx="275315" cy="2745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j0431626" id="1081" name="Google Shape;1081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303715" y="2750367"/>
              <a:ext cx="154117" cy="154865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1082" name="Google Shape;1082;p16"/>
          <p:cNvGraphicFramePr/>
          <p:nvPr/>
        </p:nvGraphicFramePr>
        <p:xfrm>
          <a:off x="479240" y="36068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{F6045412-04BD-4F82-B1B7-2730D475FC39}</a:tableStyleId>
              </a:tblPr>
              <a:tblGrid>
                <a:gridCol w="1566025"/>
                <a:gridCol w="2177775"/>
              </a:tblGrid>
              <a:tr h="178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단계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설명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16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① 원본 업로드 Req.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콘텐츠 업로드 </a:t>
                      </a:r>
                      <a:r>
                        <a:rPr b="1"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URL</a:t>
                      </a: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호출 (JS함수)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② 원본 적재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원본을 2차 스토리지에 저장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 MCMS는 2차 스토리지를 마운트</a:t>
                      </a:r>
                      <a:endParaRPr sz="9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 API를 이용하여 쓰기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③ 원본 업로드 결과 Res.</a:t>
                      </a:r>
                      <a:endParaRPr sz="9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업로드 성공/실패 안내</a:t>
                      </a:r>
                      <a:endParaRPr sz="9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(업로드 결과만 바로 응답해야 할 때)</a:t>
                      </a:r>
                      <a:endParaRPr sz="9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④ 트랜스코딩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오디오: MP3, 동영상: MP4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⑤ 트랜스본 등록요청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MCMS는 </a:t>
                      </a:r>
                      <a:r>
                        <a:rPr b="1"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EDMS Agent</a:t>
                      </a: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를 통해서 트랜스본 등록을 요청</a:t>
                      </a:r>
                      <a:endParaRPr sz="9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⑥ 트랜스본 적재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EDMS가 트랜스본을 1차 스토리지에 저장</a:t>
                      </a:r>
                      <a:endParaRPr sz="9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⑦ 트랜스본 적재 결과 Res.</a:t>
                      </a:r>
                      <a:endParaRPr sz="9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트랜스본 적재 시 생성되는 키 값을 업무 DB에 저장해야 하는 경우 트랜스본 적재 결과 Response를 받아서 처리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083" name="Google Shape;1083;p16"/>
          <p:cNvGrpSpPr/>
          <p:nvPr/>
        </p:nvGrpSpPr>
        <p:grpSpPr>
          <a:xfrm>
            <a:off x="6838448" y="3713689"/>
            <a:ext cx="2253758" cy="1668288"/>
            <a:chOff x="7492403" y="3278896"/>
            <a:chExt cx="2253758" cy="1668288"/>
          </a:xfrm>
        </p:grpSpPr>
        <p:sp>
          <p:nvSpPr>
            <p:cNvPr id="1084" name="Google Shape;1084;p16"/>
            <p:cNvSpPr txBox="1"/>
            <p:nvPr/>
          </p:nvSpPr>
          <p:spPr>
            <a:xfrm>
              <a:off x="7502413" y="3547163"/>
              <a:ext cx="592609" cy="215444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NAS</a:t>
              </a:r>
              <a:endParaRPr/>
            </a:p>
          </p:txBody>
        </p:sp>
        <p:sp>
          <p:nvSpPr>
            <p:cNvPr id="1085" name="Google Shape;1085;p16"/>
            <p:cNvSpPr txBox="1"/>
            <p:nvPr/>
          </p:nvSpPr>
          <p:spPr>
            <a:xfrm>
              <a:off x="7502413" y="4144727"/>
              <a:ext cx="592609" cy="215444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WORM</a:t>
              </a:r>
              <a:endParaRPr/>
            </a:p>
          </p:txBody>
        </p:sp>
        <p:grpSp>
          <p:nvGrpSpPr>
            <p:cNvPr id="1086" name="Google Shape;1086;p16"/>
            <p:cNvGrpSpPr/>
            <p:nvPr/>
          </p:nvGrpSpPr>
          <p:grpSpPr>
            <a:xfrm>
              <a:off x="7492403" y="3278896"/>
              <a:ext cx="2253758" cy="1668288"/>
              <a:chOff x="7492403" y="3278896"/>
              <a:chExt cx="2253758" cy="1668288"/>
            </a:xfrm>
          </p:grpSpPr>
          <p:sp>
            <p:nvSpPr>
              <p:cNvPr id="1087" name="Google Shape;1087;p16"/>
              <p:cNvSpPr/>
              <p:nvPr/>
            </p:nvSpPr>
            <p:spPr>
              <a:xfrm>
                <a:off x="7492403" y="3278896"/>
                <a:ext cx="2253758" cy="1668288"/>
              </a:xfrm>
              <a:prstGeom prst="rect">
                <a:avLst/>
              </a:prstGeom>
              <a:noFill/>
              <a:ln cap="flat" cmpd="sng" w="25400">
                <a:solidFill>
                  <a:srgbClr val="CBED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8" name="Google Shape;1088;p16"/>
              <p:cNvSpPr/>
              <p:nvPr/>
            </p:nvSpPr>
            <p:spPr>
              <a:xfrm>
                <a:off x="7492403" y="3278896"/>
                <a:ext cx="2247480" cy="265801"/>
              </a:xfrm>
              <a:prstGeom prst="rect">
                <a:avLst/>
              </a:prstGeom>
              <a:solidFill>
                <a:srgbClr val="CBEDDE"/>
              </a:solidFill>
              <a:ln cap="flat" cmpd="sng" w="25400">
                <a:solidFill>
                  <a:srgbClr val="CBED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EDMS 2차 스토리지</a:t>
                </a:r>
                <a:endParaRPr/>
              </a:p>
            </p:txBody>
          </p:sp>
        </p:grpSp>
        <p:cxnSp>
          <p:nvCxnSpPr>
            <p:cNvPr id="1089" name="Google Shape;1089;p16"/>
            <p:cNvCxnSpPr/>
            <p:nvPr/>
          </p:nvCxnSpPr>
          <p:spPr>
            <a:xfrm>
              <a:off x="7492403" y="4133544"/>
              <a:ext cx="2242444" cy="0"/>
            </a:xfrm>
            <a:prstGeom prst="straightConnector1">
              <a:avLst/>
            </a:prstGeom>
            <a:noFill/>
            <a:ln cap="flat" cmpd="sng" w="9525">
              <a:solidFill>
                <a:srgbClr val="CBEDDE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90" name="Google Shape;1090;p16"/>
          <p:cNvSpPr txBox="1"/>
          <p:nvPr/>
        </p:nvSpPr>
        <p:spPr>
          <a:xfrm>
            <a:off x="4945465" y="5097204"/>
            <a:ext cx="1336854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(ASIS) 마이그</a:t>
            </a:r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1" name="Google Shape;1091;p16"/>
          <p:cNvCxnSpPr>
            <a:stCxn id="1078" idx="2"/>
            <a:endCxn id="1047" idx="1"/>
          </p:cNvCxnSpPr>
          <p:nvPr/>
        </p:nvCxnSpPr>
        <p:spPr>
          <a:xfrm>
            <a:off x="7059947" y="3322266"/>
            <a:ext cx="954900" cy="96000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92" name="Google Shape;1092;p16"/>
          <p:cNvCxnSpPr>
            <a:stCxn id="1073" idx="2"/>
            <a:endCxn id="1062" idx="1"/>
          </p:cNvCxnSpPr>
          <p:nvPr/>
        </p:nvCxnSpPr>
        <p:spPr>
          <a:xfrm>
            <a:off x="4560822" y="3587172"/>
            <a:ext cx="948900" cy="84990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93" name="Google Shape;1093;p16"/>
          <p:cNvCxnSpPr>
            <a:stCxn id="1073" idx="2"/>
            <a:endCxn id="1044" idx="1"/>
          </p:cNvCxnSpPr>
          <p:nvPr/>
        </p:nvCxnSpPr>
        <p:spPr>
          <a:xfrm flipH="1">
            <a:off x="4461522" y="3587172"/>
            <a:ext cx="99300" cy="84960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94" name="Google Shape;1094;p16"/>
          <p:cNvCxnSpPr>
            <a:stCxn id="1038" idx="3"/>
            <a:endCxn id="1047" idx="0"/>
          </p:cNvCxnSpPr>
          <p:nvPr/>
        </p:nvCxnSpPr>
        <p:spPr>
          <a:xfrm>
            <a:off x="6821961" y="2704273"/>
            <a:ext cx="1677000" cy="1393200"/>
          </a:xfrm>
          <a:prstGeom prst="bentConnector2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95" name="Google Shape;1095;p16"/>
          <p:cNvSpPr txBox="1"/>
          <p:nvPr/>
        </p:nvSpPr>
        <p:spPr>
          <a:xfrm>
            <a:off x="8042203" y="2797011"/>
            <a:ext cx="2175839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② 원본 적재</a:t>
            </a:r>
            <a:endParaRPr sz="9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16"/>
          <p:cNvSpPr txBox="1"/>
          <p:nvPr/>
        </p:nvSpPr>
        <p:spPr>
          <a:xfrm>
            <a:off x="2405211" y="1714654"/>
            <a:ext cx="1782163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③ 원본 업로드 결과 Response</a:t>
            </a:r>
            <a:endParaRPr/>
          </a:p>
        </p:txBody>
      </p:sp>
      <p:sp>
        <p:nvSpPr>
          <p:cNvPr id="1097" name="Google Shape;1097;p16"/>
          <p:cNvSpPr/>
          <p:nvPr/>
        </p:nvSpPr>
        <p:spPr>
          <a:xfrm rot="3457440">
            <a:off x="6709906" y="2243256"/>
            <a:ext cx="382842" cy="238687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262699"/>
          </a:solidFill>
          <a:ln cap="flat" cmpd="sng" w="25400">
            <a:solidFill>
              <a:srgbClr val="262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p16"/>
          <p:cNvSpPr txBox="1"/>
          <p:nvPr/>
        </p:nvSpPr>
        <p:spPr>
          <a:xfrm>
            <a:off x="6519296" y="1962888"/>
            <a:ext cx="1059415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191966"/>
                </a:solidFill>
                <a:latin typeface="Arial"/>
                <a:ea typeface="Arial"/>
                <a:cs typeface="Arial"/>
                <a:sym typeface="Arial"/>
              </a:rPr>
              <a:t>④ 트랜스코딩</a:t>
            </a:r>
            <a:endParaRPr sz="900">
              <a:solidFill>
                <a:srgbClr val="1919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p16"/>
          <p:cNvSpPr txBox="1"/>
          <p:nvPr/>
        </p:nvSpPr>
        <p:spPr>
          <a:xfrm>
            <a:off x="5238801" y="3247175"/>
            <a:ext cx="1179403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191966"/>
                </a:solidFill>
                <a:latin typeface="Arial"/>
                <a:ea typeface="Arial"/>
                <a:cs typeface="Arial"/>
                <a:sym typeface="Arial"/>
              </a:rPr>
              <a:t>⑥ 트랜스본 적재</a:t>
            </a:r>
            <a:endParaRPr sz="900">
              <a:solidFill>
                <a:srgbClr val="1919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0" name="Google Shape;1100;p16"/>
          <p:cNvCxnSpPr>
            <a:stCxn id="1027" idx="2"/>
            <a:endCxn id="1033" idx="0"/>
          </p:cNvCxnSpPr>
          <p:nvPr/>
        </p:nvCxnSpPr>
        <p:spPr>
          <a:xfrm rot="-5400000">
            <a:off x="2979213" y="1261528"/>
            <a:ext cx="951300" cy="3203100"/>
          </a:xfrm>
          <a:prstGeom prst="bentConnector5">
            <a:avLst>
              <a:gd fmla="val -24030" name="adj1"/>
              <a:gd fmla="val 52533" name="adj2"/>
              <a:gd fmla="val 124045" name="adj3"/>
            </a:avLst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01" name="Google Shape;1101;p16"/>
          <p:cNvCxnSpPr>
            <a:stCxn id="1069" idx="2"/>
            <a:endCxn id="1033" idx="0"/>
          </p:cNvCxnSpPr>
          <p:nvPr/>
        </p:nvCxnSpPr>
        <p:spPr>
          <a:xfrm rot="-5400000">
            <a:off x="3261813" y="978744"/>
            <a:ext cx="386100" cy="3203100"/>
          </a:xfrm>
          <a:prstGeom prst="bentConnector5">
            <a:avLst>
              <a:gd fmla="val -59208" name="adj1"/>
              <a:gd fmla="val 52533" name="adj2"/>
              <a:gd fmla="val 159196" name="adj3"/>
            </a:avLst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02" name="Google Shape;1102;p16"/>
          <p:cNvCxnSpPr>
            <a:stCxn id="1030" idx="2"/>
            <a:endCxn id="1033" idx="0"/>
          </p:cNvCxnSpPr>
          <p:nvPr/>
        </p:nvCxnSpPr>
        <p:spPr>
          <a:xfrm flipH="1" rot="-5400000">
            <a:off x="3307713" y="638731"/>
            <a:ext cx="294300" cy="3203100"/>
          </a:xfrm>
          <a:prstGeom prst="bentConnector3">
            <a:avLst>
              <a:gd fmla="val 49976" name="adj1"/>
            </a:avLst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03" name="Google Shape;1103;p16"/>
          <p:cNvSpPr txBox="1"/>
          <p:nvPr/>
        </p:nvSpPr>
        <p:spPr>
          <a:xfrm>
            <a:off x="3834931" y="1960302"/>
            <a:ext cx="1591867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문서/사진 업로드 (AS-IS)</a:t>
            </a:r>
            <a:endParaRPr/>
          </a:p>
        </p:txBody>
      </p:sp>
      <p:cxnSp>
        <p:nvCxnSpPr>
          <p:cNvPr id="1104" name="Google Shape;1104;p16"/>
          <p:cNvCxnSpPr>
            <a:stCxn id="1027" idx="3"/>
            <a:endCxn id="1038" idx="0"/>
          </p:cNvCxnSpPr>
          <p:nvPr/>
        </p:nvCxnSpPr>
        <p:spPr>
          <a:xfrm flipH="1" rot="10800000">
            <a:off x="2301041" y="2387435"/>
            <a:ext cx="4235400" cy="828900"/>
          </a:xfrm>
          <a:prstGeom prst="bentConnector4">
            <a:avLst>
              <a:gd fmla="val 46628" name="adj1"/>
              <a:gd fmla="val 127596" name="adj2"/>
            </a:avLst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05" name="Google Shape;1105;p16"/>
          <p:cNvCxnSpPr>
            <a:stCxn id="1069" idx="3"/>
            <a:endCxn id="1038" idx="0"/>
          </p:cNvCxnSpPr>
          <p:nvPr/>
        </p:nvCxnSpPr>
        <p:spPr>
          <a:xfrm flipH="1" rot="10800000">
            <a:off x="2301041" y="2387251"/>
            <a:ext cx="4235400" cy="263700"/>
          </a:xfrm>
          <a:prstGeom prst="bentConnector4">
            <a:avLst>
              <a:gd fmla="val 46628" name="adj1"/>
              <a:gd fmla="val 186675" name="adj2"/>
            </a:avLst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06" name="Google Shape;1106;p16"/>
          <p:cNvSpPr txBox="1"/>
          <p:nvPr/>
        </p:nvSpPr>
        <p:spPr>
          <a:xfrm>
            <a:off x="6848459" y="4191456"/>
            <a:ext cx="759894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(신규 30TB)</a:t>
            </a:r>
            <a:endParaRPr/>
          </a:p>
        </p:txBody>
      </p:sp>
      <p:sp>
        <p:nvSpPr>
          <p:cNvPr id="1107" name="Google Shape;1107;p16"/>
          <p:cNvSpPr txBox="1"/>
          <p:nvPr/>
        </p:nvSpPr>
        <p:spPr>
          <a:xfrm>
            <a:off x="2353211" y="2257772"/>
            <a:ext cx="1969952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191966"/>
                </a:solidFill>
                <a:latin typeface="Arial"/>
                <a:ea typeface="Arial"/>
                <a:cs typeface="Arial"/>
                <a:sym typeface="Arial"/>
              </a:rPr>
              <a:t>⑦ 트랜스본 적재 결과 Response</a:t>
            </a:r>
            <a:endParaRPr/>
          </a:p>
        </p:txBody>
      </p:sp>
      <p:sp>
        <p:nvSpPr>
          <p:cNvPr id="1108" name="Google Shape;1108;p16"/>
          <p:cNvSpPr/>
          <p:nvPr/>
        </p:nvSpPr>
        <p:spPr>
          <a:xfrm>
            <a:off x="7405063" y="977535"/>
            <a:ext cx="1730892" cy="734713"/>
          </a:xfrm>
          <a:prstGeom prst="flowChartMagneticDisk">
            <a:avLst/>
          </a:prstGeom>
          <a:solidFill>
            <a:schemeClr val="lt1"/>
          </a:solidFill>
          <a:ln cap="flat" cmpd="sng" w="25400">
            <a:solidFill>
              <a:srgbClr val="0094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16"/>
          <p:cNvSpPr txBox="1"/>
          <p:nvPr/>
        </p:nvSpPr>
        <p:spPr>
          <a:xfrm>
            <a:off x="7477718" y="978907"/>
            <a:ext cx="155341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 DB(Xtorm DB)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16"/>
          <p:cNvSpPr/>
          <p:nvPr/>
        </p:nvSpPr>
        <p:spPr>
          <a:xfrm>
            <a:off x="8304352" y="1240656"/>
            <a:ext cx="752954" cy="39296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(2차)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문서 + 영상</a:t>
            </a:r>
            <a:endParaRPr sz="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Clip ID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p16"/>
          <p:cNvSpPr/>
          <p:nvPr/>
        </p:nvSpPr>
        <p:spPr>
          <a:xfrm>
            <a:off x="7523248" y="1240656"/>
            <a:ext cx="752954" cy="39296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(1차)</a:t>
            </a:r>
            <a:br>
              <a:rPr lang="en-US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문서 + 영상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경로 정보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p16"/>
          <p:cNvSpPr/>
          <p:nvPr/>
        </p:nvSpPr>
        <p:spPr>
          <a:xfrm>
            <a:off x="7637063" y="1966220"/>
            <a:ext cx="1282620" cy="195431"/>
          </a:xfrm>
          <a:prstGeom prst="rect">
            <a:avLst/>
          </a:prstGeom>
          <a:noFill/>
          <a:ln cap="flat" cmpd="sng" w="25400">
            <a:solidFill>
              <a:srgbClr val="7F7F7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MCMS DB (신규)</a:t>
            </a:r>
            <a:endParaRPr sz="1000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13" name="Google Shape;1113;p16"/>
          <p:cNvSpPr txBox="1"/>
          <p:nvPr/>
        </p:nvSpPr>
        <p:spPr>
          <a:xfrm>
            <a:off x="7187314" y="684002"/>
            <a:ext cx="2177776" cy="230832"/>
          </a:xfrm>
          <a:prstGeom prst="rect">
            <a:avLst/>
          </a:prstGeom>
          <a:solidFill>
            <a:srgbClr val="D5D5F4"/>
          </a:solidFill>
          <a:ln cap="flat" cmpd="sng" w="9525">
            <a:solidFill>
              <a:srgbClr val="191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191966"/>
                </a:solidFill>
                <a:latin typeface="Arial"/>
                <a:ea typeface="Arial"/>
                <a:cs typeface="Arial"/>
                <a:sym typeface="Arial"/>
              </a:rPr>
              <a:t>솔루션 DB 구성 검토</a:t>
            </a:r>
            <a:endParaRPr sz="900">
              <a:solidFill>
                <a:srgbClr val="1919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4" name="Google Shape;1114;p16"/>
          <p:cNvSpPr/>
          <p:nvPr/>
        </p:nvSpPr>
        <p:spPr>
          <a:xfrm>
            <a:off x="7187314" y="912961"/>
            <a:ext cx="2177776" cy="1641012"/>
          </a:xfrm>
          <a:prstGeom prst="rect">
            <a:avLst/>
          </a:prstGeom>
          <a:noFill/>
          <a:ln cap="flat" cmpd="sng" w="25400">
            <a:solidFill>
              <a:srgbClr val="191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p16"/>
          <p:cNvSpPr txBox="1"/>
          <p:nvPr/>
        </p:nvSpPr>
        <p:spPr>
          <a:xfrm>
            <a:off x="682305" y="1395564"/>
            <a:ext cx="3460564" cy="230832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rgbClr val="262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191966"/>
                </a:solidFill>
                <a:latin typeface="Arial"/>
                <a:ea typeface="Arial"/>
                <a:cs typeface="Arial"/>
                <a:sym typeface="Arial"/>
              </a:rPr>
              <a:t>※ 클라이언트 단에서 파일 종류에 따른 분기 처리 커스터마이징</a:t>
            </a:r>
            <a:endParaRPr sz="900">
              <a:solidFill>
                <a:srgbClr val="1919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6" name="Google Shape;1116;p16"/>
          <p:cNvCxnSpPr>
            <a:stCxn id="1030" idx="3"/>
            <a:endCxn id="1038" idx="0"/>
          </p:cNvCxnSpPr>
          <p:nvPr/>
        </p:nvCxnSpPr>
        <p:spPr>
          <a:xfrm>
            <a:off x="2301041" y="1925663"/>
            <a:ext cx="4235400" cy="461700"/>
          </a:xfrm>
          <a:prstGeom prst="bentConnector2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17" name="Google Shape;1117;p16"/>
          <p:cNvSpPr/>
          <p:nvPr/>
        </p:nvSpPr>
        <p:spPr>
          <a:xfrm>
            <a:off x="6841186" y="3979489"/>
            <a:ext cx="2216119" cy="584911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17"/>
          <p:cNvSpPr/>
          <p:nvPr/>
        </p:nvSpPr>
        <p:spPr>
          <a:xfrm>
            <a:off x="215914" y="2625421"/>
            <a:ext cx="1363828" cy="72692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450" lIns="87400" spcFirstLastPara="1" rIns="87400" wrap="square" tIns="4545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77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HTML5 뷰어</a:t>
            </a:r>
            <a:endParaRPr/>
          </a:p>
        </p:txBody>
      </p:sp>
      <p:sp>
        <p:nvSpPr>
          <p:cNvPr id="1123" name="Google Shape;1123;p17"/>
          <p:cNvSpPr txBox="1"/>
          <p:nvPr/>
        </p:nvSpPr>
        <p:spPr>
          <a:xfrm>
            <a:off x="417770" y="714190"/>
            <a:ext cx="8964356" cy="637153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아키텍처 설계 &gt; 2.4 동영상플랫폼</a:t>
            </a:r>
            <a:endParaRPr b="1" i="0" sz="14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2.4.2 동영상플랫폼 업무흐름도 (조회/다운로드)</a:t>
            </a:r>
            <a:endParaRPr/>
          </a:p>
        </p:txBody>
      </p:sp>
      <p:grpSp>
        <p:nvGrpSpPr>
          <p:cNvPr id="1124" name="Google Shape;1124;p17"/>
          <p:cNvGrpSpPr/>
          <p:nvPr/>
        </p:nvGrpSpPr>
        <p:grpSpPr>
          <a:xfrm>
            <a:off x="6698653" y="3728878"/>
            <a:ext cx="2253758" cy="1668288"/>
            <a:chOff x="7492403" y="3278896"/>
            <a:chExt cx="2253758" cy="1668288"/>
          </a:xfrm>
        </p:grpSpPr>
        <p:sp>
          <p:nvSpPr>
            <p:cNvPr id="1125" name="Google Shape;1125;p17"/>
            <p:cNvSpPr txBox="1"/>
            <p:nvPr/>
          </p:nvSpPr>
          <p:spPr>
            <a:xfrm>
              <a:off x="7502413" y="3547163"/>
              <a:ext cx="592609" cy="215444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NAS</a:t>
              </a:r>
              <a:endParaRPr/>
            </a:p>
          </p:txBody>
        </p:sp>
        <p:sp>
          <p:nvSpPr>
            <p:cNvPr id="1126" name="Google Shape;1126;p17"/>
            <p:cNvSpPr txBox="1"/>
            <p:nvPr/>
          </p:nvSpPr>
          <p:spPr>
            <a:xfrm>
              <a:off x="7502413" y="4198246"/>
              <a:ext cx="592609" cy="215444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WORM</a:t>
              </a:r>
              <a:endParaRPr/>
            </a:p>
          </p:txBody>
        </p:sp>
        <p:cxnSp>
          <p:nvCxnSpPr>
            <p:cNvPr id="1127" name="Google Shape;1127;p17"/>
            <p:cNvCxnSpPr/>
            <p:nvPr/>
          </p:nvCxnSpPr>
          <p:spPr>
            <a:xfrm>
              <a:off x="7492403" y="4196299"/>
              <a:ext cx="2242444" cy="0"/>
            </a:xfrm>
            <a:prstGeom prst="straightConnector1">
              <a:avLst/>
            </a:prstGeom>
            <a:noFill/>
            <a:ln cap="flat" cmpd="sng" w="9525">
              <a:solidFill>
                <a:srgbClr val="CBEDDE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128" name="Google Shape;1128;p17"/>
            <p:cNvGrpSpPr/>
            <p:nvPr/>
          </p:nvGrpSpPr>
          <p:grpSpPr>
            <a:xfrm>
              <a:off x="7492403" y="3278896"/>
              <a:ext cx="2253758" cy="1668288"/>
              <a:chOff x="7492403" y="3278896"/>
              <a:chExt cx="2253758" cy="1668288"/>
            </a:xfrm>
          </p:grpSpPr>
          <p:sp>
            <p:nvSpPr>
              <p:cNvPr id="1129" name="Google Shape;1129;p17"/>
              <p:cNvSpPr/>
              <p:nvPr/>
            </p:nvSpPr>
            <p:spPr>
              <a:xfrm>
                <a:off x="7492403" y="3278896"/>
                <a:ext cx="2253758" cy="1668288"/>
              </a:xfrm>
              <a:prstGeom prst="rect">
                <a:avLst/>
              </a:prstGeom>
              <a:noFill/>
              <a:ln cap="flat" cmpd="sng" w="25400">
                <a:solidFill>
                  <a:srgbClr val="CBED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0" name="Google Shape;1130;p17"/>
              <p:cNvSpPr/>
              <p:nvPr/>
            </p:nvSpPr>
            <p:spPr>
              <a:xfrm>
                <a:off x="7492403" y="3278896"/>
                <a:ext cx="2253758" cy="265801"/>
              </a:xfrm>
              <a:prstGeom prst="rect">
                <a:avLst/>
              </a:prstGeom>
              <a:solidFill>
                <a:srgbClr val="CBEDDE"/>
              </a:solidFill>
              <a:ln cap="flat" cmpd="sng" w="25400">
                <a:solidFill>
                  <a:srgbClr val="CBED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EDMS 2차 스토리지</a:t>
                </a:r>
                <a:endParaRPr/>
              </a:p>
            </p:txBody>
          </p:sp>
        </p:grpSp>
      </p:grpSp>
      <p:grpSp>
        <p:nvGrpSpPr>
          <p:cNvPr id="1131" name="Google Shape;1131;p17"/>
          <p:cNvGrpSpPr/>
          <p:nvPr/>
        </p:nvGrpSpPr>
        <p:grpSpPr>
          <a:xfrm>
            <a:off x="3795522" y="3724450"/>
            <a:ext cx="2253758" cy="1000106"/>
            <a:chOff x="4589272" y="3274468"/>
            <a:chExt cx="2253758" cy="1668288"/>
          </a:xfrm>
        </p:grpSpPr>
        <p:sp>
          <p:nvSpPr>
            <p:cNvPr id="1132" name="Google Shape;1132;p17"/>
            <p:cNvSpPr txBox="1"/>
            <p:nvPr/>
          </p:nvSpPr>
          <p:spPr>
            <a:xfrm>
              <a:off x="4599883" y="3476231"/>
              <a:ext cx="592609" cy="35938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NAS</a:t>
              </a:r>
              <a:endParaRPr/>
            </a:p>
          </p:txBody>
        </p:sp>
        <p:grpSp>
          <p:nvGrpSpPr>
            <p:cNvPr id="1133" name="Google Shape;1133;p17"/>
            <p:cNvGrpSpPr/>
            <p:nvPr/>
          </p:nvGrpSpPr>
          <p:grpSpPr>
            <a:xfrm>
              <a:off x="4589272" y="3274468"/>
              <a:ext cx="2253758" cy="1668288"/>
              <a:chOff x="4589272" y="3274468"/>
              <a:chExt cx="2253758" cy="1668288"/>
            </a:xfrm>
          </p:grpSpPr>
          <p:sp>
            <p:nvSpPr>
              <p:cNvPr id="1134" name="Google Shape;1134;p17"/>
              <p:cNvSpPr/>
              <p:nvPr/>
            </p:nvSpPr>
            <p:spPr>
              <a:xfrm>
                <a:off x="4589272" y="3274468"/>
                <a:ext cx="2253758" cy="1668288"/>
              </a:xfrm>
              <a:prstGeom prst="rect">
                <a:avLst/>
              </a:prstGeom>
              <a:noFill/>
              <a:ln cap="flat" cmpd="sng" w="25400">
                <a:solidFill>
                  <a:srgbClr val="CBED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5" name="Google Shape;1135;p17"/>
              <p:cNvSpPr/>
              <p:nvPr/>
            </p:nvSpPr>
            <p:spPr>
              <a:xfrm>
                <a:off x="4589272" y="3274468"/>
                <a:ext cx="2253758" cy="265801"/>
              </a:xfrm>
              <a:prstGeom prst="rect">
                <a:avLst/>
              </a:prstGeom>
              <a:solidFill>
                <a:srgbClr val="CBEDDE"/>
              </a:solidFill>
              <a:ln cap="flat" cmpd="sng" w="25400">
                <a:solidFill>
                  <a:srgbClr val="CBED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EDMS 1차 스토리지</a:t>
                </a:r>
                <a:endParaRPr/>
              </a:p>
            </p:txBody>
          </p:sp>
        </p:grpSp>
      </p:grpSp>
      <p:grpSp>
        <p:nvGrpSpPr>
          <p:cNvPr id="1136" name="Google Shape;1136;p17"/>
          <p:cNvGrpSpPr/>
          <p:nvPr/>
        </p:nvGrpSpPr>
        <p:grpSpPr>
          <a:xfrm>
            <a:off x="4231932" y="2402479"/>
            <a:ext cx="571145" cy="633968"/>
            <a:chOff x="5025682" y="1952497"/>
            <a:chExt cx="571145" cy="633968"/>
          </a:xfrm>
        </p:grpSpPr>
        <p:sp>
          <p:nvSpPr>
            <p:cNvPr id="1137" name="Google Shape;1137;p17"/>
            <p:cNvSpPr/>
            <p:nvPr/>
          </p:nvSpPr>
          <p:spPr>
            <a:xfrm>
              <a:off x="5025682" y="1952497"/>
              <a:ext cx="571145" cy="633968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17"/>
            <p:cNvSpPr/>
            <p:nvPr/>
          </p:nvSpPr>
          <p:spPr>
            <a:xfrm>
              <a:off x="5057185" y="2360601"/>
              <a:ext cx="508139" cy="20117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94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EDMS</a:t>
              </a:r>
              <a:endParaRPr sz="794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j0431637" id="1139" name="Google Shape;1139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79581" y="2062842"/>
              <a:ext cx="275315" cy="2745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j0431626" id="1140" name="Google Shape;1140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26288" y="2192048"/>
              <a:ext cx="154117" cy="15486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41" name="Google Shape;1141;p17"/>
          <p:cNvGrpSpPr/>
          <p:nvPr/>
        </p:nvGrpSpPr>
        <p:grpSpPr>
          <a:xfrm>
            <a:off x="5711777" y="2402478"/>
            <a:ext cx="571145" cy="633968"/>
            <a:chOff x="6505527" y="1952496"/>
            <a:chExt cx="571145" cy="633968"/>
          </a:xfrm>
        </p:grpSpPr>
        <p:sp>
          <p:nvSpPr>
            <p:cNvPr id="1142" name="Google Shape;1142;p17"/>
            <p:cNvSpPr/>
            <p:nvPr/>
          </p:nvSpPr>
          <p:spPr>
            <a:xfrm>
              <a:off x="6505527" y="1952496"/>
              <a:ext cx="571145" cy="633968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17"/>
            <p:cNvSpPr/>
            <p:nvPr/>
          </p:nvSpPr>
          <p:spPr>
            <a:xfrm>
              <a:off x="6537030" y="2360600"/>
              <a:ext cx="508139" cy="20117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94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MCMS</a:t>
              </a:r>
              <a:endParaRPr sz="794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j0431637" id="1144" name="Google Shape;1144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659426" y="2062841"/>
              <a:ext cx="275315" cy="2745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j0431626" id="1145" name="Google Shape;1145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06133" y="2192047"/>
              <a:ext cx="154117" cy="15486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46" name="Google Shape;1146;p17"/>
          <p:cNvGrpSpPr/>
          <p:nvPr/>
        </p:nvGrpSpPr>
        <p:grpSpPr>
          <a:xfrm>
            <a:off x="7540267" y="4093987"/>
            <a:ext cx="968187" cy="406769"/>
            <a:chOff x="8668871" y="3724690"/>
            <a:chExt cx="968187" cy="406769"/>
          </a:xfrm>
        </p:grpSpPr>
        <p:sp>
          <p:nvSpPr>
            <p:cNvPr id="1147" name="Google Shape;1147;p17"/>
            <p:cNvSpPr/>
            <p:nvPr/>
          </p:nvSpPr>
          <p:spPr>
            <a:xfrm>
              <a:off x="8668871" y="3724690"/>
              <a:ext cx="968187" cy="406769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17"/>
            <p:cNvSpPr txBox="1"/>
            <p:nvPr/>
          </p:nvSpPr>
          <p:spPr>
            <a:xfrm>
              <a:off x="8668871" y="3743408"/>
              <a:ext cx="96818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영상 원본</a:t>
              </a: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(3개월 보관)</a:t>
              </a: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9" name="Google Shape;1149;p17"/>
          <p:cNvGrpSpPr/>
          <p:nvPr/>
        </p:nvGrpSpPr>
        <p:grpSpPr>
          <a:xfrm>
            <a:off x="4961867" y="4175135"/>
            <a:ext cx="968187" cy="406769"/>
            <a:chOff x="5755617" y="3725153"/>
            <a:chExt cx="968187" cy="406769"/>
          </a:xfrm>
        </p:grpSpPr>
        <p:sp>
          <p:nvSpPr>
            <p:cNvPr id="1150" name="Google Shape;1150;p17"/>
            <p:cNvSpPr/>
            <p:nvPr/>
          </p:nvSpPr>
          <p:spPr>
            <a:xfrm>
              <a:off x="5755617" y="3725153"/>
              <a:ext cx="968187" cy="406769"/>
            </a:xfrm>
            <a:prstGeom prst="roundRect">
              <a:avLst>
                <a:gd fmla="val 16667" name="adj"/>
              </a:avLst>
            </a:prstGeom>
            <a:solidFill>
              <a:srgbClr val="D5D5F4"/>
            </a:solidFill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17"/>
            <p:cNvSpPr txBox="1"/>
            <p:nvPr/>
          </p:nvSpPr>
          <p:spPr>
            <a:xfrm>
              <a:off x="5755617" y="3753107"/>
              <a:ext cx="96818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영상 트랜스 0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(1년 보관)</a:t>
              </a: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52" name="Google Shape;115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7731" y="4075825"/>
            <a:ext cx="437212" cy="408105"/>
          </a:xfrm>
          <a:prstGeom prst="rect">
            <a:avLst/>
          </a:prstGeom>
          <a:noFill/>
          <a:ln>
            <a:noFill/>
          </a:ln>
        </p:spPr>
      </p:pic>
      <p:sp>
        <p:nvSpPr>
          <p:cNvPr id="1153" name="Google Shape;1153;p17"/>
          <p:cNvSpPr txBox="1"/>
          <p:nvPr/>
        </p:nvSpPr>
        <p:spPr>
          <a:xfrm>
            <a:off x="1513560" y="4239143"/>
            <a:ext cx="895457" cy="244787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대표홈페이지</a:t>
            </a:r>
            <a:endParaRPr sz="882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어두운 상향 대각선" id="1154" name="Google Shape;1154;p17"/>
          <p:cNvSpPr/>
          <p:nvPr/>
        </p:nvSpPr>
        <p:spPr>
          <a:xfrm>
            <a:off x="790281" y="4503560"/>
            <a:ext cx="647745" cy="139854"/>
          </a:xfrm>
          <a:prstGeom prst="roundRect">
            <a:avLst>
              <a:gd fmla="val 5000" name="adj"/>
            </a:avLst>
          </a:prstGeom>
          <a:solidFill>
            <a:srgbClr val="E6EAEE"/>
          </a:solidFill>
          <a:ln cap="flat" cmpd="sng" w="9525">
            <a:solidFill>
              <a:srgbClr val="D8DEE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고객</a:t>
            </a:r>
            <a:endParaRPr/>
          </a:p>
        </p:txBody>
      </p:sp>
      <p:pic>
        <p:nvPicPr>
          <p:cNvPr id="1155" name="Google Shape;115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0673" y="3352342"/>
            <a:ext cx="437212" cy="408105"/>
          </a:xfrm>
          <a:prstGeom prst="rect">
            <a:avLst/>
          </a:prstGeom>
          <a:noFill/>
          <a:ln>
            <a:noFill/>
          </a:ln>
        </p:spPr>
      </p:pic>
      <p:sp>
        <p:nvSpPr>
          <p:cNvPr id="1156" name="Google Shape;1156;p17"/>
          <p:cNvSpPr txBox="1"/>
          <p:nvPr/>
        </p:nvSpPr>
        <p:spPr>
          <a:xfrm>
            <a:off x="1516502" y="3553426"/>
            <a:ext cx="895457" cy="244787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하이유피</a:t>
            </a:r>
            <a:endParaRPr sz="882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어두운 상향 대각선" id="1157" name="Google Shape;1157;p17"/>
          <p:cNvSpPr/>
          <p:nvPr/>
        </p:nvSpPr>
        <p:spPr>
          <a:xfrm>
            <a:off x="793223" y="3780456"/>
            <a:ext cx="647745" cy="139854"/>
          </a:xfrm>
          <a:prstGeom prst="roundRect">
            <a:avLst>
              <a:gd fmla="val 5000" name="adj"/>
            </a:avLst>
          </a:prstGeom>
          <a:solidFill>
            <a:srgbClr val="E6EAEE"/>
          </a:solidFill>
          <a:ln cap="flat" cmpd="sng" w="9525">
            <a:solidFill>
              <a:srgbClr val="D8DEE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보상 담당</a:t>
            </a:r>
            <a:endParaRPr/>
          </a:p>
        </p:txBody>
      </p:sp>
      <p:pic>
        <p:nvPicPr>
          <p:cNvPr id="1158" name="Google Shape;115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0674" y="1847593"/>
            <a:ext cx="437212" cy="408105"/>
          </a:xfrm>
          <a:prstGeom prst="rect">
            <a:avLst/>
          </a:prstGeom>
          <a:noFill/>
          <a:ln>
            <a:noFill/>
          </a:ln>
        </p:spPr>
      </p:pic>
      <p:sp>
        <p:nvSpPr>
          <p:cNvPr id="1159" name="Google Shape;1159;p17"/>
          <p:cNvSpPr txBox="1"/>
          <p:nvPr/>
        </p:nvSpPr>
        <p:spPr>
          <a:xfrm>
            <a:off x="1516503" y="1904942"/>
            <a:ext cx="895457" cy="334937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보상포탈</a:t>
            </a:r>
            <a:endParaRPr sz="882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82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손사포탈</a:t>
            </a:r>
            <a:endParaRPr sz="882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어두운 상향 대각선" id="1160" name="Google Shape;1160;p17"/>
          <p:cNvSpPr/>
          <p:nvPr/>
        </p:nvSpPr>
        <p:spPr>
          <a:xfrm>
            <a:off x="793224" y="2273362"/>
            <a:ext cx="647745" cy="139854"/>
          </a:xfrm>
          <a:prstGeom prst="roundRect">
            <a:avLst>
              <a:gd fmla="val 5000" name="adj"/>
            </a:avLst>
          </a:prstGeom>
          <a:solidFill>
            <a:srgbClr val="E6EAEE"/>
          </a:solidFill>
          <a:ln cap="flat" cmpd="sng" w="9525">
            <a:solidFill>
              <a:srgbClr val="D8DEE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업무 담당</a:t>
            </a:r>
            <a:endParaRPr/>
          </a:p>
        </p:txBody>
      </p:sp>
      <p:cxnSp>
        <p:nvCxnSpPr>
          <p:cNvPr id="1161" name="Google Shape;1161;p17"/>
          <p:cNvCxnSpPr>
            <a:stCxn id="1159" idx="3"/>
            <a:endCxn id="1137" idx="1"/>
          </p:cNvCxnSpPr>
          <p:nvPr/>
        </p:nvCxnSpPr>
        <p:spPr>
          <a:xfrm>
            <a:off x="2411960" y="2072411"/>
            <a:ext cx="1820100" cy="647100"/>
          </a:xfrm>
          <a:prstGeom prst="bentConnector3">
            <a:avLst>
              <a:gd fmla="val 49996" name="adj1"/>
            </a:avLst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62" name="Google Shape;1162;p17"/>
          <p:cNvCxnSpPr>
            <a:stCxn id="1153" idx="3"/>
            <a:endCxn id="1137" idx="1"/>
          </p:cNvCxnSpPr>
          <p:nvPr/>
        </p:nvCxnSpPr>
        <p:spPr>
          <a:xfrm flipH="1" rot="10800000">
            <a:off x="2409017" y="2719337"/>
            <a:ext cx="1822800" cy="1642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63" name="Google Shape;1163;p17"/>
          <p:cNvCxnSpPr>
            <a:stCxn id="1142" idx="0"/>
            <a:endCxn id="1122" idx="0"/>
          </p:cNvCxnSpPr>
          <p:nvPr/>
        </p:nvCxnSpPr>
        <p:spPr>
          <a:xfrm rot="5400000">
            <a:off x="3336200" y="-35772"/>
            <a:ext cx="222900" cy="5099400"/>
          </a:xfrm>
          <a:prstGeom prst="bentConnector3">
            <a:avLst>
              <a:gd fmla="val -59825" name="adj1"/>
            </a:avLst>
          </a:prstGeom>
          <a:noFill/>
          <a:ln cap="flat" cmpd="sng" w="25400">
            <a:solidFill>
              <a:srgbClr val="262699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1164" name="Google Shape;1164;p17"/>
          <p:cNvGrpSpPr/>
          <p:nvPr/>
        </p:nvGrpSpPr>
        <p:grpSpPr>
          <a:xfrm>
            <a:off x="3736210" y="2968393"/>
            <a:ext cx="571145" cy="633968"/>
            <a:chOff x="4529960" y="2518411"/>
            <a:chExt cx="571145" cy="633968"/>
          </a:xfrm>
        </p:grpSpPr>
        <p:sp>
          <p:nvSpPr>
            <p:cNvPr id="1165" name="Google Shape;1165;p17"/>
            <p:cNvSpPr/>
            <p:nvPr/>
          </p:nvSpPr>
          <p:spPr>
            <a:xfrm>
              <a:off x="4529960" y="2518411"/>
              <a:ext cx="571145" cy="633968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17"/>
            <p:cNvSpPr/>
            <p:nvPr/>
          </p:nvSpPr>
          <p:spPr>
            <a:xfrm>
              <a:off x="4561463" y="2926515"/>
              <a:ext cx="508139" cy="20117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94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EDMS DB</a:t>
              </a:r>
              <a:endParaRPr sz="794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j0431637" id="1167" name="Google Shape;1167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83859" y="2628756"/>
              <a:ext cx="275315" cy="2745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j0431626" id="1168" name="Google Shape;1168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830566" y="2757962"/>
              <a:ext cx="154117" cy="15486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69" name="Google Shape;1169;p17"/>
          <p:cNvGrpSpPr/>
          <p:nvPr/>
        </p:nvGrpSpPr>
        <p:grpSpPr>
          <a:xfrm>
            <a:off x="6209359" y="2960798"/>
            <a:ext cx="571145" cy="633968"/>
            <a:chOff x="7003109" y="2510816"/>
            <a:chExt cx="571145" cy="633968"/>
          </a:xfrm>
        </p:grpSpPr>
        <p:sp>
          <p:nvSpPr>
            <p:cNvPr id="1170" name="Google Shape;1170;p17"/>
            <p:cNvSpPr/>
            <p:nvPr/>
          </p:nvSpPr>
          <p:spPr>
            <a:xfrm>
              <a:off x="7003109" y="2510816"/>
              <a:ext cx="571145" cy="633968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17"/>
            <p:cNvSpPr/>
            <p:nvPr/>
          </p:nvSpPr>
          <p:spPr>
            <a:xfrm>
              <a:off x="7034612" y="2918920"/>
              <a:ext cx="508139" cy="20117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94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MCMS DB</a:t>
              </a:r>
              <a:endParaRPr sz="794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j0431637" id="1172" name="Google Shape;1172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157008" y="2621161"/>
              <a:ext cx="275315" cy="2745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j0431626" id="1173" name="Google Shape;1173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303715" y="2750367"/>
              <a:ext cx="154117" cy="15486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74" name="Google Shape;1174;p17"/>
          <p:cNvSpPr txBox="1"/>
          <p:nvPr/>
        </p:nvSpPr>
        <p:spPr>
          <a:xfrm>
            <a:off x="3716291" y="2697272"/>
            <a:ext cx="1331892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① 영상 정보 Request</a:t>
            </a:r>
            <a:endParaRPr/>
          </a:p>
        </p:txBody>
      </p:sp>
      <p:sp>
        <p:nvSpPr>
          <p:cNvPr id="1175" name="Google Shape;1175;p17"/>
          <p:cNvSpPr txBox="1"/>
          <p:nvPr/>
        </p:nvSpPr>
        <p:spPr>
          <a:xfrm>
            <a:off x="2423472" y="3746050"/>
            <a:ext cx="1376609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② 영상 정보 Response</a:t>
            </a:r>
            <a:endParaRPr/>
          </a:p>
        </p:txBody>
      </p:sp>
      <p:sp>
        <p:nvSpPr>
          <p:cNvPr id="1176" name="Google Shape;1176;p17"/>
          <p:cNvSpPr txBox="1"/>
          <p:nvPr/>
        </p:nvSpPr>
        <p:spPr>
          <a:xfrm>
            <a:off x="4557564" y="1942990"/>
            <a:ext cx="1558321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191966"/>
                </a:solidFill>
                <a:latin typeface="Arial"/>
                <a:ea typeface="Arial"/>
                <a:cs typeface="Arial"/>
                <a:sym typeface="Arial"/>
              </a:rPr>
              <a:t>④ 영상 스트리밍 Request</a:t>
            </a:r>
            <a:endParaRPr/>
          </a:p>
        </p:txBody>
      </p:sp>
      <p:sp>
        <p:nvSpPr>
          <p:cNvPr id="1177" name="Google Shape;1177;p17"/>
          <p:cNvSpPr txBox="1"/>
          <p:nvPr/>
        </p:nvSpPr>
        <p:spPr>
          <a:xfrm>
            <a:off x="4798235" y="2281911"/>
            <a:ext cx="847370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191966"/>
                </a:solidFill>
                <a:latin typeface="Arial"/>
                <a:ea typeface="Arial"/>
                <a:cs typeface="Arial"/>
                <a:sym typeface="Arial"/>
              </a:rPr>
              <a:t>⑤ 파일 요청</a:t>
            </a:r>
            <a:endParaRPr sz="900">
              <a:solidFill>
                <a:srgbClr val="1919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p17"/>
          <p:cNvSpPr txBox="1"/>
          <p:nvPr/>
        </p:nvSpPr>
        <p:spPr>
          <a:xfrm>
            <a:off x="2023705" y="2476591"/>
            <a:ext cx="1659195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191966"/>
                </a:solidFill>
                <a:latin typeface="Arial"/>
                <a:ea typeface="Arial"/>
                <a:cs typeface="Arial"/>
                <a:sym typeface="Arial"/>
              </a:rPr>
              <a:t>⑧ 영상 스트리밍 Response</a:t>
            </a:r>
            <a:endParaRPr/>
          </a:p>
        </p:txBody>
      </p:sp>
      <p:graphicFrame>
        <p:nvGraphicFramePr>
          <p:cNvPr id="1179" name="Google Shape;1179;p17"/>
          <p:cNvGraphicFramePr/>
          <p:nvPr/>
        </p:nvGraphicFramePr>
        <p:xfrm>
          <a:off x="446837" y="473979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{F6045412-04BD-4F82-B1B7-2730D475FC39}</a:tableStyleId>
              </a:tblPr>
              <a:tblGrid>
                <a:gridCol w="2383400"/>
                <a:gridCol w="4266075"/>
              </a:tblGrid>
              <a:tr h="114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단계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설명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① 영상 정보 </a:t>
                      </a: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Req.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(ASIS) EDMS </a:t>
                      </a: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호출방식 준용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② 영상 정보 </a:t>
                      </a: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Res.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받은 정보로 화면에 목록을 표출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③ </a:t>
                      </a: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iframe 호출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노드트리에서</a:t>
                      </a: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 동영상을 클릭할 경우 iframe을 호출 (영상출력UI: iframe)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④ 영상 스트리밍 </a:t>
                      </a: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Req.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영상 플레이 이벤트 시 영상 정보</a:t>
                      </a: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(키)를 전달하면서 스트리밍 서비스를 요청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⑤ 파일 요청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MCMS</a:t>
                      </a: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는 </a:t>
                      </a:r>
                      <a:r>
                        <a:rPr b="1" lang="en-US" sz="900">
                          <a:solidFill>
                            <a:schemeClr val="dk1"/>
                          </a:solidFill>
                        </a:rPr>
                        <a:t>EDMS Agent</a:t>
                      </a: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를 통해서 파일 다운로드를 요청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⑥ 파일 찾기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EDMS</a:t>
                      </a: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는 파일을 찾아서 MCMS에게 제공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⑦ 파일 다운로드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MCMS</a:t>
                      </a: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는 영상을 다운로드 받아서 임시 폴더에 저장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⑧ 영상 스트리밍 </a:t>
                      </a: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Res.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MCMS </a:t>
                      </a: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데몬이 스트리밍 서비스를 제공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180" name="Google Shape;1180;p17"/>
          <p:cNvCxnSpPr>
            <a:stCxn id="1165" idx="2"/>
            <a:endCxn id="1151" idx="1"/>
          </p:cNvCxnSpPr>
          <p:nvPr/>
        </p:nvCxnSpPr>
        <p:spPr>
          <a:xfrm>
            <a:off x="4021783" y="3602361"/>
            <a:ext cx="940200" cy="7854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1181" name="Google Shape;1181;p17"/>
          <p:cNvGrpSpPr/>
          <p:nvPr/>
        </p:nvGrpSpPr>
        <p:grpSpPr>
          <a:xfrm>
            <a:off x="7540267" y="4811724"/>
            <a:ext cx="968187" cy="406769"/>
            <a:chOff x="8668871" y="4254162"/>
            <a:chExt cx="968187" cy="406769"/>
          </a:xfrm>
        </p:grpSpPr>
        <p:sp>
          <p:nvSpPr>
            <p:cNvPr id="1182" name="Google Shape;1182;p17"/>
            <p:cNvSpPr/>
            <p:nvPr/>
          </p:nvSpPr>
          <p:spPr>
            <a:xfrm>
              <a:off x="8668871" y="4254162"/>
              <a:ext cx="968187" cy="406769"/>
            </a:xfrm>
            <a:prstGeom prst="roundRect">
              <a:avLst>
                <a:gd fmla="val 16667" name="adj"/>
              </a:avLst>
            </a:prstGeom>
            <a:solidFill>
              <a:srgbClr val="D5D5F4"/>
            </a:solidFill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17"/>
            <p:cNvSpPr txBox="1"/>
            <p:nvPr/>
          </p:nvSpPr>
          <p:spPr>
            <a:xfrm>
              <a:off x="8668871" y="4272880"/>
              <a:ext cx="96818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영상 트랜스 A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(영구 보관)</a:t>
              </a:r>
              <a:endPara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84" name="Google Shape;1184;p17"/>
          <p:cNvCxnSpPr>
            <a:stCxn id="1137" idx="0"/>
            <a:endCxn id="1159" idx="0"/>
          </p:cNvCxnSpPr>
          <p:nvPr/>
        </p:nvCxnSpPr>
        <p:spPr>
          <a:xfrm flipH="1" rot="5400000">
            <a:off x="2992155" y="877129"/>
            <a:ext cx="497400" cy="2553300"/>
          </a:xfrm>
          <a:prstGeom prst="bentConnector3">
            <a:avLst>
              <a:gd fmla="val 145986" name="adj1"/>
            </a:avLst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85" name="Google Shape;1185;p17"/>
          <p:cNvSpPr txBox="1"/>
          <p:nvPr/>
        </p:nvSpPr>
        <p:spPr>
          <a:xfrm>
            <a:off x="3156324" y="1432710"/>
            <a:ext cx="2218430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트랜스본 파일 다운로드 서비스 (AS-IS)</a:t>
            </a:r>
            <a:endParaRPr/>
          </a:p>
        </p:txBody>
      </p:sp>
      <p:cxnSp>
        <p:nvCxnSpPr>
          <p:cNvPr id="1186" name="Google Shape;1186;p17"/>
          <p:cNvCxnSpPr>
            <a:stCxn id="1151" idx="1"/>
            <a:endCxn id="1137" idx="2"/>
          </p:cNvCxnSpPr>
          <p:nvPr/>
        </p:nvCxnSpPr>
        <p:spPr>
          <a:xfrm rot="10800000">
            <a:off x="4517567" y="3036555"/>
            <a:ext cx="444300" cy="1351200"/>
          </a:xfrm>
          <a:prstGeom prst="bentConnector2">
            <a:avLst/>
          </a:prstGeom>
          <a:noFill/>
          <a:ln cap="flat" cmpd="sng" w="25400">
            <a:solidFill>
              <a:srgbClr val="26269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87" name="Google Shape;1187;p17"/>
          <p:cNvCxnSpPr>
            <a:stCxn id="1170" idx="2"/>
            <a:endCxn id="1148" idx="1"/>
          </p:cNvCxnSpPr>
          <p:nvPr/>
        </p:nvCxnSpPr>
        <p:spPr>
          <a:xfrm>
            <a:off x="6494932" y="3594766"/>
            <a:ext cx="1045200" cy="70260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88" name="Google Shape;1188;p17"/>
          <p:cNvCxnSpPr/>
          <p:nvPr/>
        </p:nvCxnSpPr>
        <p:spPr>
          <a:xfrm>
            <a:off x="4803077" y="2549128"/>
            <a:ext cx="908700" cy="600"/>
          </a:xfrm>
          <a:prstGeom prst="bentConnector3">
            <a:avLst>
              <a:gd fmla="val 50000" name="adj1"/>
            </a:avLst>
          </a:prstGeom>
          <a:noFill/>
          <a:ln cap="flat" cmpd="sng" w="25400">
            <a:solidFill>
              <a:srgbClr val="262699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1189" name="Google Shape;1189;p17"/>
          <p:cNvCxnSpPr>
            <a:stCxn id="1190" idx="3"/>
            <a:endCxn id="1156" idx="0"/>
          </p:cNvCxnSpPr>
          <p:nvPr/>
        </p:nvCxnSpPr>
        <p:spPr>
          <a:xfrm>
            <a:off x="1283754" y="3076706"/>
            <a:ext cx="680400" cy="476700"/>
          </a:xfrm>
          <a:prstGeom prst="bentConnector2">
            <a:avLst/>
          </a:prstGeom>
          <a:noFill/>
          <a:ln cap="flat" cmpd="sng" w="25400">
            <a:solidFill>
              <a:srgbClr val="26269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91" name="Google Shape;1191;p17"/>
          <p:cNvSpPr txBox="1"/>
          <p:nvPr/>
        </p:nvSpPr>
        <p:spPr>
          <a:xfrm>
            <a:off x="6883101" y="1240309"/>
            <a:ext cx="2743200" cy="1615827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rgbClr val="191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91966"/>
                </a:solidFill>
                <a:latin typeface="Arial"/>
                <a:ea typeface="Arial"/>
                <a:cs typeface="Arial"/>
                <a:sym typeface="Arial"/>
              </a:rPr>
              <a:t>영상 원본 다운로드 서비스 방안 검토</a:t>
            </a:r>
            <a:endParaRPr b="1" sz="900">
              <a:solidFill>
                <a:srgbClr val="1919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191966"/>
                </a:solidFill>
                <a:latin typeface="Arial"/>
                <a:ea typeface="Arial"/>
                <a:cs typeface="Arial"/>
                <a:sym typeface="Arial"/>
              </a:rPr>
              <a:t>영상 원본 파일 적재 관련 정보가 MCMS DB에만 기록된 상황</a:t>
            </a:r>
            <a:endParaRPr sz="900">
              <a:solidFill>
                <a:srgbClr val="1919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1919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91966"/>
                </a:solidFill>
                <a:latin typeface="Arial"/>
                <a:ea typeface="Arial"/>
                <a:cs typeface="Arial"/>
                <a:sym typeface="Arial"/>
              </a:rPr>
              <a:t>영상 원본은 화면에 별도의 버튼을 배치하여 버튼 클릭 시 원본조회 팝업 호출</a:t>
            </a:r>
            <a:endParaRPr b="1" sz="900">
              <a:solidFill>
                <a:srgbClr val="1919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191966"/>
              </a:buClr>
              <a:buSzPts val="900"/>
              <a:buFont typeface="Noto Sans Symbols"/>
              <a:buChar char="🡪"/>
            </a:pPr>
            <a:r>
              <a:rPr lang="en-US" sz="900">
                <a:solidFill>
                  <a:srgbClr val="191966"/>
                </a:solidFill>
                <a:latin typeface="Arial"/>
                <a:ea typeface="Arial"/>
                <a:cs typeface="Arial"/>
                <a:sym typeface="Arial"/>
              </a:rPr>
              <a:t>원본으로 등록된 파일 목록을 표출</a:t>
            </a:r>
            <a:endParaRPr sz="900">
              <a:solidFill>
                <a:srgbClr val="1919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191966"/>
              </a:buClr>
              <a:buSzPts val="900"/>
              <a:buFont typeface="Noto Sans Symbols"/>
              <a:buChar char="🡪"/>
            </a:pPr>
            <a:r>
              <a:rPr lang="en-US" sz="900">
                <a:solidFill>
                  <a:srgbClr val="191966"/>
                </a:solidFill>
                <a:latin typeface="Arial"/>
                <a:ea typeface="Arial"/>
                <a:cs typeface="Arial"/>
                <a:sym typeface="Arial"/>
              </a:rPr>
              <a:t>다운로드 버튼 클릭 시 원본 다운로드 서비스를 MCMS가 제공</a:t>
            </a:r>
            <a:endParaRPr sz="900">
              <a:solidFill>
                <a:srgbClr val="1919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191966"/>
                </a:solidFill>
                <a:latin typeface="Arial"/>
                <a:ea typeface="Arial"/>
                <a:cs typeface="Arial"/>
                <a:sym typeface="Arial"/>
              </a:rPr>
              <a:t>※ 원본조회 팝업에서 추가 제공 기능: 원본 대상 트랜스코딩 작업 요청</a:t>
            </a:r>
            <a:endParaRPr sz="900">
              <a:solidFill>
                <a:srgbClr val="1919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2" name="Google Shape;1192;p17"/>
          <p:cNvCxnSpPr>
            <a:stCxn id="1148" idx="3"/>
            <a:endCxn id="1191" idx="2"/>
          </p:cNvCxnSpPr>
          <p:nvPr/>
        </p:nvCxnSpPr>
        <p:spPr>
          <a:xfrm rot="10800000">
            <a:off x="8254654" y="2856171"/>
            <a:ext cx="253800" cy="1441200"/>
          </a:xfrm>
          <a:prstGeom prst="bentConnector4">
            <a:avLst>
              <a:gd fmla="val -90071" name="adj1"/>
              <a:gd fmla="val 56407" name="adj2"/>
            </a:avLst>
          </a:prstGeom>
          <a:noFill/>
          <a:ln cap="flat" cmpd="sng" w="19050">
            <a:solidFill>
              <a:srgbClr val="00CB97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93" name="Google Shape;1193;p17"/>
          <p:cNvSpPr txBox="1"/>
          <p:nvPr/>
        </p:nvSpPr>
        <p:spPr>
          <a:xfrm>
            <a:off x="7530414" y="2937602"/>
            <a:ext cx="2051918" cy="5078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0C89B"/>
                </a:solidFill>
                <a:latin typeface="Arial"/>
                <a:ea typeface="Arial"/>
                <a:cs typeface="Arial"/>
                <a:sym typeface="Arial"/>
              </a:rPr>
              <a:t>영상 원본 파일 다운로드 서비스</a:t>
            </a:r>
            <a:endParaRPr sz="900">
              <a:solidFill>
                <a:srgbClr val="60C89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0C89B"/>
                </a:solidFill>
                <a:latin typeface="Arial"/>
                <a:ea typeface="Arial"/>
                <a:cs typeface="Arial"/>
                <a:sym typeface="Arial"/>
              </a:rPr>
              <a:t>- MCMS는 2차 스토리지를 마운트</a:t>
            </a:r>
            <a:endParaRPr sz="900">
              <a:solidFill>
                <a:srgbClr val="60C89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0C89B"/>
                </a:solidFill>
                <a:latin typeface="Arial"/>
                <a:ea typeface="Arial"/>
                <a:cs typeface="Arial"/>
                <a:sym typeface="Arial"/>
              </a:rPr>
              <a:t>- API를 이용하여 읽기</a:t>
            </a:r>
            <a:endParaRPr/>
          </a:p>
        </p:txBody>
      </p:sp>
      <p:sp>
        <p:nvSpPr>
          <p:cNvPr id="1194" name="Google Shape;1194;p17"/>
          <p:cNvSpPr txBox="1"/>
          <p:nvPr/>
        </p:nvSpPr>
        <p:spPr>
          <a:xfrm>
            <a:off x="7933419" y="4385544"/>
            <a:ext cx="409258" cy="400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1218A"/>
                </a:solidFill>
                <a:latin typeface="Arial"/>
                <a:ea typeface="Arial"/>
                <a:cs typeface="Arial"/>
                <a:sym typeface="Arial"/>
              </a:rPr>
              <a:t>★</a:t>
            </a:r>
            <a:endParaRPr/>
          </a:p>
        </p:txBody>
      </p:sp>
      <p:sp>
        <p:nvSpPr>
          <p:cNvPr id="1195" name="Google Shape;1195;p17"/>
          <p:cNvSpPr txBox="1"/>
          <p:nvPr/>
        </p:nvSpPr>
        <p:spPr>
          <a:xfrm>
            <a:off x="8674100" y="707303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6" name="Google Shape;1196;p17"/>
          <p:cNvCxnSpPr>
            <a:stCxn id="1183" idx="1"/>
            <a:endCxn id="1137" idx="2"/>
          </p:cNvCxnSpPr>
          <p:nvPr/>
        </p:nvCxnSpPr>
        <p:spPr>
          <a:xfrm rot="10800000">
            <a:off x="4517467" y="3036308"/>
            <a:ext cx="3022800" cy="1978800"/>
          </a:xfrm>
          <a:prstGeom prst="bentConnector2">
            <a:avLst/>
          </a:prstGeom>
          <a:noFill/>
          <a:ln cap="flat" cmpd="sng" w="25400">
            <a:solidFill>
              <a:srgbClr val="26269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97" name="Google Shape;1197;p17"/>
          <p:cNvSpPr txBox="1"/>
          <p:nvPr/>
        </p:nvSpPr>
        <p:spPr>
          <a:xfrm>
            <a:off x="4555961" y="4760946"/>
            <a:ext cx="968187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191966"/>
                </a:solidFill>
                <a:latin typeface="Arial"/>
                <a:ea typeface="Arial"/>
                <a:cs typeface="Arial"/>
                <a:sym typeface="Arial"/>
              </a:rPr>
              <a:t>⑥ 파일 찾기</a:t>
            </a:r>
            <a:endParaRPr sz="900">
              <a:solidFill>
                <a:srgbClr val="1919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8" name="Google Shape;1198;p17"/>
          <p:cNvCxnSpPr/>
          <p:nvPr/>
        </p:nvCxnSpPr>
        <p:spPr>
          <a:xfrm flipH="1">
            <a:off x="4803077" y="2934614"/>
            <a:ext cx="908700" cy="600"/>
          </a:xfrm>
          <a:prstGeom prst="bentConnector3">
            <a:avLst>
              <a:gd fmla="val 50000" name="adj1"/>
            </a:avLst>
          </a:prstGeom>
          <a:noFill/>
          <a:ln cap="flat" cmpd="sng" w="25400">
            <a:solidFill>
              <a:srgbClr val="262699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1199" name="Google Shape;1199;p17"/>
          <p:cNvSpPr txBox="1"/>
          <p:nvPr/>
        </p:nvSpPr>
        <p:spPr>
          <a:xfrm>
            <a:off x="4807019" y="2579644"/>
            <a:ext cx="8473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191966"/>
                </a:solidFill>
                <a:latin typeface="Arial"/>
                <a:ea typeface="Arial"/>
                <a:cs typeface="Arial"/>
                <a:sym typeface="Arial"/>
              </a:rPr>
              <a:t>⑦ 파일 다운로드</a:t>
            </a:r>
            <a:endParaRPr sz="900">
              <a:solidFill>
                <a:srgbClr val="1919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17"/>
          <p:cNvSpPr txBox="1"/>
          <p:nvPr/>
        </p:nvSpPr>
        <p:spPr>
          <a:xfrm>
            <a:off x="8158102" y="4402477"/>
            <a:ext cx="1827614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16165C"/>
                </a:solidFill>
                <a:latin typeface="Arial"/>
                <a:ea typeface="Arial"/>
                <a:cs typeface="Arial"/>
                <a:sym typeface="Arial"/>
              </a:rPr>
              <a:t>영상 원본 저장소 밑으로 tmp 폴더를 만들고 그 폴더를 MCMS가 업로드/다운로드 시 임시 저장소로 이용</a:t>
            </a:r>
            <a:endParaRPr sz="900">
              <a:solidFill>
                <a:srgbClr val="1616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01" name="Google Shape;1201;p17"/>
          <p:cNvCxnSpPr/>
          <p:nvPr/>
        </p:nvCxnSpPr>
        <p:spPr>
          <a:xfrm rot="10800000">
            <a:off x="2105819" y="1905078"/>
            <a:ext cx="4033200" cy="497400"/>
          </a:xfrm>
          <a:prstGeom prst="bentConnector3">
            <a:avLst>
              <a:gd fmla="val 0" name="adj1"/>
            </a:avLst>
          </a:prstGeom>
          <a:noFill/>
          <a:ln cap="flat" cmpd="sng" w="19050">
            <a:solidFill>
              <a:srgbClr val="60C89B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02" name="Google Shape;1202;p17"/>
          <p:cNvSpPr txBox="1"/>
          <p:nvPr/>
        </p:nvSpPr>
        <p:spPr>
          <a:xfrm>
            <a:off x="4807019" y="1163588"/>
            <a:ext cx="1827614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0C89B"/>
                </a:solidFill>
                <a:latin typeface="Arial"/>
                <a:ea typeface="Arial"/>
                <a:cs typeface="Arial"/>
                <a:sym typeface="Arial"/>
              </a:rPr>
              <a:t>영상 원본 파일 다운로드 서비스</a:t>
            </a:r>
            <a:endParaRPr sz="900">
              <a:solidFill>
                <a:srgbClr val="60C89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03" name="Google Shape;1203;p17"/>
          <p:cNvCxnSpPr>
            <a:stCxn id="1191" idx="1"/>
            <a:endCxn id="1142" idx="3"/>
          </p:cNvCxnSpPr>
          <p:nvPr/>
        </p:nvCxnSpPr>
        <p:spPr>
          <a:xfrm flipH="1">
            <a:off x="6282801" y="2048223"/>
            <a:ext cx="600300" cy="671100"/>
          </a:xfrm>
          <a:prstGeom prst="bentConnector3">
            <a:avLst>
              <a:gd fmla="val 49990" name="adj1"/>
            </a:avLst>
          </a:prstGeom>
          <a:noFill/>
          <a:ln cap="flat" cmpd="sng" w="19050">
            <a:solidFill>
              <a:srgbClr val="00CB97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04" name="Google Shape;1204;p17"/>
          <p:cNvCxnSpPr>
            <a:stCxn id="1165" idx="2"/>
            <a:endCxn id="1183" idx="1"/>
          </p:cNvCxnSpPr>
          <p:nvPr/>
        </p:nvCxnSpPr>
        <p:spPr>
          <a:xfrm>
            <a:off x="4021783" y="3602361"/>
            <a:ext cx="3518400" cy="14127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05" name="Google Shape;1205;p17"/>
          <p:cNvCxnSpPr>
            <a:stCxn id="1156" idx="3"/>
            <a:endCxn id="1137" idx="1"/>
          </p:cNvCxnSpPr>
          <p:nvPr/>
        </p:nvCxnSpPr>
        <p:spPr>
          <a:xfrm flipH="1" rot="10800000">
            <a:off x="2411959" y="2719420"/>
            <a:ext cx="1820100" cy="956400"/>
          </a:xfrm>
          <a:prstGeom prst="bentConnector3">
            <a:avLst>
              <a:gd fmla="val 49997" name="adj1"/>
            </a:avLst>
          </a:prstGeom>
          <a:noFill/>
          <a:ln cap="flat" cmpd="sng" w="2540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06" name="Google Shape;1206;p17"/>
          <p:cNvSpPr txBox="1"/>
          <p:nvPr/>
        </p:nvSpPr>
        <p:spPr>
          <a:xfrm>
            <a:off x="6708664" y="4206645"/>
            <a:ext cx="759894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(신규 30TB)</a:t>
            </a:r>
            <a:endParaRPr/>
          </a:p>
        </p:txBody>
      </p:sp>
      <p:pic>
        <p:nvPicPr>
          <p:cNvPr descr="D:\01.현대해상 보상포탈\Skype 받은 파일\사고접수지샘플\샘플10_2.jpg" id="1190" name="Google Shape;119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9784" y="2831078"/>
            <a:ext cx="963970" cy="491255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07" name="Google Shape;120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1306" y="2870106"/>
            <a:ext cx="574740" cy="38381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208" name="Google Shape;1208;p17"/>
          <p:cNvCxnSpPr>
            <a:stCxn id="1190" idx="3"/>
            <a:endCxn id="1159" idx="2"/>
          </p:cNvCxnSpPr>
          <p:nvPr/>
        </p:nvCxnSpPr>
        <p:spPr>
          <a:xfrm flipH="1" rot="10800000">
            <a:off x="1283754" y="2240006"/>
            <a:ext cx="680400" cy="836700"/>
          </a:xfrm>
          <a:prstGeom prst="bentConnector2">
            <a:avLst/>
          </a:prstGeom>
          <a:noFill/>
          <a:ln cap="flat" cmpd="sng" w="25400">
            <a:solidFill>
              <a:srgbClr val="26269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09" name="Google Shape;1209;p17"/>
          <p:cNvSpPr txBox="1"/>
          <p:nvPr/>
        </p:nvSpPr>
        <p:spPr>
          <a:xfrm>
            <a:off x="1136193" y="2727432"/>
            <a:ext cx="909628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191966"/>
                </a:solidFill>
                <a:latin typeface="Arial"/>
                <a:ea typeface="Arial"/>
                <a:cs typeface="Arial"/>
                <a:sym typeface="Arial"/>
              </a:rPr>
              <a:t>③ iframe 호출</a:t>
            </a:r>
            <a:endParaRPr sz="900">
              <a:solidFill>
                <a:srgbClr val="1919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18"/>
          <p:cNvSpPr txBox="1"/>
          <p:nvPr/>
        </p:nvSpPr>
        <p:spPr>
          <a:xfrm>
            <a:off x="417770" y="714190"/>
            <a:ext cx="8964356" cy="637153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아키텍처 설계 &gt; 2.4 동영상플랫폼</a:t>
            </a:r>
            <a:endParaRPr b="1" i="0" sz="14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2.4.3 동영상플랫폼 업무흐름도 (삭제)</a:t>
            </a:r>
            <a:endParaRPr/>
          </a:p>
        </p:txBody>
      </p:sp>
      <p:sp>
        <p:nvSpPr>
          <p:cNvPr id="1215" name="Google Shape;1215;p18"/>
          <p:cNvSpPr txBox="1"/>
          <p:nvPr/>
        </p:nvSpPr>
        <p:spPr>
          <a:xfrm>
            <a:off x="4125327" y="4286807"/>
            <a:ext cx="592609" cy="2154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NAS</a:t>
            </a:r>
            <a:endParaRPr/>
          </a:p>
        </p:txBody>
      </p:sp>
      <p:sp>
        <p:nvSpPr>
          <p:cNvPr id="1216" name="Google Shape;1216;p18"/>
          <p:cNvSpPr txBox="1"/>
          <p:nvPr/>
        </p:nvSpPr>
        <p:spPr>
          <a:xfrm>
            <a:off x="7030027" y="4283725"/>
            <a:ext cx="592609" cy="2154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NAS</a:t>
            </a:r>
            <a:endParaRPr/>
          </a:p>
        </p:txBody>
      </p:sp>
      <p:sp>
        <p:nvSpPr>
          <p:cNvPr id="1217" name="Google Shape;1217;p18"/>
          <p:cNvSpPr txBox="1"/>
          <p:nvPr/>
        </p:nvSpPr>
        <p:spPr>
          <a:xfrm>
            <a:off x="7030027" y="4934808"/>
            <a:ext cx="592609" cy="2154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WORM</a:t>
            </a:r>
            <a:endParaRPr/>
          </a:p>
        </p:txBody>
      </p:sp>
      <p:cxnSp>
        <p:nvCxnSpPr>
          <p:cNvPr id="1218" name="Google Shape;1218;p18"/>
          <p:cNvCxnSpPr/>
          <p:nvPr/>
        </p:nvCxnSpPr>
        <p:spPr>
          <a:xfrm>
            <a:off x="7020017" y="4932861"/>
            <a:ext cx="2242444" cy="0"/>
          </a:xfrm>
          <a:prstGeom prst="straightConnector1">
            <a:avLst/>
          </a:prstGeom>
          <a:noFill/>
          <a:ln cap="flat" cmpd="sng" w="9525">
            <a:solidFill>
              <a:srgbClr val="CBEDDE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19" name="Google Shape;1219;p18"/>
          <p:cNvGrpSpPr/>
          <p:nvPr/>
        </p:nvGrpSpPr>
        <p:grpSpPr>
          <a:xfrm>
            <a:off x="7020017" y="4015458"/>
            <a:ext cx="2253758" cy="1668288"/>
            <a:chOff x="7492403" y="3278896"/>
            <a:chExt cx="2253758" cy="1668288"/>
          </a:xfrm>
        </p:grpSpPr>
        <p:sp>
          <p:nvSpPr>
            <p:cNvPr id="1220" name="Google Shape;1220;p18"/>
            <p:cNvSpPr/>
            <p:nvPr/>
          </p:nvSpPr>
          <p:spPr>
            <a:xfrm>
              <a:off x="7492403" y="3278896"/>
              <a:ext cx="2253758" cy="1668288"/>
            </a:xfrm>
            <a:prstGeom prst="rect">
              <a:avLst/>
            </a:prstGeom>
            <a:noFill/>
            <a:ln cap="flat" cmpd="sng" w="25400">
              <a:solidFill>
                <a:srgbClr val="CBED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18"/>
            <p:cNvSpPr/>
            <p:nvPr/>
          </p:nvSpPr>
          <p:spPr>
            <a:xfrm>
              <a:off x="7492403" y="3278896"/>
              <a:ext cx="2253758" cy="265801"/>
            </a:xfrm>
            <a:prstGeom prst="rect">
              <a:avLst/>
            </a:prstGeom>
            <a:solidFill>
              <a:srgbClr val="CBEDDE"/>
            </a:solidFill>
            <a:ln cap="flat" cmpd="sng" w="25400">
              <a:solidFill>
                <a:srgbClr val="CBED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EDMS 2차 스토리지</a:t>
              </a:r>
              <a:endParaRPr/>
            </a:p>
          </p:txBody>
        </p:sp>
      </p:grpSp>
      <p:grpSp>
        <p:nvGrpSpPr>
          <p:cNvPr id="1222" name="Google Shape;1222;p18"/>
          <p:cNvGrpSpPr/>
          <p:nvPr/>
        </p:nvGrpSpPr>
        <p:grpSpPr>
          <a:xfrm>
            <a:off x="4116886" y="4011030"/>
            <a:ext cx="2253758" cy="1668288"/>
            <a:chOff x="4589272" y="3274468"/>
            <a:chExt cx="2253758" cy="1668288"/>
          </a:xfrm>
        </p:grpSpPr>
        <p:sp>
          <p:nvSpPr>
            <p:cNvPr id="1223" name="Google Shape;1223;p18"/>
            <p:cNvSpPr/>
            <p:nvPr/>
          </p:nvSpPr>
          <p:spPr>
            <a:xfrm>
              <a:off x="4589272" y="3274468"/>
              <a:ext cx="2253758" cy="1668288"/>
            </a:xfrm>
            <a:prstGeom prst="rect">
              <a:avLst/>
            </a:prstGeom>
            <a:noFill/>
            <a:ln cap="flat" cmpd="sng" w="25400">
              <a:solidFill>
                <a:srgbClr val="CBED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18"/>
            <p:cNvSpPr/>
            <p:nvPr/>
          </p:nvSpPr>
          <p:spPr>
            <a:xfrm>
              <a:off x="4589272" y="3274468"/>
              <a:ext cx="2253758" cy="265801"/>
            </a:xfrm>
            <a:prstGeom prst="rect">
              <a:avLst/>
            </a:prstGeom>
            <a:solidFill>
              <a:srgbClr val="CBEDDE"/>
            </a:solidFill>
            <a:ln cap="flat" cmpd="sng" w="25400">
              <a:solidFill>
                <a:srgbClr val="CBED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EDMS 1차 스토리지</a:t>
              </a:r>
              <a:endParaRPr/>
            </a:p>
          </p:txBody>
        </p:sp>
      </p:grpSp>
      <p:grpSp>
        <p:nvGrpSpPr>
          <p:cNvPr id="1225" name="Google Shape;1225;p18"/>
          <p:cNvGrpSpPr/>
          <p:nvPr/>
        </p:nvGrpSpPr>
        <p:grpSpPr>
          <a:xfrm>
            <a:off x="4553296" y="2689059"/>
            <a:ext cx="571145" cy="633968"/>
            <a:chOff x="5025682" y="1952497"/>
            <a:chExt cx="571145" cy="633968"/>
          </a:xfrm>
        </p:grpSpPr>
        <p:sp>
          <p:nvSpPr>
            <p:cNvPr id="1226" name="Google Shape;1226;p18"/>
            <p:cNvSpPr/>
            <p:nvPr/>
          </p:nvSpPr>
          <p:spPr>
            <a:xfrm>
              <a:off x="5025682" y="1952497"/>
              <a:ext cx="571145" cy="633968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18"/>
            <p:cNvSpPr/>
            <p:nvPr/>
          </p:nvSpPr>
          <p:spPr>
            <a:xfrm>
              <a:off x="5057185" y="2360601"/>
              <a:ext cx="508139" cy="20117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94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EDMS</a:t>
              </a:r>
              <a:endParaRPr sz="794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j0431637" id="1228" name="Google Shape;1228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79581" y="2062842"/>
              <a:ext cx="275315" cy="2745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j0431626" id="1229" name="Google Shape;1229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26288" y="2192048"/>
              <a:ext cx="154117" cy="15486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30" name="Google Shape;1230;p18"/>
          <p:cNvGrpSpPr/>
          <p:nvPr/>
        </p:nvGrpSpPr>
        <p:grpSpPr>
          <a:xfrm>
            <a:off x="6033141" y="2689058"/>
            <a:ext cx="571145" cy="633968"/>
            <a:chOff x="6505527" y="1952496"/>
            <a:chExt cx="571145" cy="633968"/>
          </a:xfrm>
        </p:grpSpPr>
        <p:sp>
          <p:nvSpPr>
            <p:cNvPr id="1231" name="Google Shape;1231;p18"/>
            <p:cNvSpPr/>
            <p:nvPr/>
          </p:nvSpPr>
          <p:spPr>
            <a:xfrm>
              <a:off x="6505527" y="1952496"/>
              <a:ext cx="571145" cy="633968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18"/>
            <p:cNvSpPr/>
            <p:nvPr/>
          </p:nvSpPr>
          <p:spPr>
            <a:xfrm>
              <a:off x="6537030" y="2360600"/>
              <a:ext cx="508139" cy="20117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94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MCMS</a:t>
              </a:r>
              <a:endParaRPr sz="794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j0431637" id="1233" name="Google Shape;1233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659426" y="2062841"/>
              <a:ext cx="275315" cy="2745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j0431626" id="1234" name="Google Shape;1234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06133" y="2192047"/>
              <a:ext cx="154117" cy="15486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35" name="Google Shape;1235;p18"/>
          <p:cNvGrpSpPr/>
          <p:nvPr/>
        </p:nvGrpSpPr>
        <p:grpSpPr>
          <a:xfrm>
            <a:off x="8196485" y="4380567"/>
            <a:ext cx="968187" cy="406769"/>
            <a:chOff x="8668871" y="3724690"/>
            <a:chExt cx="968187" cy="406769"/>
          </a:xfrm>
        </p:grpSpPr>
        <p:sp>
          <p:nvSpPr>
            <p:cNvPr id="1236" name="Google Shape;1236;p18"/>
            <p:cNvSpPr/>
            <p:nvPr/>
          </p:nvSpPr>
          <p:spPr>
            <a:xfrm>
              <a:off x="8668871" y="3724690"/>
              <a:ext cx="968187" cy="406769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18"/>
            <p:cNvSpPr txBox="1"/>
            <p:nvPr/>
          </p:nvSpPr>
          <p:spPr>
            <a:xfrm>
              <a:off x="8668871" y="3743408"/>
              <a:ext cx="96818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영상 원본</a:t>
              </a: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(3개월 보관)</a:t>
              </a: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8" name="Google Shape;1238;p18"/>
          <p:cNvGrpSpPr/>
          <p:nvPr/>
        </p:nvGrpSpPr>
        <p:grpSpPr>
          <a:xfrm>
            <a:off x="5283231" y="4461715"/>
            <a:ext cx="968187" cy="406769"/>
            <a:chOff x="5755617" y="3725153"/>
            <a:chExt cx="968187" cy="406769"/>
          </a:xfrm>
        </p:grpSpPr>
        <p:sp>
          <p:nvSpPr>
            <p:cNvPr id="1239" name="Google Shape;1239;p18"/>
            <p:cNvSpPr/>
            <p:nvPr/>
          </p:nvSpPr>
          <p:spPr>
            <a:xfrm>
              <a:off x="5755617" y="3725153"/>
              <a:ext cx="968187" cy="406769"/>
            </a:xfrm>
            <a:prstGeom prst="roundRect">
              <a:avLst>
                <a:gd fmla="val 16667" name="adj"/>
              </a:avLst>
            </a:prstGeom>
            <a:solidFill>
              <a:srgbClr val="D5D5F4"/>
            </a:solidFill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18"/>
            <p:cNvSpPr txBox="1"/>
            <p:nvPr/>
          </p:nvSpPr>
          <p:spPr>
            <a:xfrm>
              <a:off x="5755617" y="3753107"/>
              <a:ext cx="96818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영상 트랜스 0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(1년 보관)</a:t>
              </a: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241" name="Google Shape;124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6817" y="3558449"/>
            <a:ext cx="437212" cy="408105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Google Shape;1242;p18"/>
          <p:cNvSpPr txBox="1"/>
          <p:nvPr/>
        </p:nvSpPr>
        <p:spPr>
          <a:xfrm>
            <a:off x="1482646" y="3721767"/>
            <a:ext cx="895457" cy="244787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대표홈페이지</a:t>
            </a:r>
            <a:endParaRPr sz="882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어두운 상향 대각선" id="1243" name="Google Shape;1243;p18"/>
          <p:cNvSpPr/>
          <p:nvPr/>
        </p:nvSpPr>
        <p:spPr>
          <a:xfrm>
            <a:off x="759367" y="3986184"/>
            <a:ext cx="647745" cy="139854"/>
          </a:xfrm>
          <a:prstGeom prst="roundRect">
            <a:avLst>
              <a:gd fmla="val 5000" name="adj"/>
            </a:avLst>
          </a:prstGeom>
          <a:solidFill>
            <a:srgbClr val="E6EAEE"/>
          </a:solidFill>
          <a:ln cap="flat" cmpd="sng" w="9525">
            <a:solidFill>
              <a:srgbClr val="D8DEE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고객</a:t>
            </a:r>
            <a:endParaRPr/>
          </a:p>
        </p:txBody>
      </p:sp>
      <p:pic>
        <p:nvPicPr>
          <p:cNvPr id="1244" name="Google Shape;124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9759" y="2834966"/>
            <a:ext cx="437212" cy="408105"/>
          </a:xfrm>
          <a:prstGeom prst="rect">
            <a:avLst/>
          </a:prstGeom>
          <a:noFill/>
          <a:ln>
            <a:noFill/>
          </a:ln>
        </p:spPr>
      </p:pic>
      <p:sp>
        <p:nvSpPr>
          <p:cNvPr id="1245" name="Google Shape;1245;p18"/>
          <p:cNvSpPr txBox="1"/>
          <p:nvPr/>
        </p:nvSpPr>
        <p:spPr>
          <a:xfrm>
            <a:off x="1485588" y="3036050"/>
            <a:ext cx="895457" cy="244787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하이유피</a:t>
            </a:r>
            <a:endParaRPr sz="882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어두운 상향 대각선" id="1246" name="Google Shape;1246;p18"/>
          <p:cNvSpPr/>
          <p:nvPr/>
        </p:nvSpPr>
        <p:spPr>
          <a:xfrm>
            <a:off x="762309" y="3263080"/>
            <a:ext cx="647745" cy="139854"/>
          </a:xfrm>
          <a:prstGeom prst="roundRect">
            <a:avLst>
              <a:gd fmla="val 5000" name="adj"/>
            </a:avLst>
          </a:prstGeom>
          <a:solidFill>
            <a:srgbClr val="E6EAEE"/>
          </a:solidFill>
          <a:ln cap="flat" cmpd="sng" w="9525">
            <a:solidFill>
              <a:srgbClr val="D8DEE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보상 담당</a:t>
            </a:r>
            <a:endParaRPr/>
          </a:p>
        </p:txBody>
      </p:sp>
      <p:pic>
        <p:nvPicPr>
          <p:cNvPr id="1247" name="Google Shape;124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9760" y="2113136"/>
            <a:ext cx="437212" cy="408105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Google Shape;1248;p18"/>
          <p:cNvSpPr txBox="1"/>
          <p:nvPr/>
        </p:nvSpPr>
        <p:spPr>
          <a:xfrm>
            <a:off x="1485589" y="2170485"/>
            <a:ext cx="895457" cy="334937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보상포탈</a:t>
            </a:r>
            <a:endParaRPr sz="882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82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손사포탈</a:t>
            </a:r>
            <a:endParaRPr sz="882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어두운 상향 대각선" id="1249" name="Google Shape;1249;p18"/>
          <p:cNvSpPr/>
          <p:nvPr/>
        </p:nvSpPr>
        <p:spPr>
          <a:xfrm>
            <a:off x="762310" y="2538905"/>
            <a:ext cx="647745" cy="139854"/>
          </a:xfrm>
          <a:prstGeom prst="roundRect">
            <a:avLst>
              <a:gd fmla="val 5000" name="adj"/>
            </a:avLst>
          </a:prstGeom>
          <a:solidFill>
            <a:srgbClr val="E6EAEE"/>
          </a:solidFill>
          <a:ln cap="flat" cmpd="sng" w="9525">
            <a:solidFill>
              <a:srgbClr val="D8DEE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업무 담당</a:t>
            </a:r>
            <a:endParaRPr/>
          </a:p>
        </p:txBody>
      </p:sp>
      <p:cxnSp>
        <p:nvCxnSpPr>
          <p:cNvPr id="1250" name="Google Shape;1250;p18"/>
          <p:cNvCxnSpPr>
            <a:stCxn id="1245" idx="3"/>
            <a:endCxn id="1226" idx="1"/>
          </p:cNvCxnSpPr>
          <p:nvPr/>
        </p:nvCxnSpPr>
        <p:spPr>
          <a:xfrm flipH="1" rot="10800000">
            <a:off x="2381045" y="3006044"/>
            <a:ext cx="2172300" cy="152400"/>
          </a:xfrm>
          <a:prstGeom prst="bentConnector3">
            <a:avLst>
              <a:gd fmla="val 49999" name="adj1"/>
            </a:avLst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51" name="Google Shape;1251;p18"/>
          <p:cNvCxnSpPr>
            <a:stCxn id="1242" idx="3"/>
            <a:endCxn id="1226" idx="1"/>
          </p:cNvCxnSpPr>
          <p:nvPr/>
        </p:nvCxnSpPr>
        <p:spPr>
          <a:xfrm flipH="1" rot="10800000">
            <a:off x="2378103" y="3005961"/>
            <a:ext cx="2175300" cy="838200"/>
          </a:xfrm>
          <a:prstGeom prst="bentConnector3">
            <a:avLst>
              <a:gd fmla="val 49998" name="adj1"/>
            </a:avLst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1252" name="Google Shape;1252;p18"/>
          <p:cNvGrpSpPr/>
          <p:nvPr/>
        </p:nvGrpSpPr>
        <p:grpSpPr>
          <a:xfrm>
            <a:off x="4057574" y="3254973"/>
            <a:ext cx="571145" cy="633968"/>
            <a:chOff x="4529960" y="2518411"/>
            <a:chExt cx="571145" cy="633968"/>
          </a:xfrm>
        </p:grpSpPr>
        <p:sp>
          <p:nvSpPr>
            <p:cNvPr id="1253" name="Google Shape;1253;p18"/>
            <p:cNvSpPr/>
            <p:nvPr/>
          </p:nvSpPr>
          <p:spPr>
            <a:xfrm>
              <a:off x="4529960" y="2518411"/>
              <a:ext cx="571145" cy="633968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18"/>
            <p:cNvSpPr/>
            <p:nvPr/>
          </p:nvSpPr>
          <p:spPr>
            <a:xfrm>
              <a:off x="4561463" y="2926515"/>
              <a:ext cx="508139" cy="20117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94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EDMS DB</a:t>
              </a:r>
              <a:endParaRPr sz="794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j0431637" id="1255" name="Google Shape;125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83859" y="2628756"/>
              <a:ext cx="275315" cy="2745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j0431626" id="1256" name="Google Shape;125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830566" y="2757962"/>
              <a:ext cx="154117" cy="15486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57" name="Google Shape;1257;p18"/>
          <p:cNvGrpSpPr/>
          <p:nvPr/>
        </p:nvGrpSpPr>
        <p:grpSpPr>
          <a:xfrm>
            <a:off x="6530723" y="3247378"/>
            <a:ext cx="571145" cy="633968"/>
            <a:chOff x="7003109" y="2510816"/>
            <a:chExt cx="571145" cy="633968"/>
          </a:xfrm>
        </p:grpSpPr>
        <p:sp>
          <p:nvSpPr>
            <p:cNvPr id="1258" name="Google Shape;1258;p18"/>
            <p:cNvSpPr/>
            <p:nvPr/>
          </p:nvSpPr>
          <p:spPr>
            <a:xfrm>
              <a:off x="7003109" y="2510816"/>
              <a:ext cx="571145" cy="633968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18"/>
            <p:cNvSpPr/>
            <p:nvPr/>
          </p:nvSpPr>
          <p:spPr>
            <a:xfrm>
              <a:off x="7034612" y="2918920"/>
              <a:ext cx="508139" cy="20117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94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MCMS DB</a:t>
              </a:r>
              <a:endParaRPr sz="794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j0431637" id="1260" name="Google Shape;1260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157008" y="2621161"/>
              <a:ext cx="275315" cy="2745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j0431626" id="1261" name="Google Shape;1261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303715" y="2750367"/>
              <a:ext cx="154117" cy="154865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1262" name="Google Shape;1262;p18"/>
          <p:cNvGraphicFramePr/>
          <p:nvPr/>
        </p:nvGraphicFramePr>
        <p:xfrm>
          <a:off x="415925" y="466438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{F6045412-04BD-4F82-B1B7-2730D475FC39}</a:tableStyleId>
              </a:tblPr>
              <a:tblGrid>
                <a:gridCol w="1398525"/>
                <a:gridCol w="2080800"/>
              </a:tblGrid>
              <a:tr h="178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단계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설명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① 영상 정보 </a:t>
                      </a: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Req.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영상정보 요청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② 영상 정보 </a:t>
                      </a: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Res.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받은 정보로 화면에 목록을 표출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③ 삭제 요청 </a:t>
                      </a: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Req.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파일 선택 후 삭제 버튼 클릭 시 삭제 요청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④ 파일 삭제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EDMS</a:t>
                      </a: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는 스토리지에 있는 대상 파일을 찾아서 삭제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⑤ 삭제 결과 </a:t>
                      </a: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Res.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삭제 성공</a:t>
                      </a: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/실패 안내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263" name="Google Shape;1263;p18"/>
          <p:cNvCxnSpPr>
            <a:stCxn id="1253" idx="2"/>
            <a:endCxn id="1240" idx="1"/>
          </p:cNvCxnSpPr>
          <p:nvPr/>
        </p:nvCxnSpPr>
        <p:spPr>
          <a:xfrm>
            <a:off x="4343147" y="3888941"/>
            <a:ext cx="940200" cy="7854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64" name="Google Shape;1264;p18"/>
          <p:cNvCxnSpPr>
            <a:stCxn id="1258" idx="2"/>
            <a:endCxn id="1237" idx="1"/>
          </p:cNvCxnSpPr>
          <p:nvPr/>
        </p:nvCxnSpPr>
        <p:spPr>
          <a:xfrm>
            <a:off x="6816296" y="3881346"/>
            <a:ext cx="1380300" cy="7026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1265" name="Google Shape;1265;p18"/>
          <p:cNvGrpSpPr/>
          <p:nvPr/>
        </p:nvGrpSpPr>
        <p:grpSpPr>
          <a:xfrm>
            <a:off x="8196485" y="5098304"/>
            <a:ext cx="968187" cy="406769"/>
            <a:chOff x="8668871" y="4254162"/>
            <a:chExt cx="968187" cy="406769"/>
          </a:xfrm>
        </p:grpSpPr>
        <p:sp>
          <p:nvSpPr>
            <p:cNvPr id="1266" name="Google Shape;1266;p18"/>
            <p:cNvSpPr/>
            <p:nvPr/>
          </p:nvSpPr>
          <p:spPr>
            <a:xfrm>
              <a:off x="8668871" y="4254162"/>
              <a:ext cx="968187" cy="406769"/>
            </a:xfrm>
            <a:prstGeom prst="roundRect">
              <a:avLst>
                <a:gd fmla="val 16667" name="adj"/>
              </a:avLst>
            </a:prstGeom>
            <a:solidFill>
              <a:srgbClr val="D5D5F4"/>
            </a:solidFill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18"/>
            <p:cNvSpPr txBox="1"/>
            <p:nvPr/>
          </p:nvSpPr>
          <p:spPr>
            <a:xfrm>
              <a:off x="8668871" y="4272880"/>
              <a:ext cx="96818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영상 트랜스 A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(영구 보관)</a:t>
              </a:r>
              <a:endPara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268" name="Google Shape;1268;p18"/>
          <p:cNvCxnSpPr>
            <a:stCxn id="1226" idx="2"/>
            <a:endCxn id="1240" idx="1"/>
          </p:cNvCxnSpPr>
          <p:nvPr/>
        </p:nvCxnSpPr>
        <p:spPr>
          <a:xfrm flipH="1" rot="-5400000">
            <a:off x="4385419" y="3776477"/>
            <a:ext cx="1351200" cy="444300"/>
          </a:xfrm>
          <a:prstGeom prst="bentConnector2">
            <a:avLst/>
          </a:prstGeom>
          <a:noFill/>
          <a:ln cap="flat" cmpd="sng" w="25400">
            <a:solidFill>
              <a:srgbClr val="26269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69" name="Google Shape;1269;p18"/>
          <p:cNvSpPr txBox="1"/>
          <p:nvPr/>
        </p:nvSpPr>
        <p:spPr>
          <a:xfrm>
            <a:off x="3245838" y="2752019"/>
            <a:ext cx="1331892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① 영상 정보 Request</a:t>
            </a:r>
            <a:endParaRPr/>
          </a:p>
        </p:txBody>
      </p:sp>
      <p:sp>
        <p:nvSpPr>
          <p:cNvPr id="1270" name="Google Shape;1270;p18"/>
          <p:cNvSpPr txBox="1"/>
          <p:nvPr/>
        </p:nvSpPr>
        <p:spPr>
          <a:xfrm>
            <a:off x="2363720" y="2356556"/>
            <a:ext cx="1376609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② 영상 정보 Response</a:t>
            </a:r>
            <a:endParaRPr/>
          </a:p>
        </p:txBody>
      </p:sp>
      <p:sp>
        <p:nvSpPr>
          <p:cNvPr id="1271" name="Google Shape;1271;p18"/>
          <p:cNvSpPr txBox="1"/>
          <p:nvPr/>
        </p:nvSpPr>
        <p:spPr>
          <a:xfrm>
            <a:off x="4043427" y="1706769"/>
            <a:ext cx="1315447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191966"/>
                </a:solidFill>
                <a:latin typeface="Arial"/>
                <a:ea typeface="Arial"/>
                <a:cs typeface="Arial"/>
                <a:sym typeface="Arial"/>
              </a:rPr>
              <a:t>③ 삭제 요청 Request</a:t>
            </a:r>
            <a:endParaRPr/>
          </a:p>
        </p:txBody>
      </p:sp>
      <p:sp>
        <p:nvSpPr>
          <p:cNvPr id="1272" name="Google Shape;1272;p18"/>
          <p:cNvSpPr txBox="1"/>
          <p:nvPr/>
        </p:nvSpPr>
        <p:spPr>
          <a:xfrm>
            <a:off x="4853902" y="4997677"/>
            <a:ext cx="876185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191966"/>
                </a:solidFill>
                <a:latin typeface="Arial"/>
                <a:ea typeface="Arial"/>
                <a:cs typeface="Arial"/>
                <a:sym typeface="Arial"/>
              </a:rPr>
              <a:t>④ 파일 삭제</a:t>
            </a:r>
            <a:endParaRPr sz="900">
              <a:solidFill>
                <a:srgbClr val="1919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3" name="Google Shape;1273;p18"/>
          <p:cNvSpPr txBox="1"/>
          <p:nvPr/>
        </p:nvSpPr>
        <p:spPr>
          <a:xfrm>
            <a:off x="2376266" y="1951192"/>
            <a:ext cx="1414387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191966"/>
                </a:solidFill>
                <a:latin typeface="Arial"/>
                <a:ea typeface="Arial"/>
                <a:cs typeface="Arial"/>
                <a:sym typeface="Arial"/>
              </a:rPr>
              <a:t>⑤ 삭제 결과 Response</a:t>
            </a:r>
            <a:endParaRPr/>
          </a:p>
        </p:txBody>
      </p:sp>
      <p:cxnSp>
        <p:nvCxnSpPr>
          <p:cNvPr id="1274" name="Google Shape;1274;p18"/>
          <p:cNvCxnSpPr>
            <a:stCxn id="1248" idx="0"/>
            <a:endCxn id="1226" idx="0"/>
          </p:cNvCxnSpPr>
          <p:nvPr/>
        </p:nvCxnSpPr>
        <p:spPr>
          <a:xfrm flipH="1" rot="-5400000">
            <a:off x="3126718" y="977085"/>
            <a:ext cx="518700" cy="2905500"/>
          </a:xfrm>
          <a:prstGeom prst="bentConnector3">
            <a:avLst>
              <a:gd fmla="val -44071" name="adj1"/>
            </a:avLst>
          </a:prstGeom>
          <a:noFill/>
          <a:ln cap="flat" cmpd="sng" w="25400">
            <a:solidFill>
              <a:srgbClr val="26269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75" name="Google Shape;1275;p18"/>
          <p:cNvSpPr txBox="1"/>
          <p:nvPr/>
        </p:nvSpPr>
        <p:spPr>
          <a:xfrm>
            <a:off x="5561772" y="4401279"/>
            <a:ext cx="400038" cy="523220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1" sz="28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6" name="Google Shape;1276;p18"/>
          <p:cNvSpPr txBox="1"/>
          <p:nvPr/>
        </p:nvSpPr>
        <p:spPr>
          <a:xfrm>
            <a:off x="8475026" y="4321359"/>
            <a:ext cx="400038" cy="523220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1" sz="28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77" name="Google Shape;1277;p18"/>
          <p:cNvCxnSpPr>
            <a:stCxn id="1248" idx="3"/>
            <a:endCxn id="1226" idx="1"/>
          </p:cNvCxnSpPr>
          <p:nvPr/>
        </p:nvCxnSpPr>
        <p:spPr>
          <a:xfrm>
            <a:off x="2381046" y="2337954"/>
            <a:ext cx="2172300" cy="668100"/>
          </a:xfrm>
          <a:prstGeom prst="bentConnector3">
            <a:avLst>
              <a:gd fmla="val 49999" name="adj1"/>
            </a:avLst>
          </a:prstGeom>
          <a:noFill/>
          <a:ln cap="flat" cmpd="sng" w="2540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78" name="Google Shape;1278;p18"/>
          <p:cNvCxnSpPr>
            <a:stCxn id="1237" idx="3"/>
            <a:endCxn id="1279" idx="2"/>
          </p:cNvCxnSpPr>
          <p:nvPr/>
        </p:nvCxnSpPr>
        <p:spPr>
          <a:xfrm rot="10800000">
            <a:off x="8083172" y="2542151"/>
            <a:ext cx="1081500" cy="2041800"/>
          </a:xfrm>
          <a:prstGeom prst="bentConnector4">
            <a:avLst>
              <a:gd fmla="val -21138" name="adj1"/>
              <a:gd fmla="val 54520" name="adj2"/>
            </a:avLst>
          </a:prstGeom>
          <a:noFill/>
          <a:ln cap="flat" cmpd="sng" w="19050">
            <a:solidFill>
              <a:srgbClr val="00CB9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79" name="Google Shape;1279;p18"/>
          <p:cNvSpPr txBox="1"/>
          <p:nvPr/>
        </p:nvSpPr>
        <p:spPr>
          <a:xfrm>
            <a:off x="7001799" y="926383"/>
            <a:ext cx="2162874" cy="1615827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rgbClr val="191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91966"/>
                </a:solidFill>
                <a:latin typeface="Arial"/>
                <a:ea typeface="Arial"/>
                <a:cs typeface="Arial"/>
                <a:sym typeface="Arial"/>
              </a:rPr>
              <a:t>영상 원본 삭제 서비스 방안 검토</a:t>
            </a:r>
            <a:endParaRPr b="1" sz="900">
              <a:solidFill>
                <a:srgbClr val="1919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191966"/>
                </a:solidFill>
                <a:latin typeface="Arial"/>
                <a:ea typeface="Arial"/>
                <a:cs typeface="Arial"/>
                <a:sym typeface="Arial"/>
              </a:rPr>
              <a:t>영상 원본 파일 적재 관련 정보가 MCMS DB에만 기록된 상황</a:t>
            </a:r>
            <a:endParaRPr sz="900">
              <a:solidFill>
                <a:srgbClr val="1919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1919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91966"/>
                </a:solidFill>
                <a:latin typeface="Arial"/>
                <a:ea typeface="Arial"/>
                <a:cs typeface="Arial"/>
                <a:sym typeface="Arial"/>
              </a:rPr>
              <a:t>영상 원본은 화면에 별도의 버튼을 배치하여 버튼 클릭 시 원본조회 팝업 호출</a:t>
            </a:r>
            <a:endParaRPr b="1" sz="900">
              <a:solidFill>
                <a:srgbClr val="1919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191966"/>
              </a:buClr>
              <a:buSzPts val="900"/>
              <a:buFont typeface="Noto Sans Symbols"/>
              <a:buChar char="🡪"/>
            </a:pPr>
            <a:r>
              <a:rPr lang="en-US" sz="900">
                <a:solidFill>
                  <a:srgbClr val="191966"/>
                </a:solidFill>
                <a:latin typeface="Arial"/>
                <a:ea typeface="Arial"/>
                <a:cs typeface="Arial"/>
                <a:sym typeface="Arial"/>
              </a:rPr>
              <a:t>원본으로 등록된 파일 목록을 표출</a:t>
            </a:r>
            <a:endParaRPr sz="900">
              <a:solidFill>
                <a:srgbClr val="1919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191966"/>
              </a:buClr>
              <a:buSzPts val="900"/>
              <a:buFont typeface="Noto Sans Symbols"/>
              <a:buChar char="🡪"/>
            </a:pPr>
            <a:r>
              <a:rPr lang="en-US" sz="900">
                <a:solidFill>
                  <a:srgbClr val="191966"/>
                </a:solidFill>
                <a:latin typeface="Arial"/>
                <a:ea typeface="Arial"/>
                <a:cs typeface="Arial"/>
                <a:sym typeface="Arial"/>
              </a:rPr>
              <a:t>삭제 버튼 클릭 시 삭제 서비스를 MCMS가 제공</a:t>
            </a:r>
            <a:endParaRPr sz="900">
              <a:solidFill>
                <a:srgbClr val="1919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191966"/>
                </a:solidFill>
                <a:latin typeface="Arial"/>
                <a:ea typeface="Arial"/>
                <a:cs typeface="Arial"/>
                <a:sym typeface="Arial"/>
              </a:rPr>
              <a:t>※ 원본조회 팝업에서 추가 제공 기능: 원본 대상 트랜스코딩 작업 요청</a:t>
            </a:r>
            <a:endParaRPr sz="900">
              <a:solidFill>
                <a:srgbClr val="1919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0" name="Google Shape;1280;p18"/>
          <p:cNvSpPr txBox="1"/>
          <p:nvPr/>
        </p:nvSpPr>
        <p:spPr>
          <a:xfrm>
            <a:off x="8643186" y="73385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1" name="Google Shape;1281;p18"/>
          <p:cNvCxnSpPr>
            <a:stCxn id="1226" idx="2"/>
            <a:endCxn id="1267" idx="1"/>
          </p:cNvCxnSpPr>
          <p:nvPr/>
        </p:nvCxnSpPr>
        <p:spPr>
          <a:xfrm flipH="1" rot="-5400000">
            <a:off x="5528269" y="2633627"/>
            <a:ext cx="1978800" cy="3357600"/>
          </a:xfrm>
          <a:prstGeom prst="bentConnector2">
            <a:avLst/>
          </a:prstGeom>
          <a:noFill/>
          <a:ln cap="flat" cmpd="sng" w="25400">
            <a:solidFill>
              <a:srgbClr val="26269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82" name="Google Shape;1282;p18"/>
          <p:cNvSpPr txBox="1"/>
          <p:nvPr/>
        </p:nvSpPr>
        <p:spPr>
          <a:xfrm>
            <a:off x="8475026" y="5040078"/>
            <a:ext cx="400038" cy="523220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1" sz="28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3" name="Google Shape;1283;p18"/>
          <p:cNvCxnSpPr/>
          <p:nvPr/>
        </p:nvCxnSpPr>
        <p:spPr>
          <a:xfrm rot="10800000">
            <a:off x="2015203" y="2170359"/>
            <a:ext cx="4385400" cy="518700"/>
          </a:xfrm>
          <a:prstGeom prst="bentConnector3">
            <a:avLst>
              <a:gd fmla="val 0" name="adj1"/>
            </a:avLst>
          </a:prstGeom>
          <a:noFill/>
          <a:ln cap="flat" cmpd="sng" w="19050">
            <a:solidFill>
              <a:srgbClr val="60C89B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84" name="Google Shape;1284;p18"/>
          <p:cNvSpPr txBox="1"/>
          <p:nvPr/>
        </p:nvSpPr>
        <p:spPr>
          <a:xfrm>
            <a:off x="4956230" y="1341438"/>
            <a:ext cx="1827614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0C89B"/>
                </a:solidFill>
                <a:latin typeface="Arial"/>
                <a:ea typeface="Arial"/>
                <a:cs typeface="Arial"/>
                <a:sym typeface="Arial"/>
              </a:rPr>
              <a:t>영상 원본 파일 삭제 서비스</a:t>
            </a:r>
            <a:endParaRPr sz="900">
              <a:solidFill>
                <a:srgbClr val="60C89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5" name="Google Shape;1285;p18"/>
          <p:cNvCxnSpPr>
            <a:stCxn id="1279" idx="1"/>
            <a:endCxn id="1231" idx="3"/>
          </p:cNvCxnSpPr>
          <p:nvPr/>
        </p:nvCxnSpPr>
        <p:spPr>
          <a:xfrm flipH="1">
            <a:off x="6604299" y="1734297"/>
            <a:ext cx="397500" cy="1271700"/>
          </a:xfrm>
          <a:prstGeom prst="bentConnector3">
            <a:avLst>
              <a:gd fmla="val 50001" name="adj1"/>
            </a:avLst>
          </a:prstGeom>
          <a:noFill/>
          <a:ln cap="flat" cmpd="sng" w="19050">
            <a:solidFill>
              <a:srgbClr val="00CB97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86" name="Google Shape;1286;p18"/>
          <p:cNvSpPr txBox="1"/>
          <p:nvPr/>
        </p:nvSpPr>
        <p:spPr>
          <a:xfrm>
            <a:off x="8024589" y="2808549"/>
            <a:ext cx="2121451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영상 원본 파일 삭제 서비스</a:t>
            </a:r>
            <a:endParaRPr sz="90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- MCMS는 2차 스토리지를 마운트</a:t>
            </a:r>
            <a:endParaRPr sz="90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- API를 이용하여 삭제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7" name="Google Shape;1287;p18"/>
          <p:cNvCxnSpPr>
            <a:stCxn id="1253" idx="2"/>
            <a:endCxn id="1267" idx="1"/>
          </p:cNvCxnSpPr>
          <p:nvPr/>
        </p:nvCxnSpPr>
        <p:spPr>
          <a:xfrm>
            <a:off x="4343147" y="3888941"/>
            <a:ext cx="3853200" cy="14127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88" name="Google Shape;1288;p18"/>
          <p:cNvSpPr txBox="1"/>
          <p:nvPr/>
        </p:nvSpPr>
        <p:spPr>
          <a:xfrm>
            <a:off x="7030028" y="4493225"/>
            <a:ext cx="759894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(신규 30TB)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19"/>
          <p:cNvSpPr txBox="1"/>
          <p:nvPr/>
        </p:nvSpPr>
        <p:spPr>
          <a:xfrm>
            <a:off x="417770" y="714190"/>
            <a:ext cx="8964356" cy="637153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아키텍처 설계 &gt; 2.4 동영상플랫폼</a:t>
            </a:r>
            <a:endParaRPr b="1" i="0" sz="14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2.4.4 동영상플랫폼 업무흐름도 (편집,저장)</a:t>
            </a:r>
            <a:endParaRPr/>
          </a:p>
        </p:txBody>
      </p:sp>
      <p:grpSp>
        <p:nvGrpSpPr>
          <p:cNvPr id="1294" name="Google Shape;1294;p19"/>
          <p:cNvGrpSpPr/>
          <p:nvPr/>
        </p:nvGrpSpPr>
        <p:grpSpPr>
          <a:xfrm>
            <a:off x="7307735" y="3999867"/>
            <a:ext cx="2253758" cy="2011680"/>
            <a:chOff x="7492403" y="3278896"/>
            <a:chExt cx="2253758" cy="2011680"/>
          </a:xfrm>
        </p:grpSpPr>
        <p:sp>
          <p:nvSpPr>
            <p:cNvPr id="1295" name="Google Shape;1295;p19"/>
            <p:cNvSpPr txBox="1"/>
            <p:nvPr/>
          </p:nvSpPr>
          <p:spPr>
            <a:xfrm>
              <a:off x="7502413" y="3547163"/>
              <a:ext cx="592609" cy="215444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NAS</a:t>
              </a:r>
              <a:endParaRPr/>
            </a:p>
          </p:txBody>
        </p:sp>
        <p:sp>
          <p:nvSpPr>
            <p:cNvPr id="1296" name="Google Shape;1296;p19"/>
            <p:cNvSpPr txBox="1"/>
            <p:nvPr/>
          </p:nvSpPr>
          <p:spPr>
            <a:xfrm>
              <a:off x="7502413" y="4198246"/>
              <a:ext cx="592609" cy="215444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WORM</a:t>
              </a:r>
              <a:endParaRPr/>
            </a:p>
          </p:txBody>
        </p:sp>
        <p:cxnSp>
          <p:nvCxnSpPr>
            <p:cNvPr id="1297" name="Google Shape;1297;p19"/>
            <p:cNvCxnSpPr/>
            <p:nvPr/>
          </p:nvCxnSpPr>
          <p:spPr>
            <a:xfrm>
              <a:off x="7492403" y="4196299"/>
              <a:ext cx="2242444" cy="0"/>
            </a:xfrm>
            <a:prstGeom prst="straightConnector1">
              <a:avLst/>
            </a:prstGeom>
            <a:noFill/>
            <a:ln cap="flat" cmpd="sng" w="9525">
              <a:solidFill>
                <a:srgbClr val="CBEDDE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298" name="Google Shape;1298;p19"/>
            <p:cNvGrpSpPr/>
            <p:nvPr/>
          </p:nvGrpSpPr>
          <p:grpSpPr>
            <a:xfrm>
              <a:off x="7492403" y="3278896"/>
              <a:ext cx="2253758" cy="2011680"/>
              <a:chOff x="7492403" y="3278896"/>
              <a:chExt cx="2253758" cy="2011680"/>
            </a:xfrm>
          </p:grpSpPr>
          <p:sp>
            <p:nvSpPr>
              <p:cNvPr id="1299" name="Google Shape;1299;p19"/>
              <p:cNvSpPr/>
              <p:nvPr/>
            </p:nvSpPr>
            <p:spPr>
              <a:xfrm>
                <a:off x="7492403" y="3278896"/>
                <a:ext cx="2253758" cy="2011680"/>
              </a:xfrm>
              <a:prstGeom prst="rect">
                <a:avLst/>
              </a:prstGeom>
              <a:noFill/>
              <a:ln cap="flat" cmpd="sng" w="25400">
                <a:solidFill>
                  <a:srgbClr val="CBED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0" name="Google Shape;1300;p19"/>
              <p:cNvSpPr/>
              <p:nvPr/>
            </p:nvSpPr>
            <p:spPr>
              <a:xfrm>
                <a:off x="7492403" y="3278896"/>
                <a:ext cx="2253758" cy="265801"/>
              </a:xfrm>
              <a:prstGeom prst="rect">
                <a:avLst/>
              </a:prstGeom>
              <a:solidFill>
                <a:srgbClr val="CBEDDE"/>
              </a:solidFill>
              <a:ln cap="flat" cmpd="sng" w="25400">
                <a:solidFill>
                  <a:srgbClr val="CBED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EDMS 2차 스토리지</a:t>
                </a:r>
                <a:endParaRPr/>
              </a:p>
            </p:txBody>
          </p:sp>
        </p:grpSp>
      </p:grpSp>
      <p:grpSp>
        <p:nvGrpSpPr>
          <p:cNvPr id="1301" name="Google Shape;1301;p19"/>
          <p:cNvGrpSpPr/>
          <p:nvPr/>
        </p:nvGrpSpPr>
        <p:grpSpPr>
          <a:xfrm>
            <a:off x="4791461" y="3995439"/>
            <a:ext cx="2253758" cy="2005602"/>
            <a:chOff x="4589272" y="3274468"/>
            <a:chExt cx="2253758" cy="2005602"/>
          </a:xfrm>
        </p:grpSpPr>
        <p:sp>
          <p:nvSpPr>
            <p:cNvPr id="1302" name="Google Shape;1302;p19"/>
            <p:cNvSpPr txBox="1"/>
            <p:nvPr/>
          </p:nvSpPr>
          <p:spPr>
            <a:xfrm>
              <a:off x="4597713" y="3550245"/>
              <a:ext cx="592609" cy="215444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NAS</a:t>
              </a:r>
              <a:endParaRPr/>
            </a:p>
          </p:txBody>
        </p:sp>
        <p:grpSp>
          <p:nvGrpSpPr>
            <p:cNvPr id="1303" name="Google Shape;1303;p19"/>
            <p:cNvGrpSpPr/>
            <p:nvPr/>
          </p:nvGrpSpPr>
          <p:grpSpPr>
            <a:xfrm>
              <a:off x="4589272" y="3274468"/>
              <a:ext cx="2253758" cy="2005602"/>
              <a:chOff x="4589272" y="3274468"/>
              <a:chExt cx="2253758" cy="2005602"/>
            </a:xfrm>
          </p:grpSpPr>
          <p:sp>
            <p:nvSpPr>
              <p:cNvPr id="1304" name="Google Shape;1304;p19"/>
              <p:cNvSpPr/>
              <p:nvPr/>
            </p:nvSpPr>
            <p:spPr>
              <a:xfrm>
                <a:off x="4589272" y="3274468"/>
                <a:ext cx="2253758" cy="2005602"/>
              </a:xfrm>
              <a:prstGeom prst="rect">
                <a:avLst/>
              </a:prstGeom>
              <a:noFill/>
              <a:ln cap="flat" cmpd="sng" w="25400">
                <a:solidFill>
                  <a:srgbClr val="CBED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5" name="Google Shape;1305;p19"/>
              <p:cNvSpPr/>
              <p:nvPr/>
            </p:nvSpPr>
            <p:spPr>
              <a:xfrm>
                <a:off x="4589272" y="3274468"/>
                <a:ext cx="2253758" cy="265801"/>
              </a:xfrm>
              <a:prstGeom prst="rect">
                <a:avLst/>
              </a:prstGeom>
              <a:solidFill>
                <a:srgbClr val="CBEDDE"/>
              </a:solidFill>
              <a:ln cap="flat" cmpd="sng" w="25400">
                <a:solidFill>
                  <a:srgbClr val="CBED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EDMS 1차 스토리지</a:t>
                </a:r>
                <a:endParaRPr/>
              </a:p>
            </p:txBody>
          </p:sp>
        </p:grpSp>
      </p:grpSp>
      <p:pic>
        <p:nvPicPr>
          <p:cNvPr id="1306" name="Google Shape;130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6420" y="3861760"/>
            <a:ext cx="437212" cy="408105"/>
          </a:xfrm>
          <a:prstGeom prst="rect">
            <a:avLst/>
          </a:prstGeom>
          <a:noFill/>
          <a:ln>
            <a:noFill/>
          </a:ln>
        </p:spPr>
      </p:pic>
      <p:sp>
        <p:nvSpPr>
          <p:cNvPr id="1307" name="Google Shape;1307;p19"/>
          <p:cNvSpPr txBox="1"/>
          <p:nvPr/>
        </p:nvSpPr>
        <p:spPr>
          <a:xfrm>
            <a:off x="1652249" y="4025078"/>
            <a:ext cx="895457" cy="244787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대표홈페이지</a:t>
            </a:r>
            <a:endParaRPr sz="882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어두운 상향 대각선" id="1308" name="Google Shape;1308;p19"/>
          <p:cNvSpPr/>
          <p:nvPr/>
        </p:nvSpPr>
        <p:spPr>
          <a:xfrm>
            <a:off x="928970" y="4289495"/>
            <a:ext cx="647745" cy="139854"/>
          </a:xfrm>
          <a:prstGeom prst="roundRect">
            <a:avLst>
              <a:gd fmla="val 5000" name="adj"/>
            </a:avLst>
          </a:prstGeom>
          <a:solidFill>
            <a:srgbClr val="E6EAEE"/>
          </a:solidFill>
          <a:ln cap="flat" cmpd="sng" w="9525">
            <a:solidFill>
              <a:srgbClr val="D8DEE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고객</a:t>
            </a:r>
            <a:endParaRPr/>
          </a:p>
        </p:txBody>
      </p:sp>
      <p:pic>
        <p:nvPicPr>
          <p:cNvPr id="1309" name="Google Shape;130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362" y="3239881"/>
            <a:ext cx="437212" cy="408105"/>
          </a:xfrm>
          <a:prstGeom prst="rect">
            <a:avLst/>
          </a:prstGeom>
          <a:noFill/>
          <a:ln>
            <a:noFill/>
          </a:ln>
        </p:spPr>
      </p:pic>
      <p:sp>
        <p:nvSpPr>
          <p:cNvPr id="1310" name="Google Shape;1310;p19"/>
          <p:cNvSpPr txBox="1"/>
          <p:nvPr/>
        </p:nvSpPr>
        <p:spPr>
          <a:xfrm>
            <a:off x="1655191" y="3504465"/>
            <a:ext cx="895457" cy="244787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하이유피</a:t>
            </a:r>
            <a:endParaRPr sz="882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어두운 상향 대각선" id="1311" name="Google Shape;1311;p19"/>
          <p:cNvSpPr/>
          <p:nvPr/>
        </p:nvSpPr>
        <p:spPr>
          <a:xfrm>
            <a:off x="931912" y="3667995"/>
            <a:ext cx="647745" cy="139854"/>
          </a:xfrm>
          <a:prstGeom prst="roundRect">
            <a:avLst>
              <a:gd fmla="val 5000" name="adj"/>
            </a:avLst>
          </a:prstGeom>
          <a:solidFill>
            <a:srgbClr val="E6EAEE"/>
          </a:solidFill>
          <a:ln cap="flat" cmpd="sng" w="9525">
            <a:solidFill>
              <a:srgbClr val="D8DEE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보상 담당</a:t>
            </a:r>
            <a:endParaRPr/>
          </a:p>
        </p:txBody>
      </p:sp>
      <p:pic>
        <p:nvPicPr>
          <p:cNvPr id="1312" name="Google Shape;131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363" y="1851882"/>
            <a:ext cx="437212" cy="408105"/>
          </a:xfrm>
          <a:prstGeom prst="rect">
            <a:avLst/>
          </a:prstGeom>
          <a:noFill/>
          <a:ln>
            <a:noFill/>
          </a:ln>
        </p:spPr>
      </p:pic>
      <p:sp>
        <p:nvSpPr>
          <p:cNvPr id="1313" name="Google Shape;1313;p19"/>
          <p:cNvSpPr txBox="1"/>
          <p:nvPr/>
        </p:nvSpPr>
        <p:spPr>
          <a:xfrm>
            <a:off x="1655192" y="1909231"/>
            <a:ext cx="895457" cy="334937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보상포탈</a:t>
            </a:r>
            <a:endParaRPr sz="882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82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손사포탈</a:t>
            </a:r>
            <a:endParaRPr sz="882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어두운 상향 대각선" id="1314" name="Google Shape;1314;p19"/>
          <p:cNvSpPr/>
          <p:nvPr/>
        </p:nvSpPr>
        <p:spPr>
          <a:xfrm>
            <a:off x="931913" y="2277651"/>
            <a:ext cx="647745" cy="139854"/>
          </a:xfrm>
          <a:prstGeom prst="roundRect">
            <a:avLst>
              <a:gd fmla="val 5000" name="adj"/>
            </a:avLst>
          </a:prstGeom>
          <a:solidFill>
            <a:srgbClr val="E6EAEE"/>
          </a:solidFill>
          <a:ln cap="flat" cmpd="sng" w="9525">
            <a:solidFill>
              <a:srgbClr val="D8DEE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업무 담당</a:t>
            </a:r>
            <a:endParaRPr/>
          </a:p>
        </p:txBody>
      </p:sp>
      <p:grpSp>
        <p:nvGrpSpPr>
          <p:cNvPr id="1315" name="Google Shape;1315;p19"/>
          <p:cNvGrpSpPr/>
          <p:nvPr/>
        </p:nvGrpSpPr>
        <p:grpSpPr>
          <a:xfrm>
            <a:off x="5227871" y="2673468"/>
            <a:ext cx="571145" cy="633968"/>
            <a:chOff x="5025682" y="1952497"/>
            <a:chExt cx="571145" cy="633968"/>
          </a:xfrm>
        </p:grpSpPr>
        <p:sp>
          <p:nvSpPr>
            <p:cNvPr id="1316" name="Google Shape;1316;p19"/>
            <p:cNvSpPr/>
            <p:nvPr/>
          </p:nvSpPr>
          <p:spPr>
            <a:xfrm>
              <a:off x="5025682" y="1952497"/>
              <a:ext cx="571145" cy="633968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19"/>
            <p:cNvSpPr/>
            <p:nvPr/>
          </p:nvSpPr>
          <p:spPr>
            <a:xfrm>
              <a:off x="5057185" y="2360601"/>
              <a:ext cx="508139" cy="20117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94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EDMS</a:t>
              </a:r>
              <a:endParaRPr sz="794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j0431637" id="1318" name="Google Shape;1318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179581" y="2062842"/>
              <a:ext cx="275315" cy="2745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j0431626" id="1319" name="Google Shape;1319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326288" y="2192048"/>
              <a:ext cx="154117" cy="15486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20" name="Google Shape;1320;p19"/>
          <p:cNvGrpSpPr/>
          <p:nvPr/>
        </p:nvGrpSpPr>
        <p:grpSpPr>
          <a:xfrm>
            <a:off x="6707716" y="2673467"/>
            <a:ext cx="571145" cy="633968"/>
            <a:chOff x="6505527" y="1952496"/>
            <a:chExt cx="571145" cy="633968"/>
          </a:xfrm>
        </p:grpSpPr>
        <p:sp>
          <p:nvSpPr>
            <p:cNvPr id="1321" name="Google Shape;1321;p19"/>
            <p:cNvSpPr/>
            <p:nvPr/>
          </p:nvSpPr>
          <p:spPr>
            <a:xfrm>
              <a:off x="6505527" y="1952496"/>
              <a:ext cx="571145" cy="633968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19"/>
            <p:cNvSpPr/>
            <p:nvPr/>
          </p:nvSpPr>
          <p:spPr>
            <a:xfrm>
              <a:off x="6537030" y="2360600"/>
              <a:ext cx="508139" cy="20117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94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MCMS</a:t>
              </a:r>
              <a:endParaRPr sz="794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j0431637" id="1323" name="Google Shape;1323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659426" y="2062841"/>
              <a:ext cx="275315" cy="2745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j0431626" id="1324" name="Google Shape;1324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806133" y="2192047"/>
              <a:ext cx="154117" cy="15486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25" name="Google Shape;1325;p19"/>
          <p:cNvGrpSpPr/>
          <p:nvPr/>
        </p:nvGrpSpPr>
        <p:grpSpPr>
          <a:xfrm>
            <a:off x="8264397" y="4391871"/>
            <a:ext cx="968187" cy="406769"/>
            <a:chOff x="8668871" y="3724690"/>
            <a:chExt cx="968187" cy="406769"/>
          </a:xfrm>
        </p:grpSpPr>
        <p:sp>
          <p:nvSpPr>
            <p:cNvPr id="1326" name="Google Shape;1326;p19"/>
            <p:cNvSpPr/>
            <p:nvPr/>
          </p:nvSpPr>
          <p:spPr>
            <a:xfrm>
              <a:off x="8668871" y="3724690"/>
              <a:ext cx="968187" cy="406769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19"/>
            <p:cNvSpPr txBox="1"/>
            <p:nvPr/>
          </p:nvSpPr>
          <p:spPr>
            <a:xfrm>
              <a:off x="8668871" y="3743408"/>
              <a:ext cx="96818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영상 원본</a:t>
              </a: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(3개월 보관)</a:t>
              </a: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8" name="Google Shape;1328;p19"/>
          <p:cNvGrpSpPr/>
          <p:nvPr/>
        </p:nvGrpSpPr>
        <p:grpSpPr>
          <a:xfrm>
            <a:off x="5957806" y="4446124"/>
            <a:ext cx="968187" cy="406769"/>
            <a:chOff x="5755617" y="3725153"/>
            <a:chExt cx="968187" cy="406769"/>
          </a:xfrm>
        </p:grpSpPr>
        <p:sp>
          <p:nvSpPr>
            <p:cNvPr id="1329" name="Google Shape;1329;p19"/>
            <p:cNvSpPr/>
            <p:nvPr/>
          </p:nvSpPr>
          <p:spPr>
            <a:xfrm>
              <a:off x="5755617" y="3725153"/>
              <a:ext cx="968187" cy="406769"/>
            </a:xfrm>
            <a:prstGeom prst="roundRect">
              <a:avLst>
                <a:gd fmla="val 16667" name="adj"/>
              </a:avLst>
            </a:prstGeom>
            <a:solidFill>
              <a:srgbClr val="D5D5F4"/>
            </a:solidFill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19"/>
            <p:cNvSpPr txBox="1"/>
            <p:nvPr/>
          </p:nvSpPr>
          <p:spPr>
            <a:xfrm>
              <a:off x="5755617" y="3743871"/>
              <a:ext cx="96818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영상 트랜스 0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(1년 보관)</a:t>
              </a: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331" name="Google Shape;1331;p19"/>
          <p:cNvCxnSpPr>
            <a:stCxn id="1313" idx="3"/>
            <a:endCxn id="1316" idx="1"/>
          </p:cNvCxnSpPr>
          <p:nvPr/>
        </p:nvCxnSpPr>
        <p:spPr>
          <a:xfrm>
            <a:off x="2550649" y="2076700"/>
            <a:ext cx="2677200" cy="913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32" name="Google Shape;1332;p19"/>
          <p:cNvCxnSpPr>
            <a:stCxn id="1307" idx="3"/>
            <a:endCxn id="1316" idx="1"/>
          </p:cNvCxnSpPr>
          <p:nvPr/>
        </p:nvCxnSpPr>
        <p:spPr>
          <a:xfrm flipH="1" rot="10800000">
            <a:off x="2547706" y="2990371"/>
            <a:ext cx="2680200" cy="1157100"/>
          </a:xfrm>
          <a:prstGeom prst="bentConnector3">
            <a:avLst>
              <a:gd fmla="val 50000" name="adj1"/>
            </a:avLst>
          </a:prstGeom>
          <a:noFill/>
          <a:ln cap="flat" cmpd="sng" w="12700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1333" name="Google Shape;1333;p19"/>
          <p:cNvGrpSpPr/>
          <p:nvPr/>
        </p:nvGrpSpPr>
        <p:grpSpPr>
          <a:xfrm>
            <a:off x="5944037" y="4956415"/>
            <a:ext cx="968187" cy="406769"/>
            <a:chOff x="5741848" y="4235444"/>
            <a:chExt cx="968187" cy="406769"/>
          </a:xfrm>
        </p:grpSpPr>
        <p:sp>
          <p:nvSpPr>
            <p:cNvPr id="1334" name="Google Shape;1334;p19"/>
            <p:cNvSpPr/>
            <p:nvPr/>
          </p:nvSpPr>
          <p:spPr>
            <a:xfrm>
              <a:off x="5741848" y="4235444"/>
              <a:ext cx="968187" cy="406769"/>
            </a:xfrm>
            <a:prstGeom prst="roundRect">
              <a:avLst>
                <a:gd fmla="val 16667" name="adj"/>
              </a:avLst>
            </a:prstGeom>
            <a:solidFill>
              <a:srgbClr val="999999"/>
            </a:solidFill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p19"/>
            <p:cNvSpPr txBox="1"/>
            <p:nvPr/>
          </p:nvSpPr>
          <p:spPr>
            <a:xfrm>
              <a:off x="5741848" y="4254162"/>
              <a:ext cx="96818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영상 트랜스 1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(1년 보관)</a:t>
              </a: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336" name="Google Shape;1336;p19"/>
          <p:cNvCxnSpPr>
            <a:stCxn id="1321" idx="0"/>
            <a:endCxn id="1310" idx="0"/>
          </p:cNvCxnSpPr>
          <p:nvPr/>
        </p:nvCxnSpPr>
        <p:spPr>
          <a:xfrm rot="5400000">
            <a:off x="4132638" y="643817"/>
            <a:ext cx="831000" cy="4890300"/>
          </a:xfrm>
          <a:prstGeom prst="bentConnector3">
            <a:avLst>
              <a:gd fmla="val -27770" name="adj1"/>
            </a:avLst>
          </a:prstGeom>
          <a:noFill/>
          <a:ln cap="flat" cmpd="sng" w="19050">
            <a:solidFill>
              <a:srgbClr val="60C89B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37" name="Google Shape;1337;p19"/>
          <p:cNvSpPr txBox="1"/>
          <p:nvPr/>
        </p:nvSpPr>
        <p:spPr>
          <a:xfrm>
            <a:off x="4282363" y="2199510"/>
            <a:ext cx="2157822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0C89B"/>
                </a:solidFill>
                <a:latin typeface="Arial"/>
                <a:ea typeface="Arial"/>
                <a:cs typeface="Arial"/>
                <a:sym typeface="Arial"/>
              </a:rPr>
              <a:t>영상 플레이 시 영상 스트리밍 서비스</a:t>
            </a:r>
            <a:endParaRPr sz="900">
              <a:solidFill>
                <a:srgbClr val="60C89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8" name="Google Shape;1338;p19"/>
          <p:cNvCxnSpPr>
            <a:endCxn id="1321" idx="3"/>
          </p:cNvCxnSpPr>
          <p:nvPr/>
        </p:nvCxnSpPr>
        <p:spPr>
          <a:xfrm>
            <a:off x="818961" y="2652051"/>
            <a:ext cx="6459900" cy="338400"/>
          </a:xfrm>
          <a:prstGeom prst="bentConnector4">
            <a:avLst>
              <a:gd fmla="val 0" name="adj1"/>
              <a:gd fmla="val 8" name="adj2"/>
            </a:avLst>
          </a:prstGeom>
          <a:noFill/>
          <a:ln cap="flat" cmpd="sng" w="2540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39" name="Google Shape;1339;p19"/>
          <p:cNvSpPr txBox="1"/>
          <p:nvPr/>
        </p:nvSpPr>
        <p:spPr>
          <a:xfrm>
            <a:off x="5362988" y="1178829"/>
            <a:ext cx="2157822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② 편집본 저장 Request (저장)</a:t>
            </a:r>
            <a:endParaRPr/>
          </a:p>
        </p:txBody>
      </p:sp>
      <p:cxnSp>
        <p:nvCxnSpPr>
          <p:cNvPr id="1340" name="Google Shape;1340;p19"/>
          <p:cNvCxnSpPr>
            <a:stCxn id="1316" idx="2"/>
            <a:endCxn id="1335" idx="1"/>
          </p:cNvCxnSpPr>
          <p:nvPr/>
        </p:nvCxnSpPr>
        <p:spPr>
          <a:xfrm flipH="1" rot="-5400000">
            <a:off x="4802444" y="4018436"/>
            <a:ext cx="1852500" cy="430500"/>
          </a:xfrm>
          <a:prstGeom prst="bentConnector2">
            <a:avLst/>
          </a:prstGeom>
          <a:noFill/>
          <a:ln cap="flat" cmpd="sng" w="25400">
            <a:solidFill>
              <a:srgbClr val="26269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41" name="Google Shape;1341;p19"/>
          <p:cNvCxnSpPr/>
          <p:nvPr/>
        </p:nvCxnSpPr>
        <p:spPr>
          <a:xfrm flipH="1">
            <a:off x="5799016" y="2882871"/>
            <a:ext cx="908700" cy="1"/>
          </a:xfrm>
          <a:prstGeom prst="straightConnector1">
            <a:avLst/>
          </a:prstGeom>
          <a:noFill/>
          <a:ln cap="flat" cmpd="sng" w="25400">
            <a:solidFill>
              <a:srgbClr val="262699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1342" name="Google Shape;1342;p19"/>
          <p:cNvGrpSpPr/>
          <p:nvPr/>
        </p:nvGrpSpPr>
        <p:grpSpPr>
          <a:xfrm>
            <a:off x="4732149" y="3239382"/>
            <a:ext cx="571145" cy="633968"/>
            <a:chOff x="4529960" y="2518411"/>
            <a:chExt cx="571145" cy="633968"/>
          </a:xfrm>
        </p:grpSpPr>
        <p:sp>
          <p:nvSpPr>
            <p:cNvPr id="1343" name="Google Shape;1343;p19"/>
            <p:cNvSpPr/>
            <p:nvPr/>
          </p:nvSpPr>
          <p:spPr>
            <a:xfrm>
              <a:off x="4529960" y="2518411"/>
              <a:ext cx="571145" cy="633968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p19"/>
            <p:cNvSpPr/>
            <p:nvPr/>
          </p:nvSpPr>
          <p:spPr>
            <a:xfrm>
              <a:off x="4561463" y="2926515"/>
              <a:ext cx="508139" cy="20117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94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EDMS DB</a:t>
              </a:r>
              <a:endParaRPr sz="794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j0431637" id="1345" name="Google Shape;1345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83859" y="2628756"/>
              <a:ext cx="275315" cy="2745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j0431626" id="1346" name="Google Shape;1346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830566" y="2757962"/>
              <a:ext cx="154117" cy="15486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47" name="Google Shape;1347;p19"/>
          <p:cNvGrpSpPr/>
          <p:nvPr/>
        </p:nvGrpSpPr>
        <p:grpSpPr>
          <a:xfrm>
            <a:off x="7205298" y="3231787"/>
            <a:ext cx="571145" cy="633968"/>
            <a:chOff x="7003109" y="2510816"/>
            <a:chExt cx="571145" cy="633968"/>
          </a:xfrm>
        </p:grpSpPr>
        <p:sp>
          <p:nvSpPr>
            <p:cNvPr id="1348" name="Google Shape;1348;p19"/>
            <p:cNvSpPr/>
            <p:nvPr/>
          </p:nvSpPr>
          <p:spPr>
            <a:xfrm>
              <a:off x="7003109" y="2510816"/>
              <a:ext cx="571145" cy="633968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19"/>
            <p:cNvSpPr/>
            <p:nvPr/>
          </p:nvSpPr>
          <p:spPr>
            <a:xfrm>
              <a:off x="7034612" y="2918920"/>
              <a:ext cx="508139" cy="20117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94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MCMS DB</a:t>
              </a:r>
              <a:endParaRPr sz="794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j0431637" id="1350" name="Google Shape;1350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157008" y="2621161"/>
              <a:ext cx="275315" cy="2745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j0431626" id="1351" name="Google Shape;1351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303715" y="2750367"/>
              <a:ext cx="154117" cy="154865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1352" name="Google Shape;1352;p19"/>
          <p:cNvGraphicFramePr/>
          <p:nvPr/>
        </p:nvGraphicFramePr>
        <p:xfrm>
          <a:off x="541203" y="447857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{F6045412-04BD-4F82-B1B7-2730D475FC39}</a:tableStyleId>
              </a:tblPr>
              <a:tblGrid>
                <a:gridCol w="1502775"/>
                <a:gridCol w="2235925"/>
              </a:tblGrid>
              <a:tr h="178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단계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설명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① </a:t>
                      </a: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iframe 호출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영상 편집 버튼 클릭 시 팝업을 호출</a:t>
                      </a: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 (편집작업 대상은 트랜스코딩 된 파일이 대상)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② </a:t>
                      </a: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편집본 저장 Req.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편집 후 저장 버튼 클릭 시 저장 요청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③ </a:t>
                      </a: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EDMS에 등록요청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MCMS</a:t>
                      </a: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가 트랜스코딩 작업을 수행한 후  </a:t>
                      </a:r>
                      <a:r>
                        <a:rPr b="1" lang="en-US" sz="900">
                          <a:solidFill>
                            <a:schemeClr val="dk1"/>
                          </a:solidFill>
                        </a:rPr>
                        <a:t>EDMS Agent</a:t>
                      </a: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를 통해서 등록요청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④</a:t>
                      </a: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 편집본 적재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EDMS</a:t>
                      </a: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가 편집본을 1차 스토리지에 저장(신규 저장)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⑤</a:t>
                      </a: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 편집본 저장 결과 Res.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성공</a:t>
                      </a: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/실패 안내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53" name="Google Shape;1353;p19"/>
          <p:cNvSpPr txBox="1"/>
          <p:nvPr/>
        </p:nvSpPr>
        <p:spPr>
          <a:xfrm>
            <a:off x="5818729" y="2513538"/>
            <a:ext cx="8463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62699"/>
                </a:solidFill>
                <a:latin typeface="Arial"/>
                <a:ea typeface="Arial"/>
                <a:cs typeface="Arial"/>
                <a:sym typeface="Arial"/>
              </a:rPr>
              <a:t>③ EDMS에 </a:t>
            </a:r>
            <a:endParaRPr sz="900">
              <a:solidFill>
                <a:srgbClr val="2626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62699"/>
                </a:solidFill>
                <a:latin typeface="Arial"/>
                <a:ea typeface="Arial"/>
                <a:cs typeface="Arial"/>
                <a:sym typeface="Arial"/>
              </a:rPr>
              <a:t>등록요청 </a:t>
            </a:r>
            <a:endParaRPr sz="900">
              <a:solidFill>
                <a:srgbClr val="2626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4" name="Google Shape;1354;p19"/>
          <p:cNvSpPr txBox="1"/>
          <p:nvPr/>
        </p:nvSpPr>
        <p:spPr>
          <a:xfrm>
            <a:off x="4856199" y="5238516"/>
            <a:ext cx="1010149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62699"/>
                </a:solidFill>
                <a:latin typeface="Arial"/>
                <a:ea typeface="Arial"/>
                <a:cs typeface="Arial"/>
                <a:sym typeface="Arial"/>
              </a:rPr>
              <a:t>④ 편집본 적재</a:t>
            </a:r>
            <a:endParaRPr sz="900">
              <a:solidFill>
                <a:srgbClr val="2626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5" name="Google Shape;1355;p19"/>
          <p:cNvSpPr txBox="1"/>
          <p:nvPr/>
        </p:nvSpPr>
        <p:spPr>
          <a:xfrm>
            <a:off x="1576715" y="1457164"/>
            <a:ext cx="1968957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62699"/>
                </a:solidFill>
                <a:latin typeface="Arial"/>
                <a:ea typeface="Arial"/>
                <a:cs typeface="Arial"/>
                <a:sym typeface="Arial"/>
              </a:rPr>
              <a:t>⑤ 편집본 저장 결과 Response</a:t>
            </a:r>
            <a:endParaRPr/>
          </a:p>
        </p:txBody>
      </p:sp>
      <p:grpSp>
        <p:nvGrpSpPr>
          <p:cNvPr id="1356" name="Google Shape;1356;p19"/>
          <p:cNvGrpSpPr/>
          <p:nvPr/>
        </p:nvGrpSpPr>
        <p:grpSpPr>
          <a:xfrm>
            <a:off x="8264397" y="5019958"/>
            <a:ext cx="968187" cy="406769"/>
            <a:chOff x="8668871" y="4254162"/>
            <a:chExt cx="968187" cy="406769"/>
          </a:xfrm>
        </p:grpSpPr>
        <p:sp>
          <p:nvSpPr>
            <p:cNvPr id="1357" name="Google Shape;1357;p19"/>
            <p:cNvSpPr/>
            <p:nvPr/>
          </p:nvSpPr>
          <p:spPr>
            <a:xfrm>
              <a:off x="8668871" y="4254162"/>
              <a:ext cx="968187" cy="406769"/>
            </a:xfrm>
            <a:prstGeom prst="roundRect">
              <a:avLst>
                <a:gd fmla="val 16667" name="adj"/>
              </a:avLst>
            </a:prstGeom>
            <a:solidFill>
              <a:srgbClr val="D5D5F4"/>
            </a:solidFill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19"/>
            <p:cNvSpPr txBox="1"/>
            <p:nvPr/>
          </p:nvSpPr>
          <p:spPr>
            <a:xfrm>
              <a:off x="8668871" y="4272880"/>
              <a:ext cx="96818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영상 트랜스 A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(영구 보관)</a:t>
              </a:r>
              <a:endPara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359" name="Google Shape;1359;p19"/>
          <p:cNvCxnSpPr>
            <a:endCxn id="1330" idx="1"/>
          </p:cNvCxnSpPr>
          <p:nvPr/>
        </p:nvCxnSpPr>
        <p:spPr>
          <a:xfrm>
            <a:off x="5035606" y="3873408"/>
            <a:ext cx="922200" cy="7761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60" name="Google Shape;1360;p19"/>
          <p:cNvCxnSpPr>
            <a:stCxn id="1343" idx="2"/>
            <a:endCxn id="1335" idx="1"/>
          </p:cNvCxnSpPr>
          <p:nvPr/>
        </p:nvCxnSpPr>
        <p:spPr>
          <a:xfrm>
            <a:off x="5017722" y="3873350"/>
            <a:ext cx="926400" cy="12864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361" name="Google Shape;1361;p19"/>
          <p:cNvSpPr txBox="1"/>
          <p:nvPr/>
        </p:nvSpPr>
        <p:spPr>
          <a:xfrm>
            <a:off x="3935628" y="2745083"/>
            <a:ext cx="1043162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0C89B"/>
                </a:solidFill>
                <a:latin typeface="Arial"/>
                <a:ea typeface="Arial"/>
                <a:cs typeface="Arial"/>
                <a:sym typeface="Arial"/>
              </a:rPr>
              <a:t>영상 정보 요청</a:t>
            </a:r>
            <a:endParaRPr sz="900">
              <a:solidFill>
                <a:srgbClr val="60C89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62" name="Google Shape;1362;p19"/>
          <p:cNvCxnSpPr>
            <a:stCxn id="1343" idx="2"/>
            <a:endCxn id="1358" idx="1"/>
          </p:cNvCxnSpPr>
          <p:nvPr/>
        </p:nvCxnSpPr>
        <p:spPr>
          <a:xfrm>
            <a:off x="5017722" y="3873350"/>
            <a:ext cx="3246600" cy="1350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63" name="Google Shape;1363;p19"/>
          <p:cNvCxnSpPr>
            <a:stCxn id="1348" idx="2"/>
          </p:cNvCxnSpPr>
          <p:nvPr/>
        </p:nvCxnSpPr>
        <p:spPr>
          <a:xfrm>
            <a:off x="7490871" y="3865755"/>
            <a:ext cx="993300" cy="70260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364" name="Google Shape;1364;p19"/>
          <p:cNvSpPr/>
          <p:nvPr/>
        </p:nvSpPr>
        <p:spPr>
          <a:xfrm rot="3457440">
            <a:off x="7166806" y="2529434"/>
            <a:ext cx="382842" cy="238687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262699"/>
          </a:solidFill>
          <a:ln cap="flat" cmpd="sng" w="25400">
            <a:solidFill>
              <a:srgbClr val="262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5" name="Google Shape;1365;p19"/>
          <p:cNvSpPr txBox="1"/>
          <p:nvPr/>
        </p:nvSpPr>
        <p:spPr>
          <a:xfrm>
            <a:off x="4393288" y="5596331"/>
            <a:ext cx="5156891" cy="784830"/>
          </a:xfrm>
          <a:prstGeom prst="rect">
            <a:avLst/>
          </a:prstGeom>
          <a:noFill/>
          <a:ln cap="flat" cmpd="sng" w="9525">
            <a:solidFill>
              <a:srgbClr val="191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91966"/>
                </a:solidFill>
                <a:latin typeface="Arial"/>
                <a:ea typeface="Arial"/>
                <a:cs typeface="Arial"/>
                <a:sym typeface="Arial"/>
              </a:rPr>
              <a:t>편집&lt;저장&gt; VS 편집&lt;덮어쓰기&gt;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91966"/>
                </a:solidFill>
                <a:latin typeface="Arial"/>
                <a:ea typeface="Arial"/>
                <a:cs typeface="Arial"/>
                <a:sym typeface="Arial"/>
              </a:rPr>
              <a:t>편집본 저장</a:t>
            </a:r>
            <a:endParaRPr b="1" sz="900">
              <a:solidFill>
                <a:srgbClr val="1919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191966"/>
                </a:solidFill>
                <a:latin typeface="Arial"/>
                <a:ea typeface="Arial"/>
                <a:cs typeface="Arial"/>
                <a:sym typeface="Arial"/>
              </a:rPr>
              <a:t>편집본을 1차 스토리지에 저장(추가) 🡨 현 페이지에 프로세스에 해당</a:t>
            </a:r>
            <a:endParaRPr sz="900">
              <a:solidFill>
                <a:srgbClr val="1919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91966"/>
                </a:solidFill>
                <a:latin typeface="Arial"/>
                <a:ea typeface="Arial"/>
                <a:cs typeface="Arial"/>
                <a:sym typeface="Arial"/>
              </a:rPr>
              <a:t>편집본 덮어쓰기</a:t>
            </a:r>
            <a:endParaRPr b="1" sz="900">
              <a:solidFill>
                <a:srgbClr val="1919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191966"/>
                </a:solidFill>
                <a:latin typeface="Arial"/>
                <a:ea typeface="Arial"/>
                <a:cs typeface="Arial"/>
                <a:sym typeface="Arial"/>
              </a:rPr>
              <a:t>편집대상 영상을 지우고 편집본을 같은 이름으로 저장 🡨 편집&lt;덮어쓰기&gt; 프로세스 페이지 참조</a:t>
            </a:r>
            <a:endParaRPr sz="900">
              <a:solidFill>
                <a:srgbClr val="1919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6" name="Google Shape;1366;p19"/>
          <p:cNvSpPr txBox="1"/>
          <p:nvPr/>
        </p:nvSpPr>
        <p:spPr>
          <a:xfrm>
            <a:off x="8812789" y="70773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67" name="Google Shape;1367;p19"/>
          <p:cNvCxnSpPr/>
          <p:nvPr/>
        </p:nvCxnSpPr>
        <p:spPr>
          <a:xfrm flipH="1" rot="5400000">
            <a:off x="5471005" y="3412474"/>
            <a:ext cx="1138800" cy="928500"/>
          </a:xfrm>
          <a:prstGeom prst="bentConnector3">
            <a:avLst>
              <a:gd fmla="val 46059" name="adj1"/>
            </a:avLst>
          </a:prstGeom>
          <a:noFill/>
          <a:ln cap="flat" cmpd="sng" w="19050">
            <a:solidFill>
              <a:srgbClr val="60C89B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68" name="Google Shape;1368;p19"/>
          <p:cNvCxnSpPr/>
          <p:nvPr/>
        </p:nvCxnSpPr>
        <p:spPr>
          <a:xfrm rot="10800000">
            <a:off x="5663055" y="3282775"/>
            <a:ext cx="3234900" cy="1755900"/>
          </a:xfrm>
          <a:prstGeom prst="bentConnector3">
            <a:avLst>
              <a:gd fmla="val 0" name="adj1"/>
            </a:avLst>
          </a:prstGeom>
          <a:noFill/>
          <a:ln cap="flat" cmpd="sng" w="19050">
            <a:solidFill>
              <a:srgbClr val="60C89B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69" name="Google Shape;1369;p19"/>
          <p:cNvSpPr txBox="1"/>
          <p:nvPr/>
        </p:nvSpPr>
        <p:spPr>
          <a:xfrm>
            <a:off x="5623728" y="3658468"/>
            <a:ext cx="1215006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0C89B"/>
                </a:solidFill>
                <a:latin typeface="Arial"/>
                <a:ea typeface="Arial"/>
                <a:cs typeface="Arial"/>
                <a:sym typeface="Arial"/>
              </a:rPr>
              <a:t>트랜스본 파일 찾기</a:t>
            </a:r>
            <a:endParaRPr sz="900">
              <a:solidFill>
                <a:srgbClr val="60C89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0" name="Google Shape;1370;p19"/>
          <p:cNvSpPr txBox="1"/>
          <p:nvPr/>
        </p:nvSpPr>
        <p:spPr>
          <a:xfrm>
            <a:off x="5758681" y="2900278"/>
            <a:ext cx="10673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0C89B"/>
                </a:solidFill>
                <a:latin typeface="Arial"/>
                <a:ea typeface="Arial"/>
                <a:cs typeface="Arial"/>
                <a:sym typeface="Arial"/>
              </a:rPr>
              <a:t>트랜스본 파일 </a:t>
            </a:r>
            <a:br>
              <a:rPr lang="en-US" sz="900">
                <a:solidFill>
                  <a:srgbClr val="60C89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>
                <a:solidFill>
                  <a:srgbClr val="60C89B"/>
                </a:solidFill>
                <a:latin typeface="Arial"/>
                <a:ea typeface="Arial"/>
                <a:cs typeface="Arial"/>
                <a:sym typeface="Arial"/>
              </a:rPr>
              <a:t>다운로드 서비스</a:t>
            </a:r>
            <a:endParaRPr sz="900">
              <a:solidFill>
                <a:srgbClr val="60C89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1" name="Google Shape;1371;p19"/>
          <p:cNvCxnSpPr/>
          <p:nvPr/>
        </p:nvCxnSpPr>
        <p:spPr>
          <a:xfrm>
            <a:off x="5809225" y="3259871"/>
            <a:ext cx="9087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60C89B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72" name="Google Shape;1372;p19"/>
          <p:cNvCxnSpPr>
            <a:stCxn id="1310" idx="3"/>
            <a:endCxn id="1316" idx="1"/>
          </p:cNvCxnSpPr>
          <p:nvPr/>
        </p:nvCxnSpPr>
        <p:spPr>
          <a:xfrm flipH="1" rot="10800000">
            <a:off x="2550648" y="2990559"/>
            <a:ext cx="2677200" cy="6363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60C89B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73" name="Google Shape;1373;p19"/>
          <p:cNvSpPr txBox="1"/>
          <p:nvPr/>
        </p:nvSpPr>
        <p:spPr>
          <a:xfrm>
            <a:off x="7317746" y="4477634"/>
            <a:ext cx="759894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(신규 30TB)</a:t>
            </a:r>
            <a:endParaRPr/>
          </a:p>
        </p:txBody>
      </p:sp>
      <p:sp>
        <p:nvSpPr>
          <p:cNvPr id="1374" name="Google Shape;1374;p19"/>
          <p:cNvSpPr/>
          <p:nvPr/>
        </p:nvSpPr>
        <p:spPr>
          <a:xfrm>
            <a:off x="215914" y="2536521"/>
            <a:ext cx="1363828" cy="72692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450" lIns="87400" spcFirstLastPara="1" rIns="87400" wrap="square" tIns="4545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77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HTML5 뷰어</a:t>
            </a:r>
            <a:endParaRPr/>
          </a:p>
        </p:txBody>
      </p:sp>
      <p:pic>
        <p:nvPicPr>
          <p:cNvPr descr="D:\01.현대해상 보상포탈\Skype 받은 파일\사고접수지샘플\샘플10_2.jpg" id="1375" name="Google Shape;137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9784" y="2742178"/>
            <a:ext cx="963970" cy="491255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76" name="Google Shape;1376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1306" y="2768506"/>
            <a:ext cx="574740" cy="38381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77" name="Google Shape;1377;p19"/>
          <p:cNvSpPr txBox="1"/>
          <p:nvPr/>
        </p:nvSpPr>
        <p:spPr>
          <a:xfrm>
            <a:off x="1136193" y="2727432"/>
            <a:ext cx="909628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191966"/>
                </a:solidFill>
                <a:latin typeface="Arial"/>
                <a:ea typeface="Arial"/>
                <a:cs typeface="Arial"/>
                <a:sym typeface="Arial"/>
              </a:rPr>
              <a:t>① iframe 호출</a:t>
            </a:r>
            <a:endParaRPr sz="900">
              <a:solidFill>
                <a:srgbClr val="1919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8" name="Google Shape;1378;p19"/>
          <p:cNvCxnSpPr/>
          <p:nvPr/>
        </p:nvCxnSpPr>
        <p:spPr>
          <a:xfrm>
            <a:off x="1214214" y="3027808"/>
            <a:ext cx="787200" cy="476700"/>
          </a:xfrm>
          <a:prstGeom prst="bentConnector2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20"/>
          <p:cNvSpPr txBox="1"/>
          <p:nvPr/>
        </p:nvSpPr>
        <p:spPr>
          <a:xfrm>
            <a:off x="417770" y="714190"/>
            <a:ext cx="8964356" cy="637153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아키텍처 설계 &gt; 2.4 동영상플랫폼</a:t>
            </a:r>
            <a:endParaRPr b="1" i="0" sz="14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2.4.5 동영상플랫폼 업무흐름도 (편집,덮어쓰기)</a:t>
            </a:r>
            <a:endParaRPr/>
          </a:p>
        </p:txBody>
      </p:sp>
      <p:grpSp>
        <p:nvGrpSpPr>
          <p:cNvPr id="1384" name="Google Shape;1384;p20"/>
          <p:cNvGrpSpPr/>
          <p:nvPr/>
        </p:nvGrpSpPr>
        <p:grpSpPr>
          <a:xfrm>
            <a:off x="7093159" y="3377811"/>
            <a:ext cx="2253758" cy="2011680"/>
            <a:chOff x="7492403" y="3278896"/>
            <a:chExt cx="2253758" cy="2011680"/>
          </a:xfrm>
        </p:grpSpPr>
        <p:sp>
          <p:nvSpPr>
            <p:cNvPr id="1385" name="Google Shape;1385;p20"/>
            <p:cNvSpPr txBox="1"/>
            <p:nvPr/>
          </p:nvSpPr>
          <p:spPr>
            <a:xfrm>
              <a:off x="7502413" y="3547163"/>
              <a:ext cx="592609" cy="215444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NAS</a:t>
              </a:r>
              <a:endParaRPr/>
            </a:p>
          </p:txBody>
        </p:sp>
        <p:sp>
          <p:nvSpPr>
            <p:cNvPr id="1386" name="Google Shape;1386;p20"/>
            <p:cNvSpPr txBox="1"/>
            <p:nvPr/>
          </p:nvSpPr>
          <p:spPr>
            <a:xfrm>
              <a:off x="7502413" y="4198246"/>
              <a:ext cx="592609" cy="215444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WORM</a:t>
              </a:r>
              <a:endParaRPr/>
            </a:p>
          </p:txBody>
        </p:sp>
        <p:cxnSp>
          <p:nvCxnSpPr>
            <p:cNvPr id="1387" name="Google Shape;1387;p20"/>
            <p:cNvCxnSpPr/>
            <p:nvPr/>
          </p:nvCxnSpPr>
          <p:spPr>
            <a:xfrm>
              <a:off x="7492403" y="4196299"/>
              <a:ext cx="2242444" cy="0"/>
            </a:xfrm>
            <a:prstGeom prst="straightConnector1">
              <a:avLst/>
            </a:prstGeom>
            <a:noFill/>
            <a:ln cap="flat" cmpd="sng" w="9525">
              <a:solidFill>
                <a:srgbClr val="CBEDDE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388" name="Google Shape;1388;p20"/>
            <p:cNvGrpSpPr/>
            <p:nvPr/>
          </p:nvGrpSpPr>
          <p:grpSpPr>
            <a:xfrm>
              <a:off x="7492403" y="3278896"/>
              <a:ext cx="2253758" cy="2011680"/>
              <a:chOff x="7492403" y="3278896"/>
              <a:chExt cx="2253758" cy="2011680"/>
            </a:xfrm>
          </p:grpSpPr>
          <p:sp>
            <p:nvSpPr>
              <p:cNvPr id="1389" name="Google Shape;1389;p20"/>
              <p:cNvSpPr/>
              <p:nvPr/>
            </p:nvSpPr>
            <p:spPr>
              <a:xfrm>
                <a:off x="7492403" y="3278896"/>
                <a:ext cx="2253758" cy="2011680"/>
              </a:xfrm>
              <a:prstGeom prst="rect">
                <a:avLst/>
              </a:prstGeom>
              <a:noFill/>
              <a:ln cap="flat" cmpd="sng" w="25400">
                <a:solidFill>
                  <a:srgbClr val="CBED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0" name="Google Shape;1390;p20"/>
              <p:cNvSpPr/>
              <p:nvPr/>
            </p:nvSpPr>
            <p:spPr>
              <a:xfrm>
                <a:off x="7492403" y="3278896"/>
                <a:ext cx="2253758" cy="265801"/>
              </a:xfrm>
              <a:prstGeom prst="rect">
                <a:avLst/>
              </a:prstGeom>
              <a:solidFill>
                <a:srgbClr val="CBEDDE"/>
              </a:solidFill>
              <a:ln cap="flat" cmpd="sng" w="25400">
                <a:solidFill>
                  <a:srgbClr val="CBED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EDMS 2차 스토리지</a:t>
                </a:r>
                <a:endParaRPr/>
              </a:p>
            </p:txBody>
          </p:sp>
        </p:grpSp>
      </p:grpSp>
      <p:grpSp>
        <p:nvGrpSpPr>
          <p:cNvPr id="1391" name="Google Shape;1391;p20"/>
          <p:cNvGrpSpPr/>
          <p:nvPr/>
        </p:nvGrpSpPr>
        <p:grpSpPr>
          <a:xfrm>
            <a:off x="4190028" y="3373383"/>
            <a:ext cx="2253758" cy="2005602"/>
            <a:chOff x="4589272" y="3274468"/>
            <a:chExt cx="2253758" cy="2005602"/>
          </a:xfrm>
        </p:grpSpPr>
        <p:sp>
          <p:nvSpPr>
            <p:cNvPr id="1392" name="Google Shape;1392;p20"/>
            <p:cNvSpPr txBox="1"/>
            <p:nvPr/>
          </p:nvSpPr>
          <p:spPr>
            <a:xfrm>
              <a:off x="4597713" y="3550245"/>
              <a:ext cx="592609" cy="215444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NAS</a:t>
              </a:r>
              <a:endParaRPr/>
            </a:p>
          </p:txBody>
        </p:sp>
        <p:grpSp>
          <p:nvGrpSpPr>
            <p:cNvPr id="1393" name="Google Shape;1393;p20"/>
            <p:cNvGrpSpPr/>
            <p:nvPr/>
          </p:nvGrpSpPr>
          <p:grpSpPr>
            <a:xfrm>
              <a:off x="4589272" y="3274468"/>
              <a:ext cx="2253758" cy="2005602"/>
              <a:chOff x="4589272" y="3274468"/>
              <a:chExt cx="2253758" cy="2005602"/>
            </a:xfrm>
          </p:grpSpPr>
          <p:sp>
            <p:nvSpPr>
              <p:cNvPr id="1394" name="Google Shape;1394;p20"/>
              <p:cNvSpPr/>
              <p:nvPr/>
            </p:nvSpPr>
            <p:spPr>
              <a:xfrm>
                <a:off x="4589272" y="3274468"/>
                <a:ext cx="2253758" cy="2005602"/>
              </a:xfrm>
              <a:prstGeom prst="rect">
                <a:avLst/>
              </a:prstGeom>
              <a:noFill/>
              <a:ln cap="flat" cmpd="sng" w="25400">
                <a:solidFill>
                  <a:srgbClr val="CBED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5" name="Google Shape;1395;p20"/>
              <p:cNvSpPr/>
              <p:nvPr/>
            </p:nvSpPr>
            <p:spPr>
              <a:xfrm>
                <a:off x="4589272" y="3274468"/>
                <a:ext cx="2253758" cy="265801"/>
              </a:xfrm>
              <a:prstGeom prst="rect">
                <a:avLst/>
              </a:prstGeom>
              <a:solidFill>
                <a:srgbClr val="CBEDDE"/>
              </a:solidFill>
              <a:ln cap="flat" cmpd="sng" w="25400">
                <a:solidFill>
                  <a:srgbClr val="CBED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EDMS 1차 스토리지</a:t>
                </a:r>
                <a:endParaRPr/>
              </a:p>
            </p:txBody>
          </p:sp>
        </p:grpSp>
      </p:grpSp>
      <p:pic>
        <p:nvPicPr>
          <p:cNvPr id="1396" name="Google Shape;139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4231" y="3597989"/>
            <a:ext cx="437212" cy="408105"/>
          </a:xfrm>
          <a:prstGeom prst="rect">
            <a:avLst/>
          </a:prstGeom>
          <a:noFill/>
          <a:ln>
            <a:noFill/>
          </a:ln>
        </p:spPr>
      </p:pic>
      <p:sp>
        <p:nvSpPr>
          <p:cNvPr id="1397" name="Google Shape;1397;p20"/>
          <p:cNvSpPr txBox="1"/>
          <p:nvPr/>
        </p:nvSpPr>
        <p:spPr>
          <a:xfrm>
            <a:off x="1450060" y="3761307"/>
            <a:ext cx="895457" cy="244787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대표홈페이지</a:t>
            </a:r>
            <a:endParaRPr sz="882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어두운 상향 대각선" id="1398" name="Google Shape;1398;p20"/>
          <p:cNvSpPr/>
          <p:nvPr/>
        </p:nvSpPr>
        <p:spPr>
          <a:xfrm>
            <a:off x="726781" y="4025724"/>
            <a:ext cx="647745" cy="139854"/>
          </a:xfrm>
          <a:prstGeom prst="roundRect">
            <a:avLst>
              <a:gd fmla="val 5000" name="adj"/>
            </a:avLst>
          </a:prstGeom>
          <a:solidFill>
            <a:srgbClr val="E6EAEE"/>
          </a:solidFill>
          <a:ln cap="flat" cmpd="sng" w="9525">
            <a:solidFill>
              <a:srgbClr val="D8DEE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고객</a:t>
            </a:r>
            <a:endParaRPr/>
          </a:p>
        </p:txBody>
      </p:sp>
      <p:pic>
        <p:nvPicPr>
          <p:cNvPr id="1399" name="Google Shape;139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7173" y="2874510"/>
            <a:ext cx="437212" cy="408105"/>
          </a:xfrm>
          <a:prstGeom prst="rect">
            <a:avLst/>
          </a:prstGeom>
          <a:noFill/>
          <a:ln>
            <a:noFill/>
          </a:ln>
        </p:spPr>
      </p:pic>
      <p:sp>
        <p:nvSpPr>
          <p:cNvPr id="1400" name="Google Shape;1400;p20"/>
          <p:cNvSpPr txBox="1"/>
          <p:nvPr/>
        </p:nvSpPr>
        <p:spPr>
          <a:xfrm>
            <a:off x="1453002" y="3075594"/>
            <a:ext cx="895457" cy="244787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하이유피</a:t>
            </a:r>
            <a:endParaRPr sz="882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어두운 상향 대각선" id="1401" name="Google Shape;1401;p20"/>
          <p:cNvSpPr/>
          <p:nvPr/>
        </p:nvSpPr>
        <p:spPr>
          <a:xfrm>
            <a:off x="729723" y="3302624"/>
            <a:ext cx="647745" cy="139854"/>
          </a:xfrm>
          <a:prstGeom prst="roundRect">
            <a:avLst>
              <a:gd fmla="val 5000" name="adj"/>
            </a:avLst>
          </a:prstGeom>
          <a:solidFill>
            <a:srgbClr val="E6EAEE"/>
          </a:solidFill>
          <a:ln cap="flat" cmpd="sng" w="9525">
            <a:solidFill>
              <a:srgbClr val="D8DEE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보상 담당</a:t>
            </a:r>
            <a:endParaRPr/>
          </a:p>
        </p:txBody>
      </p:sp>
      <p:pic>
        <p:nvPicPr>
          <p:cNvPr id="1402" name="Google Shape;140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7174" y="1423011"/>
            <a:ext cx="437212" cy="408105"/>
          </a:xfrm>
          <a:prstGeom prst="rect">
            <a:avLst/>
          </a:prstGeom>
          <a:noFill/>
          <a:ln>
            <a:noFill/>
          </a:ln>
        </p:spPr>
      </p:pic>
      <p:sp>
        <p:nvSpPr>
          <p:cNvPr id="1403" name="Google Shape;1403;p20"/>
          <p:cNvSpPr txBox="1"/>
          <p:nvPr/>
        </p:nvSpPr>
        <p:spPr>
          <a:xfrm>
            <a:off x="1453003" y="1480360"/>
            <a:ext cx="895457" cy="334937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보상포탈</a:t>
            </a:r>
            <a:endParaRPr sz="882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82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손사포탈</a:t>
            </a:r>
            <a:endParaRPr sz="882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어두운 상향 대각선" id="1404" name="Google Shape;1404;p20"/>
          <p:cNvSpPr/>
          <p:nvPr/>
        </p:nvSpPr>
        <p:spPr>
          <a:xfrm>
            <a:off x="729724" y="1848780"/>
            <a:ext cx="647745" cy="139854"/>
          </a:xfrm>
          <a:prstGeom prst="roundRect">
            <a:avLst>
              <a:gd fmla="val 5000" name="adj"/>
            </a:avLst>
          </a:prstGeom>
          <a:solidFill>
            <a:srgbClr val="E6EAEE"/>
          </a:solidFill>
          <a:ln cap="flat" cmpd="sng" w="9525">
            <a:solidFill>
              <a:srgbClr val="D8DEE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업무 담당</a:t>
            </a:r>
            <a:endParaRPr/>
          </a:p>
        </p:txBody>
      </p:sp>
      <p:grpSp>
        <p:nvGrpSpPr>
          <p:cNvPr id="1405" name="Google Shape;1405;p20"/>
          <p:cNvGrpSpPr/>
          <p:nvPr/>
        </p:nvGrpSpPr>
        <p:grpSpPr>
          <a:xfrm>
            <a:off x="4626438" y="2051412"/>
            <a:ext cx="571145" cy="633968"/>
            <a:chOff x="5025682" y="1952497"/>
            <a:chExt cx="571145" cy="633968"/>
          </a:xfrm>
        </p:grpSpPr>
        <p:sp>
          <p:nvSpPr>
            <p:cNvPr id="1406" name="Google Shape;1406;p20"/>
            <p:cNvSpPr/>
            <p:nvPr/>
          </p:nvSpPr>
          <p:spPr>
            <a:xfrm>
              <a:off x="5025682" y="1952497"/>
              <a:ext cx="571145" cy="633968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7" name="Google Shape;1407;p20"/>
            <p:cNvSpPr/>
            <p:nvPr/>
          </p:nvSpPr>
          <p:spPr>
            <a:xfrm>
              <a:off x="5057185" y="2360601"/>
              <a:ext cx="508139" cy="20117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94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EDMS</a:t>
              </a:r>
              <a:endParaRPr sz="794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j0431637" id="1408" name="Google Shape;1408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179581" y="2062842"/>
              <a:ext cx="275315" cy="2745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j0431626" id="1409" name="Google Shape;1409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326288" y="2192048"/>
              <a:ext cx="154117" cy="15486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10" name="Google Shape;1410;p20"/>
          <p:cNvGrpSpPr/>
          <p:nvPr/>
        </p:nvGrpSpPr>
        <p:grpSpPr>
          <a:xfrm>
            <a:off x="6106283" y="2051411"/>
            <a:ext cx="571145" cy="633968"/>
            <a:chOff x="6505527" y="1952496"/>
            <a:chExt cx="571145" cy="633968"/>
          </a:xfrm>
        </p:grpSpPr>
        <p:sp>
          <p:nvSpPr>
            <p:cNvPr id="1411" name="Google Shape;1411;p20"/>
            <p:cNvSpPr/>
            <p:nvPr/>
          </p:nvSpPr>
          <p:spPr>
            <a:xfrm>
              <a:off x="6505527" y="1952496"/>
              <a:ext cx="571145" cy="633968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2" name="Google Shape;1412;p20"/>
            <p:cNvSpPr/>
            <p:nvPr/>
          </p:nvSpPr>
          <p:spPr>
            <a:xfrm>
              <a:off x="6537030" y="2360600"/>
              <a:ext cx="508139" cy="20117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94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MCMS</a:t>
              </a:r>
              <a:endParaRPr sz="794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j0431637" id="1413" name="Google Shape;1413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659426" y="2062841"/>
              <a:ext cx="275315" cy="2745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j0431626" id="1414" name="Google Shape;1414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806133" y="2192047"/>
              <a:ext cx="154117" cy="15486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15" name="Google Shape;1415;p20"/>
          <p:cNvGrpSpPr/>
          <p:nvPr/>
        </p:nvGrpSpPr>
        <p:grpSpPr>
          <a:xfrm>
            <a:off x="8269627" y="3769815"/>
            <a:ext cx="968187" cy="406769"/>
            <a:chOff x="8668871" y="3724690"/>
            <a:chExt cx="968187" cy="406769"/>
          </a:xfrm>
        </p:grpSpPr>
        <p:sp>
          <p:nvSpPr>
            <p:cNvPr id="1416" name="Google Shape;1416;p20"/>
            <p:cNvSpPr/>
            <p:nvPr/>
          </p:nvSpPr>
          <p:spPr>
            <a:xfrm>
              <a:off x="8668871" y="3724690"/>
              <a:ext cx="968187" cy="406769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7" name="Google Shape;1417;p20"/>
            <p:cNvSpPr txBox="1"/>
            <p:nvPr/>
          </p:nvSpPr>
          <p:spPr>
            <a:xfrm>
              <a:off x="8668871" y="3743408"/>
              <a:ext cx="96818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영상 원본</a:t>
              </a: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(3개월 보관)</a:t>
              </a: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18" name="Google Shape;1418;p20"/>
          <p:cNvGrpSpPr/>
          <p:nvPr/>
        </p:nvGrpSpPr>
        <p:grpSpPr>
          <a:xfrm>
            <a:off x="5356373" y="3824068"/>
            <a:ext cx="968187" cy="406769"/>
            <a:chOff x="5755617" y="3725153"/>
            <a:chExt cx="968187" cy="406769"/>
          </a:xfrm>
        </p:grpSpPr>
        <p:sp>
          <p:nvSpPr>
            <p:cNvPr id="1419" name="Google Shape;1419;p20"/>
            <p:cNvSpPr/>
            <p:nvPr/>
          </p:nvSpPr>
          <p:spPr>
            <a:xfrm>
              <a:off x="5755617" y="3725153"/>
              <a:ext cx="968187" cy="406769"/>
            </a:xfrm>
            <a:prstGeom prst="roundRect">
              <a:avLst>
                <a:gd fmla="val 16667" name="adj"/>
              </a:avLst>
            </a:prstGeom>
            <a:solidFill>
              <a:srgbClr val="D5D5F4"/>
            </a:solidFill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0" name="Google Shape;1420;p20"/>
            <p:cNvSpPr txBox="1"/>
            <p:nvPr/>
          </p:nvSpPr>
          <p:spPr>
            <a:xfrm>
              <a:off x="5755617" y="3743871"/>
              <a:ext cx="968187" cy="369332"/>
            </a:xfrm>
            <a:prstGeom prst="rect">
              <a:avLst/>
            </a:prstGeom>
            <a:solidFill>
              <a:srgbClr val="FBE5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영상 트랜스 0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(1년 보관)</a:t>
              </a: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421" name="Google Shape;1421;p20"/>
          <p:cNvCxnSpPr>
            <a:stCxn id="1403" idx="3"/>
            <a:endCxn id="1406" idx="1"/>
          </p:cNvCxnSpPr>
          <p:nvPr/>
        </p:nvCxnSpPr>
        <p:spPr>
          <a:xfrm>
            <a:off x="2348460" y="1647829"/>
            <a:ext cx="2277900" cy="720600"/>
          </a:xfrm>
          <a:prstGeom prst="bentConnector3">
            <a:avLst>
              <a:gd fmla="val 50002" name="adj1"/>
            </a:avLst>
          </a:prstGeom>
          <a:noFill/>
          <a:ln cap="flat" cmpd="sng" w="9525">
            <a:solidFill>
              <a:srgbClr val="2E75B6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22" name="Google Shape;1422;p20"/>
          <p:cNvCxnSpPr>
            <a:stCxn id="1400" idx="3"/>
            <a:endCxn id="1406" idx="1"/>
          </p:cNvCxnSpPr>
          <p:nvPr/>
        </p:nvCxnSpPr>
        <p:spPr>
          <a:xfrm flipH="1" rot="10800000">
            <a:off x="2348459" y="2368488"/>
            <a:ext cx="2277900" cy="829500"/>
          </a:xfrm>
          <a:prstGeom prst="bentConnector3">
            <a:avLst>
              <a:gd fmla="val 50002" name="adj1"/>
            </a:avLst>
          </a:prstGeom>
          <a:noFill/>
          <a:ln cap="flat" cmpd="sng" w="19050">
            <a:solidFill>
              <a:srgbClr val="2E75B6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23" name="Google Shape;1423;p20"/>
          <p:cNvCxnSpPr>
            <a:stCxn id="1397" idx="3"/>
            <a:endCxn id="1406" idx="1"/>
          </p:cNvCxnSpPr>
          <p:nvPr/>
        </p:nvCxnSpPr>
        <p:spPr>
          <a:xfrm flipH="1" rot="10800000">
            <a:off x="2345517" y="2368400"/>
            <a:ext cx="2280900" cy="1515300"/>
          </a:xfrm>
          <a:prstGeom prst="bentConnector3">
            <a:avLst>
              <a:gd fmla="val 50000" name="adj1"/>
            </a:avLst>
          </a:prstGeom>
          <a:noFill/>
          <a:ln cap="flat" cmpd="sng" w="12700">
            <a:solidFill>
              <a:srgbClr val="2E75B6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1424" name="Google Shape;1424;p20"/>
          <p:cNvGrpSpPr/>
          <p:nvPr/>
        </p:nvGrpSpPr>
        <p:grpSpPr>
          <a:xfrm>
            <a:off x="4426439" y="4133729"/>
            <a:ext cx="968187" cy="406769"/>
            <a:chOff x="5741848" y="4235444"/>
            <a:chExt cx="968187" cy="406769"/>
          </a:xfrm>
        </p:grpSpPr>
        <p:sp>
          <p:nvSpPr>
            <p:cNvPr id="1425" name="Google Shape;1425;p20"/>
            <p:cNvSpPr/>
            <p:nvPr/>
          </p:nvSpPr>
          <p:spPr>
            <a:xfrm>
              <a:off x="5741848" y="4235444"/>
              <a:ext cx="968187" cy="406769"/>
            </a:xfrm>
            <a:prstGeom prst="roundRect">
              <a:avLst>
                <a:gd fmla="val 16667" name="adj"/>
              </a:avLst>
            </a:prstGeom>
            <a:solidFill>
              <a:srgbClr val="999999"/>
            </a:solidFill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6" name="Google Shape;1426;p20"/>
            <p:cNvSpPr txBox="1"/>
            <p:nvPr/>
          </p:nvSpPr>
          <p:spPr>
            <a:xfrm>
              <a:off x="5741848" y="4254162"/>
              <a:ext cx="968187" cy="369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영상 트랜스 1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(1년 보관)</a:t>
              </a: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427" name="Google Shape;1427;p20"/>
          <p:cNvCxnSpPr>
            <a:stCxn id="1411" idx="0"/>
            <a:endCxn id="1400" idx="0"/>
          </p:cNvCxnSpPr>
          <p:nvPr/>
        </p:nvCxnSpPr>
        <p:spPr>
          <a:xfrm rot="5400000">
            <a:off x="3634256" y="318011"/>
            <a:ext cx="1024200" cy="4491000"/>
          </a:xfrm>
          <a:prstGeom prst="bentConnector3">
            <a:avLst>
              <a:gd fmla="val -22320" name="adj1"/>
            </a:avLst>
          </a:prstGeom>
          <a:noFill/>
          <a:ln cap="flat" cmpd="sng" w="19050">
            <a:solidFill>
              <a:srgbClr val="2E75B6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28" name="Google Shape;1428;p20"/>
          <p:cNvSpPr txBox="1"/>
          <p:nvPr/>
        </p:nvSpPr>
        <p:spPr>
          <a:xfrm>
            <a:off x="3616180" y="1577454"/>
            <a:ext cx="2122872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영상 플레이 시 영상 스트리밍 서비스</a:t>
            </a:r>
            <a:endParaRPr b="1" sz="900">
              <a:solidFill>
                <a:srgbClr val="2E75B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9" name="Google Shape;1429;p20"/>
          <p:cNvCxnSpPr>
            <a:stCxn id="1430" idx="0"/>
            <a:endCxn id="1411" idx="3"/>
          </p:cNvCxnSpPr>
          <p:nvPr/>
        </p:nvCxnSpPr>
        <p:spPr>
          <a:xfrm flipH="1" rot="-5400000">
            <a:off x="3574448" y="-734491"/>
            <a:ext cx="145200" cy="6060600"/>
          </a:xfrm>
          <a:prstGeom prst="bentConnector4">
            <a:avLst>
              <a:gd fmla="val -603937" name="adj1"/>
              <a:gd fmla="val 103773" name="adj2"/>
            </a:avLst>
          </a:prstGeom>
          <a:noFill/>
          <a:ln cap="flat" cmpd="sng" w="2540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31" name="Google Shape;1431;p20"/>
          <p:cNvSpPr txBox="1"/>
          <p:nvPr/>
        </p:nvSpPr>
        <p:spPr>
          <a:xfrm>
            <a:off x="5160799" y="1156358"/>
            <a:ext cx="2157822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② 편집본 저장 Request (덮어쓰기)</a:t>
            </a:r>
            <a:endParaRPr/>
          </a:p>
        </p:txBody>
      </p:sp>
      <p:cxnSp>
        <p:nvCxnSpPr>
          <p:cNvPr id="1432" name="Google Shape;1432;p20"/>
          <p:cNvCxnSpPr>
            <a:stCxn id="1406" idx="2"/>
            <a:endCxn id="1426" idx="0"/>
          </p:cNvCxnSpPr>
          <p:nvPr/>
        </p:nvCxnSpPr>
        <p:spPr>
          <a:xfrm rot="5400000">
            <a:off x="4177761" y="3418130"/>
            <a:ext cx="1467000" cy="1500"/>
          </a:xfrm>
          <a:prstGeom prst="bentConnector3">
            <a:avLst>
              <a:gd fmla="val 50002" name="adj1"/>
            </a:avLst>
          </a:prstGeom>
          <a:noFill/>
          <a:ln cap="flat" cmpd="sng" w="25400">
            <a:solidFill>
              <a:srgbClr val="C55A1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1433" name="Google Shape;1433;p20"/>
          <p:cNvGrpSpPr/>
          <p:nvPr/>
        </p:nvGrpSpPr>
        <p:grpSpPr>
          <a:xfrm>
            <a:off x="4130716" y="2617326"/>
            <a:ext cx="571145" cy="633968"/>
            <a:chOff x="4529960" y="2518411"/>
            <a:chExt cx="571145" cy="633968"/>
          </a:xfrm>
        </p:grpSpPr>
        <p:sp>
          <p:nvSpPr>
            <p:cNvPr id="1434" name="Google Shape;1434;p20"/>
            <p:cNvSpPr/>
            <p:nvPr/>
          </p:nvSpPr>
          <p:spPr>
            <a:xfrm>
              <a:off x="4529960" y="2518411"/>
              <a:ext cx="571145" cy="633968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5" name="Google Shape;1435;p20"/>
            <p:cNvSpPr/>
            <p:nvPr/>
          </p:nvSpPr>
          <p:spPr>
            <a:xfrm>
              <a:off x="4561463" y="2926515"/>
              <a:ext cx="508139" cy="20117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94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EDMS DB</a:t>
              </a:r>
              <a:endParaRPr sz="794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j0431637" id="1436" name="Google Shape;1436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83859" y="2628756"/>
              <a:ext cx="275315" cy="2745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j0431626" id="1437" name="Google Shape;1437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830566" y="2757962"/>
              <a:ext cx="154117" cy="15486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38" name="Google Shape;1438;p20"/>
          <p:cNvGrpSpPr/>
          <p:nvPr/>
        </p:nvGrpSpPr>
        <p:grpSpPr>
          <a:xfrm>
            <a:off x="6603865" y="2609731"/>
            <a:ext cx="571145" cy="633968"/>
            <a:chOff x="7003109" y="2510816"/>
            <a:chExt cx="571145" cy="633968"/>
          </a:xfrm>
        </p:grpSpPr>
        <p:sp>
          <p:nvSpPr>
            <p:cNvPr id="1439" name="Google Shape;1439;p20"/>
            <p:cNvSpPr/>
            <p:nvPr/>
          </p:nvSpPr>
          <p:spPr>
            <a:xfrm>
              <a:off x="7003109" y="2510816"/>
              <a:ext cx="571145" cy="633968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0" name="Google Shape;1440;p20"/>
            <p:cNvSpPr/>
            <p:nvPr/>
          </p:nvSpPr>
          <p:spPr>
            <a:xfrm>
              <a:off x="7034612" y="2918920"/>
              <a:ext cx="508139" cy="20117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94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MCMS DB</a:t>
              </a:r>
              <a:endParaRPr sz="794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j0431637" id="1441" name="Google Shape;1441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157008" y="2621161"/>
              <a:ext cx="275315" cy="2745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j0431626" id="1442" name="Google Shape;1442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303715" y="2750367"/>
              <a:ext cx="154117" cy="154865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1443" name="Google Shape;1443;p20"/>
          <p:cNvGraphicFramePr/>
          <p:nvPr/>
        </p:nvGraphicFramePr>
        <p:xfrm>
          <a:off x="366469" y="430811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{F6045412-04BD-4F82-B1B7-2730D475FC39}</a:tableStyleId>
              </a:tblPr>
              <a:tblGrid>
                <a:gridCol w="1466700"/>
                <a:gridCol w="2182250"/>
              </a:tblGrid>
              <a:tr h="178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단계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설명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① 팝업 호출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영상 편집 버튼 클릭 시 팝업을 호출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② 편집본 저장 Req.</a:t>
                      </a:r>
                      <a:endParaRPr sz="9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편집 후 저장 버튼 클릭 시 저장 요청</a:t>
                      </a:r>
                      <a:endParaRPr sz="9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③ EDMS에 등록요청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MCMS가 트랜스코딩 작업을 수행한 후 </a:t>
                      </a:r>
                      <a:r>
                        <a:rPr b="1"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EDMS Agent</a:t>
                      </a: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를 통해서 등록요청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④ 편집본 적재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EDMS가 편집대상이 1차 스토리지 파일 이라면 편집본을 1차 스토리지 대상파일에 덮어쓰고 편집대상이 2차 스토리지 파일 이라면 편집본을 2차 스토리지 대상 파일에 덮어씀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⑤ 편집본 저장 결과 Res.</a:t>
                      </a:r>
                      <a:endParaRPr sz="9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성공/실패 안내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430" name="Google Shape;143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8512" y="2223209"/>
            <a:ext cx="796472" cy="73906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444" name="Google Shape;1444;p20"/>
          <p:cNvCxnSpPr/>
          <p:nvPr/>
        </p:nvCxnSpPr>
        <p:spPr>
          <a:xfrm>
            <a:off x="1012025" y="2598937"/>
            <a:ext cx="787200" cy="476700"/>
          </a:xfrm>
          <a:prstGeom prst="bentConnector2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45" name="Google Shape;1445;p20"/>
          <p:cNvSpPr txBox="1"/>
          <p:nvPr/>
        </p:nvSpPr>
        <p:spPr>
          <a:xfrm>
            <a:off x="1126488" y="2330749"/>
            <a:ext cx="1143606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① iframe호출</a:t>
            </a:r>
            <a:endParaRPr sz="9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6" name="Google Shape;1446;p20"/>
          <p:cNvSpPr txBox="1"/>
          <p:nvPr/>
        </p:nvSpPr>
        <p:spPr>
          <a:xfrm>
            <a:off x="2701120" y="1385063"/>
            <a:ext cx="1968957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62699"/>
                </a:solidFill>
                <a:latin typeface="Arial"/>
                <a:ea typeface="Arial"/>
                <a:cs typeface="Arial"/>
                <a:sym typeface="Arial"/>
              </a:rPr>
              <a:t>⑤ 편집본 저장 결과 Response</a:t>
            </a:r>
            <a:endParaRPr/>
          </a:p>
        </p:txBody>
      </p:sp>
      <p:grpSp>
        <p:nvGrpSpPr>
          <p:cNvPr id="1447" name="Google Shape;1447;p20"/>
          <p:cNvGrpSpPr/>
          <p:nvPr/>
        </p:nvGrpSpPr>
        <p:grpSpPr>
          <a:xfrm>
            <a:off x="8269627" y="4397902"/>
            <a:ext cx="968187" cy="406769"/>
            <a:chOff x="8668871" y="4254162"/>
            <a:chExt cx="968187" cy="406769"/>
          </a:xfrm>
        </p:grpSpPr>
        <p:sp>
          <p:nvSpPr>
            <p:cNvPr id="1448" name="Google Shape;1448;p20"/>
            <p:cNvSpPr/>
            <p:nvPr/>
          </p:nvSpPr>
          <p:spPr>
            <a:xfrm>
              <a:off x="8668871" y="4254162"/>
              <a:ext cx="968187" cy="406769"/>
            </a:xfrm>
            <a:prstGeom prst="roundRect">
              <a:avLst>
                <a:gd fmla="val 16667" name="adj"/>
              </a:avLst>
            </a:prstGeom>
            <a:solidFill>
              <a:srgbClr val="FBE5D6"/>
            </a:solidFill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p20"/>
            <p:cNvSpPr txBox="1"/>
            <p:nvPr/>
          </p:nvSpPr>
          <p:spPr>
            <a:xfrm>
              <a:off x="8668871" y="4272880"/>
              <a:ext cx="968187" cy="369332"/>
            </a:xfrm>
            <a:prstGeom prst="rect">
              <a:avLst/>
            </a:prstGeom>
            <a:solidFill>
              <a:srgbClr val="FBE5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영상 트랜스 A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(영구 보관)</a:t>
              </a:r>
              <a:endParaRPr b="1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450" name="Google Shape;1450;p20"/>
          <p:cNvCxnSpPr>
            <a:stCxn id="1434" idx="2"/>
            <a:endCxn id="1426" idx="1"/>
          </p:cNvCxnSpPr>
          <p:nvPr/>
        </p:nvCxnSpPr>
        <p:spPr>
          <a:xfrm>
            <a:off x="4416289" y="3251294"/>
            <a:ext cx="10200" cy="10857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451" name="Google Shape;1451;p20"/>
          <p:cNvSpPr txBox="1"/>
          <p:nvPr/>
        </p:nvSpPr>
        <p:spPr>
          <a:xfrm>
            <a:off x="3765175" y="2316212"/>
            <a:ext cx="1011425" cy="230832"/>
          </a:xfrm>
          <a:prstGeom prst="rect">
            <a:avLst/>
          </a:prstGeom>
          <a:noFill/>
          <a:ln cap="flat" cmpd="sng" w="9525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영상 정보 요청</a:t>
            </a:r>
            <a:endParaRPr sz="900">
              <a:solidFill>
                <a:srgbClr val="2E75B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2" name="Google Shape;1452;p20"/>
          <p:cNvCxnSpPr>
            <a:stCxn id="1434" idx="2"/>
            <a:endCxn id="1453" idx="1"/>
          </p:cNvCxnSpPr>
          <p:nvPr/>
        </p:nvCxnSpPr>
        <p:spPr>
          <a:xfrm>
            <a:off x="4416288" y="3251294"/>
            <a:ext cx="3018600" cy="16761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54" name="Google Shape;1454;p20"/>
          <p:cNvCxnSpPr>
            <a:stCxn id="1439" idx="2"/>
          </p:cNvCxnSpPr>
          <p:nvPr/>
        </p:nvCxnSpPr>
        <p:spPr>
          <a:xfrm>
            <a:off x="6889438" y="3243699"/>
            <a:ext cx="1380300" cy="70260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455" name="Google Shape;1455;p20"/>
          <p:cNvSpPr/>
          <p:nvPr/>
        </p:nvSpPr>
        <p:spPr>
          <a:xfrm rot="3457440">
            <a:off x="6565373" y="1907378"/>
            <a:ext cx="382842" cy="238687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262699"/>
          </a:solidFill>
          <a:ln cap="flat" cmpd="sng" w="25400">
            <a:solidFill>
              <a:srgbClr val="262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6" name="Google Shape;1456;p20"/>
          <p:cNvSpPr txBox="1"/>
          <p:nvPr/>
        </p:nvSpPr>
        <p:spPr>
          <a:xfrm>
            <a:off x="5602006" y="3771994"/>
            <a:ext cx="400038" cy="523220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1" sz="28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7" name="Google Shape;1457;p20"/>
          <p:cNvCxnSpPr/>
          <p:nvPr/>
        </p:nvCxnSpPr>
        <p:spPr>
          <a:xfrm flipH="1" rot="5400000">
            <a:off x="4869572" y="2790418"/>
            <a:ext cx="1138800" cy="928500"/>
          </a:xfrm>
          <a:prstGeom prst="bentConnector3">
            <a:avLst>
              <a:gd fmla="val 44485" name="adj1"/>
            </a:avLst>
          </a:prstGeom>
          <a:noFill/>
          <a:ln cap="flat" cmpd="sng" w="19050">
            <a:solidFill>
              <a:srgbClr val="60C89B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58" name="Google Shape;1458;p20"/>
          <p:cNvCxnSpPr/>
          <p:nvPr/>
        </p:nvCxnSpPr>
        <p:spPr>
          <a:xfrm rot="10800000">
            <a:off x="4974676" y="2685502"/>
            <a:ext cx="3841800" cy="1712400"/>
          </a:xfrm>
          <a:prstGeom prst="bentConnector3">
            <a:avLst>
              <a:gd fmla="val 0" name="adj1"/>
            </a:avLst>
          </a:prstGeom>
          <a:noFill/>
          <a:ln cap="flat" cmpd="sng" w="19050">
            <a:solidFill>
              <a:srgbClr val="2E75B6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59" name="Google Shape;1459;p20"/>
          <p:cNvSpPr txBox="1"/>
          <p:nvPr/>
        </p:nvSpPr>
        <p:spPr>
          <a:xfrm>
            <a:off x="5025153" y="3040849"/>
            <a:ext cx="1185761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트랜스본 파일 찾기</a:t>
            </a:r>
            <a:endParaRPr sz="900">
              <a:solidFill>
                <a:srgbClr val="2E75B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60" name="Google Shape;1460;p20"/>
          <p:cNvCxnSpPr>
            <a:stCxn id="1406" idx="2"/>
            <a:endCxn id="1453" idx="0"/>
          </p:cNvCxnSpPr>
          <p:nvPr/>
        </p:nvCxnSpPr>
        <p:spPr>
          <a:xfrm flipH="1" rot="-5400000">
            <a:off x="5386911" y="2210480"/>
            <a:ext cx="2057100" cy="3006900"/>
          </a:xfrm>
          <a:prstGeom prst="bentConnector3">
            <a:avLst>
              <a:gd fmla="val 50004" name="adj1"/>
            </a:avLst>
          </a:prstGeom>
          <a:noFill/>
          <a:ln cap="flat" cmpd="sng" w="25400">
            <a:solidFill>
              <a:srgbClr val="C55A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61" name="Google Shape;1461;p20"/>
          <p:cNvSpPr txBox="1"/>
          <p:nvPr/>
        </p:nvSpPr>
        <p:spPr>
          <a:xfrm>
            <a:off x="6429452" y="3847666"/>
            <a:ext cx="1010149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62699"/>
                </a:solidFill>
                <a:latin typeface="Arial"/>
                <a:ea typeface="Arial"/>
                <a:cs typeface="Arial"/>
                <a:sym typeface="Arial"/>
              </a:rPr>
              <a:t>④ 편집본 적재</a:t>
            </a:r>
            <a:endParaRPr sz="900">
              <a:solidFill>
                <a:srgbClr val="2626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2" name="Google Shape;1462;p20"/>
          <p:cNvSpPr txBox="1"/>
          <p:nvPr/>
        </p:nvSpPr>
        <p:spPr>
          <a:xfrm>
            <a:off x="8585080" y="4345908"/>
            <a:ext cx="400038" cy="523220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1" sz="28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63" name="Google Shape;1463;p20"/>
          <p:cNvGrpSpPr/>
          <p:nvPr/>
        </p:nvGrpSpPr>
        <p:grpSpPr>
          <a:xfrm>
            <a:off x="7434823" y="4723911"/>
            <a:ext cx="968187" cy="406769"/>
            <a:chOff x="5741848" y="4235444"/>
            <a:chExt cx="968187" cy="406769"/>
          </a:xfrm>
        </p:grpSpPr>
        <p:sp>
          <p:nvSpPr>
            <p:cNvPr id="1464" name="Google Shape;1464;p20"/>
            <p:cNvSpPr/>
            <p:nvPr/>
          </p:nvSpPr>
          <p:spPr>
            <a:xfrm>
              <a:off x="5741848" y="4235444"/>
              <a:ext cx="968187" cy="406769"/>
            </a:xfrm>
            <a:prstGeom prst="roundRect">
              <a:avLst>
                <a:gd fmla="val 16667" name="adj"/>
              </a:avLst>
            </a:prstGeom>
            <a:solidFill>
              <a:srgbClr val="999999"/>
            </a:solidFill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3" name="Google Shape;1453;p20"/>
            <p:cNvSpPr txBox="1"/>
            <p:nvPr/>
          </p:nvSpPr>
          <p:spPr>
            <a:xfrm>
              <a:off x="5741848" y="4254162"/>
              <a:ext cx="968187" cy="369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영상 트랜스 B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(1년 보관)</a:t>
              </a: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465" name="Google Shape;1465;p20"/>
          <p:cNvCxnSpPr/>
          <p:nvPr/>
        </p:nvCxnSpPr>
        <p:spPr>
          <a:xfrm flipH="1">
            <a:off x="5197583" y="2260815"/>
            <a:ext cx="908700" cy="1"/>
          </a:xfrm>
          <a:prstGeom prst="straightConnector1">
            <a:avLst/>
          </a:prstGeom>
          <a:noFill/>
          <a:ln cap="flat" cmpd="sng" w="25400">
            <a:solidFill>
              <a:srgbClr val="C55A1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66" name="Google Shape;1466;p20"/>
          <p:cNvSpPr txBox="1"/>
          <p:nvPr/>
        </p:nvSpPr>
        <p:spPr>
          <a:xfrm>
            <a:off x="5217296" y="1852845"/>
            <a:ext cx="8463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③ EDMS에 </a:t>
            </a:r>
            <a:endParaRPr sz="9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등록요청 </a:t>
            </a:r>
            <a:endParaRPr sz="9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7" name="Google Shape;1467;p20"/>
          <p:cNvSpPr txBox="1"/>
          <p:nvPr/>
        </p:nvSpPr>
        <p:spPr>
          <a:xfrm>
            <a:off x="5157248" y="2303980"/>
            <a:ext cx="10673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트랜스본 파일 </a:t>
            </a:r>
            <a:br>
              <a:rPr lang="en-US" sz="900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다운로드 서비스</a:t>
            </a:r>
            <a:endParaRPr sz="900">
              <a:solidFill>
                <a:srgbClr val="2E75B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68" name="Google Shape;1468;p20"/>
          <p:cNvCxnSpPr/>
          <p:nvPr/>
        </p:nvCxnSpPr>
        <p:spPr>
          <a:xfrm>
            <a:off x="5207792" y="2637815"/>
            <a:ext cx="9087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2E75B6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69" name="Google Shape;1469;p20"/>
          <p:cNvSpPr txBox="1"/>
          <p:nvPr/>
        </p:nvSpPr>
        <p:spPr>
          <a:xfrm>
            <a:off x="4190027" y="5527092"/>
            <a:ext cx="5145576" cy="784830"/>
          </a:xfrm>
          <a:prstGeom prst="rect">
            <a:avLst/>
          </a:prstGeom>
          <a:noFill/>
          <a:ln cap="flat" cmpd="sng" w="9525">
            <a:solidFill>
              <a:srgbClr val="191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91966"/>
                </a:solidFill>
                <a:latin typeface="Arial"/>
                <a:ea typeface="Arial"/>
                <a:cs typeface="Arial"/>
                <a:sym typeface="Arial"/>
              </a:rPr>
              <a:t>편집&lt;저장&gt; VS 편집&lt;덮어쓰기&gt;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91966"/>
                </a:solidFill>
                <a:latin typeface="Arial"/>
                <a:ea typeface="Arial"/>
                <a:cs typeface="Arial"/>
                <a:sym typeface="Arial"/>
              </a:rPr>
              <a:t>편집본 저장</a:t>
            </a:r>
            <a:endParaRPr b="1" sz="900">
              <a:solidFill>
                <a:srgbClr val="1919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191966"/>
                </a:solidFill>
                <a:latin typeface="Arial"/>
                <a:ea typeface="Arial"/>
                <a:cs typeface="Arial"/>
                <a:sym typeface="Arial"/>
              </a:rPr>
              <a:t>편집본을 1차 스토리지에 추가(저장) 🡨 편집&lt;저장&gt; 프로세스 페이지 참조</a:t>
            </a:r>
            <a:endParaRPr sz="900">
              <a:solidFill>
                <a:srgbClr val="1919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91966"/>
                </a:solidFill>
                <a:latin typeface="Arial"/>
                <a:ea typeface="Arial"/>
                <a:cs typeface="Arial"/>
                <a:sym typeface="Arial"/>
              </a:rPr>
              <a:t>편집본 덮어쓰기</a:t>
            </a:r>
            <a:endParaRPr b="1" sz="900">
              <a:solidFill>
                <a:srgbClr val="1919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191966"/>
                </a:solidFill>
                <a:latin typeface="Arial"/>
                <a:ea typeface="Arial"/>
                <a:cs typeface="Arial"/>
                <a:sym typeface="Arial"/>
              </a:rPr>
              <a:t>편집대상 영상을 지우고 편집본을 같은 이름으로 저장 🡨 현 페이지에 프로세스에 해당</a:t>
            </a:r>
            <a:endParaRPr sz="900">
              <a:solidFill>
                <a:srgbClr val="1919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p21"/>
          <p:cNvSpPr txBox="1"/>
          <p:nvPr/>
        </p:nvSpPr>
        <p:spPr>
          <a:xfrm>
            <a:off x="417770" y="714190"/>
            <a:ext cx="8964356" cy="637153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아키텍처 설계 &gt; 2.4 동영상플랫폼</a:t>
            </a:r>
            <a:endParaRPr b="1" i="0" sz="14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2.4.6 동영상플랫폼 MCMS 스토리지 구성안</a:t>
            </a:r>
            <a:endParaRPr b="1" i="0" sz="12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75" name="Google Shape;1475;p21"/>
          <p:cNvSpPr txBox="1"/>
          <p:nvPr/>
        </p:nvSpPr>
        <p:spPr>
          <a:xfrm>
            <a:off x="6746883" y="1644368"/>
            <a:ext cx="3206172" cy="4801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업무 프로세스-적재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① 원본 파일의 분류에 따라 아래와 같이 업로드 로직 수행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- 문서 및 사진 : EDMS, 동영상:MCMS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※ 대용량 파일 보관 시 발생하는 Xtorm 부하 방지를 위해 분산 처리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② MCMS가 원본 파일을 2차 스토리지에 적재 후 트랜스코딩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- MCMS DB에 원본 파일 위치 및 기본 정보 관리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③ MCMS가 트랜스코딩 후 파일을 EDMS로 전달하여 1차 스토리지에 적재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- EDMS Agent 연계 가이드 표준에 맞춰 호출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업무 프로세스-스트리밍  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④-1 사용자는 기존 EDMS Viewer를 통해 동영상 조회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단, 영상 항목에는 별도 버튼을 생성하여 편집/스트리밍 팝업 제공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④-2 스트리밍 대상 동영상 EDMS 스토리지의 경로 요청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- EDMS 스토리지의 경로를 가져오는 서비스 필요(EDMS Agent)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※ 동영상 저장 경로에 따라 분기하여 스트리밍 서비스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④-21 : 2차 스토리지 내 원본 - MCMS 정보로 직접 연결, 스트리밍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④-22 : 1차 스토리지 내 영상 - 1차 스토리지 직접 연결, 스트리밍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④-23 : 2차 스토리지 내 영상 - EDMS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          -&gt; MCMS로 다운로드 후,  스트리밍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향후 고려 사항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▷ EDMS 2차 스토리지 내 별도 NFS 볼륨 생성 필요(신규)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- Usable 23TB 증설 필요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▷ 1차 스토리지에 MCMS 직접 연결 설정 필요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▷ EDMS 스토리지의 경로 가져오는 API 제공 필요(EDMS Agent)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▷ MCMS 서버에 동영상 등록/조회를 위한 TEMP 용량 확보 필요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▷ 2차 스토리지내 영상 원본 / 개인영상 저장 용량 확보 필요</a:t>
            </a:r>
            <a:endParaRPr/>
          </a:p>
        </p:txBody>
      </p:sp>
      <p:sp>
        <p:nvSpPr>
          <p:cNvPr id="1476" name="Google Shape;1476;p21"/>
          <p:cNvSpPr/>
          <p:nvPr/>
        </p:nvSpPr>
        <p:spPr>
          <a:xfrm>
            <a:off x="7565895" y="1352857"/>
            <a:ext cx="881696" cy="29238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임시 보관</a:t>
            </a:r>
            <a:endParaRPr/>
          </a:p>
        </p:txBody>
      </p:sp>
      <p:sp>
        <p:nvSpPr>
          <p:cNvPr id="1477" name="Google Shape;1477;p21"/>
          <p:cNvSpPr/>
          <p:nvPr/>
        </p:nvSpPr>
        <p:spPr>
          <a:xfrm>
            <a:off x="8501104" y="1352857"/>
            <a:ext cx="881022" cy="29238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영구 보관</a:t>
            </a:r>
            <a:endParaRPr b="0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8" name="Google Shape;1478;p21"/>
          <p:cNvSpPr/>
          <p:nvPr/>
        </p:nvSpPr>
        <p:spPr>
          <a:xfrm>
            <a:off x="4542535" y="5772039"/>
            <a:ext cx="965734" cy="584776"/>
          </a:xfrm>
          <a:prstGeom prst="flowChartMagneticDisk">
            <a:avLst/>
          </a:prstGeom>
          <a:solidFill>
            <a:schemeClr val="lt1"/>
          </a:solidFill>
          <a:ln cap="flat" cmpd="sng" w="25400">
            <a:solidFill>
              <a:srgbClr val="0094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9" name="Google Shape;1479;p21"/>
          <p:cNvSpPr/>
          <p:nvPr/>
        </p:nvSpPr>
        <p:spPr>
          <a:xfrm>
            <a:off x="4257212" y="4740742"/>
            <a:ext cx="1890674" cy="839001"/>
          </a:xfrm>
          <a:prstGeom prst="flowChartMagneticDisk">
            <a:avLst/>
          </a:prstGeom>
          <a:solidFill>
            <a:schemeClr val="lt1"/>
          </a:solidFill>
          <a:ln cap="flat" cmpd="sng" w="25400">
            <a:solidFill>
              <a:srgbClr val="0094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0" name="Google Shape;1480;p21"/>
          <p:cNvSpPr/>
          <p:nvPr/>
        </p:nvSpPr>
        <p:spPr>
          <a:xfrm>
            <a:off x="872233" y="4198860"/>
            <a:ext cx="1890674" cy="965015"/>
          </a:xfrm>
          <a:prstGeom prst="flowChartMagneticDisk">
            <a:avLst/>
          </a:prstGeom>
          <a:solidFill>
            <a:schemeClr val="lt1"/>
          </a:solidFill>
          <a:ln cap="flat" cmpd="sng" w="25400">
            <a:solidFill>
              <a:srgbClr val="0094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1" name="Google Shape;1481;p21"/>
          <p:cNvSpPr/>
          <p:nvPr/>
        </p:nvSpPr>
        <p:spPr>
          <a:xfrm>
            <a:off x="4257212" y="4198860"/>
            <a:ext cx="1890674" cy="965015"/>
          </a:xfrm>
          <a:prstGeom prst="flowChartMagneticDisk">
            <a:avLst/>
          </a:prstGeom>
          <a:solidFill>
            <a:schemeClr val="lt1"/>
          </a:solidFill>
          <a:ln cap="flat" cmpd="sng" w="25400">
            <a:solidFill>
              <a:srgbClr val="0094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2" name="Google Shape;1482;p21"/>
          <p:cNvSpPr/>
          <p:nvPr/>
        </p:nvSpPr>
        <p:spPr>
          <a:xfrm>
            <a:off x="4724722" y="1821561"/>
            <a:ext cx="1730892" cy="757822"/>
          </a:xfrm>
          <a:prstGeom prst="flowChartMagneticDisk">
            <a:avLst/>
          </a:prstGeom>
          <a:solidFill>
            <a:schemeClr val="lt1"/>
          </a:solidFill>
          <a:ln cap="flat" cmpd="sng" w="25400">
            <a:solidFill>
              <a:srgbClr val="0094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3" name="Google Shape;1483;p21"/>
          <p:cNvSpPr/>
          <p:nvPr/>
        </p:nvSpPr>
        <p:spPr>
          <a:xfrm>
            <a:off x="252992" y="1644369"/>
            <a:ext cx="6446837" cy="4737382"/>
          </a:xfrm>
          <a:prstGeom prst="rect">
            <a:avLst/>
          </a:prstGeom>
          <a:noFill/>
          <a:ln cap="flat" cmpd="sng" w="254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4" name="Google Shape;1484;p21"/>
          <p:cNvSpPr txBox="1"/>
          <p:nvPr/>
        </p:nvSpPr>
        <p:spPr>
          <a:xfrm>
            <a:off x="1654669" y="1341438"/>
            <a:ext cx="3580782" cy="369332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MCMS 스토리지 / 서비스 구성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5" name="Google Shape;1485;p21"/>
          <p:cNvSpPr txBox="1"/>
          <p:nvPr/>
        </p:nvSpPr>
        <p:spPr>
          <a:xfrm>
            <a:off x="4901463" y="3144668"/>
            <a:ext cx="839198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② 원본 적재</a:t>
            </a:r>
            <a:endParaRPr/>
          </a:p>
        </p:txBody>
      </p:sp>
      <p:sp>
        <p:nvSpPr>
          <p:cNvPr id="1486" name="Google Shape;1486;p21"/>
          <p:cNvSpPr/>
          <p:nvPr/>
        </p:nvSpPr>
        <p:spPr>
          <a:xfrm>
            <a:off x="919277" y="4616114"/>
            <a:ext cx="881696" cy="419682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문서 원본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(6~7개월 보관)</a:t>
            </a:r>
            <a:endParaRPr/>
          </a:p>
        </p:txBody>
      </p:sp>
      <p:sp>
        <p:nvSpPr>
          <p:cNvPr id="1487" name="Google Shape;1487;p21"/>
          <p:cNvSpPr/>
          <p:nvPr/>
        </p:nvSpPr>
        <p:spPr>
          <a:xfrm>
            <a:off x="1854486" y="4616114"/>
            <a:ext cx="881022" cy="419682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영상 트랜스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(1년 보관)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(월 0.5TB)</a:t>
            </a:r>
            <a:endParaRPr sz="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8" name="Google Shape;1488;p21"/>
          <p:cNvSpPr/>
          <p:nvPr/>
        </p:nvSpPr>
        <p:spPr>
          <a:xfrm>
            <a:off x="5222221" y="4625447"/>
            <a:ext cx="881696" cy="419682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영상 원본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(3개월 보관)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(월 1.6TB)</a:t>
            </a:r>
            <a:endParaRPr sz="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9" name="Google Shape;1489;p21"/>
          <p:cNvSpPr txBox="1"/>
          <p:nvPr/>
        </p:nvSpPr>
        <p:spPr>
          <a:xfrm>
            <a:off x="1990787" y="2642984"/>
            <a:ext cx="138210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AC8300"/>
                </a:solidFill>
                <a:latin typeface="Arial"/>
                <a:ea typeface="Arial"/>
                <a:cs typeface="Arial"/>
                <a:sym typeface="Arial"/>
              </a:rPr>
              <a:t>③-1 트랜스코딩 실행</a:t>
            </a:r>
            <a:endParaRPr sz="800">
              <a:solidFill>
                <a:srgbClr val="AC83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AC8300"/>
                </a:solidFill>
                <a:latin typeface="Arial"/>
                <a:ea typeface="Arial"/>
                <a:cs typeface="Arial"/>
                <a:sym typeface="Arial"/>
              </a:rPr>
              <a:t>및 EDMS 등록요청</a:t>
            </a:r>
            <a:endParaRPr sz="800">
              <a:solidFill>
                <a:srgbClr val="AC83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0" name="Google Shape;1490;p21"/>
          <p:cNvSpPr txBox="1"/>
          <p:nvPr/>
        </p:nvSpPr>
        <p:spPr>
          <a:xfrm>
            <a:off x="1210306" y="1981847"/>
            <a:ext cx="221927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① 원본 업로드(동영상:MCMS)</a:t>
            </a:r>
            <a:endParaRPr sz="8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1" name="Google Shape;1491;p21"/>
          <p:cNvCxnSpPr/>
          <p:nvPr/>
        </p:nvCxnSpPr>
        <p:spPr>
          <a:xfrm>
            <a:off x="1570505" y="3316109"/>
            <a:ext cx="0" cy="1560437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92" name="Google Shape;1492;p21"/>
          <p:cNvSpPr txBox="1"/>
          <p:nvPr/>
        </p:nvSpPr>
        <p:spPr>
          <a:xfrm>
            <a:off x="4552913" y="4232487"/>
            <a:ext cx="135039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EDMS 2차 스토리지</a:t>
            </a:r>
            <a:endParaRPr/>
          </a:p>
        </p:txBody>
      </p:sp>
      <p:sp>
        <p:nvSpPr>
          <p:cNvPr id="1493" name="Google Shape;1493;p21"/>
          <p:cNvSpPr txBox="1"/>
          <p:nvPr/>
        </p:nvSpPr>
        <p:spPr>
          <a:xfrm>
            <a:off x="1159595" y="4232487"/>
            <a:ext cx="135039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EDMS 1차 스토리지</a:t>
            </a:r>
            <a:endParaRPr/>
          </a:p>
        </p:txBody>
      </p:sp>
      <p:cxnSp>
        <p:nvCxnSpPr>
          <p:cNvPr id="1494" name="Google Shape;1494;p21"/>
          <p:cNvCxnSpPr/>
          <p:nvPr/>
        </p:nvCxnSpPr>
        <p:spPr>
          <a:xfrm>
            <a:off x="2238069" y="3029239"/>
            <a:ext cx="711747" cy="0"/>
          </a:xfrm>
          <a:prstGeom prst="straightConnector1">
            <a:avLst/>
          </a:prstGeom>
          <a:noFill/>
          <a:ln cap="flat" cmpd="sng" w="9525">
            <a:solidFill>
              <a:srgbClr val="D5C07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95" name="Google Shape;1495;p21"/>
          <p:cNvCxnSpPr/>
          <p:nvPr/>
        </p:nvCxnSpPr>
        <p:spPr>
          <a:xfrm rot="10800000">
            <a:off x="2238069" y="3112807"/>
            <a:ext cx="711747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96" name="Google Shape;1496;p21"/>
          <p:cNvSpPr txBox="1"/>
          <p:nvPr/>
        </p:nvSpPr>
        <p:spPr>
          <a:xfrm>
            <a:off x="1473543" y="3942592"/>
            <a:ext cx="1332458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AC8300"/>
                </a:solidFill>
                <a:latin typeface="Arial"/>
                <a:ea typeface="Arial"/>
                <a:cs typeface="Arial"/>
                <a:sym typeface="Arial"/>
              </a:rPr>
              <a:t>③-2 트랜스코딩본 적재</a:t>
            </a:r>
            <a:endParaRPr/>
          </a:p>
        </p:txBody>
      </p:sp>
      <p:cxnSp>
        <p:nvCxnSpPr>
          <p:cNvPr id="1497" name="Google Shape;1497;p21"/>
          <p:cNvCxnSpPr>
            <a:endCxn id="1498" idx="0"/>
          </p:cNvCxnSpPr>
          <p:nvPr/>
        </p:nvCxnSpPr>
        <p:spPr>
          <a:xfrm>
            <a:off x="1256742" y="2563851"/>
            <a:ext cx="556200" cy="390300"/>
          </a:xfrm>
          <a:prstGeom prst="bentConnector2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98" name="Google Shape;1498;p21"/>
          <p:cNvSpPr/>
          <p:nvPr/>
        </p:nvSpPr>
        <p:spPr>
          <a:xfrm>
            <a:off x="1371942" y="2954151"/>
            <a:ext cx="882000" cy="355528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EDMS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(Xtorm)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9" name="Google Shape;1499;p21"/>
          <p:cNvCxnSpPr>
            <a:endCxn id="1487" idx="0"/>
          </p:cNvCxnSpPr>
          <p:nvPr/>
        </p:nvCxnSpPr>
        <p:spPr>
          <a:xfrm flipH="1" rot="-5400000">
            <a:off x="1482597" y="3803714"/>
            <a:ext cx="1260000" cy="364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D5C07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00" name="Google Shape;1500;p21"/>
          <p:cNvCxnSpPr>
            <a:stCxn id="1501" idx="2"/>
            <a:endCxn id="1487" idx="3"/>
          </p:cNvCxnSpPr>
          <p:nvPr/>
        </p:nvCxnSpPr>
        <p:spPr>
          <a:xfrm rot="5400000">
            <a:off x="2366498" y="3678829"/>
            <a:ext cx="1516200" cy="777900"/>
          </a:xfrm>
          <a:prstGeom prst="bentConnector2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02" name="Google Shape;1502;p21"/>
          <p:cNvSpPr txBox="1"/>
          <p:nvPr/>
        </p:nvSpPr>
        <p:spPr>
          <a:xfrm>
            <a:off x="352479" y="3163205"/>
            <a:ext cx="980991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④-1 데이터 조회</a:t>
            </a:r>
            <a:endParaRPr/>
          </a:p>
        </p:txBody>
      </p:sp>
      <p:cxnSp>
        <p:nvCxnSpPr>
          <p:cNvPr id="1503" name="Google Shape;1503;p21"/>
          <p:cNvCxnSpPr>
            <a:stCxn id="1504" idx="2"/>
            <a:endCxn id="1498" idx="1"/>
          </p:cNvCxnSpPr>
          <p:nvPr/>
        </p:nvCxnSpPr>
        <p:spPr>
          <a:xfrm flipH="1" rot="-5400000">
            <a:off x="835183" y="2595294"/>
            <a:ext cx="471300" cy="602100"/>
          </a:xfrm>
          <a:prstGeom prst="bentConnector2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04" name="Google Shape;1504;p21"/>
          <p:cNvSpPr/>
          <p:nvPr/>
        </p:nvSpPr>
        <p:spPr>
          <a:xfrm>
            <a:off x="328783" y="1991499"/>
            <a:ext cx="882000" cy="669195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보상포탈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손사포탈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홈페이지</a:t>
            </a:r>
            <a:endParaRPr/>
          </a:p>
        </p:txBody>
      </p:sp>
      <p:cxnSp>
        <p:nvCxnSpPr>
          <p:cNvPr id="1505" name="Google Shape;1505;p21"/>
          <p:cNvCxnSpPr/>
          <p:nvPr/>
        </p:nvCxnSpPr>
        <p:spPr>
          <a:xfrm>
            <a:off x="2238069" y="3185286"/>
            <a:ext cx="711747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06" name="Google Shape;1506;p21"/>
          <p:cNvCxnSpPr/>
          <p:nvPr/>
        </p:nvCxnSpPr>
        <p:spPr>
          <a:xfrm rot="10800000">
            <a:off x="2238069" y="3268854"/>
            <a:ext cx="711747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07" name="Google Shape;1507;p21"/>
          <p:cNvSpPr txBox="1"/>
          <p:nvPr/>
        </p:nvSpPr>
        <p:spPr>
          <a:xfrm>
            <a:off x="4571108" y="3445252"/>
            <a:ext cx="142005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④-21 동영상 관련</a:t>
            </a:r>
            <a:endParaRPr sz="8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편집/스트리밍 제공</a:t>
            </a:r>
            <a:endParaRPr/>
          </a:p>
        </p:txBody>
      </p:sp>
      <p:cxnSp>
        <p:nvCxnSpPr>
          <p:cNvPr id="1508" name="Google Shape;1508;p21"/>
          <p:cNvCxnSpPr>
            <a:endCxn id="1501" idx="0"/>
          </p:cNvCxnSpPr>
          <p:nvPr/>
        </p:nvCxnSpPr>
        <p:spPr>
          <a:xfrm>
            <a:off x="1210447" y="2173251"/>
            <a:ext cx="2303100" cy="780900"/>
          </a:xfrm>
          <a:prstGeom prst="bentConnector2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09" name="Google Shape;1509;p21"/>
          <p:cNvSpPr txBox="1"/>
          <p:nvPr/>
        </p:nvSpPr>
        <p:spPr>
          <a:xfrm>
            <a:off x="4797377" y="1822932"/>
            <a:ext cx="155341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 DB(Xtorm DB)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0" name="Google Shape;1510;p21"/>
          <p:cNvSpPr/>
          <p:nvPr/>
        </p:nvSpPr>
        <p:spPr>
          <a:xfrm>
            <a:off x="5341949" y="2102779"/>
            <a:ext cx="533495" cy="39296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(2차)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문서 + 영상</a:t>
            </a:r>
            <a:endParaRPr sz="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Clip ID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1" name="Google Shape;1511;p21"/>
          <p:cNvSpPr/>
          <p:nvPr/>
        </p:nvSpPr>
        <p:spPr>
          <a:xfrm>
            <a:off x="4300456" y="4621027"/>
            <a:ext cx="881696" cy="41968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문서 원본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(영구 보관)</a:t>
            </a:r>
            <a:endParaRPr/>
          </a:p>
        </p:txBody>
      </p:sp>
      <p:sp>
        <p:nvSpPr>
          <p:cNvPr id="1512" name="Google Shape;1512;p21"/>
          <p:cNvSpPr/>
          <p:nvPr/>
        </p:nvSpPr>
        <p:spPr>
          <a:xfrm>
            <a:off x="4787567" y="2102779"/>
            <a:ext cx="533495" cy="39296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(1차)</a:t>
            </a:r>
            <a:br>
              <a:rPr lang="en-US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문서 + 영상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경로 정보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3" name="Google Shape;1513;p21"/>
          <p:cNvSpPr txBox="1"/>
          <p:nvPr/>
        </p:nvSpPr>
        <p:spPr>
          <a:xfrm>
            <a:off x="882251" y="5298978"/>
            <a:ext cx="12901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동영상 저장용 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EDMS 대분류 생성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4" name="Google Shape;1514;p21"/>
          <p:cNvCxnSpPr>
            <a:stCxn id="1486" idx="2"/>
            <a:endCxn id="1511" idx="2"/>
          </p:cNvCxnSpPr>
          <p:nvPr/>
        </p:nvCxnSpPr>
        <p:spPr>
          <a:xfrm flipH="1" rot="-5400000">
            <a:off x="3048375" y="3347546"/>
            <a:ext cx="4800" cy="3381300"/>
          </a:xfrm>
          <a:prstGeom prst="bentConnector3">
            <a:avLst>
              <a:gd fmla="val 4864834" name="adj1"/>
            </a:avLst>
          </a:prstGeom>
          <a:noFill/>
          <a:ln cap="flat" cmpd="sng" w="9525">
            <a:solidFill>
              <a:srgbClr val="7F7F7F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1515" name="Google Shape;1515;p21"/>
          <p:cNvCxnSpPr>
            <a:stCxn id="1487" idx="2"/>
            <a:endCxn id="1516" idx="2"/>
          </p:cNvCxnSpPr>
          <p:nvPr/>
        </p:nvCxnSpPr>
        <p:spPr>
          <a:xfrm flipH="1" rot="-5400000">
            <a:off x="3735897" y="3594896"/>
            <a:ext cx="486000" cy="3367800"/>
          </a:xfrm>
          <a:prstGeom prst="bentConnector3">
            <a:avLst>
              <a:gd fmla="val 147064" name="adj1"/>
            </a:avLst>
          </a:prstGeom>
          <a:noFill/>
          <a:ln cap="flat" cmpd="sng" w="9525">
            <a:solidFill>
              <a:srgbClr val="7F7F7F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1516" name="Google Shape;1516;p21"/>
          <p:cNvSpPr/>
          <p:nvPr/>
        </p:nvSpPr>
        <p:spPr>
          <a:xfrm>
            <a:off x="5222221" y="5102248"/>
            <a:ext cx="881022" cy="41968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영상 트랜스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(영구 보관)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(월 0.5TB)</a:t>
            </a:r>
            <a:endParaRPr sz="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7" name="Google Shape;1517;p21"/>
          <p:cNvSpPr txBox="1"/>
          <p:nvPr/>
        </p:nvSpPr>
        <p:spPr>
          <a:xfrm>
            <a:off x="2429103" y="5731770"/>
            <a:ext cx="2002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일 마이그레이션</a:t>
            </a:r>
            <a:endParaRPr sz="8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(1차 스토리지 데이터는 1년 보관 후 삭제)</a:t>
            </a:r>
            <a:endParaRPr/>
          </a:p>
        </p:txBody>
      </p:sp>
      <p:cxnSp>
        <p:nvCxnSpPr>
          <p:cNvPr id="1518" name="Google Shape;1518;p21"/>
          <p:cNvCxnSpPr/>
          <p:nvPr/>
        </p:nvCxnSpPr>
        <p:spPr>
          <a:xfrm>
            <a:off x="4036310" y="3156918"/>
            <a:ext cx="1692000" cy="1332000"/>
          </a:xfrm>
          <a:prstGeom prst="bentConnector2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19" name="Google Shape;1519;p21"/>
          <p:cNvSpPr/>
          <p:nvPr/>
        </p:nvSpPr>
        <p:spPr>
          <a:xfrm>
            <a:off x="4568134" y="5937132"/>
            <a:ext cx="881022" cy="41968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영상 원본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(영구 보관)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(월 1.6TB)</a:t>
            </a:r>
            <a:endParaRPr sz="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0" name="Google Shape;1520;p21"/>
          <p:cNvSpPr txBox="1"/>
          <p:nvPr/>
        </p:nvSpPr>
        <p:spPr>
          <a:xfrm>
            <a:off x="4762100" y="5743778"/>
            <a:ext cx="54373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PTL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1" name="Google Shape;1521;p21"/>
          <p:cNvCxnSpPr>
            <a:stCxn id="1488" idx="3"/>
            <a:endCxn id="1519" idx="3"/>
          </p:cNvCxnSpPr>
          <p:nvPr/>
        </p:nvCxnSpPr>
        <p:spPr>
          <a:xfrm flipH="1">
            <a:off x="5449017" y="4835288"/>
            <a:ext cx="654900" cy="1311600"/>
          </a:xfrm>
          <a:prstGeom prst="bentConnector3">
            <a:avLst>
              <a:gd fmla="val -34907" name="adj1"/>
            </a:avLst>
          </a:prstGeom>
          <a:noFill/>
          <a:ln cap="flat" cmpd="sng" w="9525">
            <a:solidFill>
              <a:srgbClr val="7F7F7F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1522" name="Google Shape;1522;p21"/>
          <p:cNvSpPr txBox="1"/>
          <p:nvPr/>
        </p:nvSpPr>
        <p:spPr>
          <a:xfrm>
            <a:off x="5429857" y="5755427"/>
            <a:ext cx="105505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월 백업 후</a:t>
            </a:r>
            <a:endParaRPr sz="8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(2차 스토리지 내</a:t>
            </a:r>
            <a:endParaRPr sz="8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데이터는 3개월 </a:t>
            </a:r>
            <a:endParaRPr sz="8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보관 후 삭제</a:t>
            </a:r>
            <a:endParaRPr sz="8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3" name="Google Shape;1523;p21"/>
          <p:cNvSpPr txBox="1"/>
          <p:nvPr/>
        </p:nvSpPr>
        <p:spPr>
          <a:xfrm>
            <a:off x="2012292" y="3321849"/>
            <a:ext cx="1322501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④-2 영상 경로 정보 요청</a:t>
            </a:r>
            <a:endParaRPr sz="8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4" name="Google Shape;1524;p21"/>
          <p:cNvCxnSpPr>
            <a:endCxn id="1516" idx="1"/>
          </p:cNvCxnSpPr>
          <p:nvPr/>
        </p:nvCxnSpPr>
        <p:spPr>
          <a:xfrm flipH="1" rot="-5400000">
            <a:off x="3535021" y="3624889"/>
            <a:ext cx="1908000" cy="1466400"/>
          </a:xfrm>
          <a:prstGeom prst="bentConnector2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01" name="Google Shape;1501;p21"/>
          <p:cNvSpPr/>
          <p:nvPr/>
        </p:nvSpPr>
        <p:spPr>
          <a:xfrm>
            <a:off x="2952992" y="2954151"/>
            <a:ext cx="1121111" cy="355528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MCMS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5" name="Google Shape;1525;p21"/>
          <p:cNvSpPr txBox="1"/>
          <p:nvPr/>
        </p:nvSpPr>
        <p:spPr>
          <a:xfrm>
            <a:off x="1210306" y="2318095"/>
            <a:ext cx="221927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① 원본 업로드(문서·사진:EDMS)</a:t>
            </a:r>
            <a:endParaRPr sz="8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6" name="Google Shape;1526;p21"/>
          <p:cNvSpPr txBox="1"/>
          <p:nvPr/>
        </p:nvSpPr>
        <p:spPr>
          <a:xfrm>
            <a:off x="3588150" y="3718511"/>
            <a:ext cx="141617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④-23 EDMS-&gt; MCMS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다운로드 후 스트리밍</a:t>
            </a:r>
            <a:endParaRPr sz="8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7" name="Google Shape;1527;p21"/>
          <p:cNvSpPr txBox="1"/>
          <p:nvPr/>
        </p:nvSpPr>
        <p:spPr>
          <a:xfrm>
            <a:off x="2222356" y="3626533"/>
            <a:ext cx="141617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④-22 직접 연결 스트리밍 </a:t>
            </a:r>
            <a:endParaRPr/>
          </a:p>
        </p:txBody>
      </p:sp>
      <p:sp>
        <p:nvSpPr>
          <p:cNvPr id="1528" name="Google Shape;1528;p21"/>
          <p:cNvSpPr/>
          <p:nvPr/>
        </p:nvSpPr>
        <p:spPr>
          <a:xfrm>
            <a:off x="5896331" y="2102779"/>
            <a:ext cx="533495" cy="392961"/>
          </a:xfrm>
          <a:prstGeom prst="rect">
            <a:avLst/>
          </a:prstGeom>
          <a:solidFill>
            <a:srgbClr val="C1FFE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MCMS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영상원본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관리정보</a:t>
            </a:r>
            <a:endParaRPr/>
          </a:p>
        </p:txBody>
      </p:sp>
      <p:cxnSp>
        <p:nvCxnSpPr>
          <p:cNvPr id="1529" name="Google Shape;1529;p21"/>
          <p:cNvCxnSpPr/>
          <p:nvPr/>
        </p:nvCxnSpPr>
        <p:spPr>
          <a:xfrm flipH="1" rot="10800000">
            <a:off x="4120390" y="2546469"/>
            <a:ext cx="2052000" cy="517500"/>
          </a:xfrm>
          <a:prstGeom prst="bentConnector2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30" name="Google Shape;1530;p21"/>
          <p:cNvSpPr/>
          <p:nvPr/>
        </p:nvSpPr>
        <p:spPr>
          <a:xfrm>
            <a:off x="3948476" y="3170486"/>
            <a:ext cx="108000" cy="1080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1" name="Google Shape;1531;p21"/>
          <p:cNvSpPr/>
          <p:nvPr/>
        </p:nvSpPr>
        <p:spPr>
          <a:xfrm>
            <a:off x="3577546" y="3342619"/>
            <a:ext cx="108000" cy="1080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32" name="Google Shape;1532;p21"/>
          <p:cNvGrpSpPr/>
          <p:nvPr/>
        </p:nvGrpSpPr>
        <p:grpSpPr>
          <a:xfrm>
            <a:off x="6210761" y="1384969"/>
            <a:ext cx="1315033" cy="215444"/>
            <a:chOff x="2675196" y="5802436"/>
            <a:chExt cx="1315033" cy="215444"/>
          </a:xfrm>
        </p:grpSpPr>
        <p:sp>
          <p:nvSpPr>
            <p:cNvPr id="1533" name="Google Shape;1533;p21"/>
            <p:cNvSpPr/>
            <p:nvPr/>
          </p:nvSpPr>
          <p:spPr>
            <a:xfrm>
              <a:off x="2741844" y="5848810"/>
              <a:ext cx="108000" cy="1080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4" name="Google Shape;1534;p21"/>
            <p:cNvSpPr txBox="1"/>
            <p:nvPr/>
          </p:nvSpPr>
          <p:spPr>
            <a:xfrm>
              <a:off x="2675196" y="5802436"/>
              <a:ext cx="1315033" cy="215444"/>
            </a:xfrm>
            <a:prstGeom prst="rect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직접 연결 환경 구성</a:t>
              </a:r>
              <a:endPara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p22"/>
          <p:cNvSpPr/>
          <p:nvPr/>
        </p:nvSpPr>
        <p:spPr>
          <a:xfrm>
            <a:off x="7003371" y="4246503"/>
            <a:ext cx="676259" cy="1226701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AFD1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0" name="Google Shape;1540;p22"/>
          <p:cNvSpPr/>
          <p:nvPr/>
        </p:nvSpPr>
        <p:spPr>
          <a:xfrm>
            <a:off x="1919691" y="4278390"/>
            <a:ext cx="676259" cy="1226701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AFD1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41" name="Google Shape;1541;p22"/>
          <p:cNvGrpSpPr/>
          <p:nvPr/>
        </p:nvGrpSpPr>
        <p:grpSpPr>
          <a:xfrm>
            <a:off x="2675082" y="3659818"/>
            <a:ext cx="2078408" cy="619293"/>
            <a:chOff x="5660335" y="5119856"/>
            <a:chExt cx="2356972" cy="702290"/>
          </a:xfrm>
        </p:grpSpPr>
        <p:grpSp>
          <p:nvGrpSpPr>
            <p:cNvPr id="1542" name="Google Shape;1542;p22"/>
            <p:cNvGrpSpPr/>
            <p:nvPr/>
          </p:nvGrpSpPr>
          <p:grpSpPr>
            <a:xfrm>
              <a:off x="5768873" y="5119942"/>
              <a:ext cx="243149" cy="702204"/>
              <a:chOff x="1773410" y="3026819"/>
              <a:chExt cx="243149" cy="594268"/>
            </a:xfrm>
          </p:grpSpPr>
          <p:cxnSp>
            <p:nvCxnSpPr>
              <p:cNvPr id="1543" name="Google Shape;1543;p22"/>
              <p:cNvCxnSpPr/>
              <p:nvPr/>
            </p:nvCxnSpPr>
            <p:spPr>
              <a:xfrm>
                <a:off x="1773410" y="3026831"/>
                <a:ext cx="0" cy="594256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A9B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44" name="Google Shape;1544;p22"/>
              <p:cNvCxnSpPr/>
              <p:nvPr/>
            </p:nvCxnSpPr>
            <p:spPr>
              <a:xfrm>
                <a:off x="2016559" y="3026819"/>
                <a:ext cx="0" cy="594256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A9B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545" name="Google Shape;1545;p22"/>
            <p:cNvGrpSpPr/>
            <p:nvPr/>
          </p:nvGrpSpPr>
          <p:grpSpPr>
            <a:xfrm>
              <a:off x="6240439" y="5119856"/>
              <a:ext cx="243149" cy="702192"/>
              <a:chOff x="1773410" y="3026791"/>
              <a:chExt cx="243149" cy="594267"/>
            </a:xfrm>
          </p:grpSpPr>
          <p:cxnSp>
            <p:nvCxnSpPr>
              <p:cNvPr id="1546" name="Google Shape;1546;p22"/>
              <p:cNvCxnSpPr/>
              <p:nvPr/>
            </p:nvCxnSpPr>
            <p:spPr>
              <a:xfrm>
                <a:off x="1773410" y="3026793"/>
                <a:ext cx="0" cy="594265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A9B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47" name="Google Shape;1547;p22"/>
              <p:cNvCxnSpPr/>
              <p:nvPr/>
            </p:nvCxnSpPr>
            <p:spPr>
              <a:xfrm>
                <a:off x="2016559" y="3026791"/>
                <a:ext cx="0" cy="594265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A9B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548" name="Google Shape;1548;p22"/>
            <p:cNvGrpSpPr/>
            <p:nvPr/>
          </p:nvGrpSpPr>
          <p:grpSpPr>
            <a:xfrm>
              <a:off x="6745200" y="5119871"/>
              <a:ext cx="243149" cy="702194"/>
              <a:chOff x="1773410" y="3026792"/>
              <a:chExt cx="243149" cy="594266"/>
            </a:xfrm>
          </p:grpSpPr>
          <p:cxnSp>
            <p:nvCxnSpPr>
              <p:cNvPr id="1549" name="Google Shape;1549;p22"/>
              <p:cNvCxnSpPr/>
              <p:nvPr/>
            </p:nvCxnSpPr>
            <p:spPr>
              <a:xfrm>
                <a:off x="1773410" y="3026792"/>
                <a:ext cx="0" cy="594261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A9B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50" name="Google Shape;1550;p22"/>
              <p:cNvCxnSpPr/>
              <p:nvPr/>
            </p:nvCxnSpPr>
            <p:spPr>
              <a:xfrm>
                <a:off x="2016559" y="3026796"/>
                <a:ext cx="0" cy="594262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A9B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551" name="Google Shape;1551;p22"/>
            <p:cNvGrpSpPr/>
            <p:nvPr/>
          </p:nvGrpSpPr>
          <p:grpSpPr>
            <a:xfrm>
              <a:off x="5660335" y="5263252"/>
              <a:ext cx="1431161" cy="408593"/>
              <a:chOff x="1080593" y="4604099"/>
              <a:chExt cx="1784930" cy="509591"/>
            </a:xfrm>
          </p:grpSpPr>
          <p:grpSp>
            <p:nvGrpSpPr>
              <p:cNvPr id="1552" name="Google Shape;1552;p22"/>
              <p:cNvGrpSpPr/>
              <p:nvPr/>
            </p:nvGrpSpPr>
            <p:grpSpPr>
              <a:xfrm>
                <a:off x="1080593" y="4604099"/>
                <a:ext cx="572762" cy="509581"/>
                <a:chOff x="906933" y="3384617"/>
                <a:chExt cx="572762" cy="509581"/>
              </a:xfrm>
            </p:grpSpPr>
            <p:pic>
              <p:nvPicPr>
                <p:cNvPr id="1553" name="Google Shape;1553;p22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906933" y="3384617"/>
                  <a:ext cx="270226" cy="50957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554" name="Google Shape;1554;p22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1209469" y="3384623"/>
                  <a:ext cx="270226" cy="5095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555" name="Google Shape;1555;p22"/>
              <p:cNvGrpSpPr/>
              <p:nvPr/>
            </p:nvGrpSpPr>
            <p:grpSpPr>
              <a:xfrm>
                <a:off x="1686677" y="4604114"/>
                <a:ext cx="572762" cy="509576"/>
                <a:chOff x="906933" y="3384632"/>
                <a:chExt cx="572762" cy="509576"/>
              </a:xfrm>
            </p:grpSpPr>
            <p:pic>
              <p:nvPicPr>
                <p:cNvPr id="1556" name="Google Shape;1556;p22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906933" y="3384639"/>
                  <a:ext cx="270226" cy="50956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557" name="Google Shape;1557;p22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1209469" y="3384632"/>
                  <a:ext cx="270226" cy="50957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558" name="Google Shape;1558;p22"/>
              <p:cNvGrpSpPr/>
              <p:nvPr/>
            </p:nvGrpSpPr>
            <p:grpSpPr>
              <a:xfrm>
                <a:off x="2292761" y="4604112"/>
                <a:ext cx="572762" cy="509576"/>
                <a:chOff x="906933" y="3384630"/>
                <a:chExt cx="572762" cy="509576"/>
              </a:xfrm>
            </p:grpSpPr>
            <p:pic>
              <p:nvPicPr>
                <p:cNvPr id="1559" name="Google Shape;1559;p22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906933" y="3384631"/>
                  <a:ext cx="270226" cy="5095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560" name="Google Shape;1560;p22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1209469" y="3384630"/>
                  <a:ext cx="270226" cy="50956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sp>
          <p:nvSpPr>
            <p:cNvPr id="1561" name="Google Shape;1561;p22"/>
            <p:cNvSpPr/>
            <p:nvPr/>
          </p:nvSpPr>
          <p:spPr>
            <a:xfrm>
              <a:off x="7125707" y="5386641"/>
              <a:ext cx="891600" cy="41577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94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내부 이미지 변환 WAS #1 ~ #6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94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16core/256GB</a:t>
              </a:r>
              <a:endParaRPr/>
            </a:p>
          </p:txBody>
        </p:sp>
      </p:grpSp>
      <p:cxnSp>
        <p:nvCxnSpPr>
          <p:cNvPr id="1562" name="Google Shape;1562;p22"/>
          <p:cNvCxnSpPr/>
          <p:nvPr/>
        </p:nvCxnSpPr>
        <p:spPr>
          <a:xfrm>
            <a:off x="389912" y="3256949"/>
            <a:ext cx="3960000" cy="0"/>
          </a:xfrm>
          <a:prstGeom prst="straightConnector1">
            <a:avLst/>
          </a:prstGeom>
          <a:noFill/>
          <a:ln cap="flat" cmpd="sng" w="28575">
            <a:solidFill>
              <a:srgbClr val="99A9B9"/>
            </a:solidFill>
            <a:prstDash val="solid"/>
            <a:round/>
            <a:headEnd len="sm" w="sm" type="oval"/>
            <a:tailEnd len="sm" w="sm" type="oval"/>
          </a:ln>
        </p:spPr>
      </p:cxnSp>
      <p:grpSp>
        <p:nvGrpSpPr>
          <p:cNvPr id="1563" name="Google Shape;1563;p22"/>
          <p:cNvGrpSpPr/>
          <p:nvPr/>
        </p:nvGrpSpPr>
        <p:grpSpPr>
          <a:xfrm>
            <a:off x="2197168" y="2796022"/>
            <a:ext cx="1094323" cy="864000"/>
            <a:chOff x="1891714" y="5123254"/>
            <a:chExt cx="1240993" cy="979800"/>
          </a:xfrm>
        </p:grpSpPr>
        <p:grpSp>
          <p:nvGrpSpPr>
            <p:cNvPr id="1564" name="Google Shape;1564;p22"/>
            <p:cNvGrpSpPr/>
            <p:nvPr/>
          </p:nvGrpSpPr>
          <p:grpSpPr>
            <a:xfrm>
              <a:off x="1967354" y="5123254"/>
              <a:ext cx="178337" cy="979800"/>
              <a:chOff x="1805816" y="3020739"/>
              <a:chExt cx="178337" cy="829205"/>
            </a:xfrm>
          </p:grpSpPr>
          <p:cxnSp>
            <p:nvCxnSpPr>
              <p:cNvPr id="1565" name="Google Shape;1565;p22"/>
              <p:cNvCxnSpPr/>
              <p:nvPr/>
            </p:nvCxnSpPr>
            <p:spPr>
              <a:xfrm>
                <a:off x="1805816" y="3020739"/>
                <a:ext cx="0" cy="829205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A9B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66" name="Google Shape;1566;p22"/>
              <p:cNvCxnSpPr/>
              <p:nvPr/>
            </p:nvCxnSpPr>
            <p:spPr>
              <a:xfrm>
                <a:off x="1984153" y="3020739"/>
                <a:ext cx="0" cy="829205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A9B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567" name="Google Shape;1567;p22"/>
            <p:cNvGrpSpPr/>
            <p:nvPr/>
          </p:nvGrpSpPr>
          <p:grpSpPr>
            <a:xfrm>
              <a:off x="1891714" y="5301891"/>
              <a:ext cx="326088" cy="279703"/>
              <a:chOff x="987765" y="3531784"/>
              <a:chExt cx="406694" cy="348844"/>
            </a:xfrm>
          </p:grpSpPr>
          <p:pic>
            <p:nvPicPr>
              <p:cNvPr id="1568" name="Google Shape;1568;p2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987765" y="3531791"/>
                <a:ext cx="184987" cy="34883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69" name="Google Shape;1569;p2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209469" y="3531784"/>
                <a:ext cx="184990" cy="34883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570" name="Google Shape;1570;p22"/>
            <p:cNvSpPr/>
            <p:nvPr/>
          </p:nvSpPr>
          <p:spPr>
            <a:xfrm>
              <a:off x="2241107" y="5195060"/>
              <a:ext cx="891600" cy="41577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94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내부 통합 발행물 WEB #1, #2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94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8core/64GB</a:t>
              </a:r>
              <a:endParaRPr/>
            </a:p>
          </p:txBody>
        </p:sp>
      </p:grpSp>
      <p:sp>
        <p:nvSpPr>
          <p:cNvPr id="1571" name="Google Shape;1571;p22"/>
          <p:cNvSpPr/>
          <p:nvPr/>
        </p:nvSpPr>
        <p:spPr>
          <a:xfrm>
            <a:off x="1125416" y="2378489"/>
            <a:ext cx="2713556" cy="238849"/>
          </a:xfrm>
          <a:prstGeom prst="snip2SameRect">
            <a:avLst>
              <a:gd fmla="val 34085" name="adj1"/>
              <a:gd fmla="val 0" name="adj2"/>
            </a:avLst>
          </a:prstGeom>
          <a:solidFill>
            <a:srgbClr val="BFC9D3"/>
          </a:solidFill>
          <a:ln>
            <a:noFill/>
          </a:ln>
          <a:effectLst>
            <a:outerShdw rotWithShape="0" algn="tl" dir="16200000" dist="25400">
              <a:srgbClr val="99A9B9"/>
            </a:outerShdw>
          </a:effectLst>
        </p:spPr>
        <p:txBody>
          <a:bodyPr anchorCtr="0" anchor="ctr" bIns="3600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어두운 상향 대각선" id="1572" name="Google Shape;1572;p22"/>
          <p:cNvSpPr/>
          <p:nvPr/>
        </p:nvSpPr>
        <p:spPr>
          <a:xfrm>
            <a:off x="2120925" y="2436358"/>
            <a:ext cx="773673" cy="123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내부 통합 발행물</a:t>
            </a:r>
            <a:endParaRPr sz="100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3" name="Google Shape;1573;p22"/>
          <p:cNvCxnSpPr/>
          <p:nvPr/>
        </p:nvCxnSpPr>
        <p:spPr>
          <a:xfrm>
            <a:off x="389912" y="3669246"/>
            <a:ext cx="3960000" cy="0"/>
          </a:xfrm>
          <a:prstGeom prst="straightConnector1">
            <a:avLst/>
          </a:prstGeom>
          <a:noFill/>
          <a:ln cap="flat" cmpd="sng" w="28575">
            <a:solidFill>
              <a:srgbClr val="99A9B9"/>
            </a:solidFill>
            <a:prstDash val="solid"/>
            <a:round/>
            <a:headEnd len="sm" w="sm" type="oval"/>
            <a:tailEnd len="sm" w="sm" type="oval"/>
          </a:ln>
        </p:spPr>
      </p:cxnSp>
      <p:sp>
        <p:nvSpPr>
          <p:cNvPr id="1574" name="Google Shape;1574;p22"/>
          <p:cNvSpPr/>
          <p:nvPr/>
        </p:nvSpPr>
        <p:spPr>
          <a:xfrm rot="6335274">
            <a:off x="680190" y="3939902"/>
            <a:ext cx="1005021" cy="1548978"/>
          </a:xfrm>
          <a:custGeom>
            <a:rect b="b" l="l" r="r" t="t"/>
            <a:pathLst>
              <a:path extrusionOk="0" h="1599825" w="3351857">
                <a:moveTo>
                  <a:pt x="12021" y="1163909"/>
                </a:moveTo>
                <a:lnTo>
                  <a:pt x="1024963" y="0"/>
                </a:lnTo>
                <a:cubicBezTo>
                  <a:pt x="1028152" y="440707"/>
                  <a:pt x="1021843" y="879752"/>
                  <a:pt x="1025032" y="1320459"/>
                </a:cubicBezTo>
                <a:lnTo>
                  <a:pt x="3351857" y="1315954"/>
                </a:lnTo>
                <a:lnTo>
                  <a:pt x="0" y="1599825"/>
                </a:lnTo>
                <a:cubicBezTo>
                  <a:pt x="840" y="1429889"/>
                  <a:pt x="11181" y="1333845"/>
                  <a:pt x="12021" y="1163909"/>
                </a:cubicBezTo>
                <a:close/>
              </a:path>
            </a:pathLst>
          </a:custGeom>
          <a:gradFill>
            <a:gsLst>
              <a:gs pos="0">
                <a:srgbClr val="C9157C">
                  <a:alpha val="0"/>
                </a:srgbClr>
              </a:gs>
              <a:gs pos="40000">
                <a:srgbClr val="C9157C">
                  <a:alpha val="0"/>
                </a:srgbClr>
              </a:gs>
              <a:gs pos="100000">
                <a:srgbClr val="C9157C">
                  <a:alpha val="50196"/>
                </a:srgbClr>
              </a:gs>
            </a:gsLst>
            <a:lin ang="75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grpSp>
        <p:nvGrpSpPr>
          <p:cNvPr id="1575" name="Google Shape;1575;p22"/>
          <p:cNvGrpSpPr/>
          <p:nvPr/>
        </p:nvGrpSpPr>
        <p:grpSpPr>
          <a:xfrm>
            <a:off x="1978468" y="5057918"/>
            <a:ext cx="531456" cy="331224"/>
            <a:chOff x="2004583" y="4825007"/>
            <a:chExt cx="531456" cy="308911"/>
          </a:xfrm>
        </p:grpSpPr>
        <p:pic>
          <p:nvPicPr>
            <p:cNvPr id="1576" name="Google Shape;1576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004584" y="4825007"/>
              <a:ext cx="531455" cy="3089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7" name="Google Shape;1577;p22"/>
            <p:cNvSpPr txBox="1"/>
            <p:nvPr/>
          </p:nvSpPr>
          <p:spPr>
            <a:xfrm>
              <a:off x="2004583" y="4888604"/>
              <a:ext cx="496454" cy="229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OZ PDF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NAS</a:t>
              </a:r>
              <a:endParaRPr/>
            </a:p>
          </p:txBody>
        </p:sp>
      </p:grpSp>
      <p:sp>
        <p:nvSpPr>
          <p:cNvPr id="1578" name="Google Shape;1578;p22"/>
          <p:cNvSpPr/>
          <p:nvPr/>
        </p:nvSpPr>
        <p:spPr>
          <a:xfrm>
            <a:off x="559536" y="5818747"/>
            <a:ext cx="723031" cy="574943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AFD1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79" name="Google Shape;1579;p22"/>
          <p:cNvGrpSpPr/>
          <p:nvPr/>
        </p:nvGrpSpPr>
        <p:grpSpPr>
          <a:xfrm>
            <a:off x="578652" y="3662635"/>
            <a:ext cx="1865190" cy="619245"/>
            <a:chOff x="5660335" y="5112702"/>
            <a:chExt cx="2115178" cy="702241"/>
          </a:xfrm>
        </p:grpSpPr>
        <p:grpSp>
          <p:nvGrpSpPr>
            <p:cNvPr id="1580" name="Google Shape;1580;p22"/>
            <p:cNvGrpSpPr/>
            <p:nvPr/>
          </p:nvGrpSpPr>
          <p:grpSpPr>
            <a:xfrm>
              <a:off x="5768873" y="5112749"/>
              <a:ext cx="243149" cy="702194"/>
              <a:chOff x="1773410" y="3020734"/>
              <a:chExt cx="243149" cy="594260"/>
            </a:xfrm>
          </p:grpSpPr>
          <p:cxnSp>
            <p:nvCxnSpPr>
              <p:cNvPr id="1581" name="Google Shape;1581;p22"/>
              <p:cNvCxnSpPr/>
              <p:nvPr/>
            </p:nvCxnSpPr>
            <p:spPr>
              <a:xfrm>
                <a:off x="1773410" y="3020738"/>
                <a:ext cx="0" cy="594256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A9B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82" name="Google Shape;1582;p22"/>
              <p:cNvCxnSpPr/>
              <p:nvPr/>
            </p:nvCxnSpPr>
            <p:spPr>
              <a:xfrm>
                <a:off x="2016559" y="3020734"/>
                <a:ext cx="0" cy="594256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A9B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583" name="Google Shape;1583;p22"/>
            <p:cNvGrpSpPr/>
            <p:nvPr/>
          </p:nvGrpSpPr>
          <p:grpSpPr>
            <a:xfrm>
              <a:off x="6240439" y="5112702"/>
              <a:ext cx="243149" cy="702194"/>
              <a:chOff x="1773410" y="3020736"/>
              <a:chExt cx="243149" cy="594268"/>
            </a:xfrm>
          </p:grpSpPr>
          <p:cxnSp>
            <p:nvCxnSpPr>
              <p:cNvPr id="1584" name="Google Shape;1584;p22"/>
              <p:cNvCxnSpPr/>
              <p:nvPr/>
            </p:nvCxnSpPr>
            <p:spPr>
              <a:xfrm>
                <a:off x="1773410" y="3020739"/>
                <a:ext cx="0" cy="594265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A9B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85" name="Google Shape;1585;p22"/>
              <p:cNvCxnSpPr/>
              <p:nvPr/>
            </p:nvCxnSpPr>
            <p:spPr>
              <a:xfrm>
                <a:off x="2016559" y="3020736"/>
                <a:ext cx="0" cy="594265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A9B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586" name="Google Shape;1586;p22"/>
            <p:cNvGrpSpPr/>
            <p:nvPr/>
          </p:nvGrpSpPr>
          <p:grpSpPr>
            <a:xfrm>
              <a:off x="5660335" y="5263252"/>
              <a:ext cx="945201" cy="408593"/>
              <a:chOff x="1080593" y="4604099"/>
              <a:chExt cx="1178846" cy="509591"/>
            </a:xfrm>
          </p:grpSpPr>
          <p:grpSp>
            <p:nvGrpSpPr>
              <p:cNvPr id="1587" name="Google Shape;1587;p22"/>
              <p:cNvGrpSpPr/>
              <p:nvPr/>
            </p:nvGrpSpPr>
            <p:grpSpPr>
              <a:xfrm>
                <a:off x="1080593" y="4604099"/>
                <a:ext cx="572762" cy="509581"/>
                <a:chOff x="906933" y="3384617"/>
                <a:chExt cx="572762" cy="509581"/>
              </a:xfrm>
            </p:grpSpPr>
            <p:pic>
              <p:nvPicPr>
                <p:cNvPr id="1588" name="Google Shape;1588;p22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906933" y="3384617"/>
                  <a:ext cx="270226" cy="50957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589" name="Google Shape;1589;p22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1209469" y="3384623"/>
                  <a:ext cx="270226" cy="5095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590" name="Google Shape;1590;p22"/>
              <p:cNvGrpSpPr/>
              <p:nvPr/>
            </p:nvGrpSpPr>
            <p:grpSpPr>
              <a:xfrm>
                <a:off x="1686677" y="4604114"/>
                <a:ext cx="572762" cy="509576"/>
                <a:chOff x="906933" y="3384632"/>
                <a:chExt cx="572762" cy="509576"/>
              </a:xfrm>
            </p:grpSpPr>
            <p:pic>
              <p:nvPicPr>
                <p:cNvPr id="1591" name="Google Shape;1591;p22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906933" y="3384639"/>
                  <a:ext cx="270226" cy="50956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592" name="Google Shape;1592;p22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1209469" y="3384632"/>
                  <a:ext cx="270226" cy="50957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sp>
          <p:nvSpPr>
            <p:cNvPr id="1593" name="Google Shape;1593;p22"/>
            <p:cNvSpPr/>
            <p:nvPr/>
          </p:nvSpPr>
          <p:spPr>
            <a:xfrm>
              <a:off x="6724903" y="5270676"/>
              <a:ext cx="1050610" cy="41577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94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내부 통합 발행물WAS #1 ~ #4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94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8core/128GB</a:t>
              </a:r>
              <a:endParaRPr/>
            </a:p>
          </p:txBody>
        </p:sp>
      </p:grpSp>
      <p:sp>
        <p:nvSpPr>
          <p:cNvPr id="1594" name="Google Shape;1594;p22"/>
          <p:cNvSpPr/>
          <p:nvPr/>
        </p:nvSpPr>
        <p:spPr>
          <a:xfrm>
            <a:off x="570562" y="3810445"/>
            <a:ext cx="216000" cy="336080"/>
          </a:xfrm>
          <a:prstGeom prst="rect">
            <a:avLst/>
          </a:prstGeom>
          <a:noFill/>
          <a:ln cap="flat" cmpd="sng" w="19050">
            <a:solidFill>
              <a:srgbClr val="C813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87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95" name="Google Shape;1595;p22"/>
          <p:cNvGrpSpPr/>
          <p:nvPr/>
        </p:nvGrpSpPr>
        <p:grpSpPr>
          <a:xfrm>
            <a:off x="2693412" y="4285359"/>
            <a:ext cx="1209796" cy="1226701"/>
            <a:chOff x="957913" y="5153025"/>
            <a:chExt cx="1209796" cy="1226701"/>
          </a:xfrm>
        </p:grpSpPr>
        <p:sp>
          <p:nvSpPr>
            <p:cNvPr id="1596" name="Google Shape;1596;p22"/>
            <p:cNvSpPr/>
            <p:nvPr/>
          </p:nvSpPr>
          <p:spPr>
            <a:xfrm>
              <a:off x="957913" y="5153025"/>
              <a:ext cx="1209796" cy="1226701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AFD1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7" name="Google Shape;1597;p22"/>
            <p:cNvSpPr/>
            <p:nvPr/>
          </p:nvSpPr>
          <p:spPr>
            <a:xfrm>
              <a:off x="996092" y="5468651"/>
              <a:ext cx="1142881" cy="200242"/>
            </a:xfrm>
            <a:prstGeom prst="snip2SameRect">
              <a:avLst>
                <a:gd fmla="val 0" name="adj1"/>
                <a:gd fmla="val 0" name="adj2"/>
              </a:avLst>
            </a:prstGeom>
            <a:solidFill>
              <a:srgbClr val="BFC9D3"/>
            </a:solidFill>
            <a:ln>
              <a:noFill/>
            </a:ln>
            <a:effectLst>
              <a:outerShdw rotWithShape="0" algn="tl" dir="16200000" dist="12700">
                <a:srgbClr val="99A9B9"/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이미지화일변환</a:t>
              </a:r>
              <a:endParaRPr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8" name="Google Shape;1598;p22"/>
            <p:cNvSpPr/>
            <p:nvPr/>
          </p:nvSpPr>
          <p:spPr>
            <a:xfrm>
              <a:off x="996092" y="5229845"/>
              <a:ext cx="1142881" cy="200242"/>
            </a:xfrm>
            <a:prstGeom prst="snip2SameRect">
              <a:avLst>
                <a:gd fmla="val 0" name="adj1"/>
                <a:gd fmla="val 0" name="adj2"/>
              </a:avLst>
            </a:prstGeom>
            <a:solidFill>
              <a:srgbClr val="BFC9D3"/>
            </a:solidFill>
            <a:ln>
              <a:noFill/>
            </a:ln>
            <a:effectLst>
              <a:outerShdw rotWithShape="0" algn="tl" dir="16200000" dist="12700">
                <a:srgbClr val="99A9B9"/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썸네일생성</a:t>
              </a:r>
              <a:endParaRPr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9" name="Google Shape;1599;p22"/>
            <p:cNvSpPr/>
            <p:nvPr/>
          </p:nvSpPr>
          <p:spPr>
            <a:xfrm>
              <a:off x="996092" y="5706207"/>
              <a:ext cx="1142881" cy="200242"/>
            </a:xfrm>
            <a:prstGeom prst="snip2SameRect">
              <a:avLst>
                <a:gd fmla="val 0" name="adj1"/>
                <a:gd fmla="val 0" name="adj2"/>
              </a:avLst>
            </a:prstGeom>
            <a:solidFill>
              <a:srgbClr val="BFC9D3"/>
            </a:solidFill>
            <a:ln>
              <a:noFill/>
            </a:ln>
            <a:effectLst>
              <a:outerShdw rotWithShape="0" algn="tl" dir="16200000" dist="12700">
                <a:srgbClr val="99A9B9"/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비동기</a:t>
              </a:r>
              <a:endParaRPr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00" name="Google Shape;1600;p22"/>
          <p:cNvGrpSpPr/>
          <p:nvPr/>
        </p:nvGrpSpPr>
        <p:grpSpPr>
          <a:xfrm>
            <a:off x="2210931" y="2657656"/>
            <a:ext cx="404408" cy="249569"/>
            <a:chOff x="4739327" y="2449180"/>
            <a:chExt cx="404408" cy="249569"/>
          </a:xfrm>
        </p:grpSpPr>
        <p:pic>
          <p:nvPicPr>
            <p:cNvPr id="1601" name="Google Shape;1601;p2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739327" y="2449180"/>
              <a:ext cx="213672" cy="24956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2" name="Google Shape;1602;p22"/>
            <p:cNvSpPr txBox="1"/>
            <p:nvPr/>
          </p:nvSpPr>
          <p:spPr>
            <a:xfrm>
              <a:off x="4994655" y="2482525"/>
              <a:ext cx="149080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L4</a:t>
              </a:r>
              <a:endParaRPr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03" name="Google Shape;1603;p22"/>
          <p:cNvGrpSpPr/>
          <p:nvPr/>
        </p:nvGrpSpPr>
        <p:grpSpPr>
          <a:xfrm>
            <a:off x="2231366" y="3324370"/>
            <a:ext cx="404408" cy="249569"/>
            <a:chOff x="4739327" y="2449180"/>
            <a:chExt cx="404408" cy="249569"/>
          </a:xfrm>
        </p:grpSpPr>
        <p:pic>
          <p:nvPicPr>
            <p:cNvPr id="1604" name="Google Shape;1604;p2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739327" y="2449180"/>
              <a:ext cx="213672" cy="24956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5" name="Google Shape;1605;p22"/>
            <p:cNvSpPr txBox="1"/>
            <p:nvPr/>
          </p:nvSpPr>
          <p:spPr>
            <a:xfrm>
              <a:off x="4994655" y="2482525"/>
              <a:ext cx="149080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L4</a:t>
              </a:r>
              <a:endParaRPr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06" name="Google Shape;1606;p22"/>
          <p:cNvSpPr/>
          <p:nvPr/>
        </p:nvSpPr>
        <p:spPr>
          <a:xfrm>
            <a:off x="630502" y="5949172"/>
            <a:ext cx="558407" cy="316814"/>
          </a:xfrm>
          <a:prstGeom prst="snip2SameRect">
            <a:avLst>
              <a:gd fmla="val 0" name="adj1"/>
              <a:gd fmla="val 0" name="adj2"/>
            </a:avLst>
          </a:prstGeom>
          <a:solidFill>
            <a:srgbClr val="BFC9D3"/>
          </a:solidFill>
          <a:ln>
            <a:noFill/>
          </a:ln>
          <a:effectLst>
            <a:outerShdw rotWithShape="0" algn="tl" dir="16200000" dist="12700">
              <a:srgbClr val="99A9B9"/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팩스</a:t>
            </a:r>
            <a:endParaRPr sz="9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07" name="Google Shape;1607;p22"/>
          <p:cNvGrpSpPr/>
          <p:nvPr/>
        </p:nvGrpSpPr>
        <p:grpSpPr>
          <a:xfrm>
            <a:off x="581026" y="4285356"/>
            <a:ext cx="1209796" cy="1224000"/>
            <a:chOff x="581026" y="4285356"/>
            <a:chExt cx="1209796" cy="1224000"/>
          </a:xfrm>
        </p:grpSpPr>
        <p:sp>
          <p:nvSpPr>
            <p:cNvPr id="1608" name="Google Shape;1608;p22"/>
            <p:cNvSpPr/>
            <p:nvPr/>
          </p:nvSpPr>
          <p:spPr>
            <a:xfrm>
              <a:off x="581026" y="4285356"/>
              <a:ext cx="1209796" cy="12240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AFD1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9" name="Google Shape;1609;p22"/>
            <p:cNvSpPr/>
            <p:nvPr/>
          </p:nvSpPr>
          <p:spPr>
            <a:xfrm>
              <a:off x="609167" y="4574149"/>
              <a:ext cx="1142881" cy="200242"/>
            </a:xfrm>
            <a:prstGeom prst="snip2SameRect">
              <a:avLst>
                <a:gd fmla="val 0" name="adj1"/>
                <a:gd fmla="val 0" name="adj2"/>
              </a:avLst>
            </a:prstGeom>
            <a:solidFill>
              <a:srgbClr val="BFC9D3"/>
            </a:solidFill>
            <a:ln>
              <a:noFill/>
            </a:ln>
            <a:effectLst>
              <a:outerShdw rotWithShape="0" algn="tl" dir="16200000" dist="12700">
                <a:srgbClr val="99A9B9"/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오즈스케쥴러</a:t>
              </a:r>
              <a:endParaRPr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0" name="Google Shape;1610;p22"/>
            <p:cNvSpPr/>
            <p:nvPr/>
          </p:nvSpPr>
          <p:spPr>
            <a:xfrm>
              <a:off x="609167" y="4344595"/>
              <a:ext cx="1142881" cy="200242"/>
            </a:xfrm>
            <a:prstGeom prst="snip2SameRect">
              <a:avLst>
                <a:gd fmla="val 0" name="adj1"/>
                <a:gd fmla="val 0" name="adj2"/>
              </a:avLst>
            </a:prstGeom>
            <a:solidFill>
              <a:srgbClr val="BFC9D3"/>
            </a:solidFill>
            <a:ln>
              <a:noFill/>
            </a:ln>
            <a:effectLst>
              <a:outerShdw rotWithShape="0" algn="tl" dir="16200000" dist="12700">
                <a:srgbClr val="99A9B9"/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OZ eForm Server</a:t>
              </a:r>
              <a:endParaRPr/>
            </a:p>
          </p:txBody>
        </p:sp>
        <p:sp>
          <p:nvSpPr>
            <p:cNvPr id="1611" name="Google Shape;1611;p22"/>
            <p:cNvSpPr/>
            <p:nvPr/>
          </p:nvSpPr>
          <p:spPr>
            <a:xfrm>
              <a:off x="609167" y="5262812"/>
              <a:ext cx="1142881" cy="200242"/>
            </a:xfrm>
            <a:prstGeom prst="snip2SameRect">
              <a:avLst>
                <a:gd fmla="val 0" name="adj1"/>
                <a:gd fmla="val 0" name="adj2"/>
              </a:avLst>
            </a:prstGeom>
            <a:solidFill>
              <a:srgbClr val="BFC9D3"/>
            </a:solidFill>
            <a:ln>
              <a:noFill/>
            </a:ln>
            <a:effectLst>
              <a:outerShdw rotWithShape="0" algn="tl" dir="16200000" dist="12700">
                <a:srgbClr val="99A9B9"/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후처리</a:t>
              </a:r>
              <a:endParaRPr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2" name="Google Shape;1612;p22"/>
            <p:cNvSpPr/>
            <p:nvPr/>
          </p:nvSpPr>
          <p:spPr>
            <a:xfrm>
              <a:off x="609167" y="4803703"/>
              <a:ext cx="1142881" cy="200242"/>
            </a:xfrm>
            <a:prstGeom prst="snip2SameRect">
              <a:avLst>
                <a:gd fmla="val 0" name="adj1"/>
                <a:gd fmla="val 0" name="adj2"/>
              </a:avLst>
            </a:prstGeom>
            <a:solidFill>
              <a:srgbClr val="BFC9D3"/>
            </a:solidFill>
            <a:ln>
              <a:noFill/>
            </a:ln>
            <a:effectLst>
              <a:outerShdw rotWithShape="0" algn="tl" dir="16200000" dist="12700">
                <a:srgbClr val="99A9B9"/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마크애니</a:t>
              </a:r>
              <a:endParaRPr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3" name="Google Shape;1613;p22"/>
            <p:cNvSpPr/>
            <p:nvPr/>
          </p:nvSpPr>
          <p:spPr>
            <a:xfrm>
              <a:off x="609167" y="5033257"/>
              <a:ext cx="1142881" cy="200242"/>
            </a:xfrm>
            <a:prstGeom prst="snip2SameRect">
              <a:avLst>
                <a:gd fmla="val 0" name="adj1"/>
                <a:gd fmla="val 0" name="adj2"/>
              </a:avLst>
            </a:prstGeom>
            <a:solidFill>
              <a:srgbClr val="BFC9D3"/>
            </a:solidFill>
            <a:ln>
              <a:noFill/>
            </a:ln>
            <a:effectLst>
              <a:outerShdw rotWithShape="0" algn="tl" dir="16200000" dist="12700">
                <a:srgbClr val="99A9B9"/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원격지발행</a:t>
              </a:r>
              <a:endParaRPr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14" name="Google Shape;161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4411" y="5724062"/>
            <a:ext cx="131235" cy="247473"/>
          </a:xfrm>
          <a:prstGeom prst="rect">
            <a:avLst/>
          </a:prstGeom>
          <a:noFill/>
          <a:ln>
            <a:noFill/>
          </a:ln>
        </p:spPr>
      </p:pic>
      <p:sp>
        <p:nvSpPr>
          <p:cNvPr id="1615" name="Google Shape;1615;p22"/>
          <p:cNvSpPr/>
          <p:nvPr/>
        </p:nvSpPr>
        <p:spPr>
          <a:xfrm>
            <a:off x="1389100" y="5818747"/>
            <a:ext cx="723031" cy="574943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AFD1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6" name="Google Shape;1616;p22"/>
          <p:cNvSpPr/>
          <p:nvPr/>
        </p:nvSpPr>
        <p:spPr>
          <a:xfrm>
            <a:off x="1460066" y="5949172"/>
            <a:ext cx="558407" cy="316814"/>
          </a:xfrm>
          <a:prstGeom prst="snip2SameRect">
            <a:avLst>
              <a:gd fmla="val 0" name="adj1"/>
              <a:gd fmla="val 0" name="adj2"/>
            </a:avLst>
          </a:prstGeom>
          <a:solidFill>
            <a:srgbClr val="BFC9D3"/>
          </a:solidFill>
          <a:ln>
            <a:noFill/>
          </a:ln>
          <a:effectLst>
            <a:outerShdw rotWithShape="0" algn="tl" dir="16200000" dist="12700">
              <a:srgbClr val="99A9B9"/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이미지변환</a:t>
            </a:r>
            <a:endParaRPr sz="9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7" name="Google Shape;161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7817" y="5734647"/>
            <a:ext cx="131235" cy="247473"/>
          </a:xfrm>
          <a:prstGeom prst="rect">
            <a:avLst/>
          </a:prstGeom>
          <a:noFill/>
          <a:ln>
            <a:noFill/>
          </a:ln>
        </p:spPr>
      </p:pic>
      <p:sp>
        <p:nvSpPr>
          <p:cNvPr id="1618" name="Google Shape;1618;p22"/>
          <p:cNvSpPr/>
          <p:nvPr/>
        </p:nvSpPr>
        <p:spPr>
          <a:xfrm>
            <a:off x="6039191" y="2378489"/>
            <a:ext cx="2713556" cy="238849"/>
          </a:xfrm>
          <a:prstGeom prst="snip2SameRect">
            <a:avLst>
              <a:gd fmla="val 34085" name="adj1"/>
              <a:gd fmla="val 0" name="adj2"/>
            </a:avLst>
          </a:prstGeom>
          <a:solidFill>
            <a:srgbClr val="BFC9D3"/>
          </a:solidFill>
          <a:ln>
            <a:noFill/>
          </a:ln>
          <a:effectLst>
            <a:outerShdw rotWithShape="0" algn="tl" dir="16200000" dist="25400">
              <a:srgbClr val="99A9B9"/>
            </a:outerShdw>
          </a:effectLst>
        </p:spPr>
        <p:txBody>
          <a:bodyPr anchorCtr="0" anchor="ctr" bIns="3600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어두운 상향 대각선" id="1619" name="Google Shape;1619;p22"/>
          <p:cNvSpPr/>
          <p:nvPr/>
        </p:nvSpPr>
        <p:spPr>
          <a:xfrm>
            <a:off x="7001136" y="2436358"/>
            <a:ext cx="840807" cy="123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외부 통합 발행물 </a:t>
            </a:r>
            <a:endParaRPr/>
          </a:p>
        </p:txBody>
      </p:sp>
      <p:grpSp>
        <p:nvGrpSpPr>
          <p:cNvPr id="1620" name="Google Shape;1620;p22"/>
          <p:cNvGrpSpPr/>
          <p:nvPr/>
        </p:nvGrpSpPr>
        <p:grpSpPr>
          <a:xfrm>
            <a:off x="7761337" y="3642423"/>
            <a:ext cx="2078408" cy="619293"/>
            <a:chOff x="5660335" y="5119856"/>
            <a:chExt cx="2356972" cy="702290"/>
          </a:xfrm>
        </p:grpSpPr>
        <p:grpSp>
          <p:nvGrpSpPr>
            <p:cNvPr id="1621" name="Google Shape;1621;p22"/>
            <p:cNvGrpSpPr/>
            <p:nvPr/>
          </p:nvGrpSpPr>
          <p:grpSpPr>
            <a:xfrm>
              <a:off x="5768873" y="5119942"/>
              <a:ext cx="243149" cy="702204"/>
              <a:chOff x="1773410" y="3026819"/>
              <a:chExt cx="243149" cy="594268"/>
            </a:xfrm>
          </p:grpSpPr>
          <p:cxnSp>
            <p:nvCxnSpPr>
              <p:cNvPr id="1622" name="Google Shape;1622;p22"/>
              <p:cNvCxnSpPr/>
              <p:nvPr/>
            </p:nvCxnSpPr>
            <p:spPr>
              <a:xfrm>
                <a:off x="1773410" y="3026831"/>
                <a:ext cx="0" cy="594256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A9B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23" name="Google Shape;1623;p22"/>
              <p:cNvCxnSpPr/>
              <p:nvPr/>
            </p:nvCxnSpPr>
            <p:spPr>
              <a:xfrm>
                <a:off x="2016559" y="3026819"/>
                <a:ext cx="0" cy="594256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A9B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624" name="Google Shape;1624;p22"/>
            <p:cNvGrpSpPr/>
            <p:nvPr/>
          </p:nvGrpSpPr>
          <p:grpSpPr>
            <a:xfrm>
              <a:off x="6240439" y="5119856"/>
              <a:ext cx="243149" cy="702192"/>
              <a:chOff x="1773410" y="3026791"/>
              <a:chExt cx="243149" cy="594267"/>
            </a:xfrm>
          </p:grpSpPr>
          <p:cxnSp>
            <p:nvCxnSpPr>
              <p:cNvPr id="1625" name="Google Shape;1625;p22"/>
              <p:cNvCxnSpPr/>
              <p:nvPr/>
            </p:nvCxnSpPr>
            <p:spPr>
              <a:xfrm>
                <a:off x="1773410" y="3026793"/>
                <a:ext cx="0" cy="594265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A9B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26" name="Google Shape;1626;p22"/>
              <p:cNvCxnSpPr/>
              <p:nvPr/>
            </p:nvCxnSpPr>
            <p:spPr>
              <a:xfrm>
                <a:off x="2016559" y="3026791"/>
                <a:ext cx="0" cy="594265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A9B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627" name="Google Shape;1627;p22"/>
            <p:cNvGrpSpPr/>
            <p:nvPr/>
          </p:nvGrpSpPr>
          <p:grpSpPr>
            <a:xfrm>
              <a:off x="6745200" y="5119871"/>
              <a:ext cx="243149" cy="702194"/>
              <a:chOff x="1773410" y="3026792"/>
              <a:chExt cx="243149" cy="594266"/>
            </a:xfrm>
          </p:grpSpPr>
          <p:cxnSp>
            <p:nvCxnSpPr>
              <p:cNvPr id="1628" name="Google Shape;1628;p22"/>
              <p:cNvCxnSpPr/>
              <p:nvPr/>
            </p:nvCxnSpPr>
            <p:spPr>
              <a:xfrm>
                <a:off x="1773410" y="3026792"/>
                <a:ext cx="0" cy="594261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A9B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29" name="Google Shape;1629;p22"/>
              <p:cNvCxnSpPr/>
              <p:nvPr/>
            </p:nvCxnSpPr>
            <p:spPr>
              <a:xfrm>
                <a:off x="2016559" y="3026796"/>
                <a:ext cx="0" cy="594262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A9B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630" name="Google Shape;1630;p22"/>
            <p:cNvGrpSpPr/>
            <p:nvPr/>
          </p:nvGrpSpPr>
          <p:grpSpPr>
            <a:xfrm>
              <a:off x="5660335" y="5263252"/>
              <a:ext cx="1431161" cy="408593"/>
              <a:chOff x="1080593" y="4604099"/>
              <a:chExt cx="1784930" cy="509591"/>
            </a:xfrm>
          </p:grpSpPr>
          <p:grpSp>
            <p:nvGrpSpPr>
              <p:cNvPr id="1631" name="Google Shape;1631;p22"/>
              <p:cNvGrpSpPr/>
              <p:nvPr/>
            </p:nvGrpSpPr>
            <p:grpSpPr>
              <a:xfrm>
                <a:off x="1080593" y="4604099"/>
                <a:ext cx="572762" cy="509581"/>
                <a:chOff x="906933" y="3384617"/>
                <a:chExt cx="572762" cy="509581"/>
              </a:xfrm>
            </p:grpSpPr>
            <p:pic>
              <p:nvPicPr>
                <p:cNvPr id="1632" name="Google Shape;1632;p22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906933" y="3384617"/>
                  <a:ext cx="270226" cy="50957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633" name="Google Shape;1633;p22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1209469" y="3384623"/>
                  <a:ext cx="270226" cy="5095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634" name="Google Shape;1634;p22"/>
              <p:cNvGrpSpPr/>
              <p:nvPr/>
            </p:nvGrpSpPr>
            <p:grpSpPr>
              <a:xfrm>
                <a:off x="1686677" y="4604114"/>
                <a:ext cx="572762" cy="509576"/>
                <a:chOff x="906933" y="3384632"/>
                <a:chExt cx="572762" cy="509576"/>
              </a:xfrm>
            </p:grpSpPr>
            <p:pic>
              <p:nvPicPr>
                <p:cNvPr id="1635" name="Google Shape;1635;p22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906933" y="3384639"/>
                  <a:ext cx="270226" cy="50956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636" name="Google Shape;1636;p22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1209469" y="3384632"/>
                  <a:ext cx="270226" cy="50957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637" name="Google Shape;1637;p22"/>
              <p:cNvGrpSpPr/>
              <p:nvPr/>
            </p:nvGrpSpPr>
            <p:grpSpPr>
              <a:xfrm>
                <a:off x="2292761" y="4604112"/>
                <a:ext cx="572762" cy="509576"/>
                <a:chOff x="906933" y="3384630"/>
                <a:chExt cx="572762" cy="509576"/>
              </a:xfrm>
            </p:grpSpPr>
            <p:pic>
              <p:nvPicPr>
                <p:cNvPr id="1638" name="Google Shape;1638;p22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906933" y="3384631"/>
                  <a:ext cx="270226" cy="5095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639" name="Google Shape;1639;p22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1209469" y="3384630"/>
                  <a:ext cx="270226" cy="50956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sp>
          <p:nvSpPr>
            <p:cNvPr id="1640" name="Google Shape;1640;p22"/>
            <p:cNvSpPr/>
            <p:nvPr/>
          </p:nvSpPr>
          <p:spPr>
            <a:xfrm>
              <a:off x="7125707" y="5386641"/>
              <a:ext cx="891600" cy="41577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94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외부 통합발행물 WAS #1 ~ #6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94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8core/256GB</a:t>
              </a:r>
              <a:endParaRPr/>
            </a:p>
          </p:txBody>
        </p:sp>
      </p:grpSp>
      <p:cxnSp>
        <p:nvCxnSpPr>
          <p:cNvPr id="1641" name="Google Shape;1641;p22"/>
          <p:cNvCxnSpPr/>
          <p:nvPr/>
        </p:nvCxnSpPr>
        <p:spPr>
          <a:xfrm>
            <a:off x="5476167" y="3239554"/>
            <a:ext cx="3960000" cy="0"/>
          </a:xfrm>
          <a:prstGeom prst="straightConnector1">
            <a:avLst/>
          </a:prstGeom>
          <a:noFill/>
          <a:ln cap="flat" cmpd="sng" w="28575">
            <a:solidFill>
              <a:srgbClr val="99A9B9"/>
            </a:solidFill>
            <a:prstDash val="solid"/>
            <a:round/>
            <a:headEnd len="sm" w="sm" type="oval"/>
            <a:tailEnd len="sm" w="sm" type="oval"/>
          </a:ln>
        </p:spPr>
      </p:cxnSp>
      <p:grpSp>
        <p:nvGrpSpPr>
          <p:cNvPr id="1642" name="Google Shape;1642;p22"/>
          <p:cNvGrpSpPr/>
          <p:nvPr/>
        </p:nvGrpSpPr>
        <p:grpSpPr>
          <a:xfrm>
            <a:off x="7283423" y="2778627"/>
            <a:ext cx="1094323" cy="864000"/>
            <a:chOff x="1891714" y="5123254"/>
            <a:chExt cx="1240993" cy="979800"/>
          </a:xfrm>
        </p:grpSpPr>
        <p:grpSp>
          <p:nvGrpSpPr>
            <p:cNvPr id="1643" name="Google Shape;1643;p22"/>
            <p:cNvGrpSpPr/>
            <p:nvPr/>
          </p:nvGrpSpPr>
          <p:grpSpPr>
            <a:xfrm>
              <a:off x="1967354" y="5123254"/>
              <a:ext cx="178337" cy="979800"/>
              <a:chOff x="1805816" y="3020739"/>
              <a:chExt cx="178337" cy="829205"/>
            </a:xfrm>
          </p:grpSpPr>
          <p:cxnSp>
            <p:nvCxnSpPr>
              <p:cNvPr id="1644" name="Google Shape;1644;p22"/>
              <p:cNvCxnSpPr/>
              <p:nvPr/>
            </p:nvCxnSpPr>
            <p:spPr>
              <a:xfrm>
                <a:off x="1805816" y="3020739"/>
                <a:ext cx="0" cy="829205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A9B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45" name="Google Shape;1645;p22"/>
              <p:cNvCxnSpPr/>
              <p:nvPr/>
            </p:nvCxnSpPr>
            <p:spPr>
              <a:xfrm>
                <a:off x="1984153" y="3020739"/>
                <a:ext cx="0" cy="829205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A9B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646" name="Google Shape;1646;p22"/>
            <p:cNvGrpSpPr/>
            <p:nvPr/>
          </p:nvGrpSpPr>
          <p:grpSpPr>
            <a:xfrm>
              <a:off x="1891714" y="5301891"/>
              <a:ext cx="326088" cy="279703"/>
              <a:chOff x="987765" y="3531784"/>
              <a:chExt cx="406694" cy="348844"/>
            </a:xfrm>
          </p:grpSpPr>
          <p:pic>
            <p:nvPicPr>
              <p:cNvPr id="1647" name="Google Shape;1647;p2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987765" y="3531791"/>
                <a:ext cx="184987" cy="34883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48" name="Google Shape;1648;p2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209469" y="3531784"/>
                <a:ext cx="184990" cy="34883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649" name="Google Shape;1649;p22"/>
            <p:cNvSpPr/>
            <p:nvPr/>
          </p:nvSpPr>
          <p:spPr>
            <a:xfrm>
              <a:off x="2241107" y="5195060"/>
              <a:ext cx="891600" cy="41577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94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내부 통합 발행물 WEB #1, #2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94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8core/64GB</a:t>
              </a:r>
              <a:endParaRPr/>
            </a:p>
          </p:txBody>
        </p:sp>
      </p:grpSp>
      <p:cxnSp>
        <p:nvCxnSpPr>
          <p:cNvPr id="1650" name="Google Shape;1650;p22"/>
          <p:cNvCxnSpPr/>
          <p:nvPr/>
        </p:nvCxnSpPr>
        <p:spPr>
          <a:xfrm>
            <a:off x="5476167" y="3651851"/>
            <a:ext cx="3960000" cy="0"/>
          </a:xfrm>
          <a:prstGeom prst="straightConnector1">
            <a:avLst/>
          </a:prstGeom>
          <a:noFill/>
          <a:ln cap="flat" cmpd="sng" w="28575">
            <a:solidFill>
              <a:srgbClr val="99A9B9"/>
            </a:solidFill>
            <a:prstDash val="solid"/>
            <a:round/>
            <a:headEnd len="sm" w="sm" type="oval"/>
            <a:tailEnd len="sm" w="sm" type="oval"/>
          </a:ln>
        </p:spPr>
      </p:cxnSp>
      <p:sp>
        <p:nvSpPr>
          <p:cNvPr id="1651" name="Google Shape;1651;p22"/>
          <p:cNvSpPr/>
          <p:nvPr/>
        </p:nvSpPr>
        <p:spPr>
          <a:xfrm rot="6335274">
            <a:off x="7875234" y="3914589"/>
            <a:ext cx="1005021" cy="1548978"/>
          </a:xfrm>
          <a:custGeom>
            <a:rect b="b" l="l" r="r" t="t"/>
            <a:pathLst>
              <a:path extrusionOk="0" h="1599825" w="3351857">
                <a:moveTo>
                  <a:pt x="12021" y="1163909"/>
                </a:moveTo>
                <a:lnTo>
                  <a:pt x="1024963" y="0"/>
                </a:lnTo>
                <a:cubicBezTo>
                  <a:pt x="1028152" y="440707"/>
                  <a:pt x="1021843" y="879752"/>
                  <a:pt x="1025032" y="1320459"/>
                </a:cubicBezTo>
                <a:lnTo>
                  <a:pt x="3351857" y="1315954"/>
                </a:lnTo>
                <a:lnTo>
                  <a:pt x="0" y="1599825"/>
                </a:lnTo>
                <a:cubicBezTo>
                  <a:pt x="840" y="1429889"/>
                  <a:pt x="11181" y="1333845"/>
                  <a:pt x="12021" y="1163909"/>
                </a:cubicBezTo>
                <a:close/>
              </a:path>
            </a:pathLst>
          </a:custGeom>
          <a:gradFill>
            <a:gsLst>
              <a:gs pos="0">
                <a:srgbClr val="C9157C">
                  <a:alpha val="0"/>
                </a:srgbClr>
              </a:gs>
              <a:gs pos="40000">
                <a:srgbClr val="C9157C">
                  <a:alpha val="0"/>
                </a:srgbClr>
              </a:gs>
              <a:gs pos="100000">
                <a:srgbClr val="C9157C">
                  <a:alpha val="50196"/>
                </a:srgbClr>
              </a:gs>
            </a:gsLst>
            <a:lin ang="75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652" name="Google Shape;1652;p22"/>
          <p:cNvSpPr/>
          <p:nvPr/>
        </p:nvSpPr>
        <p:spPr>
          <a:xfrm>
            <a:off x="5645791" y="5801352"/>
            <a:ext cx="723031" cy="574943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AFD1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53" name="Google Shape;1653;p22"/>
          <p:cNvGrpSpPr/>
          <p:nvPr/>
        </p:nvGrpSpPr>
        <p:grpSpPr>
          <a:xfrm>
            <a:off x="5664907" y="3645240"/>
            <a:ext cx="1865190" cy="619245"/>
            <a:chOff x="5660335" y="5112702"/>
            <a:chExt cx="2115178" cy="702241"/>
          </a:xfrm>
        </p:grpSpPr>
        <p:grpSp>
          <p:nvGrpSpPr>
            <p:cNvPr id="1654" name="Google Shape;1654;p22"/>
            <p:cNvGrpSpPr/>
            <p:nvPr/>
          </p:nvGrpSpPr>
          <p:grpSpPr>
            <a:xfrm>
              <a:off x="5768873" y="5112749"/>
              <a:ext cx="243149" cy="702194"/>
              <a:chOff x="1773410" y="3020734"/>
              <a:chExt cx="243149" cy="594260"/>
            </a:xfrm>
          </p:grpSpPr>
          <p:cxnSp>
            <p:nvCxnSpPr>
              <p:cNvPr id="1655" name="Google Shape;1655;p22"/>
              <p:cNvCxnSpPr/>
              <p:nvPr/>
            </p:nvCxnSpPr>
            <p:spPr>
              <a:xfrm>
                <a:off x="1773410" y="3020738"/>
                <a:ext cx="0" cy="594256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A9B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56" name="Google Shape;1656;p22"/>
              <p:cNvCxnSpPr/>
              <p:nvPr/>
            </p:nvCxnSpPr>
            <p:spPr>
              <a:xfrm>
                <a:off x="2016559" y="3020734"/>
                <a:ext cx="0" cy="594256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A9B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657" name="Google Shape;1657;p22"/>
            <p:cNvGrpSpPr/>
            <p:nvPr/>
          </p:nvGrpSpPr>
          <p:grpSpPr>
            <a:xfrm>
              <a:off x="6240439" y="5112702"/>
              <a:ext cx="243149" cy="702194"/>
              <a:chOff x="1773410" y="3020736"/>
              <a:chExt cx="243149" cy="594268"/>
            </a:xfrm>
          </p:grpSpPr>
          <p:cxnSp>
            <p:nvCxnSpPr>
              <p:cNvPr id="1658" name="Google Shape;1658;p22"/>
              <p:cNvCxnSpPr/>
              <p:nvPr/>
            </p:nvCxnSpPr>
            <p:spPr>
              <a:xfrm>
                <a:off x="1773410" y="3020739"/>
                <a:ext cx="0" cy="594265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A9B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59" name="Google Shape;1659;p22"/>
              <p:cNvCxnSpPr/>
              <p:nvPr/>
            </p:nvCxnSpPr>
            <p:spPr>
              <a:xfrm>
                <a:off x="2016559" y="3020736"/>
                <a:ext cx="0" cy="594265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A9B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660" name="Google Shape;1660;p22"/>
            <p:cNvGrpSpPr/>
            <p:nvPr/>
          </p:nvGrpSpPr>
          <p:grpSpPr>
            <a:xfrm>
              <a:off x="5660335" y="5263252"/>
              <a:ext cx="945201" cy="408593"/>
              <a:chOff x="1080593" y="4604099"/>
              <a:chExt cx="1178846" cy="509591"/>
            </a:xfrm>
          </p:grpSpPr>
          <p:grpSp>
            <p:nvGrpSpPr>
              <p:cNvPr id="1661" name="Google Shape;1661;p22"/>
              <p:cNvGrpSpPr/>
              <p:nvPr/>
            </p:nvGrpSpPr>
            <p:grpSpPr>
              <a:xfrm>
                <a:off x="1080593" y="4604099"/>
                <a:ext cx="572762" cy="509581"/>
                <a:chOff x="906933" y="3384617"/>
                <a:chExt cx="572762" cy="509581"/>
              </a:xfrm>
            </p:grpSpPr>
            <p:pic>
              <p:nvPicPr>
                <p:cNvPr id="1662" name="Google Shape;1662;p22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906933" y="3384617"/>
                  <a:ext cx="270226" cy="50957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663" name="Google Shape;1663;p22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1209469" y="3384623"/>
                  <a:ext cx="270226" cy="5095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664" name="Google Shape;1664;p22"/>
              <p:cNvGrpSpPr/>
              <p:nvPr/>
            </p:nvGrpSpPr>
            <p:grpSpPr>
              <a:xfrm>
                <a:off x="1686677" y="4604114"/>
                <a:ext cx="572762" cy="509576"/>
                <a:chOff x="906933" y="3384632"/>
                <a:chExt cx="572762" cy="509576"/>
              </a:xfrm>
            </p:grpSpPr>
            <p:pic>
              <p:nvPicPr>
                <p:cNvPr id="1665" name="Google Shape;1665;p22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906933" y="3384639"/>
                  <a:ext cx="270226" cy="50956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666" name="Google Shape;1666;p22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1209469" y="3384632"/>
                  <a:ext cx="270226" cy="50957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sp>
          <p:nvSpPr>
            <p:cNvPr id="1667" name="Google Shape;1667;p22"/>
            <p:cNvSpPr/>
            <p:nvPr/>
          </p:nvSpPr>
          <p:spPr>
            <a:xfrm>
              <a:off x="6724903" y="5270675"/>
              <a:ext cx="1050610" cy="27718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94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MDS WAS #1 ~ #4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94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8core/128GB</a:t>
              </a:r>
              <a:endParaRPr/>
            </a:p>
          </p:txBody>
        </p:sp>
      </p:grpSp>
      <p:sp>
        <p:nvSpPr>
          <p:cNvPr id="1668" name="Google Shape;1668;p22"/>
          <p:cNvSpPr/>
          <p:nvPr/>
        </p:nvSpPr>
        <p:spPr>
          <a:xfrm>
            <a:off x="7765606" y="3785132"/>
            <a:ext cx="177790" cy="336080"/>
          </a:xfrm>
          <a:prstGeom prst="rect">
            <a:avLst/>
          </a:prstGeom>
          <a:noFill/>
          <a:ln cap="flat" cmpd="sng" w="19050">
            <a:solidFill>
              <a:srgbClr val="C813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87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9" name="Google Shape;1669;p22"/>
          <p:cNvGrpSpPr/>
          <p:nvPr/>
        </p:nvGrpSpPr>
        <p:grpSpPr>
          <a:xfrm>
            <a:off x="5476167" y="4270294"/>
            <a:ext cx="1209796" cy="1226701"/>
            <a:chOff x="957913" y="5153025"/>
            <a:chExt cx="1209796" cy="1226701"/>
          </a:xfrm>
        </p:grpSpPr>
        <p:sp>
          <p:nvSpPr>
            <p:cNvPr id="1670" name="Google Shape;1670;p22"/>
            <p:cNvSpPr/>
            <p:nvPr/>
          </p:nvSpPr>
          <p:spPr>
            <a:xfrm>
              <a:off x="957913" y="5153025"/>
              <a:ext cx="1209796" cy="1226701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AFD1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1" name="Google Shape;1671;p22"/>
            <p:cNvSpPr/>
            <p:nvPr/>
          </p:nvSpPr>
          <p:spPr>
            <a:xfrm>
              <a:off x="996092" y="5468651"/>
              <a:ext cx="1142881" cy="200242"/>
            </a:xfrm>
            <a:prstGeom prst="snip2SameRect">
              <a:avLst>
                <a:gd fmla="val 0" name="adj1"/>
                <a:gd fmla="val 0" name="adj2"/>
              </a:avLst>
            </a:prstGeom>
            <a:solidFill>
              <a:srgbClr val="BFC9D3"/>
            </a:solidFill>
            <a:ln>
              <a:noFill/>
            </a:ln>
            <a:effectLst>
              <a:outerShdw rotWithShape="0" algn="tl" dir="16200000" dist="12700">
                <a:srgbClr val="99A9B9"/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RD뷰어</a:t>
              </a:r>
              <a:endParaRPr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2" name="Google Shape;1672;p22"/>
            <p:cNvSpPr/>
            <p:nvPr/>
          </p:nvSpPr>
          <p:spPr>
            <a:xfrm>
              <a:off x="996092" y="5229845"/>
              <a:ext cx="1142881" cy="200242"/>
            </a:xfrm>
            <a:prstGeom prst="snip2SameRect">
              <a:avLst>
                <a:gd fmla="val 0" name="adj1"/>
                <a:gd fmla="val 0" name="adj2"/>
              </a:avLst>
            </a:prstGeom>
            <a:solidFill>
              <a:srgbClr val="BFC9D3"/>
            </a:solidFill>
            <a:ln>
              <a:noFill/>
            </a:ln>
            <a:effectLst>
              <a:outerShdw rotWithShape="0" algn="tl" dir="16200000" dist="12700">
                <a:srgbClr val="99A9B9"/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MDS</a:t>
              </a:r>
              <a:endParaRPr/>
            </a:p>
          </p:txBody>
        </p:sp>
        <p:sp>
          <p:nvSpPr>
            <p:cNvPr id="1673" name="Google Shape;1673;p22"/>
            <p:cNvSpPr/>
            <p:nvPr/>
          </p:nvSpPr>
          <p:spPr>
            <a:xfrm>
              <a:off x="996092" y="5706207"/>
              <a:ext cx="1142881" cy="200242"/>
            </a:xfrm>
            <a:prstGeom prst="snip2SameRect">
              <a:avLst>
                <a:gd fmla="val 0" name="adj1"/>
                <a:gd fmla="val 0" name="adj2"/>
              </a:avLst>
            </a:prstGeom>
            <a:solidFill>
              <a:srgbClr val="BFC9D3"/>
            </a:solidFill>
            <a:ln>
              <a:noFill/>
            </a:ln>
            <a:effectLst>
              <a:outerShdw rotWithShape="0" algn="tl" dir="16200000" dist="12700">
                <a:srgbClr val="99A9B9"/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마크애니</a:t>
              </a:r>
              <a:endParaRPr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74" name="Google Shape;1674;p22"/>
          <p:cNvGrpSpPr/>
          <p:nvPr/>
        </p:nvGrpSpPr>
        <p:grpSpPr>
          <a:xfrm>
            <a:off x="7297186" y="2640261"/>
            <a:ext cx="404408" cy="249569"/>
            <a:chOff x="4739327" y="2449180"/>
            <a:chExt cx="404408" cy="249569"/>
          </a:xfrm>
        </p:grpSpPr>
        <p:pic>
          <p:nvPicPr>
            <p:cNvPr id="1675" name="Google Shape;1675;p2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739327" y="2449180"/>
              <a:ext cx="213672" cy="24956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6" name="Google Shape;1676;p22"/>
            <p:cNvSpPr txBox="1"/>
            <p:nvPr/>
          </p:nvSpPr>
          <p:spPr>
            <a:xfrm>
              <a:off x="4994655" y="2482525"/>
              <a:ext cx="149080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L4</a:t>
              </a:r>
              <a:endParaRPr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77" name="Google Shape;1677;p22"/>
          <p:cNvGrpSpPr/>
          <p:nvPr/>
        </p:nvGrpSpPr>
        <p:grpSpPr>
          <a:xfrm>
            <a:off x="7317621" y="3306975"/>
            <a:ext cx="404408" cy="249569"/>
            <a:chOff x="4739327" y="2449180"/>
            <a:chExt cx="404408" cy="249569"/>
          </a:xfrm>
        </p:grpSpPr>
        <p:pic>
          <p:nvPicPr>
            <p:cNvPr id="1678" name="Google Shape;1678;p2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739327" y="2449180"/>
              <a:ext cx="213672" cy="24956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9" name="Google Shape;1679;p22"/>
            <p:cNvSpPr txBox="1"/>
            <p:nvPr/>
          </p:nvSpPr>
          <p:spPr>
            <a:xfrm>
              <a:off x="4994655" y="2482525"/>
              <a:ext cx="149080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L4</a:t>
              </a:r>
              <a:endParaRPr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680" name="Google Shape;1680;p22"/>
          <p:cNvCxnSpPr>
            <a:stCxn id="1681" idx="1"/>
            <a:endCxn id="1539" idx="3"/>
          </p:cNvCxnSpPr>
          <p:nvPr/>
        </p:nvCxnSpPr>
        <p:spPr>
          <a:xfrm flipH="1">
            <a:off x="7679615" y="4851913"/>
            <a:ext cx="133800" cy="7800"/>
          </a:xfrm>
          <a:prstGeom prst="straightConnector1">
            <a:avLst/>
          </a:prstGeom>
          <a:noFill/>
          <a:ln cap="flat" cmpd="sng" w="9525">
            <a:solidFill>
              <a:srgbClr val="99A9B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2" name="Google Shape;1682;p22"/>
          <p:cNvCxnSpPr>
            <a:stCxn id="1670" idx="3"/>
            <a:endCxn id="1539" idx="1"/>
          </p:cNvCxnSpPr>
          <p:nvPr/>
        </p:nvCxnSpPr>
        <p:spPr>
          <a:xfrm flipH="1" rot="10800000">
            <a:off x="6685963" y="4859945"/>
            <a:ext cx="317400" cy="23700"/>
          </a:xfrm>
          <a:prstGeom prst="straightConnector1">
            <a:avLst/>
          </a:prstGeom>
          <a:noFill/>
          <a:ln cap="flat" cmpd="sng" w="9525">
            <a:solidFill>
              <a:srgbClr val="99A9B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83" name="Google Shape;1683;p22"/>
          <p:cNvSpPr/>
          <p:nvPr/>
        </p:nvSpPr>
        <p:spPr>
          <a:xfrm>
            <a:off x="5716757" y="5931777"/>
            <a:ext cx="558407" cy="316814"/>
          </a:xfrm>
          <a:prstGeom prst="snip2SameRect">
            <a:avLst>
              <a:gd fmla="val 0" name="adj1"/>
              <a:gd fmla="val 0" name="adj2"/>
            </a:avLst>
          </a:prstGeom>
          <a:solidFill>
            <a:srgbClr val="BFC9D3"/>
          </a:solidFill>
          <a:ln>
            <a:noFill/>
          </a:ln>
          <a:effectLst>
            <a:outerShdw rotWithShape="0" algn="tl" dir="16200000" dist="12700">
              <a:srgbClr val="99A9B9"/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EMAIL</a:t>
            </a:r>
            <a:endParaRPr/>
          </a:p>
        </p:txBody>
      </p:sp>
      <p:grpSp>
        <p:nvGrpSpPr>
          <p:cNvPr id="1684" name="Google Shape;1684;p22"/>
          <p:cNvGrpSpPr/>
          <p:nvPr/>
        </p:nvGrpSpPr>
        <p:grpSpPr>
          <a:xfrm>
            <a:off x="7813415" y="4239913"/>
            <a:ext cx="1209796" cy="1224000"/>
            <a:chOff x="581026" y="4285356"/>
            <a:chExt cx="1209796" cy="1224000"/>
          </a:xfrm>
        </p:grpSpPr>
        <p:sp>
          <p:nvSpPr>
            <p:cNvPr id="1681" name="Google Shape;1681;p22"/>
            <p:cNvSpPr/>
            <p:nvPr/>
          </p:nvSpPr>
          <p:spPr>
            <a:xfrm>
              <a:off x="581026" y="4285356"/>
              <a:ext cx="1209796" cy="12240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AFD1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5" name="Google Shape;1685;p22"/>
            <p:cNvSpPr/>
            <p:nvPr/>
          </p:nvSpPr>
          <p:spPr>
            <a:xfrm>
              <a:off x="609167" y="4645120"/>
              <a:ext cx="1142881" cy="200242"/>
            </a:xfrm>
            <a:prstGeom prst="snip2SameRect">
              <a:avLst>
                <a:gd fmla="val 0" name="adj1"/>
                <a:gd fmla="val 0" name="adj2"/>
              </a:avLst>
            </a:prstGeom>
            <a:solidFill>
              <a:srgbClr val="BFC9D3"/>
            </a:solidFill>
            <a:ln>
              <a:noFill/>
            </a:ln>
            <a:effectLst>
              <a:outerShdw rotWithShape="0" algn="tl" dir="16200000" dist="12700">
                <a:srgbClr val="99A9B9"/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오즈스케쥴러</a:t>
              </a:r>
              <a:endParaRPr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6" name="Google Shape;1686;p22"/>
            <p:cNvSpPr/>
            <p:nvPr/>
          </p:nvSpPr>
          <p:spPr>
            <a:xfrm>
              <a:off x="609167" y="4344595"/>
              <a:ext cx="1142881" cy="200242"/>
            </a:xfrm>
            <a:prstGeom prst="snip2SameRect">
              <a:avLst>
                <a:gd fmla="val 0" name="adj1"/>
                <a:gd fmla="val 0" name="adj2"/>
              </a:avLst>
            </a:prstGeom>
            <a:solidFill>
              <a:srgbClr val="BFC9D3"/>
            </a:solidFill>
            <a:ln>
              <a:noFill/>
            </a:ln>
            <a:effectLst>
              <a:outerShdw rotWithShape="0" algn="tl" dir="16200000" dist="12700">
                <a:srgbClr val="99A9B9"/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OZ eForm Server</a:t>
              </a:r>
              <a:endParaRPr/>
            </a:p>
          </p:txBody>
        </p:sp>
        <p:sp>
          <p:nvSpPr>
            <p:cNvPr id="1687" name="Google Shape;1687;p22"/>
            <p:cNvSpPr/>
            <p:nvPr/>
          </p:nvSpPr>
          <p:spPr>
            <a:xfrm>
              <a:off x="609167" y="5246169"/>
              <a:ext cx="1142881" cy="200242"/>
            </a:xfrm>
            <a:prstGeom prst="snip2SameRect">
              <a:avLst>
                <a:gd fmla="val 0" name="adj1"/>
                <a:gd fmla="val 0" name="adj2"/>
              </a:avLst>
            </a:prstGeom>
            <a:solidFill>
              <a:srgbClr val="BFC9D3"/>
            </a:solidFill>
            <a:ln>
              <a:noFill/>
            </a:ln>
            <a:effectLst>
              <a:outerShdw rotWithShape="0" algn="tl" dir="16200000" dist="12700">
                <a:srgbClr val="99A9B9"/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후처리</a:t>
              </a:r>
              <a:endParaRPr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8" name="Google Shape;1688;p22"/>
            <p:cNvSpPr/>
            <p:nvPr/>
          </p:nvSpPr>
          <p:spPr>
            <a:xfrm>
              <a:off x="609167" y="4945645"/>
              <a:ext cx="1142881" cy="200242"/>
            </a:xfrm>
            <a:prstGeom prst="snip2SameRect">
              <a:avLst>
                <a:gd fmla="val 0" name="adj1"/>
                <a:gd fmla="val 0" name="adj2"/>
              </a:avLst>
            </a:prstGeom>
            <a:solidFill>
              <a:srgbClr val="BFC9D3"/>
            </a:solidFill>
            <a:ln>
              <a:noFill/>
            </a:ln>
            <a:effectLst>
              <a:outerShdw rotWithShape="0" algn="tl" dir="16200000" dist="12700">
                <a:srgbClr val="99A9B9"/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마크애니</a:t>
              </a:r>
              <a:endParaRPr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89" name="Google Shape;168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0666" y="5706667"/>
            <a:ext cx="131235" cy="2474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90" name="Google Shape;1690;p22"/>
          <p:cNvCxnSpPr>
            <a:stCxn id="1539" idx="2"/>
            <a:endCxn id="1652" idx="0"/>
          </p:cNvCxnSpPr>
          <p:nvPr/>
        </p:nvCxnSpPr>
        <p:spPr>
          <a:xfrm flipH="1">
            <a:off x="6007401" y="5473204"/>
            <a:ext cx="1334100" cy="328200"/>
          </a:xfrm>
          <a:prstGeom prst="straightConnector1">
            <a:avLst/>
          </a:prstGeom>
          <a:noFill/>
          <a:ln cap="flat" cmpd="sng" w="9525">
            <a:solidFill>
              <a:srgbClr val="99A9B9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91" name="Google Shape;1691;p22"/>
          <p:cNvGrpSpPr/>
          <p:nvPr/>
        </p:nvGrpSpPr>
        <p:grpSpPr>
          <a:xfrm>
            <a:off x="1982402" y="4310008"/>
            <a:ext cx="531455" cy="329863"/>
            <a:chOff x="2004584" y="4825007"/>
            <a:chExt cx="531455" cy="329863"/>
          </a:xfrm>
        </p:grpSpPr>
        <p:pic>
          <p:nvPicPr>
            <p:cNvPr id="1692" name="Google Shape;1692;p2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004584" y="4825007"/>
              <a:ext cx="531455" cy="3298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3" name="Google Shape;1693;p22"/>
            <p:cNvSpPr txBox="1"/>
            <p:nvPr/>
          </p:nvSpPr>
          <p:spPr>
            <a:xfrm>
              <a:off x="2013077" y="4858198"/>
              <a:ext cx="496454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장기손사</a:t>
              </a:r>
              <a:endParaRPr sz="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NAS</a:t>
              </a:r>
              <a:endParaRPr/>
            </a:p>
          </p:txBody>
        </p:sp>
      </p:grpSp>
      <p:grpSp>
        <p:nvGrpSpPr>
          <p:cNvPr id="1694" name="Google Shape;1694;p22"/>
          <p:cNvGrpSpPr/>
          <p:nvPr/>
        </p:nvGrpSpPr>
        <p:grpSpPr>
          <a:xfrm>
            <a:off x="1979245" y="4673564"/>
            <a:ext cx="531455" cy="329863"/>
            <a:chOff x="2004584" y="4825007"/>
            <a:chExt cx="531455" cy="329863"/>
          </a:xfrm>
        </p:grpSpPr>
        <p:pic>
          <p:nvPicPr>
            <p:cNvPr id="1695" name="Google Shape;1695;p2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004584" y="4825007"/>
              <a:ext cx="531455" cy="3298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6" name="Google Shape;1696;p22"/>
            <p:cNvSpPr txBox="1"/>
            <p:nvPr/>
          </p:nvSpPr>
          <p:spPr>
            <a:xfrm>
              <a:off x="2013077" y="4858198"/>
              <a:ext cx="496454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보상포탈</a:t>
              </a:r>
              <a:endParaRPr sz="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NAS</a:t>
              </a:r>
              <a:endParaRPr/>
            </a:p>
          </p:txBody>
        </p:sp>
      </p:grpSp>
      <p:grpSp>
        <p:nvGrpSpPr>
          <p:cNvPr id="1697" name="Google Shape;1697;p22"/>
          <p:cNvGrpSpPr/>
          <p:nvPr/>
        </p:nvGrpSpPr>
        <p:grpSpPr>
          <a:xfrm>
            <a:off x="7073369" y="5078003"/>
            <a:ext cx="531456" cy="331224"/>
            <a:chOff x="2004583" y="4825007"/>
            <a:chExt cx="531456" cy="308911"/>
          </a:xfrm>
        </p:grpSpPr>
        <p:pic>
          <p:nvPicPr>
            <p:cNvPr id="1698" name="Google Shape;1698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004584" y="4825007"/>
              <a:ext cx="531455" cy="3089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9" name="Google Shape;1699;p22"/>
            <p:cNvSpPr txBox="1"/>
            <p:nvPr/>
          </p:nvSpPr>
          <p:spPr>
            <a:xfrm>
              <a:off x="2004583" y="4888604"/>
              <a:ext cx="496454" cy="229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OZ PDF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NAS</a:t>
              </a:r>
              <a:endParaRPr/>
            </a:p>
          </p:txBody>
        </p:sp>
      </p:grpSp>
      <p:grpSp>
        <p:nvGrpSpPr>
          <p:cNvPr id="1700" name="Google Shape;1700;p22"/>
          <p:cNvGrpSpPr/>
          <p:nvPr/>
        </p:nvGrpSpPr>
        <p:grpSpPr>
          <a:xfrm>
            <a:off x="7077303" y="4330093"/>
            <a:ext cx="531455" cy="329863"/>
            <a:chOff x="2004584" y="4825007"/>
            <a:chExt cx="531455" cy="329863"/>
          </a:xfrm>
        </p:grpSpPr>
        <p:pic>
          <p:nvPicPr>
            <p:cNvPr id="1701" name="Google Shape;1701;p2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004584" y="4825007"/>
              <a:ext cx="531455" cy="3298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2" name="Google Shape;1702;p22"/>
            <p:cNvSpPr txBox="1"/>
            <p:nvPr/>
          </p:nvSpPr>
          <p:spPr>
            <a:xfrm>
              <a:off x="2013077" y="4858198"/>
              <a:ext cx="496454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대용량메일</a:t>
              </a:r>
              <a:endParaRPr sz="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NAS</a:t>
              </a:r>
              <a:endParaRPr/>
            </a:p>
          </p:txBody>
        </p:sp>
      </p:grpSp>
      <p:grpSp>
        <p:nvGrpSpPr>
          <p:cNvPr id="1703" name="Google Shape;1703;p22"/>
          <p:cNvGrpSpPr/>
          <p:nvPr/>
        </p:nvGrpSpPr>
        <p:grpSpPr>
          <a:xfrm>
            <a:off x="7074146" y="4693649"/>
            <a:ext cx="531455" cy="329863"/>
            <a:chOff x="2004584" y="4825007"/>
            <a:chExt cx="531455" cy="329863"/>
          </a:xfrm>
        </p:grpSpPr>
        <p:pic>
          <p:nvPicPr>
            <p:cNvPr id="1704" name="Google Shape;1704;p2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004584" y="4825007"/>
              <a:ext cx="531455" cy="3298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5" name="Google Shape;1705;p22"/>
            <p:cNvSpPr txBox="1"/>
            <p:nvPr/>
          </p:nvSpPr>
          <p:spPr>
            <a:xfrm>
              <a:off x="2013077" y="4858198"/>
              <a:ext cx="496454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MDS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NAS</a:t>
              </a:r>
              <a:endParaRPr/>
            </a:p>
          </p:txBody>
        </p:sp>
      </p:grpSp>
      <p:sp>
        <p:nvSpPr>
          <p:cNvPr id="1706" name="Google Shape;1706;p22"/>
          <p:cNvSpPr/>
          <p:nvPr/>
        </p:nvSpPr>
        <p:spPr>
          <a:xfrm>
            <a:off x="1967455" y="5052081"/>
            <a:ext cx="552240" cy="354456"/>
          </a:xfrm>
          <a:prstGeom prst="rect">
            <a:avLst/>
          </a:prstGeom>
          <a:noFill/>
          <a:ln cap="flat" cmpd="sng" w="19050">
            <a:solidFill>
              <a:srgbClr val="C813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87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7" name="Google Shape;1707;p22"/>
          <p:cNvSpPr/>
          <p:nvPr/>
        </p:nvSpPr>
        <p:spPr>
          <a:xfrm>
            <a:off x="7063925" y="5080970"/>
            <a:ext cx="552240" cy="354456"/>
          </a:xfrm>
          <a:prstGeom prst="rect">
            <a:avLst/>
          </a:prstGeom>
          <a:noFill/>
          <a:ln cap="flat" cmpd="sng" w="19050">
            <a:solidFill>
              <a:srgbClr val="C813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87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8" name="Google Shape;1708;p22"/>
          <p:cNvCxnSpPr>
            <a:stCxn id="1540" idx="2"/>
            <a:endCxn id="1578" idx="0"/>
          </p:cNvCxnSpPr>
          <p:nvPr/>
        </p:nvCxnSpPr>
        <p:spPr>
          <a:xfrm flipH="1">
            <a:off x="921021" y="5505091"/>
            <a:ext cx="1336800" cy="313800"/>
          </a:xfrm>
          <a:prstGeom prst="straightConnector1">
            <a:avLst/>
          </a:prstGeom>
          <a:noFill/>
          <a:ln cap="flat" cmpd="sng" w="9525">
            <a:solidFill>
              <a:srgbClr val="99A9B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09" name="Google Shape;1709;p22"/>
          <p:cNvCxnSpPr>
            <a:stCxn id="1540" idx="2"/>
            <a:endCxn id="1615" idx="0"/>
          </p:cNvCxnSpPr>
          <p:nvPr/>
        </p:nvCxnSpPr>
        <p:spPr>
          <a:xfrm flipH="1">
            <a:off x="1750521" y="5505091"/>
            <a:ext cx="507300" cy="313800"/>
          </a:xfrm>
          <a:prstGeom prst="straightConnector1">
            <a:avLst/>
          </a:prstGeom>
          <a:noFill/>
          <a:ln cap="flat" cmpd="sng" w="9525">
            <a:solidFill>
              <a:srgbClr val="99A9B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0" name="Google Shape;1710;p22"/>
          <p:cNvSpPr txBox="1"/>
          <p:nvPr/>
        </p:nvSpPr>
        <p:spPr>
          <a:xfrm>
            <a:off x="417770" y="714190"/>
            <a:ext cx="8964356" cy="637153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아키텍처 설계 &gt; 2.5 내외부 통합 발행물</a:t>
            </a:r>
            <a:endParaRPr b="1" i="0" sz="14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2.5.1 통합발행물 시스템 구성 (1/2)</a:t>
            </a:r>
            <a:endParaRPr/>
          </a:p>
        </p:txBody>
      </p:sp>
      <p:sp>
        <p:nvSpPr>
          <p:cNvPr id="1711" name="Google Shape;1711;p22"/>
          <p:cNvSpPr/>
          <p:nvPr/>
        </p:nvSpPr>
        <p:spPr>
          <a:xfrm>
            <a:off x="401818" y="1455044"/>
            <a:ext cx="783621" cy="366642"/>
          </a:xfrm>
          <a:prstGeom prst="roundRect">
            <a:avLst>
              <a:gd fmla="val 16667" name="adj"/>
            </a:avLst>
          </a:prstGeom>
          <a:solidFill>
            <a:srgbClr val="F6F8FA"/>
          </a:solidFill>
          <a:ln cap="flat" cmpd="sng" w="12700">
            <a:solidFill>
              <a:srgbClr val="C7D0D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32B35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기간계</a:t>
            </a:r>
            <a:br>
              <a:rPr b="0" lang="en-US" sz="1000">
                <a:solidFill>
                  <a:srgbClr val="232B35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lang="en-US" sz="1000">
                <a:solidFill>
                  <a:srgbClr val="232B35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</a:t>
            </a:r>
            <a:endParaRPr b="0" sz="1000">
              <a:solidFill>
                <a:srgbClr val="232B3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12" name="Google Shape;1712;p22"/>
          <p:cNvSpPr/>
          <p:nvPr/>
        </p:nvSpPr>
        <p:spPr>
          <a:xfrm>
            <a:off x="1195227" y="1455044"/>
            <a:ext cx="783621" cy="366642"/>
          </a:xfrm>
          <a:prstGeom prst="roundRect">
            <a:avLst>
              <a:gd fmla="val 16667" name="adj"/>
            </a:avLst>
          </a:prstGeom>
          <a:solidFill>
            <a:srgbClr val="F6F8FA"/>
          </a:solidFill>
          <a:ln cap="flat" cmpd="sng" w="12700">
            <a:solidFill>
              <a:srgbClr val="C7D0D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32B35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하이포탈</a:t>
            </a:r>
            <a:endParaRPr b="0" sz="1000">
              <a:solidFill>
                <a:srgbClr val="232B3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13" name="Google Shape;1713;p22"/>
          <p:cNvSpPr/>
          <p:nvPr/>
        </p:nvSpPr>
        <p:spPr>
          <a:xfrm>
            <a:off x="1988636" y="1455044"/>
            <a:ext cx="783621" cy="366642"/>
          </a:xfrm>
          <a:prstGeom prst="roundRect">
            <a:avLst>
              <a:gd fmla="val 16667" name="adj"/>
            </a:avLst>
          </a:prstGeom>
          <a:solidFill>
            <a:srgbClr val="F6F8FA"/>
          </a:solidFill>
          <a:ln cap="flat" cmpd="sng" w="12700">
            <a:solidFill>
              <a:srgbClr val="C7D0D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32B35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장기손사</a:t>
            </a:r>
            <a:br>
              <a:rPr b="0" lang="en-US" sz="1000">
                <a:solidFill>
                  <a:srgbClr val="232B35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lang="en-US" sz="1000">
                <a:solidFill>
                  <a:srgbClr val="232B35"/>
                </a:solidFill>
                <a:latin typeface="Malgun Gothic"/>
                <a:ea typeface="Malgun Gothic"/>
                <a:cs typeface="Malgun Gothic"/>
                <a:sym typeface="Malgun Gothic"/>
              </a:rPr>
              <a:t>포탈</a:t>
            </a:r>
            <a:endParaRPr/>
          </a:p>
        </p:txBody>
      </p:sp>
      <p:sp>
        <p:nvSpPr>
          <p:cNvPr id="1714" name="Google Shape;1714;p22"/>
          <p:cNvSpPr/>
          <p:nvPr/>
        </p:nvSpPr>
        <p:spPr>
          <a:xfrm>
            <a:off x="2782045" y="1455044"/>
            <a:ext cx="783621" cy="366642"/>
          </a:xfrm>
          <a:prstGeom prst="roundRect">
            <a:avLst>
              <a:gd fmla="val 16667" name="adj"/>
            </a:avLst>
          </a:prstGeom>
          <a:solidFill>
            <a:srgbClr val="F6F8FA"/>
          </a:solidFill>
          <a:ln cap="flat" cmpd="sng" w="12700">
            <a:solidFill>
              <a:srgbClr val="C7D0D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32B35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일반손사</a:t>
            </a:r>
            <a:br>
              <a:rPr b="0" lang="en-US" sz="1000">
                <a:solidFill>
                  <a:srgbClr val="232B35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lang="en-US" sz="1000">
                <a:solidFill>
                  <a:srgbClr val="232B35"/>
                </a:solidFill>
                <a:latin typeface="Malgun Gothic"/>
                <a:ea typeface="Malgun Gothic"/>
                <a:cs typeface="Malgun Gothic"/>
                <a:sym typeface="Malgun Gothic"/>
              </a:rPr>
              <a:t>포탈</a:t>
            </a:r>
            <a:endParaRPr/>
          </a:p>
        </p:txBody>
      </p:sp>
      <p:sp>
        <p:nvSpPr>
          <p:cNvPr id="1715" name="Google Shape;1715;p22"/>
          <p:cNvSpPr/>
          <p:nvPr/>
        </p:nvSpPr>
        <p:spPr>
          <a:xfrm>
            <a:off x="3575455" y="1446651"/>
            <a:ext cx="783621" cy="366642"/>
          </a:xfrm>
          <a:prstGeom prst="roundRect">
            <a:avLst>
              <a:gd fmla="val 16667" name="adj"/>
            </a:avLst>
          </a:prstGeom>
          <a:solidFill>
            <a:srgbClr val="F6F8FA"/>
          </a:solidFill>
          <a:ln cap="flat" cmpd="sng" w="12700">
            <a:solidFill>
              <a:srgbClr val="C7D0D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32B35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보상포탈</a:t>
            </a:r>
            <a:br>
              <a:rPr b="0" lang="en-US" sz="1000">
                <a:solidFill>
                  <a:srgbClr val="232B35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lang="en-US" sz="1000">
                <a:solidFill>
                  <a:srgbClr val="232B35"/>
                </a:solidFill>
                <a:latin typeface="Malgun Gothic"/>
                <a:ea typeface="Malgun Gothic"/>
                <a:cs typeface="Malgun Gothic"/>
                <a:sym typeface="Malgun Gothic"/>
              </a:rPr>
              <a:t>(내부)</a:t>
            </a:r>
            <a:endParaRPr/>
          </a:p>
        </p:txBody>
      </p:sp>
      <p:sp>
        <p:nvSpPr>
          <p:cNvPr id="1716" name="Google Shape;1716;p22"/>
          <p:cNvSpPr/>
          <p:nvPr/>
        </p:nvSpPr>
        <p:spPr>
          <a:xfrm>
            <a:off x="401818" y="1903482"/>
            <a:ext cx="783621" cy="366642"/>
          </a:xfrm>
          <a:prstGeom prst="roundRect">
            <a:avLst>
              <a:gd fmla="val 16667" name="adj"/>
            </a:avLst>
          </a:prstGeom>
          <a:solidFill>
            <a:srgbClr val="F6F8FA"/>
          </a:solidFill>
          <a:ln cap="flat" cmpd="sng" w="12700">
            <a:solidFill>
              <a:srgbClr val="C7D0D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32B35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수익증권</a:t>
            </a:r>
            <a:endParaRPr b="0" sz="1000">
              <a:solidFill>
                <a:srgbClr val="232B3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17" name="Google Shape;1717;p22"/>
          <p:cNvSpPr/>
          <p:nvPr/>
        </p:nvSpPr>
        <p:spPr>
          <a:xfrm>
            <a:off x="1195227" y="1903482"/>
            <a:ext cx="783621" cy="366642"/>
          </a:xfrm>
          <a:prstGeom prst="roundRect">
            <a:avLst>
              <a:gd fmla="val 16667" name="adj"/>
            </a:avLst>
          </a:prstGeom>
          <a:solidFill>
            <a:srgbClr val="F6F8FA"/>
          </a:solidFill>
          <a:ln cap="flat" cmpd="sng" w="12700">
            <a:solidFill>
              <a:srgbClr val="C7D0D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32B35"/>
                </a:solidFill>
                <a:latin typeface="Malgun Gothic"/>
                <a:ea typeface="Malgun Gothic"/>
                <a:cs typeface="Malgun Gothic"/>
                <a:sym typeface="Malgun Gothic"/>
              </a:rPr>
              <a:t>퇴직연금</a:t>
            </a:r>
            <a:endParaRPr/>
          </a:p>
        </p:txBody>
      </p:sp>
      <p:sp>
        <p:nvSpPr>
          <p:cNvPr id="1718" name="Google Shape;1718;p22"/>
          <p:cNvSpPr/>
          <p:nvPr/>
        </p:nvSpPr>
        <p:spPr>
          <a:xfrm>
            <a:off x="1988636" y="1903482"/>
            <a:ext cx="783621" cy="366642"/>
          </a:xfrm>
          <a:prstGeom prst="roundRect">
            <a:avLst>
              <a:gd fmla="val 16667" name="adj"/>
            </a:avLst>
          </a:prstGeom>
          <a:solidFill>
            <a:srgbClr val="F6F8FA"/>
          </a:solidFill>
          <a:ln cap="flat" cmpd="sng" w="12700">
            <a:solidFill>
              <a:srgbClr val="C7D0D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32B35"/>
                </a:solidFill>
                <a:latin typeface="Malgun Gothic"/>
                <a:ea typeface="Malgun Gothic"/>
                <a:cs typeface="Malgun Gothic"/>
                <a:sym typeface="Malgun Gothic"/>
              </a:rPr>
              <a:t>콜센터</a:t>
            </a:r>
            <a:endParaRPr/>
          </a:p>
        </p:txBody>
      </p:sp>
      <p:sp>
        <p:nvSpPr>
          <p:cNvPr id="1719" name="Google Shape;1719;p22"/>
          <p:cNvSpPr/>
          <p:nvPr/>
        </p:nvSpPr>
        <p:spPr>
          <a:xfrm>
            <a:off x="2782045" y="1903482"/>
            <a:ext cx="783621" cy="366642"/>
          </a:xfrm>
          <a:prstGeom prst="roundRect">
            <a:avLst>
              <a:gd fmla="val 16667" name="adj"/>
            </a:avLst>
          </a:prstGeom>
          <a:solidFill>
            <a:srgbClr val="F6F8FA"/>
          </a:solidFill>
          <a:ln cap="flat" cmpd="sng" w="12700">
            <a:solidFill>
              <a:srgbClr val="C7D0D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32B35"/>
                </a:solidFill>
                <a:latin typeface="Malgun Gothic"/>
                <a:ea typeface="Malgun Gothic"/>
                <a:cs typeface="Malgun Gothic"/>
                <a:sym typeface="Malgun Gothic"/>
              </a:rPr>
              <a:t>디지털창구</a:t>
            </a:r>
            <a:endParaRPr b="0" sz="1000">
              <a:solidFill>
                <a:srgbClr val="232B3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20" name="Google Shape;1720;p22"/>
          <p:cNvSpPr/>
          <p:nvPr/>
        </p:nvSpPr>
        <p:spPr>
          <a:xfrm>
            <a:off x="5673431" y="1272113"/>
            <a:ext cx="731520" cy="475488"/>
          </a:xfrm>
          <a:prstGeom prst="roundRect">
            <a:avLst>
              <a:gd fmla="val 16667" name="adj"/>
            </a:avLst>
          </a:prstGeom>
          <a:solidFill>
            <a:srgbClr val="F6F8FA"/>
          </a:solidFill>
          <a:ln cap="flat" cmpd="sng" w="12700">
            <a:solidFill>
              <a:srgbClr val="C7D0D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80">
                <a:solidFill>
                  <a:srgbClr val="232B35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영업포탈</a:t>
            </a:r>
            <a:endParaRPr/>
          </a:p>
        </p:txBody>
      </p:sp>
      <p:sp>
        <p:nvSpPr>
          <p:cNvPr id="1721" name="Google Shape;1721;p22"/>
          <p:cNvSpPr/>
          <p:nvPr/>
        </p:nvSpPr>
        <p:spPr>
          <a:xfrm>
            <a:off x="6514679" y="1272113"/>
            <a:ext cx="731520" cy="475488"/>
          </a:xfrm>
          <a:prstGeom prst="roundRect">
            <a:avLst>
              <a:gd fmla="val 16667" name="adj"/>
            </a:avLst>
          </a:prstGeom>
          <a:solidFill>
            <a:srgbClr val="F6F8FA"/>
          </a:solidFill>
          <a:ln cap="flat" cmpd="sng" w="12700">
            <a:solidFill>
              <a:srgbClr val="C7D0D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80">
                <a:solidFill>
                  <a:srgbClr val="232B35"/>
                </a:solidFill>
                <a:latin typeface="Malgun Gothic"/>
                <a:ea typeface="Malgun Gothic"/>
                <a:cs typeface="Malgun Gothic"/>
                <a:sym typeface="Malgun Gothic"/>
              </a:rPr>
              <a:t>TM</a:t>
            </a:r>
            <a:br>
              <a:rPr b="0" lang="en-US" sz="780">
                <a:solidFill>
                  <a:srgbClr val="232B35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lang="en-US" sz="780">
                <a:solidFill>
                  <a:srgbClr val="232B35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영업포탈</a:t>
            </a:r>
            <a:endParaRPr/>
          </a:p>
        </p:txBody>
      </p:sp>
      <p:sp>
        <p:nvSpPr>
          <p:cNvPr id="1722" name="Google Shape;1722;p22"/>
          <p:cNvSpPr/>
          <p:nvPr/>
        </p:nvSpPr>
        <p:spPr>
          <a:xfrm>
            <a:off x="7355927" y="1272113"/>
            <a:ext cx="731520" cy="475488"/>
          </a:xfrm>
          <a:prstGeom prst="roundRect">
            <a:avLst>
              <a:gd fmla="val 16667" name="adj"/>
            </a:avLst>
          </a:prstGeom>
          <a:solidFill>
            <a:srgbClr val="F6F8FA"/>
          </a:solidFill>
          <a:ln cap="flat" cmpd="sng" w="12700">
            <a:solidFill>
              <a:srgbClr val="C7D0D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80">
                <a:solidFill>
                  <a:srgbClr val="232B35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보상포탈</a:t>
            </a:r>
            <a:endParaRPr/>
          </a:p>
        </p:txBody>
      </p:sp>
      <p:sp>
        <p:nvSpPr>
          <p:cNvPr id="1723" name="Google Shape;1723;p22"/>
          <p:cNvSpPr/>
          <p:nvPr/>
        </p:nvSpPr>
        <p:spPr>
          <a:xfrm>
            <a:off x="8197175" y="1272113"/>
            <a:ext cx="731520" cy="475488"/>
          </a:xfrm>
          <a:prstGeom prst="roundRect">
            <a:avLst>
              <a:gd fmla="val 16667" name="adj"/>
            </a:avLst>
          </a:prstGeom>
          <a:solidFill>
            <a:srgbClr val="F6F8FA"/>
          </a:solidFill>
          <a:ln cap="flat" cmpd="sng" w="12700">
            <a:solidFill>
              <a:srgbClr val="C7D0D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80">
                <a:solidFill>
                  <a:srgbClr val="232B35"/>
                </a:solidFill>
                <a:latin typeface="Malgun Gothic"/>
                <a:ea typeface="Malgun Gothic"/>
                <a:cs typeface="Malgun Gothic"/>
                <a:sym typeface="Malgun Gothic"/>
              </a:rPr>
              <a:t>MDS</a:t>
            </a:r>
            <a:endParaRPr/>
          </a:p>
        </p:txBody>
      </p:sp>
      <p:sp>
        <p:nvSpPr>
          <p:cNvPr id="1724" name="Google Shape;1724;p22"/>
          <p:cNvSpPr/>
          <p:nvPr/>
        </p:nvSpPr>
        <p:spPr>
          <a:xfrm>
            <a:off x="5701177" y="1808631"/>
            <a:ext cx="731520" cy="475488"/>
          </a:xfrm>
          <a:prstGeom prst="roundRect">
            <a:avLst>
              <a:gd fmla="val 16667" name="adj"/>
            </a:avLst>
          </a:prstGeom>
          <a:solidFill>
            <a:srgbClr val="F6F8FA"/>
          </a:solidFill>
          <a:ln cap="flat" cmpd="sng" w="12700">
            <a:solidFill>
              <a:srgbClr val="C7D0D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80">
                <a:solidFill>
                  <a:srgbClr val="232B35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다이렉트</a:t>
            </a:r>
            <a:br>
              <a:rPr b="0" lang="en-US" sz="780">
                <a:solidFill>
                  <a:srgbClr val="232B35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lang="en-US" sz="780">
                <a:solidFill>
                  <a:srgbClr val="232B35"/>
                </a:solidFill>
                <a:latin typeface="Malgun Gothic"/>
                <a:ea typeface="Malgun Gothic"/>
                <a:cs typeface="Malgun Gothic"/>
                <a:sym typeface="Malgun Gothic"/>
              </a:rPr>
              <a:t>홈페이지</a:t>
            </a:r>
            <a:endParaRPr/>
          </a:p>
        </p:txBody>
      </p:sp>
      <p:sp>
        <p:nvSpPr>
          <p:cNvPr id="1725" name="Google Shape;1725;p22"/>
          <p:cNvSpPr/>
          <p:nvPr/>
        </p:nvSpPr>
        <p:spPr>
          <a:xfrm>
            <a:off x="6542425" y="1808631"/>
            <a:ext cx="731520" cy="475488"/>
          </a:xfrm>
          <a:prstGeom prst="roundRect">
            <a:avLst>
              <a:gd fmla="val 16667" name="adj"/>
            </a:avLst>
          </a:prstGeom>
          <a:solidFill>
            <a:srgbClr val="F6F8FA"/>
          </a:solidFill>
          <a:ln cap="flat" cmpd="sng" w="12700">
            <a:solidFill>
              <a:srgbClr val="C7D0D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80">
                <a:solidFill>
                  <a:srgbClr val="232B35"/>
                </a:solidFill>
                <a:latin typeface="Malgun Gothic"/>
                <a:ea typeface="Malgun Gothic"/>
                <a:cs typeface="Malgun Gothic"/>
                <a:sym typeface="Malgun Gothic"/>
              </a:rPr>
              <a:t>EMS</a:t>
            </a:r>
            <a:br>
              <a:rPr b="0" lang="en-US" sz="780">
                <a:solidFill>
                  <a:srgbClr val="232B35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lang="en-US" sz="780">
                <a:solidFill>
                  <a:srgbClr val="232B35"/>
                </a:solidFill>
                <a:latin typeface="Malgun Gothic"/>
                <a:ea typeface="Malgun Gothic"/>
                <a:cs typeface="Malgun Gothic"/>
                <a:sym typeface="Malgun Gothic"/>
              </a:rPr>
              <a:t>(대량메일)</a:t>
            </a:r>
            <a:endParaRPr/>
          </a:p>
        </p:txBody>
      </p:sp>
      <p:sp>
        <p:nvSpPr>
          <p:cNvPr id="1726" name="Google Shape;1726;p22"/>
          <p:cNvSpPr/>
          <p:nvPr/>
        </p:nvSpPr>
        <p:spPr>
          <a:xfrm>
            <a:off x="7383673" y="1808631"/>
            <a:ext cx="731520" cy="475488"/>
          </a:xfrm>
          <a:prstGeom prst="roundRect">
            <a:avLst>
              <a:gd fmla="val 16667" name="adj"/>
            </a:avLst>
          </a:prstGeom>
          <a:solidFill>
            <a:srgbClr val="F6F8FA"/>
          </a:solidFill>
          <a:ln cap="flat" cmpd="sng" w="12700">
            <a:solidFill>
              <a:srgbClr val="C7D0D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80">
                <a:solidFill>
                  <a:srgbClr val="232B35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대표</a:t>
            </a:r>
            <a:br>
              <a:rPr b="0" lang="en-US" sz="780">
                <a:solidFill>
                  <a:srgbClr val="232B35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lang="en-US" sz="780">
                <a:solidFill>
                  <a:srgbClr val="232B35"/>
                </a:solidFill>
                <a:latin typeface="Malgun Gothic"/>
                <a:ea typeface="Malgun Gothic"/>
                <a:cs typeface="Malgun Gothic"/>
                <a:sym typeface="Malgun Gothic"/>
              </a:rPr>
              <a:t>홈페이지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0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Google Shape;1731;p23"/>
          <p:cNvSpPr/>
          <p:nvPr/>
        </p:nvSpPr>
        <p:spPr>
          <a:xfrm>
            <a:off x="6940342" y="3264524"/>
            <a:ext cx="676259" cy="1226701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AFD1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2" name="Google Shape;1732;p23"/>
          <p:cNvSpPr/>
          <p:nvPr/>
        </p:nvSpPr>
        <p:spPr>
          <a:xfrm>
            <a:off x="1856662" y="3296411"/>
            <a:ext cx="676259" cy="1226701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AFD1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33" name="Google Shape;1733;p23"/>
          <p:cNvGrpSpPr/>
          <p:nvPr/>
        </p:nvGrpSpPr>
        <p:grpSpPr>
          <a:xfrm>
            <a:off x="2612053" y="2677839"/>
            <a:ext cx="2078408" cy="619293"/>
            <a:chOff x="5660335" y="5119856"/>
            <a:chExt cx="2356972" cy="702290"/>
          </a:xfrm>
        </p:grpSpPr>
        <p:grpSp>
          <p:nvGrpSpPr>
            <p:cNvPr id="1734" name="Google Shape;1734;p23"/>
            <p:cNvGrpSpPr/>
            <p:nvPr/>
          </p:nvGrpSpPr>
          <p:grpSpPr>
            <a:xfrm>
              <a:off x="5768873" y="5119942"/>
              <a:ext cx="243149" cy="702204"/>
              <a:chOff x="1773410" y="3026819"/>
              <a:chExt cx="243149" cy="594268"/>
            </a:xfrm>
          </p:grpSpPr>
          <p:cxnSp>
            <p:nvCxnSpPr>
              <p:cNvPr id="1735" name="Google Shape;1735;p23"/>
              <p:cNvCxnSpPr/>
              <p:nvPr/>
            </p:nvCxnSpPr>
            <p:spPr>
              <a:xfrm>
                <a:off x="1773410" y="3026831"/>
                <a:ext cx="0" cy="594256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A9B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36" name="Google Shape;1736;p23"/>
              <p:cNvCxnSpPr/>
              <p:nvPr/>
            </p:nvCxnSpPr>
            <p:spPr>
              <a:xfrm>
                <a:off x="2016559" y="3026819"/>
                <a:ext cx="0" cy="594256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A9B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737" name="Google Shape;1737;p23"/>
            <p:cNvGrpSpPr/>
            <p:nvPr/>
          </p:nvGrpSpPr>
          <p:grpSpPr>
            <a:xfrm>
              <a:off x="6240439" y="5119856"/>
              <a:ext cx="243149" cy="702192"/>
              <a:chOff x="1773410" y="3026791"/>
              <a:chExt cx="243149" cy="594267"/>
            </a:xfrm>
          </p:grpSpPr>
          <p:cxnSp>
            <p:nvCxnSpPr>
              <p:cNvPr id="1738" name="Google Shape;1738;p23"/>
              <p:cNvCxnSpPr/>
              <p:nvPr/>
            </p:nvCxnSpPr>
            <p:spPr>
              <a:xfrm>
                <a:off x="1773410" y="3026793"/>
                <a:ext cx="0" cy="594265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A9B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39" name="Google Shape;1739;p23"/>
              <p:cNvCxnSpPr/>
              <p:nvPr/>
            </p:nvCxnSpPr>
            <p:spPr>
              <a:xfrm>
                <a:off x="2016559" y="3026791"/>
                <a:ext cx="0" cy="594265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A9B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740" name="Google Shape;1740;p23"/>
            <p:cNvGrpSpPr/>
            <p:nvPr/>
          </p:nvGrpSpPr>
          <p:grpSpPr>
            <a:xfrm>
              <a:off x="6745200" y="5119871"/>
              <a:ext cx="243149" cy="702194"/>
              <a:chOff x="1773410" y="3026792"/>
              <a:chExt cx="243149" cy="594266"/>
            </a:xfrm>
          </p:grpSpPr>
          <p:cxnSp>
            <p:nvCxnSpPr>
              <p:cNvPr id="1741" name="Google Shape;1741;p23"/>
              <p:cNvCxnSpPr/>
              <p:nvPr/>
            </p:nvCxnSpPr>
            <p:spPr>
              <a:xfrm>
                <a:off x="1773410" y="3026792"/>
                <a:ext cx="0" cy="594261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A9B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42" name="Google Shape;1742;p23"/>
              <p:cNvCxnSpPr/>
              <p:nvPr/>
            </p:nvCxnSpPr>
            <p:spPr>
              <a:xfrm>
                <a:off x="2016559" y="3026796"/>
                <a:ext cx="0" cy="594262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A9B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743" name="Google Shape;1743;p23"/>
            <p:cNvGrpSpPr/>
            <p:nvPr/>
          </p:nvGrpSpPr>
          <p:grpSpPr>
            <a:xfrm>
              <a:off x="5660335" y="5263252"/>
              <a:ext cx="1431161" cy="408593"/>
              <a:chOff x="1080593" y="4604099"/>
              <a:chExt cx="1784930" cy="509591"/>
            </a:xfrm>
          </p:grpSpPr>
          <p:grpSp>
            <p:nvGrpSpPr>
              <p:cNvPr id="1744" name="Google Shape;1744;p23"/>
              <p:cNvGrpSpPr/>
              <p:nvPr/>
            </p:nvGrpSpPr>
            <p:grpSpPr>
              <a:xfrm>
                <a:off x="1080593" y="4604099"/>
                <a:ext cx="572762" cy="509581"/>
                <a:chOff x="906933" y="3384617"/>
                <a:chExt cx="572762" cy="509581"/>
              </a:xfrm>
            </p:grpSpPr>
            <p:pic>
              <p:nvPicPr>
                <p:cNvPr id="1745" name="Google Shape;1745;p2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906933" y="3384617"/>
                  <a:ext cx="270226" cy="50957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746" name="Google Shape;1746;p2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1209469" y="3384623"/>
                  <a:ext cx="270226" cy="5095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747" name="Google Shape;1747;p23"/>
              <p:cNvGrpSpPr/>
              <p:nvPr/>
            </p:nvGrpSpPr>
            <p:grpSpPr>
              <a:xfrm>
                <a:off x="1686677" y="4604114"/>
                <a:ext cx="572762" cy="509576"/>
                <a:chOff x="906933" y="3384632"/>
                <a:chExt cx="572762" cy="509576"/>
              </a:xfrm>
            </p:grpSpPr>
            <p:pic>
              <p:nvPicPr>
                <p:cNvPr id="1748" name="Google Shape;1748;p2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906933" y="3384639"/>
                  <a:ext cx="270226" cy="50956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749" name="Google Shape;1749;p2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1209469" y="3384632"/>
                  <a:ext cx="270226" cy="50957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750" name="Google Shape;1750;p23"/>
              <p:cNvGrpSpPr/>
              <p:nvPr/>
            </p:nvGrpSpPr>
            <p:grpSpPr>
              <a:xfrm>
                <a:off x="2292761" y="4604112"/>
                <a:ext cx="572762" cy="509576"/>
                <a:chOff x="906933" y="3384630"/>
                <a:chExt cx="572762" cy="509576"/>
              </a:xfrm>
            </p:grpSpPr>
            <p:pic>
              <p:nvPicPr>
                <p:cNvPr id="1751" name="Google Shape;1751;p2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906933" y="3384631"/>
                  <a:ext cx="270226" cy="5095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752" name="Google Shape;1752;p2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1209469" y="3384630"/>
                  <a:ext cx="270226" cy="50956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sp>
          <p:nvSpPr>
            <p:cNvPr id="1753" name="Google Shape;1753;p23"/>
            <p:cNvSpPr/>
            <p:nvPr/>
          </p:nvSpPr>
          <p:spPr>
            <a:xfrm>
              <a:off x="7125707" y="5386641"/>
              <a:ext cx="891600" cy="41577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94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내부 이미지 변환 WAS #1 ~ #6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94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16core/256GB</a:t>
              </a:r>
              <a:endParaRPr/>
            </a:p>
          </p:txBody>
        </p:sp>
      </p:grpSp>
      <p:cxnSp>
        <p:nvCxnSpPr>
          <p:cNvPr id="1754" name="Google Shape;1754;p23"/>
          <p:cNvCxnSpPr/>
          <p:nvPr/>
        </p:nvCxnSpPr>
        <p:spPr>
          <a:xfrm>
            <a:off x="326883" y="2274970"/>
            <a:ext cx="3960000" cy="0"/>
          </a:xfrm>
          <a:prstGeom prst="straightConnector1">
            <a:avLst/>
          </a:prstGeom>
          <a:noFill/>
          <a:ln cap="flat" cmpd="sng" w="28575">
            <a:solidFill>
              <a:srgbClr val="99A9B9"/>
            </a:solidFill>
            <a:prstDash val="solid"/>
            <a:round/>
            <a:headEnd len="sm" w="sm" type="oval"/>
            <a:tailEnd len="sm" w="sm" type="oval"/>
          </a:ln>
        </p:spPr>
      </p:cxnSp>
      <p:grpSp>
        <p:nvGrpSpPr>
          <p:cNvPr id="1755" name="Google Shape;1755;p23"/>
          <p:cNvGrpSpPr/>
          <p:nvPr/>
        </p:nvGrpSpPr>
        <p:grpSpPr>
          <a:xfrm>
            <a:off x="2134139" y="1814043"/>
            <a:ext cx="1094323" cy="864000"/>
            <a:chOff x="1891714" y="5123254"/>
            <a:chExt cx="1240993" cy="979800"/>
          </a:xfrm>
        </p:grpSpPr>
        <p:grpSp>
          <p:nvGrpSpPr>
            <p:cNvPr id="1756" name="Google Shape;1756;p23"/>
            <p:cNvGrpSpPr/>
            <p:nvPr/>
          </p:nvGrpSpPr>
          <p:grpSpPr>
            <a:xfrm>
              <a:off x="1967354" y="5123254"/>
              <a:ext cx="178337" cy="979800"/>
              <a:chOff x="1805816" y="3020739"/>
              <a:chExt cx="178337" cy="829205"/>
            </a:xfrm>
          </p:grpSpPr>
          <p:cxnSp>
            <p:nvCxnSpPr>
              <p:cNvPr id="1757" name="Google Shape;1757;p23"/>
              <p:cNvCxnSpPr/>
              <p:nvPr/>
            </p:nvCxnSpPr>
            <p:spPr>
              <a:xfrm>
                <a:off x="1805816" y="3020739"/>
                <a:ext cx="0" cy="829205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A9B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58" name="Google Shape;1758;p23"/>
              <p:cNvCxnSpPr/>
              <p:nvPr/>
            </p:nvCxnSpPr>
            <p:spPr>
              <a:xfrm>
                <a:off x="1984153" y="3020739"/>
                <a:ext cx="0" cy="829205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A9B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759" name="Google Shape;1759;p23"/>
            <p:cNvGrpSpPr/>
            <p:nvPr/>
          </p:nvGrpSpPr>
          <p:grpSpPr>
            <a:xfrm>
              <a:off x="1891714" y="5301891"/>
              <a:ext cx="326088" cy="279703"/>
              <a:chOff x="987765" y="3531784"/>
              <a:chExt cx="406694" cy="348844"/>
            </a:xfrm>
          </p:grpSpPr>
          <p:pic>
            <p:nvPicPr>
              <p:cNvPr id="1760" name="Google Shape;1760;p2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987765" y="3531791"/>
                <a:ext cx="184987" cy="34883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61" name="Google Shape;1761;p2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209469" y="3531784"/>
                <a:ext cx="184990" cy="34883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762" name="Google Shape;1762;p23"/>
            <p:cNvSpPr/>
            <p:nvPr/>
          </p:nvSpPr>
          <p:spPr>
            <a:xfrm>
              <a:off x="2241107" y="5195060"/>
              <a:ext cx="891600" cy="41577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94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내부 통합 발행물 WEB #1, #2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94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8core/64GB</a:t>
              </a:r>
              <a:endParaRPr/>
            </a:p>
          </p:txBody>
        </p:sp>
      </p:grpSp>
      <p:sp>
        <p:nvSpPr>
          <p:cNvPr id="1763" name="Google Shape;1763;p23"/>
          <p:cNvSpPr/>
          <p:nvPr/>
        </p:nvSpPr>
        <p:spPr>
          <a:xfrm>
            <a:off x="1062387" y="1396510"/>
            <a:ext cx="2713556" cy="238849"/>
          </a:xfrm>
          <a:prstGeom prst="snip2SameRect">
            <a:avLst>
              <a:gd fmla="val 34085" name="adj1"/>
              <a:gd fmla="val 0" name="adj2"/>
            </a:avLst>
          </a:prstGeom>
          <a:solidFill>
            <a:srgbClr val="BFC9D3"/>
          </a:solidFill>
          <a:ln>
            <a:noFill/>
          </a:ln>
          <a:effectLst>
            <a:outerShdw rotWithShape="0" algn="tl" dir="16200000" dist="25400">
              <a:srgbClr val="99A9B9"/>
            </a:outerShdw>
          </a:effectLst>
        </p:spPr>
        <p:txBody>
          <a:bodyPr anchorCtr="0" anchor="ctr" bIns="3600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어두운 상향 대각선" id="1764" name="Google Shape;1764;p23"/>
          <p:cNvSpPr/>
          <p:nvPr/>
        </p:nvSpPr>
        <p:spPr>
          <a:xfrm>
            <a:off x="2057896" y="1454379"/>
            <a:ext cx="773673" cy="123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내부 통합 발행물</a:t>
            </a:r>
            <a:endParaRPr sz="100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5" name="Google Shape;1765;p23"/>
          <p:cNvCxnSpPr/>
          <p:nvPr/>
        </p:nvCxnSpPr>
        <p:spPr>
          <a:xfrm>
            <a:off x="326883" y="2687267"/>
            <a:ext cx="3960000" cy="0"/>
          </a:xfrm>
          <a:prstGeom prst="straightConnector1">
            <a:avLst/>
          </a:prstGeom>
          <a:noFill/>
          <a:ln cap="flat" cmpd="sng" w="28575">
            <a:solidFill>
              <a:srgbClr val="99A9B9"/>
            </a:solidFill>
            <a:prstDash val="solid"/>
            <a:round/>
            <a:headEnd len="sm" w="sm" type="oval"/>
            <a:tailEnd len="sm" w="sm" type="oval"/>
          </a:ln>
        </p:spPr>
      </p:cxnSp>
      <p:sp>
        <p:nvSpPr>
          <p:cNvPr id="1766" name="Google Shape;1766;p23"/>
          <p:cNvSpPr/>
          <p:nvPr/>
        </p:nvSpPr>
        <p:spPr>
          <a:xfrm rot="6335274">
            <a:off x="617161" y="2957923"/>
            <a:ext cx="1005021" cy="1548978"/>
          </a:xfrm>
          <a:custGeom>
            <a:rect b="b" l="l" r="r" t="t"/>
            <a:pathLst>
              <a:path extrusionOk="0" h="1599825" w="3351857">
                <a:moveTo>
                  <a:pt x="12021" y="1163909"/>
                </a:moveTo>
                <a:lnTo>
                  <a:pt x="1024963" y="0"/>
                </a:lnTo>
                <a:cubicBezTo>
                  <a:pt x="1028152" y="440707"/>
                  <a:pt x="1021843" y="879752"/>
                  <a:pt x="1025032" y="1320459"/>
                </a:cubicBezTo>
                <a:lnTo>
                  <a:pt x="3351857" y="1315954"/>
                </a:lnTo>
                <a:lnTo>
                  <a:pt x="0" y="1599825"/>
                </a:lnTo>
                <a:cubicBezTo>
                  <a:pt x="840" y="1429889"/>
                  <a:pt x="11181" y="1333845"/>
                  <a:pt x="12021" y="1163909"/>
                </a:cubicBezTo>
                <a:close/>
              </a:path>
            </a:pathLst>
          </a:custGeom>
          <a:gradFill>
            <a:gsLst>
              <a:gs pos="0">
                <a:srgbClr val="C9157C">
                  <a:alpha val="0"/>
                </a:srgbClr>
              </a:gs>
              <a:gs pos="40000">
                <a:srgbClr val="C9157C">
                  <a:alpha val="0"/>
                </a:srgbClr>
              </a:gs>
              <a:gs pos="100000">
                <a:srgbClr val="C9157C">
                  <a:alpha val="50196"/>
                </a:srgbClr>
              </a:gs>
            </a:gsLst>
            <a:lin ang="75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grpSp>
        <p:nvGrpSpPr>
          <p:cNvPr id="1767" name="Google Shape;1767;p23"/>
          <p:cNvGrpSpPr/>
          <p:nvPr/>
        </p:nvGrpSpPr>
        <p:grpSpPr>
          <a:xfrm>
            <a:off x="1915439" y="4075939"/>
            <a:ext cx="531456" cy="331224"/>
            <a:chOff x="2004583" y="4825007"/>
            <a:chExt cx="531456" cy="308911"/>
          </a:xfrm>
        </p:grpSpPr>
        <p:pic>
          <p:nvPicPr>
            <p:cNvPr id="1768" name="Google Shape;1768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004584" y="4825007"/>
              <a:ext cx="531455" cy="3089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9" name="Google Shape;1769;p23"/>
            <p:cNvSpPr txBox="1"/>
            <p:nvPr/>
          </p:nvSpPr>
          <p:spPr>
            <a:xfrm>
              <a:off x="2004583" y="4888604"/>
              <a:ext cx="496454" cy="229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OZ PDF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NAS</a:t>
              </a:r>
              <a:endParaRPr/>
            </a:p>
          </p:txBody>
        </p:sp>
      </p:grpSp>
      <p:grpSp>
        <p:nvGrpSpPr>
          <p:cNvPr id="1770" name="Google Shape;1770;p23"/>
          <p:cNvGrpSpPr/>
          <p:nvPr/>
        </p:nvGrpSpPr>
        <p:grpSpPr>
          <a:xfrm>
            <a:off x="515623" y="2680656"/>
            <a:ext cx="1865190" cy="619245"/>
            <a:chOff x="5660335" y="5112702"/>
            <a:chExt cx="2115178" cy="702241"/>
          </a:xfrm>
        </p:grpSpPr>
        <p:grpSp>
          <p:nvGrpSpPr>
            <p:cNvPr id="1771" name="Google Shape;1771;p23"/>
            <p:cNvGrpSpPr/>
            <p:nvPr/>
          </p:nvGrpSpPr>
          <p:grpSpPr>
            <a:xfrm>
              <a:off x="5768873" y="5112749"/>
              <a:ext cx="243149" cy="702194"/>
              <a:chOff x="1773410" y="3020734"/>
              <a:chExt cx="243149" cy="594260"/>
            </a:xfrm>
          </p:grpSpPr>
          <p:cxnSp>
            <p:nvCxnSpPr>
              <p:cNvPr id="1772" name="Google Shape;1772;p23"/>
              <p:cNvCxnSpPr/>
              <p:nvPr/>
            </p:nvCxnSpPr>
            <p:spPr>
              <a:xfrm>
                <a:off x="1773410" y="3020738"/>
                <a:ext cx="0" cy="594256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A9B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73" name="Google Shape;1773;p23"/>
              <p:cNvCxnSpPr/>
              <p:nvPr/>
            </p:nvCxnSpPr>
            <p:spPr>
              <a:xfrm>
                <a:off x="2016559" y="3020734"/>
                <a:ext cx="0" cy="594256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A9B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774" name="Google Shape;1774;p23"/>
            <p:cNvGrpSpPr/>
            <p:nvPr/>
          </p:nvGrpSpPr>
          <p:grpSpPr>
            <a:xfrm>
              <a:off x="6240439" y="5112702"/>
              <a:ext cx="243149" cy="702194"/>
              <a:chOff x="1773410" y="3020736"/>
              <a:chExt cx="243149" cy="594268"/>
            </a:xfrm>
          </p:grpSpPr>
          <p:cxnSp>
            <p:nvCxnSpPr>
              <p:cNvPr id="1775" name="Google Shape;1775;p23"/>
              <p:cNvCxnSpPr/>
              <p:nvPr/>
            </p:nvCxnSpPr>
            <p:spPr>
              <a:xfrm>
                <a:off x="1773410" y="3020739"/>
                <a:ext cx="0" cy="594265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A9B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76" name="Google Shape;1776;p23"/>
              <p:cNvCxnSpPr/>
              <p:nvPr/>
            </p:nvCxnSpPr>
            <p:spPr>
              <a:xfrm>
                <a:off x="2016559" y="3020736"/>
                <a:ext cx="0" cy="594265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A9B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777" name="Google Shape;1777;p23"/>
            <p:cNvGrpSpPr/>
            <p:nvPr/>
          </p:nvGrpSpPr>
          <p:grpSpPr>
            <a:xfrm>
              <a:off x="5660335" y="5263252"/>
              <a:ext cx="945201" cy="408593"/>
              <a:chOff x="1080593" y="4604099"/>
              <a:chExt cx="1178846" cy="509591"/>
            </a:xfrm>
          </p:grpSpPr>
          <p:grpSp>
            <p:nvGrpSpPr>
              <p:cNvPr id="1778" name="Google Shape;1778;p23"/>
              <p:cNvGrpSpPr/>
              <p:nvPr/>
            </p:nvGrpSpPr>
            <p:grpSpPr>
              <a:xfrm>
                <a:off x="1080593" y="4604099"/>
                <a:ext cx="572762" cy="509581"/>
                <a:chOff x="906933" y="3384617"/>
                <a:chExt cx="572762" cy="509581"/>
              </a:xfrm>
            </p:grpSpPr>
            <p:pic>
              <p:nvPicPr>
                <p:cNvPr id="1779" name="Google Shape;1779;p2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906933" y="3384617"/>
                  <a:ext cx="270226" cy="50957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780" name="Google Shape;1780;p2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1209469" y="3384623"/>
                  <a:ext cx="270226" cy="5095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781" name="Google Shape;1781;p23"/>
              <p:cNvGrpSpPr/>
              <p:nvPr/>
            </p:nvGrpSpPr>
            <p:grpSpPr>
              <a:xfrm>
                <a:off x="1686677" y="4604114"/>
                <a:ext cx="572762" cy="509576"/>
                <a:chOff x="906933" y="3384632"/>
                <a:chExt cx="572762" cy="509576"/>
              </a:xfrm>
            </p:grpSpPr>
            <p:pic>
              <p:nvPicPr>
                <p:cNvPr id="1782" name="Google Shape;1782;p2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906933" y="3384639"/>
                  <a:ext cx="270226" cy="50956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783" name="Google Shape;1783;p2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1209469" y="3384632"/>
                  <a:ext cx="270226" cy="50957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sp>
          <p:nvSpPr>
            <p:cNvPr id="1784" name="Google Shape;1784;p23"/>
            <p:cNvSpPr/>
            <p:nvPr/>
          </p:nvSpPr>
          <p:spPr>
            <a:xfrm>
              <a:off x="6724903" y="5270676"/>
              <a:ext cx="1050610" cy="41577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94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내부 통합 발행물WAS #1 ~ #4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94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8core/128GB</a:t>
              </a:r>
              <a:endParaRPr/>
            </a:p>
          </p:txBody>
        </p:sp>
      </p:grpSp>
      <p:sp>
        <p:nvSpPr>
          <p:cNvPr id="1785" name="Google Shape;1785;p23"/>
          <p:cNvSpPr/>
          <p:nvPr/>
        </p:nvSpPr>
        <p:spPr>
          <a:xfrm>
            <a:off x="507533" y="2828466"/>
            <a:ext cx="216000" cy="336080"/>
          </a:xfrm>
          <a:prstGeom prst="rect">
            <a:avLst/>
          </a:prstGeom>
          <a:noFill/>
          <a:ln cap="flat" cmpd="sng" w="19050">
            <a:solidFill>
              <a:srgbClr val="C813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87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86" name="Google Shape;1786;p23"/>
          <p:cNvGrpSpPr/>
          <p:nvPr/>
        </p:nvGrpSpPr>
        <p:grpSpPr>
          <a:xfrm>
            <a:off x="2630383" y="3303380"/>
            <a:ext cx="1209796" cy="1226701"/>
            <a:chOff x="957913" y="5153025"/>
            <a:chExt cx="1209796" cy="1226701"/>
          </a:xfrm>
        </p:grpSpPr>
        <p:sp>
          <p:nvSpPr>
            <p:cNvPr id="1787" name="Google Shape;1787;p23"/>
            <p:cNvSpPr/>
            <p:nvPr/>
          </p:nvSpPr>
          <p:spPr>
            <a:xfrm>
              <a:off x="957913" y="5153025"/>
              <a:ext cx="1209796" cy="1226701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AFD1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8" name="Google Shape;1788;p23"/>
            <p:cNvSpPr/>
            <p:nvPr/>
          </p:nvSpPr>
          <p:spPr>
            <a:xfrm>
              <a:off x="996092" y="5468651"/>
              <a:ext cx="1142881" cy="200242"/>
            </a:xfrm>
            <a:prstGeom prst="snip2SameRect">
              <a:avLst>
                <a:gd fmla="val 0" name="adj1"/>
                <a:gd fmla="val 0" name="adj2"/>
              </a:avLst>
            </a:prstGeom>
            <a:solidFill>
              <a:srgbClr val="BFC9D3"/>
            </a:solidFill>
            <a:ln>
              <a:noFill/>
            </a:ln>
            <a:effectLst>
              <a:outerShdw rotWithShape="0" algn="tl" dir="16200000" dist="12700">
                <a:srgbClr val="99A9B9"/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이미지화일변환</a:t>
              </a:r>
              <a:endParaRPr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9" name="Google Shape;1789;p23"/>
            <p:cNvSpPr/>
            <p:nvPr/>
          </p:nvSpPr>
          <p:spPr>
            <a:xfrm>
              <a:off x="996092" y="5229845"/>
              <a:ext cx="1142881" cy="200242"/>
            </a:xfrm>
            <a:prstGeom prst="snip2SameRect">
              <a:avLst>
                <a:gd fmla="val 0" name="adj1"/>
                <a:gd fmla="val 0" name="adj2"/>
              </a:avLst>
            </a:prstGeom>
            <a:solidFill>
              <a:srgbClr val="BFC9D3"/>
            </a:solidFill>
            <a:ln>
              <a:noFill/>
            </a:ln>
            <a:effectLst>
              <a:outerShdw rotWithShape="0" algn="tl" dir="16200000" dist="12700">
                <a:srgbClr val="99A9B9"/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썸네일생성</a:t>
              </a:r>
              <a:endParaRPr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0" name="Google Shape;1790;p23"/>
            <p:cNvSpPr/>
            <p:nvPr/>
          </p:nvSpPr>
          <p:spPr>
            <a:xfrm>
              <a:off x="996092" y="5706207"/>
              <a:ext cx="1142881" cy="200242"/>
            </a:xfrm>
            <a:prstGeom prst="snip2SameRect">
              <a:avLst>
                <a:gd fmla="val 0" name="adj1"/>
                <a:gd fmla="val 0" name="adj2"/>
              </a:avLst>
            </a:prstGeom>
            <a:solidFill>
              <a:srgbClr val="BFC9D3"/>
            </a:solidFill>
            <a:ln>
              <a:noFill/>
            </a:ln>
            <a:effectLst>
              <a:outerShdw rotWithShape="0" algn="tl" dir="16200000" dist="12700">
                <a:srgbClr val="99A9B9"/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비동기</a:t>
              </a:r>
              <a:endParaRPr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91" name="Google Shape;1791;p23"/>
          <p:cNvGrpSpPr/>
          <p:nvPr/>
        </p:nvGrpSpPr>
        <p:grpSpPr>
          <a:xfrm>
            <a:off x="2147902" y="1675677"/>
            <a:ext cx="404408" cy="249569"/>
            <a:chOff x="4739327" y="2449180"/>
            <a:chExt cx="404408" cy="249569"/>
          </a:xfrm>
        </p:grpSpPr>
        <p:pic>
          <p:nvPicPr>
            <p:cNvPr id="1792" name="Google Shape;1792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739327" y="2449180"/>
              <a:ext cx="213672" cy="24956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3" name="Google Shape;1793;p23"/>
            <p:cNvSpPr txBox="1"/>
            <p:nvPr/>
          </p:nvSpPr>
          <p:spPr>
            <a:xfrm>
              <a:off x="4994655" y="2482525"/>
              <a:ext cx="149080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L4</a:t>
              </a:r>
              <a:endParaRPr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94" name="Google Shape;1794;p23"/>
          <p:cNvGrpSpPr/>
          <p:nvPr/>
        </p:nvGrpSpPr>
        <p:grpSpPr>
          <a:xfrm>
            <a:off x="517997" y="3303377"/>
            <a:ext cx="1209796" cy="1224000"/>
            <a:chOff x="581026" y="4285356"/>
            <a:chExt cx="1209796" cy="1224000"/>
          </a:xfrm>
        </p:grpSpPr>
        <p:sp>
          <p:nvSpPr>
            <p:cNvPr id="1795" name="Google Shape;1795;p23"/>
            <p:cNvSpPr/>
            <p:nvPr/>
          </p:nvSpPr>
          <p:spPr>
            <a:xfrm>
              <a:off x="581026" y="4285356"/>
              <a:ext cx="1209796" cy="12240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AFD1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6" name="Google Shape;1796;p23"/>
            <p:cNvSpPr/>
            <p:nvPr/>
          </p:nvSpPr>
          <p:spPr>
            <a:xfrm>
              <a:off x="609167" y="4574149"/>
              <a:ext cx="1142881" cy="200242"/>
            </a:xfrm>
            <a:prstGeom prst="snip2SameRect">
              <a:avLst>
                <a:gd fmla="val 0" name="adj1"/>
                <a:gd fmla="val 0" name="adj2"/>
              </a:avLst>
            </a:prstGeom>
            <a:solidFill>
              <a:srgbClr val="BFC9D3"/>
            </a:solidFill>
            <a:ln>
              <a:noFill/>
            </a:ln>
            <a:effectLst>
              <a:outerShdw rotWithShape="0" algn="tl" dir="16200000" dist="12700">
                <a:srgbClr val="99A9B9"/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오즈스케쥴러</a:t>
              </a:r>
              <a:endParaRPr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7" name="Google Shape;1797;p23"/>
            <p:cNvSpPr/>
            <p:nvPr/>
          </p:nvSpPr>
          <p:spPr>
            <a:xfrm>
              <a:off x="609167" y="4344595"/>
              <a:ext cx="1142881" cy="200242"/>
            </a:xfrm>
            <a:prstGeom prst="snip2SameRect">
              <a:avLst>
                <a:gd fmla="val 0" name="adj1"/>
                <a:gd fmla="val 0" name="adj2"/>
              </a:avLst>
            </a:prstGeom>
            <a:solidFill>
              <a:srgbClr val="BFC9D3"/>
            </a:solidFill>
            <a:ln>
              <a:noFill/>
            </a:ln>
            <a:effectLst>
              <a:outerShdw rotWithShape="0" algn="tl" dir="16200000" dist="12700">
                <a:srgbClr val="99A9B9"/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OZ eForm Server</a:t>
              </a:r>
              <a:endParaRPr/>
            </a:p>
          </p:txBody>
        </p:sp>
        <p:sp>
          <p:nvSpPr>
            <p:cNvPr id="1798" name="Google Shape;1798;p23"/>
            <p:cNvSpPr/>
            <p:nvPr/>
          </p:nvSpPr>
          <p:spPr>
            <a:xfrm>
              <a:off x="609167" y="5262812"/>
              <a:ext cx="1142881" cy="200242"/>
            </a:xfrm>
            <a:prstGeom prst="snip2SameRect">
              <a:avLst>
                <a:gd fmla="val 0" name="adj1"/>
                <a:gd fmla="val 0" name="adj2"/>
              </a:avLst>
            </a:prstGeom>
            <a:solidFill>
              <a:srgbClr val="BFC9D3"/>
            </a:solidFill>
            <a:ln>
              <a:noFill/>
            </a:ln>
            <a:effectLst>
              <a:outerShdw rotWithShape="0" algn="tl" dir="16200000" dist="12700">
                <a:srgbClr val="99A9B9"/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후처리</a:t>
              </a:r>
              <a:endParaRPr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9" name="Google Shape;1799;p23"/>
            <p:cNvSpPr/>
            <p:nvPr/>
          </p:nvSpPr>
          <p:spPr>
            <a:xfrm>
              <a:off x="609167" y="4803703"/>
              <a:ext cx="1142881" cy="200242"/>
            </a:xfrm>
            <a:prstGeom prst="snip2SameRect">
              <a:avLst>
                <a:gd fmla="val 0" name="adj1"/>
                <a:gd fmla="val 0" name="adj2"/>
              </a:avLst>
            </a:prstGeom>
            <a:solidFill>
              <a:srgbClr val="BFC9D3"/>
            </a:solidFill>
            <a:ln>
              <a:noFill/>
            </a:ln>
            <a:effectLst>
              <a:outerShdw rotWithShape="0" algn="tl" dir="16200000" dist="12700">
                <a:srgbClr val="99A9B9"/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마크애니</a:t>
              </a:r>
              <a:endParaRPr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0" name="Google Shape;1800;p23"/>
            <p:cNvSpPr/>
            <p:nvPr/>
          </p:nvSpPr>
          <p:spPr>
            <a:xfrm>
              <a:off x="609167" y="5033257"/>
              <a:ext cx="1142881" cy="200242"/>
            </a:xfrm>
            <a:prstGeom prst="snip2SameRect">
              <a:avLst>
                <a:gd fmla="val 0" name="adj1"/>
                <a:gd fmla="val 0" name="adj2"/>
              </a:avLst>
            </a:prstGeom>
            <a:solidFill>
              <a:srgbClr val="BFC9D3"/>
            </a:solidFill>
            <a:ln>
              <a:noFill/>
            </a:ln>
            <a:effectLst>
              <a:outerShdw rotWithShape="0" algn="tl" dir="16200000" dist="12700">
                <a:srgbClr val="99A9B9"/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원격지발행</a:t>
              </a:r>
              <a:endParaRPr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01" name="Google Shape;1801;p23"/>
          <p:cNvSpPr/>
          <p:nvPr/>
        </p:nvSpPr>
        <p:spPr>
          <a:xfrm>
            <a:off x="5976162" y="1396510"/>
            <a:ext cx="2713556" cy="238849"/>
          </a:xfrm>
          <a:prstGeom prst="snip2SameRect">
            <a:avLst>
              <a:gd fmla="val 34085" name="adj1"/>
              <a:gd fmla="val 0" name="adj2"/>
            </a:avLst>
          </a:prstGeom>
          <a:solidFill>
            <a:srgbClr val="BFC9D3"/>
          </a:solidFill>
          <a:ln>
            <a:noFill/>
          </a:ln>
          <a:effectLst>
            <a:outerShdw rotWithShape="0" algn="tl" dir="16200000" dist="25400">
              <a:srgbClr val="99A9B9"/>
            </a:outerShdw>
          </a:effectLst>
        </p:spPr>
        <p:txBody>
          <a:bodyPr anchorCtr="0" anchor="ctr" bIns="3600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어두운 상향 대각선" id="1802" name="Google Shape;1802;p23"/>
          <p:cNvSpPr/>
          <p:nvPr/>
        </p:nvSpPr>
        <p:spPr>
          <a:xfrm>
            <a:off x="6938107" y="1454379"/>
            <a:ext cx="840807" cy="123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외부 통합 발행물 </a:t>
            </a:r>
            <a:endParaRPr/>
          </a:p>
        </p:txBody>
      </p:sp>
      <p:grpSp>
        <p:nvGrpSpPr>
          <p:cNvPr id="1803" name="Google Shape;1803;p23"/>
          <p:cNvGrpSpPr/>
          <p:nvPr/>
        </p:nvGrpSpPr>
        <p:grpSpPr>
          <a:xfrm>
            <a:off x="7698308" y="2660444"/>
            <a:ext cx="2078408" cy="619293"/>
            <a:chOff x="5660335" y="5119856"/>
            <a:chExt cx="2356972" cy="702290"/>
          </a:xfrm>
        </p:grpSpPr>
        <p:grpSp>
          <p:nvGrpSpPr>
            <p:cNvPr id="1804" name="Google Shape;1804;p23"/>
            <p:cNvGrpSpPr/>
            <p:nvPr/>
          </p:nvGrpSpPr>
          <p:grpSpPr>
            <a:xfrm>
              <a:off x="5768873" y="5119942"/>
              <a:ext cx="243149" cy="702204"/>
              <a:chOff x="1773410" y="3026819"/>
              <a:chExt cx="243149" cy="594268"/>
            </a:xfrm>
          </p:grpSpPr>
          <p:cxnSp>
            <p:nvCxnSpPr>
              <p:cNvPr id="1805" name="Google Shape;1805;p23"/>
              <p:cNvCxnSpPr/>
              <p:nvPr/>
            </p:nvCxnSpPr>
            <p:spPr>
              <a:xfrm>
                <a:off x="1773410" y="3026831"/>
                <a:ext cx="0" cy="594256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A9B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06" name="Google Shape;1806;p23"/>
              <p:cNvCxnSpPr/>
              <p:nvPr/>
            </p:nvCxnSpPr>
            <p:spPr>
              <a:xfrm>
                <a:off x="2016559" y="3026819"/>
                <a:ext cx="0" cy="594256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A9B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807" name="Google Shape;1807;p23"/>
            <p:cNvGrpSpPr/>
            <p:nvPr/>
          </p:nvGrpSpPr>
          <p:grpSpPr>
            <a:xfrm>
              <a:off x="6240439" y="5119856"/>
              <a:ext cx="243149" cy="702192"/>
              <a:chOff x="1773410" y="3026791"/>
              <a:chExt cx="243149" cy="594267"/>
            </a:xfrm>
          </p:grpSpPr>
          <p:cxnSp>
            <p:nvCxnSpPr>
              <p:cNvPr id="1808" name="Google Shape;1808;p23"/>
              <p:cNvCxnSpPr/>
              <p:nvPr/>
            </p:nvCxnSpPr>
            <p:spPr>
              <a:xfrm>
                <a:off x="1773410" y="3026793"/>
                <a:ext cx="0" cy="594265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A9B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09" name="Google Shape;1809;p23"/>
              <p:cNvCxnSpPr/>
              <p:nvPr/>
            </p:nvCxnSpPr>
            <p:spPr>
              <a:xfrm>
                <a:off x="2016559" y="3026791"/>
                <a:ext cx="0" cy="594265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A9B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810" name="Google Shape;1810;p23"/>
            <p:cNvGrpSpPr/>
            <p:nvPr/>
          </p:nvGrpSpPr>
          <p:grpSpPr>
            <a:xfrm>
              <a:off x="6745200" y="5119871"/>
              <a:ext cx="243149" cy="702194"/>
              <a:chOff x="1773410" y="3026792"/>
              <a:chExt cx="243149" cy="594266"/>
            </a:xfrm>
          </p:grpSpPr>
          <p:cxnSp>
            <p:nvCxnSpPr>
              <p:cNvPr id="1811" name="Google Shape;1811;p23"/>
              <p:cNvCxnSpPr/>
              <p:nvPr/>
            </p:nvCxnSpPr>
            <p:spPr>
              <a:xfrm>
                <a:off x="1773410" y="3026792"/>
                <a:ext cx="0" cy="594261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A9B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12" name="Google Shape;1812;p23"/>
              <p:cNvCxnSpPr/>
              <p:nvPr/>
            </p:nvCxnSpPr>
            <p:spPr>
              <a:xfrm>
                <a:off x="2016559" y="3026796"/>
                <a:ext cx="0" cy="594262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A9B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813" name="Google Shape;1813;p23"/>
            <p:cNvGrpSpPr/>
            <p:nvPr/>
          </p:nvGrpSpPr>
          <p:grpSpPr>
            <a:xfrm>
              <a:off x="5660335" y="5263252"/>
              <a:ext cx="1431161" cy="408593"/>
              <a:chOff x="1080593" y="4604099"/>
              <a:chExt cx="1784930" cy="509591"/>
            </a:xfrm>
          </p:grpSpPr>
          <p:grpSp>
            <p:nvGrpSpPr>
              <p:cNvPr id="1814" name="Google Shape;1814;p23"/>
              <p:cNvGrpSpPr/>
              <p:nvPr/>
            </p:nvGrpSpPr>
            <p:grpSpPr>
              <a:xfrm>
                <a:off x="1080593" y="4604099"/>
                <a:ext cx="572762" cy="509581"/>
                <a:chOff x="906933" y="3384617"/>
                <a:chExt cx="572762" cy="509581"/>
              </a:xfrm>
            </p:grpSpPr>
            <p:pic>
              <p:nvPicPr>
                <p:cNvPr id="1815" name="Google Shape;1815;p2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906933" y="3384617"/>
                  <a:ext cx="270226" cy="50957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816" name="Google Shape;1816;p2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1209469" y="3384623"/>
                  <a:ext cx="270226" cy="5095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817" name="Google Shape;1817;p23"/>
              <p:cNvGrpSpPr/>
              <p:nvPr/>
            </p:nvGrpSpPr>
            <p:grpSpPr>
              <a:xfrm>
                <a:off x="1686677" y="4604114"/>
                <a:ext cx="572762" cy="509576"/>
                <a:chOff x="906933" y="3384632"/>
                <a:chExt cx="572762" cy="509576"/>
              </a:xfrm>
            </p:grpSpPr>
            <p:pic>
              <p:nvPicPr>
                <p:cNvPr id="1818" name="Google Shape;1818;p2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906933" y="3384639"/>
                  <a:ext cx="270226" cy="50956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819" name="Google Shape;1819;p2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1209469" y="3384632"/>
                  <a:ext cx="270226" cy="50957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820" name="Google Shape;1820;p23"/>
              <p:cNvGrpSpPr/>
              <p:nvPr/>
            </p:nvGrpSpPr>
            <p:grpSpPr>
              <a:xfrm>
                <a:off x="2292761" y="4604112"/>
                <a:ext cx="572762" cy="509576"/>
                <a:chOff x="906933" y="3384630"/>
                <a:chExt cx="572762" cy="509576"/>
              </a:xfrm>
            </p:grpSpPr>
            <p:pic>
              <p:nvPicPr>
                <p:cNvPr id="1821" name="Google Shape;1821;p2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906933" y="3384631"/>
                  <a:ext cx="270226" cy="5095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822" name="Google Shape;1822;p2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1209469" y="3384630"/>
                  <a:ext cx="270226" cy="50956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sp>
          <p:nvSpPr>
            <p:cNvPr id="1823" name="Google Shape;1823;p23"/>
            <p:cNvSpPr/>
            <p:nvPr/>
          </p:nvSpPr>
          <p:spPr>
            <a:xfrm>
              <a:off x="7125707" y="5386641"/>
              <a:ext cx="891600" cy="41577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94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외부 통합발행물 WAS #1 ~ #6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94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8core/256GB</a:t>
              </a:r>
              <a:endParaRPr/>
            </a:p>
          </p:txBody>
        </p:sp>
      </p:grpSp>
      <p:cxnSp>
        <p:nvCxnSpPr>
          <p:cNvPr id="1824" name="Google Shape;1824;p23"/>
          <p:cNvCxnSpPr/>
          <p:nvPr/>
        </p:nvCxnSpPr>
        <p:spPr>
          <a:xfrm>
            <a:off x="5413138" y="2257575"/>
            <a:ext cx="3960000" cy="0"/>
          </a:xfrm>
          <a:prstGeom prst="straightConnector1">
            <a:avLst/>
          </a:prstGeom>
          <a:noFill/>
          <a:ln cap="flat" cmpd="sng" w="28575">
            <a:solidFill>
              <a:srgbClr val="99A9B9"/>
            </a:solidFill>
            <a:prstDash val="solid"/>
            <a:round/>
            <a:headEnd len="sm" w="sm" type="oval"/>
            <a:tailEnd len="sm" w="sm" type="oval"/>
          </a:ln>
        </p:spPr>
      </p:cxnSp>
      <p:grpSp>
        <p:nvGrpSpPr>
          <p:cNvPr id="1825" name="Google Shape;1825;p23"/>
          <p:cNvGrpSpPr/>
          <p:nvPr/>
        </p:nvGrpSpPr>
        <p:grpSpPr>
          <a:xfrm>
            <a:off x="7220394" y="1796648"/>
            <a:ext cx="1094323" cy="864000"/>
            <a:chOff x="1891714" y="5123254"/>
            <a:chExt cx="1240993" cy="979800"/>
          </a:xfrm>
        </p:grpSpPr>
        <p:grpSp>
          <p:nvGrpSpPr>
            <p:cNvPr id="1826" name="Google Shape;1826;p23"/>
            <p:cNvGrpSpPr/>
            <p:nvPr/>
          </p:nvGrpSpPr>
          <p:grpSpPr>
            <a:xfrm>
              <a:off x="1967354" y="5123254"/>
              <a:ext cx="178337" cy="979800"/>
              <a:chOff x="1805816" y="3020739"/>
              <a:chExt cx="178337" cy="829205"/>
            </a:xfrm>
          </p:grpSpPr>
          <p:cxnSp>
            <p:nvCxnSpPr>
              <p:cNvPr id="1827" name="Google Shape;1827;p23"/>
              <p:cNvCxnSpPr/>
              <p:nvPr/>
            </p:nvCxnSpPr>
            <p:spPr>
              <a:xfrm>
                <a:off x="1805816" y="3020739"/>
                <a:ext cx="0" cy="829205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A9B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28" name="Google Shape;1828;p23"/>
              <p:cNvCxnSpPr/>
              <p:nvPr/>
            </p:nvCxnSpPr>
            <p:spPr>
              <a:xfrm>
                <a:off x="1984153" y="3020739"/>
                <a:ext cx="0" cy="829205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A9B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829" name="Google Shape;1829;p23"/>
            <p:cNvGrpSpPr/>
            <p:nvPr/>
          </p:nvGrpSpPr>
          <p:grpSpPr>
            <a:xfrm>
              <a:off x="1891714" y="5301891"/>
              <a:ext cx="326088" cy="279703"/>
              <a:chOff x="987765" y="3531784"/>
              <a:chExt cx="406694" cy="348844"/>
            </a:xfrm>
          </p:grpSpPr>
          <p:pic>
            <p:nvPicPr>
              <p:cNvPr id="1830" name="Google Shape;1830;p2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987765" y="3531791"/>
                <a:ext cx="184987" cy="34883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31" name="Google Shape;1831;p2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209469" y="3531784"/>
                <a:ext cx="184990" cy="34883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832" name="Google Shape;1832;p23"/>
            <p:cNvSpPr/>
            <p:nvPr/>
          </p:nvSpPr>
          <p:spPr>
            <a:xfrm>
              <a:off x="2241107" y="5195060"/>
              <a:ext cx="891600" cy="41577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94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내부 통합 발행물 WEB #1, #2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94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8core/64GB</a:t>
              </a:r>
              <a:endParaRPr/>
            </a:p>
          </p:txBody>
        </p:sp>
      </p:grpSp>
      <p:cxnSp>
        <p:nvCxnSpPr>
          <p:cNvPr id="1833" name="Google Shape;1833;p23"/>
          <p:cNvCxnSpPr/>
          <p:nvPr/>
        </p:nvCxnSpPr>
        <p:spPr>
          <a:xfrm>
            <a:off x="5413138" y="2669872"/>
            <a:ext cx="3960000" cy="0"/>
          </a:xfrm>
          <a:prstGeom prst="straightConnector1">
            <a:avLst/>
          </a:prstGeom>
          <a:noFill/>
          <a:ln cap="flat" cmpd="sng" w="28575">
            <a:solidFill>
              <a:srgbClr val="99A9B9"/>
            </a:solidFill>
            <a:prstDash val="solid"/>
            <a:round/>
            <a:headEnd len="sm" w="sm" type="oval"/>
            <a:tailEnd len="sm" w="sm" type="oval"/>
          </a:ln>
        </p:spPr>
      </p:cxnSp>
      <p:sp>
        <p:nvSpPr>
          <p:cNvPr id="1834" name="Google Shape;1834;p23"/>
          <p:cNvSpPr/>
          <p:nvPr/>
        </p:nvSpPr>
        <p:spPr>
          <a:xfrm rot="6335274">
            <a:off x="7812205" y="2932610"/>
            <a:ext cx="1005021" cy="1548978"/>
          </a:xfrm>
          <a:custGeom>
            <a:rect b="b" l="l" r="r" t="t"/>
            <a:pathLst>
              <a:path extrusionOk="0" h="1599825" w="3351857">
                <a:moveTo>
                  <a:pt x="12021" y="1163909"/>
                </a:moveTo>
                <a:lnTo>
                  <a:pt x="1024963" y="0"/>
                </a:lnTo>
                <a:cubicBezTo>
                  <a:pt x="1028152" y="440707"/>
                  <a:pt x="1021843" y="879752"/>
                  <a:pt x="1025032" y="1320459"/>
                </a:cubicBezTo>
                <a:lnTo>
                  <a:pt x="3351857" y="1315954"/>
                </a:lnTo>
                <a:lnTo>
                  <a:pt x="0" y="1599825"/>
                </a:lnTo>
                <a:cubicBezTo>
                  <a:pt x="840" y="1429889"/>
                  <a:pt x="11181" y="1333845"/>
                  <a:pt x="12021" y="1163909"/>
                </a:cubicBezTo>
                <a:close/>
              </a:path>
            </a:pathLst>
          </a:custGeom>
          <a:gradFill>
            <a:gsLst>
              <a:gs pos="0">
                <a:srgbClr val="C9157C">
                  <a:alpha val="0"/>
                </a:srgbClr>
              </a:gs>
              <a:gs pos="40000">
                <a:srgbClr val="C9157C">
                  <a:alpha val="0"/>
                </a:srgbClr>
              </a:gs>
              <a:gs pos="100000">
                <a:srgbClr val="C9157C">
                  <a:alpha val="50196"/>
                </a:srgbClr>
              </a:gs>
            </a:gsLst>
            <a:lin ang="75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grpSp>
        <p:nvGrpSpPr>
          <p:cNvPr id="1835" name="Google Shape;1835;p23"/>
          <p:cNvGrpSpPr/>
          <p:nvPr/>
        </p:nvGrpSpPr>
        <p:grpSpPr>
          <a:xfrm>
            <a:off x="5601878" y="2663261"/>
            <a:ext cx="1865190" cy="619245"/>
            <a:chOff x="5660335" y="5112702"/>
            <a:chExt cx="2115178" cy="702241"/>
          </a:xfrm>
        </p:grpSpPr>
        <p:grpSp>
          <p:nvGrpSpPr>
            <p:cNvPr id="1836" name="Google Shape;1836;p23"/>
            <p:cNvGrpSpPr/>
            <p:nvPr/>
          </p:nvGrpSpPr>
          <p:grpSpPr>
            <a:xfrm>
              <a:off x="5768873" y="5112749"/>
              <a:ext cx="243149" cy="702194"/>
              <a:chOff x="1773410" y="3020734"/>
              <a:chExt cx="243149" cy="594260"/>
            </a:xfrm>
          </p:grpSpPr>
          <p:cxnSp>
            <p:nvCxnSpPr>
              <p:cNvPr id="1837" name="Google Shape;1837;p23"/>
              <p:cNvCxnSpPr/>
              <p:nvPr/>
            </p:nvCxnSpPr>
            <p:spPr>
              <a:xfrm>
                <a:off x="1773410" y="3020738"/>
                <a:ext cx="0" cy="594256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A9B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38" name="Google Shape;1838;p23"/>
              <p:cNvCxnSpPr/>
              <p:nvPr/>
            </p:nvCxnSpPr>
            <p:spPr>
              <a:xfrm>
                <a:off x="2016559" y="3020734"/>
                <a:ext cx="0" cy="594256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A9B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839" name="Google Shape;1839;p23"/>
            <p:cNvGrpSpPr/>
            <p:nvPr/>
          </p:nvGrpSpPr>
          <p:grpSpPr>
            <a:xfrm>
              <a:off x="6240439" y="5112702"/>
              <a:ext cx="243149" cy="702194"/>
              <a:chOff x="1773410" y="3020736"/>
              <a:chExt cx="243149" cy="594268"/>
            </a:xfrm>
          </p:grpSpPr>
          <p:cxnSp>
            <p:nvCxnSpPr>
              <p:cNvPr id="1840" name="Google Shape;1840;p23"/>
              <p:cNvCxnSpPr/>
              <p:nvPr/>
            </p:nvCxnSpPr>
            <p:spPr>
              <a:xfrm>
                <a:off x="1773410" y="3020739"/>
                <a:ext cx="0" cy="594265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A9B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41" name="Google Shape;1841;p23"/>
              <p:cNvCxnSpPr/>
              <p:nvPr/>
            </p:nvCxnSpPr>
            <p:spPr>
              <a:xfrm>
                <a:off x="2016559" y="3020736"/>
                <a:ext cx="0" cy="594265"/>
              </a:xfrm>
              <a:prstGeom prst="straightConnector1">
                <a:avLst/>
              </a:prstGeom>
              <a:noFill/>
              <a:ln cap="flat" cmpd="sng" w="9525">
                <a:solidFill>
                  <a:srgbClr val="99A9B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842" name="Google Shape;1842;p23"/>
            <p:cNvGrpSpPr/>
            <p:nvPr/>
          </p:nvGrpSpPr>
          <p:grpSpPr>
            <a:xfrm>
              <a:off x="5660335" y="5263252"/>
              <a:ext cx="945201" cy="408593"/>
              <a:chOff x="1080593" y="4604099"/>
              <a:chExt cx="1178846" cy="509591"/>
            </a:xfrm>
          </p:grpSpPr>
          <p:grpSp>
            <p:nvGrpSpPr>
              <p:cNvPr id="1843" name="Google Shape;1843;p23"/>
              <p:cNvGrpSpPr/>
              <p:nvPr/>
            </p:nvGrpSpPr>
            <p:grpSpPr>
              <a:xfrm>
                <a:off x="1080593" y="4604099"/>
                <a:ext cx="572762" cy="509581"/>
                <a:chOff x="906933" y="3384617"/>
                <a:chExt cx="572762" cy="509581"/>
              </a:xfrm>
            </p:grpSpPr>
            <p:pic>
              <p:nvPicPr>
                <p:cNvPr id="1844" name="Google Shape;1844;p2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906933" y="3384617"/>
                  <a:ext cx="270226" cy="50957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845" name="Google Shape;1845;p2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1209469" y="3384623"/>
                  <a:ext cx="270226" cy="5095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846" name="Google Shape;1846;p23"/>
              <p:cNvGrpSpPr/>
              <p:nvPr/>
            </p:nvGrpSpPr>
            <p:grpSpPr>
              <a:xfrm>
                <a:off x="1686677" y="4604114"/>
                <a:ext cx="572762" cy="509576"/>
                <a:chOff x="906933" y="3384632"/>
                <a:chExt cx="572762" cy="509576"/>
              </a:xfrm>
            </p:grpSpPr>
            <p:pic>
              <p:nvPicPr>
                <p:cNvPr id="1847" name="Google Shape;1847;p2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906933" y="3384639"/>
                  <a:ext cx="270226" cy="50956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848" name="Google Shape;1848;p2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1209469" y="3384632"/>
                  <a:ext cx="270226" cy="50957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sp>
          <p:nvSpPr>
            <p:cNvPr id="1849" name="Google Shape;1849;p23"/>
            <p:cNvSpPr/>
            <p:nvPr/>
          </p:nvSpPr>
          <p:spPr>
            <a:xfrm>
              <a:off x="6724903" y="5270675"/>
              <a:ext cx="1050610" cy="27718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94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MDS WAS #1 ~ #4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94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8core/128GB</a:t>
              </a:r>
              <a:endParaRPr/>
            </a:p>
          </p:txBody>
        </p:sp>
      </p:grpSp>
      <p:sp>
        <p:nvSpPr>
          <p:cNvPr id="1850" name="Google Shape;1850;p23"/>
          <p:cNvSpPr/>
          <p:nvPr/>
        </p:nvSpPr>
        <p:spPr>
          <a:xfrm>
            <a:off x="7702577" y="2803153"/>
            <a:ext cx="177790" cy="336080"/>
          </a:xfrm>
          <a:prstGeom prst="rect">
            <a:avLst/>
          </a:prstGeom>
          <a:noFill/>
          <a:ln cap="flat" cmpd="sng" w="19050">
            <a:solidFill>
              <a:srgbClr val="C813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87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51" name="Google Shape;1851;p23"/>
          <p:cNvGrpSpPr/>
          <p:nvPr/>
        </p:nvGrpSpPr>
        <p:grpSpPr>
          <a:xfrm>
            <a:off x="5413138" y="3288315"/>
            <a:ext cx="1209796" cy="1226701"/>
            <a:chOff x="957913" y="5153025"/>
            <a:chExt cx="1209796" cy="1226701"/>
          </a:xfrm>
        </p:grpSpPr>
        <p:sp>
          <p:nvSpPr>
            <p:cNvPr id="1852" name="Google Shape;1852;p23"/>
            <p:cNvSpPr/>
            <p:nvPr/>
          </p:nvSpPr>
          <p:spPr>
            <a:xfrm>
              <a:off x="957913" y="5153025"/>
              <a:ext cx="1209796" cy="1226701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AFD1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3" name="Google Shape;1853;p23"/>
            <p:cNvSpPr/>
            <p:nvPr/>
          </p:nvSpPr>
          <p:spPr>
            <a:xfrm>
              <a:off x="996092" y="5468651"/>
              <a:ext cx="1142881" cy="200242"/>
            </a:xfrm>
            <a:prstGeom prst="snip2SameRect">
              <a:avLst>
                <a:gd fmla="val 0" name="adj1"/>
                <a:gd fmla="val 0" name="adj2"/>
              </a:avLst>
            </a:prstGeom>
            <a:solidFill>
              <a:srgbClr val="BFC9D3"/>
            </a:solidFill>
            <a:ln>
              <a:noFill/>
            </a:ln>
            <a:effectLst>
              <a:outerShdw rotWithShape="0" algn="tl" dir="16200000" dist="12700">
                <a:srgbClr val="99A9B9"/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RD뷰어</a:t>
              </a:r>
              <a:endParaRPr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4" name="Google Shape;1854;p23"/>
            <p:cNvSpPr/>
            <p:nvPr/>
          </p:nvSpPr>
          <p:spPr>
            <a:xfrm>
              <a:off x="996092" y="5229845"/>
              <a:ext cx="1142881" cy="200242"/>
            </a:xfrm>
            <a:prstGeom prst="snip2SameRect">
              <a:avLst>
                <a:gd fmla="val 0" name="adj1"/>
                <a:gd fmla="val 0" name="adj2"/>
              </a:avLst>
            </a:prstGeom>
            <a:solidFill>
              <a:srgbClr val="BFC9D3"/>
            </a:solidFill>
            <a:ln>
              <a:noFill/>
            </a:ln>
            <a:effectLst>
              <a:outerShdw rotWithShape="0" algn="tl" dir="16200000" dist="12700">
                <a:srgbClr val="99A9B9"/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MDS</a:t>
              </a:r>
              <a:endParaRPr/>
            </a:p>
          </p:txBody>
        </p:sp>
        <p:sp>
          <p:nvSpPr>
            <p:cNvPr id="1855" name="Google Shape;1855;p23"/>
            <p:cNvSpPr/>
            <p:nvPr/>
          </p:nvSpPr>
          <p:spPr>
            <a:xfrm>
              <a:off x="996092" y="5706207"/>
              <a:ext cx="1142881" cy="200242"/>
            </a:xfrm>
            <a:prstGeom prst="snip2SameRect">
              <a:avLst>
                <a:gd fmla="val 0" name="adj1"/>
                <a:gd fmla="val 0" name="adj2"/>
              </a:avLst>
            </a:prstGeom>
            <a:solidFill>
              <a:srgbClr val="BFC9D3"/>
            </a:solidFill>
            <a:ln>
              <a:noFill/>
            </a:ln>
            <a:effectLst>
              <a:outerShdw rotWithShape="0" algn="tl" dir="16200000" dist="12700">
                <a:srgbClr val="99A9B9"/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마크애니</a:t>
              </a:r>
              <a:endParaRPr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56" name="Google Shape;1856;p23"/>
          <p:cNvGrpSpPr/>
          <p:nvPr/>
        </p:nvGrpSpPr>
        <p:grpSpPr>
          <a:xfrm>
            <a:off x="7234157" y="1658282"/>
            <a:ext cx="404408" cy="249569"/>
            <a:chOff x="4739327" y="2449180"/>
            <a:chExt cx="404408" cy="249569"/>
          </a:xfrm>
        </p:grpSpPr>
        <p:pic>
          <p:nvPicPr>
            <p:cNvPr id="1857" name="Google Shape;1857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739327" y="2449180"/>
              <a:ext cx="213672" cy="24956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8" name="Google Shape;1858;p23"/>
            <p:cNvSpPr txBox="1"/>
            <p:nvPr/>
          </p:nvSpPr>
          <p:spPr>
            <a:xfrm>
              <a:off x="4994655" y="2482525"/>
              <a:ext cx="149080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L4</a:t>
              </a:r>
              <a:endParaRPr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859" name="Google Shape;1859;p23"/>
          <p:cNvCxnSpPr>
            <a:stCxn id="1860" idx="1"/>
            <a:endCxn id="1731" idx="3"/>
          </p:cNvCxnSpPr>
          <p:nvPr/>
        </p:nvCxnSpPr>
        <p:spPr>
          <a:xfrm flipH="1">
            <a:off x="7616586" y="3869934"/>
            <a:ext cx="133800" cy="7800"/>
          </a:xfrm>
          <a:prstGeom prst="straightConnector1">
            <a:avLst/>
          </a:prstGeom>
          <a:noFill/>
          <a:ln cap="flat" cmpd="sng" w="9525">
            <a:solidFill>
              <a:srgbClr val="99A9B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1" name="Google Shape;1861;p23"/>
          <p:cNvCxnSpPr>
            <a:stCxn id="1852" idx="3"/>
            <a:endCxn id="1731" idx="1"/>
          </p:cNvCxnSpPr>
          <p:nvPr/>
        </p:nvCxnSpPr>
        <p:spPr>
          <a:xfrm flipH="1" rot="10800000">
            <a:off x="6622934" y="3877966"/>
            <a:ext cx="317400" cy="23700"/>
          </a:xfrm>
          <a:prstGeom prst="straightConnector1">
            <a:avLst/>
          </a:prstGeom>
          <a:noFill/>
          <a:ln cap="flat" cmpd="sng" w="9525">
            <a:solidFill>
              <a:srgbClr val="99A9B9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62" name="Google Shape;1862;p23"/>
          <p:cNvGrpSpPr/>
          <p:nvPr/>
        </p:nvGrpSpPr>
        <p:grpSpPr>
          <a:xfrm>
            <a:off x="7750386" y="3257934"/>
            <a:ext cx="1209796" cy="1224000"/>
            <a:chOff x="581026" y="4285356"/>
            <a:chExt cx="1209796" cy="1224000"/>
          </a:xfrm>
        </p:grpSpPr>
        <p:sp>
          <p:nvSpPr>
            <p:cNvPr id="1860" name="Google Shape;1860;p23"/>
            <p:cNvSpPr/>
            <p:nvPr/>
          </p:nvSpPr>
          <p:spPr>
            <a:xfrm>
              <a:off x="581026" y="4285356"/>
              <a:ext cx="1209796" cy="12240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AFD1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3" name="Google Shape;1863;p23"/>
            <p:cNvSpPr/>
            <p:nvPr/>
          </p:nvSpPr>
          <p:spPr>
            <a:xfrm>
              <a:off x="609167" y="4645120"/>
              <a:ext cx="1142881" cy="200242"/>
            </a:xfrm>
            <a:prstGeom prst="snip2SameRect">
              <a:avLst>
                <a:gd fmla="val 0" name="adj1"/>
                <a:gd fmla="val 0" name="adj2"/>
              </a:avLst>
            </a:prstGeom>
            <a:solidFill>
              <a:srgbClr val="BFC9D3"/>
            </a:solidFill>
            <a:ln>
              <a:noFill/>
            </a:ln>
            <a:effectLst>
              <a:outerShdw rotWithShape="0" algn="tl" dir="16200000" dist="12700">
                <a:srgbClr val="99A9B9"/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오즈스케쥴러</a:t>
              </a:r>
              <a:endParaRPr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4" name="Google Shape;1864;p23"/>
            <p:cNvSpPr/>
            <p:nvPr/>
          </p:nvSpPr>
          <p:spPr>
            <a:xfrm>
              <a:off x="609167" y="4344595"/>
              <a:ext cx="1142881" cy="200242"/>
            </a:xfrm>
            <a:prstGeom prst="snip2SameRect">
              <a:avLst>
                <a:gd fmla="val 0" name="adj1"/>
                <a:gd fmla="val 0" name="adj2"/>
              </a:avLst>
            </a:prstGeom>
            <a:solidFill>
              <a:srgbClr val="BFC9D3"/>
            </a:solidFill>
            <a:ln>
              <a:noFill/>
            </a:ln>
            <a:effectLst>
              <a:outerShdw rotWithShape="0" algn="tl" dir="16200000" dist="12700">
                <a:srgbClr val="99A9B9"/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OZ eForm Server</a:t>
              </a:r>
              <a:endParaRPr/>
            </a:p>
          </p:txBody>
        </p:sp>
        <p:sp>
          <p:nvSpPr>
            <p:cNvPr id="1865" name="Google Shape;1865;p23"/>
            <p:cNvSpPr/>
            <p:nvPr/>
          </p:nvSpPr>
          <p:spPr>
            <a:xfrm>
              <a:off x="609167" y="5246169"/>
              <a:ext cx="1142881" cy="200242"/>
            </a:xfrm>
            <a:prstGeom prst="snip2SameRect">
              <a:avLst>
                <a:gd fmla="val 0" name="adj1"/>
                <a:gd fmla="val 0" name="adj2"/>
              </a:avLst>
            </a:prstGeom>
            <a:solidFill>
              <a:srgbClr val="BFC9D3"/>
            </a:solidFill>
            <a:ln>
              <a:noFill/>
            </a:ln>
            <a:effectLst>
              <a:outerShdw rotWithShape="0" algn="tl" dir="16200000" dist="12700">
                <a:srgbClr val="99A9B9"/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후처리</a:t>
              </a:r>
              <a:endParaRPr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6" name="Google Shape;1866;p23"/>
            <p:cNvSpPr/>
            <p:nvPr/>
          </p:nvSpPr>
          <p:spPr>
            <a:xfrm>
              <a:off x="609167" y="4945645"/>
              <a:ext cx="1142881" cy="200242"/>
            </a:xfrm>
            <a:prstGeom prst="snip2SameRect">
              <a:avLst>
                <a:gd fmla="val 0" name="adj1"/>
                <a:gd fmla="val 0" name="adj2"/>
              </a:avLst>
            </a:prstGeom>
            <a:solidFill>
              <a:srgbClr val="BFC9D3"/>
            </a:solidFill>
            <a:ln>
              <a:noFill/>
            </a:ln>
            <a:effectLst>
              <a:outerShdw rotWithShape="0" algn="tl" dir="16200000" dist="12700">
                <a:srgbClr val="99A9B9"/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마크애니</a:t>
              </a:r>
              <a:endParaRPr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67" name="Google Shape;1867;p23"/>
          <p:cNvGrpSpPr/>
          <p:nvPr/>
        </p:nvGrpSpPr>
        <p:grpSpPr>
          <a:xfrm>
            <a:off x="1919373" y="3328029"/>
            <a:ext cx="531455" cy="329863"/>
            <a:chOff x="2004584" y="4825007"/>
            <a:chExt cx="531455" cy="329863"/>
          </a:xfrm>
        </p:grpSpPr>
        <p:pic>
          <p:nvPicPr>
            <p:cNvPr id="1868" name="Google Shape;1868;p2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004584" y="4825007"/>
              <a:ext cx="531455" cy="3298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9" name="Google Shape;1869;p23"/>
            <p:cNvSpPr txBox="1"/>
            <p:nvPr/>
          </p:nvSpPr>
          <p:spPr>
            <a:xfrm>
              <a:off x="2013077" y="4858198"/>
              <a:ext cx="496454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장기손사</a:t>
              </a:r>
              <a:endParaRPr sz="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NAS</a:t>
              </a:r>
              <a:endParaRPr/>
            </a:p>
          </p:txBody>
        </p:sp>
      </p:grpSp>
      <p:grpSp>
        <p:nvGrpSpPr>
          <p:cNvPr id="1870" name="Google Shape;1870;p23"/>
          <p:cNvGrpSpPr/>
          <p:nvPr/>
        </p:nvGrpSpPr>
        <p:grpSpPr>
          <a:xfrm>
            <a:off x="1916216" y="3691585"/>
            <a:ext cx="531455" cy="329863"/>
            <a:chOff x="2004584" y="4825007"/>
            <a:chExt cx="531455" cy="329863"/>
          </a:xfrm>
        </p:grpSpPr>
        <p:pic>
          <p:nvPicPr>
            <p:cNvPr id="1871" name="Google Shape;1871;p2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004584" y="4825007"/>
              <a:ext cx="531455" cy="3298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2" name="Google Shape;1872;p23"/>
            <p:cNvSpPr txBox="1"/>
            <p:nvPr/>
          </p:nvSpPr>
          <p:spPr>
            <a:xfrm>
              <a:off x="2013077" y="4858198"/>
              <a:ext cx="496454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보상포탈</a:t>
              </a:r>
              <a:endParaRPr sz="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NAS</a:t>
              </a:r>
              <a:endParaRPr/>
            </a:p>
          </p:txBody>
        </p:sp>
      </p:grpSp>
      <p:grpSp>
        <p:nvGrpSpPr>
          <p:cNvPr id="1873" name="Google Shape;1873;p23"/>
          <p:cNvGrpSpPr/>
          <p:nvPr/>
        </p:nvGrpSpPr>
        <p:grpSpPr>
          <a:xfrm>
            <a:off x="7010340" y="4096024"/>
            <a:ext cx="531456" cy="331224"/>
            <a:chOff x="2004583" y="4825007"/>
            <a:chExt cx="531456" cy="308911"/>
          </a:xfrm>
        </p:grpSpPr>
        <p:pic>
          <p:nvPicPr>
            <p:cNvPr id="1874" name="Google Shape;1874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004584" y="4825007"/>
              <a:ext cx="531455" cy="3089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5" name="Google Shape;1875;p23"/>
            <p:cNvSpPr txBox="1"/>
            <p:nvPr/>
          </p:nvSpPr>
          <p:spPr>
            <a:xfrm>
              <a:off x="2004583" y="4888604"/>
              <a:ext cx="496454" cy="229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OZ PDF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NAS</a:t>
              </a:r>
              <a:endParaRPr sz="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76" name="Google Shape;1876;p23"/>
          <p:cNvGrpSpPr/>
          <p:nvPr/>
        </p:nvGrpSpPr>
        <p:grpSpPr>
          <a:xfrm>
            <a:off x="7014274" y="3348114"/>
            <a:ext cx="531455" cy="329863"/>
            <a:chOff x="2004584" y="4825007"/>
            <a:chExt cx="531455" cy="329863"/>
          </a:xfrm>
        </p:grpSpPr>
        <p:pic>
          <p:nvPicPr>
            <p:cNvPr id="1877" name="Google Shape;1877;p2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004584" y="4825007"/>
              <a:ext cx="531455" cy="3298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8" name="Google Shape;1878;p23"/>
            <p:cNvSpPr txBox="1"/>
            <p:nvPr/>
          </p:nvSpPr>
          <p:spPr>
            <a:xfrm>
              <a:off x="2013077" y="4858198"/>
              <a:ext cx="496454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대용량메일</a:t>
              </a:r>
              <a:endParaRPr sz="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NAS</a:t>
              </a:r>
              <a:endParaRPr/>
            </a:p>
          </p:txBody>
        </p:sp>
      </p:grpSp>
      <p:grpSp>
        <p:nvGrpSpPr>
          <p:cNvPr id="1879" name="Google Shape;1879;p23"/>
          <p:cNvGrpSpPr/>
          <p:nvPr/>
        </p:nvGrpSpPr>
        <p:grpSpPr>
          <a:xfrm>
            <a:off x="7011117" y="3711670"/>
            <a:ext cx="531455" cy="329863"/>
            <a:chOff x="2004584" y="4825007"/>
            <a:chExt cx="531455" cy="329863"/>
          </a:xfrm>
        </p:grpSpPr>
        <p:pic>
          <p:nvPicPr>
            <p:cNvPr id="1880" name="Google Shape;1880;p2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004584" y="4825007"/>
              <a:ext cx="531455" cy="3298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1" name="Google Shape;1881;p23"/>
            <p:cNvSpPr txBox="1"/>
            <p:nvPr/>
          </p:nvSpPr>
          <p:spPr>
            <a:xfrm>
              <a:off x="2013077" y="4858198"/>
              <a:ext cx="496454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MDS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NAS</a:t>
              </a:r>
              <a:endParaRPr/>
            </a:p>
          </p:txBody>
        </p:sp>
      </p:grpSp>
      <p:sp>
        <p:nvSpPr>
          <p:cNvPr id="1882" name="Google Shape;1882;p23"/>
          <p:cNvSpPr txBox="1"/>
          <p:nvPr/>
        </p:nvSpPr>
        <p:spPr>
          <a:xfrm>
            <a:off x="417770" y="714190"/>
            <a:ext cx="8964356" cy="637153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아키텍처 설계 &gt; 2.5 내외부 통합 발행물</a:t>
            </a:r>
            <a:endParaRPr b="1" i="0" sz="14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2.5.1 통합발행물 시스템 구성 ( 2/2 )</a:t>
            </a:r>
            <a:endParaRPr/>
          </a:p>
        </p:txBody>
      </p:sp>
      <p:sp>
        <p:nvSpPr>
          <p:cNvPr id="1883" name="Google Shape;1883;p23"/>
          <p:cNvSpPr/>
          <p:nvPr/>
        </p:nvSpPr>
        <p:spPr>
          <a:xfrm>
            <a:off x="1689019" y="4595724"/>
            <a:ext cx="6949440" cy="178983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6842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4" name="Google Shape;1884;p23"/>
          <p:cNvSpPr/>
          <p:nvPr/>
        </p:nvSpPr>
        <p:spPr>
          <a:xfrm>
            <a:off x="2012174" y="4628805"/>
            <a:ext cx="950400" cy="950400"/>
          </a:xfrm>
          <a:prstGeom prst="ellipse">
            <a:avLst/>
          </a:prstGeom>
          <a:solidFill>
            <a:srgbClr val="E1EEFC"/>
          </a:solidFill>
          <a:ln cap="flat" cmpd="sng" w="17775">
            <a:solidFill>
              <a:srgbClr val="2A68B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232B35"/>
                </a:solidFill>
                <a:latin typeface="Malgun Gothic"/>
                <a:ea typeface="Malgun Gothic"/>
                <a:cs typeface="Malgun Gothic"/>
                <a:sym typeface="Malgun Gothic"/>
              </a:rPr>
              <a:t>요청</a:t>
            </a:r>
            <a:br>
              <a:rPr b="1" lang="en-US" sz="800">
                <a:solidFill>
                  <a:srgbClr val="232B35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en-US" sz="800">
                <a:solidFill>
                  <a:srgbClr val="232B35"/>
                </a:solidFill>
                <a:latin typeface="Malgun Gothic"/>
                <a:ea typeface="Malgun Gothic"/>
                <a:cs typeface="Malgun Gothic"/>
                <a:sym typeface="Malgun Gothic"/>
              </a:rPr>
              <a:t>접수</a:t>
            </a:r>
            <a:endParaRPr sz="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5" name="Google Shape;1885;p23"/>
          <p:cNvSpPr/>
          <p:nvPr/>
        </p:nvSpPr>
        <p:spPr>
          <a:xfrm>
            <a:off x="3292695" y="4628805"/>
            <a:ext cx="950400" cy="950400"/>
          </a:xfrm>
          <a:prstGeom prst="ellipse">
            <a:avLst/>
          </a:prstGeom>
          <a:solidFill>
            <a:srgbClr val="E1EEFC"/>
          </a:solidFill>
          <a:ln cap="flat" cmpd="sng" w="17775">
            <a:solidFill>
              <a:srgbClr val="2A68B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232B35"/>
                </a:solidFill>
                <a:latin typeface="Malgun Gothic"/>
                <a:ea typeface="Malgun Gothic"/>
                <a:cs typeface="Malgun Gothic"/>
                <a:sym typeface="Malgun Gothic"/>
              </a:rPr>
              <a:t>eForm</a:t>
            </a:r>
            <a:br>
              <a:rPr b="1" lang="en-US" sz="800">
                <a:solidFill>
                  <a:srgbClr val="232B35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en-US" sz="800">
                <a:solidFill>
                  <a:srgbClr val="232B35"/>
                </a:solidFill>
                <a:latin typeface="Malgun Gothic"/>
                <a:ea typeface="Malgun Gothic"/>
                <a:cs typeface="Malgun Gothic"/>
                <a:sym typeface="Malgun Gothic"/>
              </a:rPr>
              <a:t>Server</a:t>
            </a:r>
            <a:endParaRPr sz="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6" name="Google Shape;1886;p23"/>
          <p:cNvSpPr/>
          <p:nvPr/>
        </p:nvSpPr>
        <p:spPr>
          <a:xfrm>
            <a:off x="4573216" y="4628805"/>
            <a:ext cx="950400" cy="950400"/>
          </a:xfrm>
          <a:prstGeom prst="ellipse">
            <a:avLst/>
          </a:prstGeom>
          <a:solidFill>
            <a:srgbClr val="E7F6EB"/>
          </a:solidFill>
          <a:ln cap="flat" cmpd="sng" w="17775">
            <a:solidFill>
              <a:srgbClr val="227D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232B35"/>
                </a:solidFill>
                <a:latin typeface="Malgun Gothic"/>
                <a:ea typeface="Malgun Gothic"/>
                <a:cs typeface="Malgun Gothic"/>
                <a:sym typeface="Malgun Gothic"/>
              </a:rPr>
              <a:t>Scheduler</a:t>
            </a:r>
            <a:br>
              <a:rPr b="1" lang="en-US" sz="800">
                <a:solidFill>
                  <a:srgbClr val="232B35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en-US" sz="800">
                <a:solidFill>
                  <a:srgbClr val="232B35"/>
                </a:solidFill>
                <a:latin typeface="Malgun Gothic"/>
                <a:ea typeface="Malgun Gothic"/>
                <a:cs typeface="Malgun Gothic"/>
                <a:sym typeface="Malgun Gothic"/>
              </a:rPr>
              <a:t>L4 (VIP)</a:t>
            </a:r>
            <a:endParaRPr sz="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7" name="Google Shape;1887;p23"/>
          <p:cNvSpPr/>
          <p:nvPr/>
        </p:nvSpPr>
        <p:spPr>
          <a:xfrm>
            <a:off x="5853737" y="4628805"/>
            <a:ext cx="948957" cy="950400"/>
          </a:xfrm>
          <a:prstGeom prst="ellipse">
            <a:avLst/>
          </a:prstGeom>
          <a:solidFill>
            <a:srgbClr val="F4EEFB"/>
          </a:solidFill>
          <a:ln cap="flat" cmpd="sng" w="17775">
            <a:solidFill>
              <a:srgbClr val="6842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232B35"/>
                </a:solidFill>
                <a:latin typeface="Malgun Gothic"/>
                <a:ea typeface="Malgun Gothic"/>
                <a:cs typeface="Malgun Gothic"/>
                <a:sym typeface="Malgun Gothic"/>
              </a:rPr>
              <a:t>OZ Scheduler</a:t>
            </a:r>
            <a:br>
              <a:rPr b="1" lang="en-US" sz="800">
                <a:solidFill>
                  <a:srgbClr val="232B35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en-US" sz="800">
                <a:solidFill>
                  <a:srgbClr val="232B35"/>
                </a:solidFill>
                <a:latin typeface="Malgun Gothic"/>
                <a:ea typeface="Malgun Gothic"/>
                <a:cs typeface="Malgun Gothic"/>
                <a:sym typeface="Malgun Gothic"/>
              </a:rPr>
              <a:t>Pool</a:t>
            </a:r>
            <a:endParaRPr sz="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8" name="Google Shape;1888;p23"/>
          <p:cNvSpPr/>
          <p:nvPr/>
        </p:nvSpPr>
        <p:spPr>
          <a:xfrm>
            <a:off x="7132814" y="4628805"/>
            <a:ext cx="950400" cy="950400"/>
          </a:xfrm>
          <a:prstGeom prst="ellipse">
            <a:avLst/>
          </a:prstGeom>
          <a:solidFill>
            <a:srgbClr val="FEF5E0"/>
          </a:solidFill>
          <a:ln cap="flat" cmpd="sng" w="17775">
            <a:solidFill>
              <a:srgbClr val="E69A2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232B35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발행</a:t>
            </a:r>
            <a:br>
              <a:rPr b="1" lang="en-US" sz="800">
                <a:solidFill>
                  <a:srgbClr val="232B35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en-US" sz="800">
                <a:solidFill>
                  <a:srgbClr val="232B35"/>
                </a:solidFill>
                <a:latin typeface="Malgun Gothic"/>
                <a:ea typeface="Malgun Gothic"/>
                <a:cs typeface="Malgun Gothic"/>
                <a:sym typeface="Malgun Gothic"/>
              </a:rPr>
              <a:t>처리</a:t>
            </a:r>
            <a:endParaRPr sz="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89" name="Google Shape;1889;p23"/>
          <p:cNvCxnSpPr>
            <a:stCxn id="1884" idx="6"/>
            <a:endCxn id="1885" idx="2"/>
          </p:cNvCxnSpPr>
          <p:nvPr/>
        </p:nvCxnSpPr>
        <p:spPr>
          <a:xfrm>
            <a:off x="2962574" y="5104005"/>
            <a:ext cx="330000" cy="0"/>
          </a:xfrm>
          <a:prstGeom prst="straightConnector1">
            <a:avLst/>
          </a:prstGeom>
          <a:noFill/>
          <a:ln cap="flat" cmpd="sng" w="25400">
            <a:solidFill>
              <a:srgbClr val="2A68B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890" name="Google Shape;1890;p23"/>
          <p:cNvCxnSpPr>
            <a:stCxn id="1885" idx="6"/>
            <a:endCxn id="1886" idx="2"/>
          </p:cNvCxnSpPr>
          <p:nvPr/>
        </p:nvCxnSpPr>
        <p:spPr>
          <a:xfrm>
            <a:off x="4243095" y="5104005"/>
            <a:ext cx="330000" cy="0"/>
          </a:xfrm>
          <a:prstGeom prst="straightConnector1">
            <a:avLst/>
          </a:prstGeom>
          <a:noFill/>
          <a:ln cap="flat" cmpd="sng" w="25400">
            <a:solidFill>
              <a:srgbClr val="227D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891" name="Google Shape;1891;p23"/>
          <p:cNvCxnSpPr>
            <a:stCxn id="1887" idx="6"/>
            <a:endCxn id="1888" idx="2"/>
          </p:cNvCxnSpPr>
          <p:nvPr/>
        </p:nvCxnSpPr>
        <p:spPr>
          <a:xfrm>
            <a:off x="6802694" y="5104005"/>
            <a:ext cx="330000" cy="0"/>
          </a:xfrm>
          <a:prstGeom prst="straightConnector1">
            <a:avLst/>
          </a:prstGeom>
          <a:noFill/>
          <a:ln cap="flat" cmpd="sng" w="25400">
            <a:solidFill>
              <a:srgbClr val="E69A2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892" name="Google Shape;1892;p23"/>
          <p:cNvSpPr/>
          <p:nvPr/>
        </p:nvSpPr>
        <p:spPr>
          <a:xfrm>
            <a:off x="2045635" y="5736288"/>
            <a:ext cx="6236208" cy="521207"/>
          </a:xfrm>
          <a:prstGeom prst="roundRect">
            <a:avLst>
              <a:gd fmla="val 16667" name="adj"/>
            </a:avLst>
          </a:prstGeom>
          <a:solidFill>
            <a:srgbClr val="F4EEFB"/>
          </a:solidFill>
          <a:ln cap="flat" cmpd="sng" w="12700">
            <a:solidFill>
              <a:srgbClr val="6842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232B35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동일 WAS 내 Scheduler를 직접 호출하지 않고</a:t>
            </a:r>
            <a:br>
              <a:rPr b="1" lang="en-US" sz="850">
                <a:solidFill>
                  <a:srgbClr val="232B35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en-US" sz="850">
                <a:solidFill>
                  <a:srgbClr val="232B35"/>
                </a:solidFill>
                <a:latin typeface="Malgun Gothic"/>
                <a:ea typeface="Malgun Gothic"/>
                <a:cs typeface="Malgun Gothic"/>
                <a:sym typeface="Malgun Gothic"/>
              </a:rPr>
              <a:t>Scheduler L4 VIP를 호출하여 가용한 OZ Scheduler로 분산 처리</a:t>
            </a:r>
            <a:endParaRPr b="1" sz="850">
              <a:solidFill>
                <a:srgbClr val="232B3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893" name="Google Shape;1893;p23"/>
          <p:cNvCxnSpPr>
            <a:stCxn id="1886" idx="6"/>
            <a:endCxn id="1887" idx="2"/>
          </p:cNvCxnSpPr>
          <p:nvPr/>
        </p:nvCxnSpPr>
        <p:spPr>
          <a:xfrm>
            <a:off x="5523616" y="5104005"/>
            <a:ext cx="330000" cy="0"/>
          </a:xfrm>
          <a:prstGeom prst="straightConnector1">
            <a:avLst/>
          </a:prstGeom>
          <a:noFill/>
          <a:ln cap="flat" cmpd="sng" w="25400">
            <a:solidFill>
              <a:srgbClr val="6842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pic>
        <p:nvPicPr>
          <p:cNvPr id="1894" name="Google Shape;1894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7313" y="1645467"/>
            <a:ext cx="422000" cy="401053"/>
          </a:xfrm>
          <a:prstGeom prst="rect">
            <a:avLst/>
          </a:prstGeom>
          <a:noFill/>
          <a:ln>
            <a:noFill/>
          </a:ln>
        </p:spPr>
      </p:pic>
      <p:sp>
        <p:nvSpPr>
          <p:cNvPr id="1895" name="Google Shape;1895;p23"/>
          <p:cNvSpPr txBox="1"/>
          <p:nvPr/>
        </p:nvSpPr>
        <p:spPr>
          <a:xfrm>
            <a:off x="492598" y="2061207"/>
            <a:ext cx="291426" cy="138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Noto Sans Symbols"/>
              <a:buNone/>
            </a:pPr>
            <a:r>
              <a:rPr lang="en-US"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사용자</a:t>
            </a:r>
            <a:endParaRPr/>
          </a:p>
        </p:txBody>
      </p:sp>
      <p:cxnSp>
        <p:nvCxnSpPr>
          <p:cNvPr id="1896" name="Google Shape;1896;p23"/>
          <p:cNvCxnSpPr>
            <a:stCxn id="1894" idx="3"/>
            <a:endCxn id="1792" idx="1"/>
          </p:cNvCxnSpPr>
          <p:nvPr/>
        </p:nvCxnSpPr>
        <p:spPr>
          <a:xfrm flipH="1" rot="10800000">
            <a:off x="849313" y="1800394"/>
            <a:ext cx="1298700" cy="45600"/>
          </a:xfrm>
          <a:prstGeom prst="straightConnector1">
            <a:avLst/>
          </a:prstGeom>
          <a:noFill/>
          <a:ln cap="flat" cmpd="sng" w="28575">
            <a:solidFill>
              <a:srgbClr val="00539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97" name="Google Shape;1897;p23"/>
          <p:cNvSpPr/>
          <p:nvPr/>
        </p:nvSpPr>
        <p:spPr>
          <a:xfrm>
            <a:off x="917128" y="1710461"/>
            <a:ext cx="180000" cy="180000"/>
          </a:xfrm>
          <a:prstGeom prst="ellipse">
            <a:avLst/>
          </a:prstGeom>
          <a:solidFill>
            <a:srgbClr val="5F93CD"/>
          </a:solidFill>
          <a:ln>
            <a:noFill/>
          </a:ln>
          <a:effectLst>
            <a:outerShdw rotWithShape="0" algn="t" dir="5400000" dist="12700">
              <a:srgbClr val="000000">
                <a:alpha val="20000"/>
              </a:srgbClr>
            </a:outerShdw>
          </a:effectLst>
        </p:spPr>
        <p:txBody>
          <a:bodyPr anchorCtr="0" anchor="ctr" bIns="46625" lIns="93275" spcFirstLastPara="1" rIns="93275" wrap="square" tIns="46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cxnSp>
        <p:nvCxnSpPr>
          <p:cNvPr id="1898" name="Google Shape;1898;p23"/>
          <p:cNvCxnSpPr>
            <a:stCxn id="1792" idx="1"/>
            <a:endCxn id="1785" idx="0"/>
          </p:cNvCxnSpPr>
          <p:nvPr/>
        </p:nvCxnSpPr>
        <p:spPr>
          <a:xfrm flipH="1">
            <a:off x="615502" y="1800462"/>
            <a:ext cx="1532400" cy="1028100"/>
          </a:xfrm>
          <a:prstGeom prst="straightConnector1">
            <a:avLst/>
          </a:prstGeom>
          <a:noFill/>
          <a:ln cap="flat" cmpd="sng" w="28575">
            <a:solidFill>
              <a:srgbClr val="00539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99" name="Google Shape;1899;p23"/>
          <p:cNvSpPr/>
          <p:nvPr/>
        </p:nvSpPr>
        <p:spPr>
          <a:xfrm>
            <a:off x="628173" y="2841572"/>
            <a:ext cx="180000" cy="180000"/>
          </a:xfrm>
          <a:prstGeom prst="ellipse">
            <a:avLst/>
          </a:prstGeom>
          <a:solidFill>
            <a:srgbClr val="009972"/>
          </a:solidFill>
          <a:ln>
            <a:noFill/>
          </a:ln>
          <a:effectLst>
            <a:outerShdw rotWithShape="0" algn="t" dir="5400000" dist="12700">
              <a:srgbClr val="000000">
                <a:alpha val="20000"/>
              </a:srgbClr>
            </a:outerShdw>
          </a:effectLst>
        </p:spPr>
        <p:txBody>
          <a:bodyPr anchorCtr="0" anchor="ctr" bIns="46625" lIns="93275" spcFirstLastPara="1" rIns="93275" wrap="square" tIns="46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cxnSp>
        <p:nvCxnSpPr>
          <p:cNvPr id="1900" name="Google Shape;1900;p23"/>
          <p:cNvCxnSpPr>
            <a:stCxn id="1899" idx="7"/>
            <a:endCxn id="1792" idx="2"/>
          </p:cNvCxnSpPr>
          <p:nvPr/>
        </p:nvCxnSpPr>
        <p:spPr>
          <a:xfrm flipH="1" rot="10800000">
            <a:off x="781813" y="1925332"/>
            <a:ext cx="1473000" cy="942600"/>
          </a:xfrm>
          <a:prstGeom prst="straightConnector1">
            <a:avLst/>
          </a:prstGeom>
          <a:noFill/>
          <a:ln cap="flat" cmpd="sng" w="28575">
            <a:solidFill>
              <a:srgbClr val="00997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01" name="Google Shape;1901;p23"/>
          <p:cNvSpPr/>
          <p:nvPr/>
        </p:nvSpPr>
        <p:spPr>
          <a:xfrm>
            <a:off x="1550066" y="3570623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rotWithShape="0" algn="t" dir="5400000" dist="12700">
              <a:srgbClr val="000000">
                <a:alpha val="20000"/>
              </a:srgbClr>
            </a:outerShdw>
          </a:effectLst>
        </p:spPr>
        <p:txBody>
          <a:bodyPr anchorCtr="0" anchor="ctr" bIns="46625" lIns="93275" spcFirstLastPara="1" rIns="93275" wrap="square" tIns="46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902" name="Google Shape;1902;p23"/>
          <p:cNvSpPr/>
          <p:nvPr/>
        </p:nvSpPr>
        <p:spPr>
          <a:xfrm>
            <a:off x="2238329" y="1789757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rotWithShape="0" algn="t" dir="5400000" dist="12700">
              <a:srgbClr val="000000">
                <a:alpha val="20000"/>
              </a:srgbClr>
            </a:outerShdw>
          </a:effectLst>
        </p:spPr>
        <p:txBody>
          <a:bodyPr anchorCtr="0" anchor="ctr" bIns="46625" lIns="93275" spcFirstLastPara="1" rIns="93275" wrap="square" tIns="46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3" name="Google Shape;1903;p23"/>
          <p:cNvSpPr/>
          <p:nvPr/>
        </p:nvSpPr>
        <p:spPr>
          <a:xfrm>
            <a:off x="2014791" y="4642734"/>
            <a:ext cx="180000" cy="180000"/>
          </a:xfrm>
          <a:prstGeom prst="ellipse">
            <a:avLst/>
          </a:prstGeom>
          <a:solidFill>
            <a:srgbClr val="5F93CD"/>
          </a:solidFill>
          <a:ln>
            <a:noFill/>
          </a:ln>
          <a:effectLst>
            <a:outerShdw rotWithShape="0" algn="t" dir="5400000" dist="12700">
              <a:srgbClr val="000000">
                <a:alpha val="20000"/>
              </a:srgbClr>
            </a:outerShdw>
          </a:effectLst>
        </p:spPr>
        <p:txBody>
          <a:bodyPr anchorCtr="0" anchor="ctr" bIns="46625" lIns="93275" spcFirstLastPara="1" rIns="93275" wrap="square" tIns="46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904" name="Google Shape;1904;p23"/>
          <p:cNvSpPr/>
          <p:nvPr/>
        </p:nvSpPr>
        <p:spPr>
          <a:xfrm>
            <a:off x="3300217" y="4668868"/>
            <a:ext cx="180000" cy="180000"/>
          </a:xfrm>
          <a:prstGeom prst="ellipse">
            <a:avLst/>
          </a:prstGeom>
          <a:solidFill>
            <a:srgbClr val="5F93CD"/>
          </a:solidFill>
          <a:ln>
            <a:noFill/>
          </a:ln>
          <a:effectLst>
            <a:outerShdw rotWithShape="0" algn="t" dir="5400000" dist="12700">
              <a:srgbClr val="000000">
                <a:alpha val="20000"/>
              </a:srgbClr>
            </a:outerShdw>
          </a:effectLst>
        </p:spPr>
        <p:txBody>
          <a:bodyPr anchorCtr="0" anchor="ctr" bIns="46625" lIns="93275" spcFirstLastPara="1" rIns="93275" wrap="square" tIns="46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905" name="Google Shape;1905;p23"/>
          <p:cNvSpPr/>
          <p:nvPr/>
        </p:nvSpPr>
        <p:spPr>
          <a:xfrm>
            <a:off x="4598021" y="4673606"/>
            <a:ext cx="180000" cy="180000"/>
          </a:xfrm>
          <a:prstGeom prst="ellipse">
            <a:avLst/>
          </a:prstGeom>
          <a:solidFill>
            <a:srgbClr val="5F93CD"/>
          </a:solidFill>
          <a:ln>
            <a:noFill/>
          </a:ln>
          <a:effectLst>
            <a:outerShdw rotWithShape="0" algn="t" dir="5400000" dist="12700">
              <a:srgbClr val="000000">
                <a:alpha val="20000"/>
              </a:srgbClr>
            </a:outerShdw>
          </a:effectLst>
        </p:spPr>
        <p:txBody>
          <a:bodyPr anchorCtr="0" anchor="ctr" bIns="46625" lIns="93275" spcFirstLastPara="1" rIns="93275" wrap="square" tIns="46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906" name="Google Shape;1906;p23"/>
          <p:cNvSpPr/>
          <p:nvPr/>
        </p:nvSpPr>
        <p:spPr>
          <a:xfrm>
            <a:off x="5883447" y="4699740"/>
            <a:ext cx="180000" cy="180000"/>
          </a:xfrm>
          <a:prstGeom prst="ellipse">
            <a:avLst/>
          </a:prstGeom>
          <a:solidFill>
            <a:srgbClr val="5F93CD"/>
          </a:solidFill>
          <a:ln>
            <a:noFill/>
          </a:ln>
          <a:effectLst>
            <a:outerShdw rotWithShape="0" algn="t" dir="5400000" dist="12700">
              <a:srgbClr val="000000">
                <a:alpha val="20000"/>
              </a:srgbClr>
            </a:outerShdw>
          </a:effectLst>
        </p:spPr>
        <p:txBody>
          <a:bodyPr anchorCtr="0" anchor="ctr" bIns="46625" lIns="93275" spcFirstLastPara="1" rIns="93275" wrap="square" tIns="46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907" name="Google Shape;1907;p23"/>
          <p:cNvSpPr/>
          <p:nvPr/>
        </p:nvSpPr>
        <p:spPr>
          <a:xfrm>
            <a:off x="7164592" y="4699740"/>
            <a:ext cx="180000" cy="180000"/>
          </a:xfrm>
          <a:prstGeom prst="ellipse">
            <a:avLst/>
          </a:prstGeom>
          <a:solidFill>
            <a:srgbClr val="5F93CD"/>
          </a:solidFill>
          <a:ln>
            <a:noFill/>
          </a:ln>
          <a:effectLst>
            <a:outerShdw rotWithShape="0" algn="t" dir="5400000" dist="12700">
              <a:srgbClr val="000000">
                <a:alpha val="20000"/>
              </a:srgbClr>
            </a:outerShdw>
          </a:effectLst>
        </p:spPr>
        <p:txBody>
          <a:bodyPr anchorCtr="0" anchor="ctr" bIns="46625" lIns="93275" spcFirstLastPara="1" rIns="93275" wrap="square" tIns="46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908" name="Google Shape;1908;p23"/>
          <p:cNvSpPr/>
          <p:nvPr/>
        </p:nvSpPr>
        <p:spPr>
          <a:xfrm>
            <a:off x="1345893" y="3549304"/>
            <a:ext cx="180000" cy="180000"/>
          </a:xfrm>
          <a:prstGeom prst="ellipse">
            <a:avLst/>
          </a:prstGeom>
          <a:solidFill>
            <a:srgbClr val="7030A0"/>
          </a:solidFill>
          <a:ln>
            <a:noFill/>
          </a:ln>
          <a:effectLst>
            <a:outerShdw rotWithShape="0" algn="t" dir="5400000" dist="12700">
              <a:srgbClr val="000000">
                <a:alpha val="20000"/>
              </a:srgbClr>
            </a:outerShdw>
          </a:effectLst>
        </p:spPr>
        <p:txBody>
          <a:bodyPr anchorCtr="0" anchor="ctr" bIns="46625" lIns="93275" spcFirstLastPara="1" rIns="93275" wrap="square" tIns="46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cxnSp>
        <p:nvCxnSpPr>
          <p:cNvPr id="1909" name="Google Shape;1909;p23"/>
          <p:cNvCxnSpPr>
            <a:stCxn id="1910" idx="4"/>
            <a:endCxn id="1908" idx="0"/>
          </p:cNvCxnSpPr>
          <p:nvPr/>
        </p:nvCxnSpPr>
        <p:spPr>
          <a:xfrm flipH="1">
            <a:off x="1435853" y="1992891"/>
            <a:ext cx="722700" cy="1556400"/>
          </a:xfrm>
          <a:prstGeom prst="straightConnector1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10" name="Google Shape;1910;p23"/>
          <p:cNvSpPr/>
          <p:nvPr/>
        </p:nvSpPr>
        <p:spPr>
          <a:xfrm>
            <a:off x="2068553" y="1812891"/>
            <a:ext cx="180000" cy="180000"/>
          </a:xfrm>
          <a:prstGeom prst="ellipse">
            <a:avLst/>
          </a:prstGeom>
          <a:solidFill>
            <a:srgbClr val="7030A0"/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t" dir="5400000" dist="12700">
              <a:srgbClr val="000000">
                <a:alpha val="20000"/>
              </a:srgbClr>
            </a:outerShdw>
          </a:effectLst>
        </p:spPr>
        <p:txBody>
          <a:bodyPr anchorCtr="0" anchor="ctr" bIns="46625" lIns="93275" spcFirstLastPara="1" rIns="93275" wrap="square" tIns="46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cxnSp>
        <p:nvCxnSpPr>
          <p:cNvPr id="1911" name="Google Shape;1911;p23"/>
          <p:cNvCxnSpPr>
            <a:stCxn id="1901" idx="0"/>
            <a:endCxn id="1792" idx="2"/>
          </p:cNvCxnSpPr>
          <p:nvPr/>
        </p:nvCxnSpPr>
        <p:spPr>
          <a:xfrm flipH="1" rot="10800000">
            <a:off x="1640066" y="1925123"/>
            <a:ext cx="614700" cy="1645500"/>
          </a:xfrm>
          <a:prstGeom prst="straightConnector1">
            <a:avLst/>
          </a:prstGeom>
          <a:noFill/>
          <a:ln cap="flat" cmpd="sng" w="28575">
            <a:solidFill>
              <a:srgbClr val="FFC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2" name="Google Shape;1912;p23"/>
          <p:cNvCxnSpPr>
            <a:stCxn id="1902" idx="1"/>
          </p:cNvCxnSpPr>
          <p:nvPr/>
        </p:nvCxnSpPr>
        <p:spPr>
          <a:xfrm flipH="1">
            <a:off x="853489" y="1816117"/>
            <a:ext cx="1411200" cy="189900"/>
          </a:xfrm>
          <a:prstGeom prst="straightConnector1">
            <a:avLst/>
          </a:prstGeom>
          <a:noFill/>
          <a:ln cap="flat" cmpd="sng" w="28575">
            <a:solidFill>
              <a:srgbClr val="FFC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13" name="Google Shape;1913;p23"/>
          <p:cNvSpPr/>
          <p:nvPr/>
        </p:nvSpPr>
        <p:spPr>
          <a:xfrm>
            <a:off x="1075897" y="2274829"/>
            <a:ext cx="180000" cy="180000"/>
          </a:xfrm>
          <a:prstGeom prst="ellipse">
            <a:avLst/>
          </a:prstGeom>
          <a:solidFill>
            <a:srgbClr val="5F93CD"/>
          </a:solidFill>
          <a:ln>
            <a:noFill/>
          </a:ln>
          <a:effectLst>
            <a:outerShdw rotWithShape="0" algn="t" dir="5400000" dist="12700">
              <a:srgbClr val="000000">
                <a:alpha val="20000"/>
              </a:srgbClr>
            </a:outerShdw>
          </a:effectLst>
        </p:spPr>
        <p:txBody>
          <a:bodyPr anchorCtr="0" anchor="ctr" bIns="46625" lIns="93275" spcFirstLastPara="1" rIns="93275" wrap="square" tIns="46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7" name="Shape 1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그림3" id="1918" name="Google Shape;1918;p24"/>
          <p:cNvSpPr/>
          <p:nvPr/>
        </p:nvSpPr>
        <p:spPr>
          <a:xfrm>
            <a:off x="8537199" y="4661375"/>
            <a:ext cx="941944" cy="106871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4CBE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배포서버</a:t>
            </a:r>
            <a:br>
              <a:rPr lang="en-US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(sonsa.hi.co.kr)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그림3" id="1919" name="Google Shape;1919;p24"/>
          <p:cNvSpPr/>
          <p:nvPr/>
        </p:nvSpPr>
        <p:spPr>
          <a:xfrm>
            <a:off x="6899029" y="4661376"/>
            <a:ext cx="1563865" cy="106871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4CBE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외부 통합 발행물 서버</a:t>
            </a:r>
            <a:br>
              <a:rPr lang="en-US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(oze.hi.co.kr/report)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그림3" id="1920" name="Google Shape;1920;p24"/>
          <p:cNvSpPr/>
          <p:nvPr/>
        </p:nvSpPr>
        <p:spPr>
          <a:xfrm>
            <a:off x="5473164" y="4661376"/>
            <a:ext cx="1338010" cy="106871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4CBE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내부 통합 발행물 서버</a:t>
            </a:r>
            <a:br>
              <a:rPr lang="en-US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(ozi.hi.co.kr/report)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21" name="Google Shape;1921;p24"/>
          <p:cNvCxnSpPr>
            <a:stCxn id="1922" idx="2"/>
            <a:endCxn id="1920" idx="0"/>
          </p:cNvCxnSpPr>
          <p:nvPr/>
        </p:nvCxnSpPr>
        <p:spPr>
          <a:xfrm rot="5400000">
            <a:off x="6090296" y="3331246"/>
            <a:ext cx="1381800" cy="1278300"/>
          </a:xfrm>
          <a:prstGeom prst="bentConnector3">
            <a:avLst>
              <a:gd fmla="val 50003" name="adj1"/>
            </a:avLst>
          </a:prstGeom>
          <a:noFill/>
          <a:ln cap="flat" cmpd="sng" w="15875">
            <a:solidFill>
              <a:srgbClr val="009972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1923" name="Google Shape;1923;p24"/>
          <p:cNvCxnSpPr>
            <a:stCxn id="1924" idx="2"/>
            <a:endCxn id="1922" idx="0"/>
          </p:cNvCxnSpPr>
          <p:nvPr/>
        </p:nvCxnSpPr>
        <p:spPr>
          <a:xfrm>
            <a:off x="7420346" y="2675498"/>
            <a:ext cx="0" cy="383400"/>
          </a:xfrm>
          <a:prstGeom prst="straightConnector1">
            <a:avLst/>
          </a:prstGeom>
          <a:noFill/>
          <a:ln cap="flat" cmpd="sng" w="9525">
            <a:solidFill>
              <a:srgbClr val="00997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2" name="Google Shape;1922;p24"/>
          <p:cNvSpPr/>
          <p:nvPr/>
        </p:nvSpPr>
        <p:spPr>
          <a:xfrm>
            <a:off x="6689015" y="3058954"/>
            <a:ext cx="1462662" cy="220542"/>
          </a:xfrm>
          <a:prstGeom prst="roundRect">
            <a:avLst>
              <a:gd fmla="val 6474" name="adj"/>
            </a:avLst>
          </a:prstGeom>
          <a:solidFill>
            <a:schemeClr val="lt1"/>
          </a:solidFill>
          <a:ln cap="flat" cmpd="sng" w="19050">
            <a:solidFill>
              <a:srgbClr val="0099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동일 OZR 배포</a:t>
            </a:r>
            <a:endParaRPr/>
          </a:p>
        </p:txBody>
      </p:sp>
      <p:cxnSp>
        <p:nvCxnSpPr>
          <p:cNvPr id="1925" name="Google Shape;1925;p24"/>
          <p:cNvCxnSpPr>
            <a:stCxn id="1922" idx="2"/>
            <a:endCxn id="1919" idx="0"/>
          </p:cNvCxnSpPr>
          <p:nvPr/>
        </p:nvCxnSpPr>
        <p:spPr>
          <a:xfrm flipH="1" rot="-5400000">
            <a:off x="6859796" y="3840046"/>
            <a:ext cx="1381800" cy="260700"/>
          </a:xfrm>
          <a:prstGeom prst="bentConnector3">
            <a:avLst>
              <a:gd fmla="val 50003" name="adj1"/>
            </a:avLst>
          </a:prstGeom>
          <a:noFill/>
          <a:ln cap="flat" cmpd="sng" w="15875">
            <a:solidFill>
              <a:srgbClr val="009972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1926" name="Google Shape;1926;p24"/>
          <p:cNvSpPr/>
          <p:nvPr/>
        </p:nvSpPr>
        <p:spPr>
          <a:xfrm>
            <a:off x="360038" y="3306148"/>
            <a:ext cx="1555176" cy="562617"/>
          </a:xfrm>
          <a:prstGeom prst="roundRect">
            <a:avLst>
              <a:gd fmla="val 6474" name="adj"/>
            </a:avLst>
          </a:prstGeom>
          <a:solidFill>
            <a:schemeClr val="lt1"/>
          </a:solidFill>
          <a:ln cap="flat" cmpd="sng" w="1905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[기간계 배포 시스템]</a:t>
            </a:r>
            <a:b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CIS_WEB의 MRD 자원 배포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7" name="Google Shape;1927;p24"/>
          <p:cNvSpPr/>
          <p:nvPr/>
        </p:nvSpPr>
        <p:spPr>
          <a:xfrm>
            <a:off x="360038" y="2232059"/>
            <a:ext cx="1555176" cy="271437"/>
          </a:xfrm>
          <a:prstGeom prst="roundRect">
            <a:avLst>
              <a:gd fmla="val 6474" name="adj"/>
            </a:avLst>
          </a:prstGeom>
          <a:solidFill>
            <a:schemeClr val="lt1"/>
          </a:solidFill>
          <a:ln cap="flat" cmpd="sng" w="1905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[PMS 시스템]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8" name="Google Shape;1928;p24"/>
          <p:cNvSpPr/>
          <p:nvPr/>
        </p:nvSpPr>
        <p:spPr>
          <a:xfrm>
            <a:off x="72814" y="4661375"/>
            <a:ext cx="1071126" cy="628238"/>
          </a:xfrm>
          <a:prstGeom prst="roundRect">
            <a:avLst>
              <a:gd fmla="val 6474" name="adj"/>
            </a:avLst>
          </a:prstGeom>
          <a:solidFill>
            <a:schemeClr val="lt1"/>
          </a:solidFill>
          <a:ln cap="flat" cmpd="sng" w="1905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하이포탈 웹서버</a:t>
            </a:r>
            <a:b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(core.hi-portal.co.kr/report)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29" name="Google Shape;1929;p24"/>
          <p:cNvCxnSpPr>
            <a:stCxn id="1926" idx="2"/>
            <a:endCxn id="1928" idx="0"/>
          </p:cNvCxnSpPr>
          <p:nvPr/>
        </p:nvCxnSpPr>
        <p:spPr>
          <a:xfrm rot="5400000">
            <a:off x="476726" y="4000465"/>
            <a:ext cx="792600" cy="529200"/>
          </a:xfrm>
          <a:prstGeom prst="bentConnector3">
            <a:avLst>
              <a:gd fmla="val 50001" name="adj1"/>
            </a:avLst>
          </a:prstGeom>
          <a:noFill/>
          <a:ln cap="flat" cmpd="sng" w="15875">
            <a:solidFill>
              <a:srgbClr val="009972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1930" name="Google Shape;1930;p24"/>
          <p:cNvCxnSpPr>
            <a:stCxn id="1927" idx="2"/>
            <a:endCxn id="1926" idx="0"/>
          </p:cNvCxnSpPr>
          <p:nvPr/>
        </p:nvCxnSpPr>
        <p:spPr>
          <a:xfrm>
            <a:off x="1137626" y="2503496"/>
            <a:ext cx="0" cy="802800"/>
          </a:xfrm>
          <a:prstGeom prst="straightConnector1">
            <a:avLst/>
          </a:prstGeom>
          <a:noFill/>
          <a:ln cap="flat" cmpd="sng" w="9525">
            <a:solidFill>
              <a:srgbClr val="00997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1" name="Google Shape;1931;p24"/>
          <p:cNvSpPr/>
          <p:nvPr/>
        </p:nvSpPr>
        <p:spPr>
          <a:xfrm>
            <a:off x="712463" y="2634911"/>
            <a:ext cx="1120782" cy="271436"/>
          </a:xfrm>
          <a:prstGeom prst="roundRect">
            <a:avLst>
              <a:gd fmla="val 6474" name="adj"/>
            </a:avLst>
          </a:prstGeom>
          <a:solidFill>
            <a:schemeClr val="lt1"/>
          </a:solidFill>
          <a:ln cap="flat" cmpd="sng" w="19050">
            <a:solidFill>
              <a:srgbClr val="0099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동일 mrd 배포</a:t>
            </a:r>
            <a:endParaRPr/>
          </a:p>
        </p:txBody>
      </p:sp>
      <p:sp>
        <p:nvSpPr>
          <p:cNvPr id="1932" name="Google Shape;1932;p24"/>
          <p:cNvSpPr/>
          <p:nvPr/>
        </p:nvSpPr>
        <p:spPr>
          <a:xfrm>
            <a:off x="1321554" y="4671417"/>
            <a:ext cx="1071126" cy="628238"/>
          </a:xfrm>
          <a:prstGeom prst="roundRect">
            <a:avLst>
              <a:gd fmla="val 6474" name="adj"/>
            </a:avLst>
          </a:prstGeom>
          <a:solidFill>
            <a:schemeClr val="lt1"/>
          </a:solidFill>
          <a:ln cap="flat" cmpd="sng" w="1905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통합 RD 서버</a:t>
            </a:r>
            <a:b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(esrd.hi.co.kr/mrd/report)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33" name="Google Shape;1933;p24"/>
          <p:cNvCxnSpPr>
            <a:stCxn id="1926" idx="2"/>
            <a:endCxn id="1932" idx="0"/>
          </p:cNvCxnSpPr>
          <p:nvPr/>
        </p:nvCxnSpPr>
        <p:spPr>
          <a:xfrm flipH="1" rot="-5400000">
            <a:off x="1095926" y="3910465"/>
            <a:ext cx="802800" cy="719400"/>
          </a:xfrm>
          <a:prstGeom prst="bentConnector3">
            <a:avLst>
              <a:gd fmla="val 49991" name="adj1"/>
            </a:avLst>
          </a:prstGeom>
          <a:noFill/>
          <a:ln cap="flat" cmpd="sng" w="15875">
            <a:solidFill>
              <a:srgbClr val="009972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1934" name="Google Shape;1934;p24"/>
          <p:cNvSpPr/>
          <p:nvPr/>
        </p:nvSpPr>
        <p:spPr>
          <a:xfrm>
            <a:off x="692142" y="5653656"/>
            <a:ext cx="865659" cy="324688"/>
          </a:xfrm>
          <a:prstGeom prst="roundRect">
            <a:avLst>
              <a:gd fmla="val 6474" name="adj"/>
            </a:avLst>
          </a:prstGeom>
          <a:solidFill>
            <a:schemeClr val="lt1"/>
          </a:solidFill>
          <a:ln cap="flat" cmpd="sng" w="1905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신하이포탈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5" name="Google Shape;1935;p24"/>
          <p:cNvSpPr/>
          <p:nvPr/>
        </p:nvSpPr>
        <p:spPr>
          <a:xfrm>
            <a:off x="1623805" y="5651306"/>
            <a:ext cx="865659" cy="327037"/>
          </a:xfrm>
          <a:prstGeom prst="roundRect">
            <a:avLst>
              <a:gd fmla="val 6474" name="adj"/>
            </a:avLst>
          </a:prstGeom>
          <a:solidFill>
            <a:schemeClr val="lt1"/>
          </a:solidFill>
          <a:ln cap="flat" cmpd="sng" w="1905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장기/일반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손사포탈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36" name="Google Shape;1936;p24"/>
          <p:cNvCxnSpPr>
            <a:stCxn id="1934" idx="0"/>
            <a:endCxn id="1932" idx="2"/>
          </p:cNvCxnSpPr>
          <p:nvPr/>
        </p:nvCxnSpPr>
        <p:spPr>
          <a:xfrm flipH="1" rot="10800000">
            <a:off x="1124972" y="5299656"/>
            <a:ext cx="732000" cy="354000"/>
          </a:xfrm>
          <a:prstGeom prst="straightConnector1">
            <a:avLst/>
          </a:prstGeom>
          <a:noFill/>
          <a:ln cap="flat" cmpd="sng" w="15875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37" name="Google Shape;1937;p24"/>
          <p:cNvCxnSpPr>
            <a:stCxn id="1935" idx="0"/>
            <a:endCxn id="1932" idx="2"/>
          </p:cNvCxnSpPr>
          <p:nvPr/>
        </p:nvCxnSpPr>
        <p:spPr>
          <a:xfrm rot="10800000">
            <a:off x="1857135" y="5299706"/>
            <a:ext cx="199500" cy="351600"/>
          </a:xfrm>
          <a:prstGeom prst="straightConnector1">
            <a:avLst/>
          </a:prstGeom>
          <a:noFill/>
          <a:ln cap="flat" cmpd="sng" w="15875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38" name="Google Shape;1938;p24"/>
          <p:cNvSpPr/>
          <p:nvPr/>
        </p:nvSpPr>
        <p:spPr>
          <a:xfrm>
            <a:off x="2556645" y="4677439"/>
            <a:ext cx="1181879" cy="624877"/>
          </a:xfrm>
          <a:prstGeom prst="roundRect">
            <a:avLst>
              <a:gd fmla="val 6474" name="adj"/>
            </a:avLst>
          </a:prstGeom>
          <a:solidFill>
            <a:schemeClr val="lt1"/>
          </a:solidFill>
          <a:ln cap="flat" cmpd="sng" w="1905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영업포탈 RD 서버</a:t>
            </a:r>
            <a:b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(sp.hi.co.kr/report)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9" name="Google Shape;1939;p24"/>
          <p:cNvSpPr/>
          <p:nvPr/>
        </p:nvSpPr>
        <p:spPr>
          <a:xfrm>
            <a:off x="2556709" y="5651307"/>
            <a:ext cx="1180800" cy="327037"/>
          </a:xfrm>
          <a:prstGeom prst="roundRect">
            <a:avLst>
              <a:gd fmla="val 6474" name="adj"/>
            </a:avLst>
          </a:prstGeom>
          <a:solidFill>
            <a:schemeClr val="lt1"/>
          </a:solidFill>
          <a:ln cap="flat" cmpd="sng" w="1905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영업포탈</a:t>
            </a:r>
            <a:endParaRPr/>
          </a:p>
        </p:txBody>
      </p:sp>
      <p:cxnSp>
        <p:nvCxnSpPr>
          <p:cNvPr id="1940" name="Google Shape;1940;p24"/>
          <p:cNvCxnSpPr>
            <a:stCxn id="1939" idx="0"/>
            <a:endCxn id="1938" idx="2"/>
          </p:cNvCxnSpPr>
          <p:nvPr/>
        </p:nvCxnSpPr>
        <p:spPr>
          <a:xfrm flipH="1" rot="10800000">
            <a:off x="3147109" y="5302407"/>
            <a:ext cx="600" cy="34890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41" name="Google Shape;1941;p24"/>
          <p:cNvSpPr/>
          <p:nvPr/>
        </p:nvSpPr>
        <p:spPr>
          <a:xfrm>
            <a:off x="2556645" y="3289802"/>
            <a:ext cx="1180800" cy="565979"/>
          </a:xfrm>
          <a:prstGeom prst="roundRect">
            <a:avLst>
              <a:gd fmla="val 6474" name="adj"/>
            </a:avLst>
          </a:prstGeom>
          <a:solidFill>
            <a:schemeClr val="lt1"/>
          </a:solidFill>
          <a:ln cap="flat" cmpd="sng" w="1905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[영업포탈 배포 시스템]</a:t>
            </a:r>
            <a:b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CIS_WEB의 MRD 자원 배포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42" name="Google Shape;1942;p24"/>
          <p:cNvCxnSpPr>
            <a:stCxn id="1941" idx="2"/>
            <a:endCxn id="1938" idx="0"/>
          </p:cNvCxnSpPr>
          <p:nvPr/>
        </p:nvCxnSpPr>
        <p:spPr>
          <a:xfrm>
            <a:off x="3147045" y="3855781"/>
            <a:ext cx="600" cy="821700"/>
          </a:xfrm>
          <a:prstGeom prst="straightConnector1">
            <a:avLst/>
          </a:prstGeom>
          <a:noFill/>
          <a:ln cap="flat" cmpd="sng" w="15875">
            <a:solidFill>
              <a:srgbClr val="009972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1943" name="Google Shape;1943;p24"/>
          <p:cNvSpPr/>
          <p:nvPr/>
        </p:nvSpPr>
        <p:spPr>
          <a:xfrm>
            <a:off x="3878376" y="4686554"/>
            <a:ext cx="1181165" cy="628238"/>
          </a:xfrm>
          <a:prstGeom prst="roundRect">
            <a:avLst>
              <a:gd fmla="val 6474" name="adj"/>
            </a:avLst>
          </a:prstGeom>
          <a:solidFill>
            <a:schemeClr val="lt1"/>
          </a:solidFill>
          <a:ln cap="flat" cmpd="sng" w="1905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보상포탈 RD 서버</a:t>
            </a:r>
            <a:endParaRPr/>
          </a:p>
        </p:txBody>
      </p:sp>
      <p:sp>
        <p:nvSpPr>
          <p:cNvPr id="1944" name="Google Shape;1944;p24"/>
          <p:cNvSpPr/>
          <p:nvPr/>
        </p:nvSpPr>
        <p:spPr>
          <a:xfrm>
            <a:off x="3878376" y="5651307"/>
            <a:ext cx="1180800" cy="327037"/>
          </a:xfrm>
          <a:prstGeom prst="roundRect">
            <a:avLst>
              <a:gd fmla="val 6474" name="adj"/>
            </a:avLst>
          </a:prstGeom>
          <a:solidFill>
            <a:schemeClr val="lt1"/>
          </a:solidFill>
          <a:ln cap="flat" cmpd="sng" w="1905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자동차보상포탈</a:t>
            </a:r>
            <a:endParaRPr/>
          </a:p>
        </p:txBody>
      </p:sp>
      <p:cxnSp>
        <p:nvCxnSpPr>
          <p:cNvPr id="1945" name="Google Shape;1945;p24"/>
          <p:cNvCxnSpPr>
            <a:stCxn id="1944" idx="0"/>
            <a:endCxn id="1943" idx="2"/>
          </p:cNvCxnSpPr>
          <p:nvPr/>
        </p:nvCxnSpPr>
        <p:spPr>
          <a:xfrm flipH="1" rot="10800000">
            <a:off x="4468776" y="5314707"/>
            <a:ext cx="300" cy="3366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46" name="Google Shape;1946;p24"/>
          <p:cNvSpPr/>
          <p:nvPr/>
        </p:nvSpPr>
        <p:spPr>
          <a:xfrm>
            <a:off x="3878376" y="3299100"/>
            <a:ext cx="1180800" cy="562617"/>
          </a:xfrm>
          <a:prstGeom prst="roundRect">
            <a:avLst>
              <a:gd fmla="val 6474" name="adj"/>
            </a:avLst>
          </a:prstGeom>
          <a:solidFill>
            <a:schemeClr val="lt1"/>
          </a:solidFill>
          <a:ln cap="flat" cmpd="sng" w="1905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[통합 배포 시스템]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47" name="Google Shape;1947;p24"/>
          <p:cNvCxnSpPr>
            <a:stCxn id="1946" idx="2"/>
            <a:endCxn id="1943" idx="0"/>
          </p:cNvCxnSpPr>
          <p:nvPr/>
        </p:nvCxnSpPr>
        <p:spPr>
          <a:xfrm>
            <a:off x="4468776" y="3861717"/>
            <a:ext cx="300" cy="824700"/>
          </a:xfrm>
          <a:prstGeom prst="straightConnector1">
            <a:avLst/>
          </a:prstGeom>
          <a:noFill/>
          <a:ln cap="flat" cmpd="sng" w="15875">
            <a:solidFill>
              <a:schemeClr val="accent2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1948" name="Google Shape;1948;p24"/>
          <p:cNvCxnSpPr>
            <a:stCxn id="1927" idx="3"/>
            <a:endCxn id="1946" idx="0"/>
          </p:cNvCxnSpPr>
          <p:nvPr/>
        </p:nvCxnSpPr>
        <p:spPr>
          <a:xfrm>
            <a:off x="1915214" y="2367778"/>
            <a:ext cx="2553600" cy="931200"/>
          </a:xfrm>
          <a:prstGeom prst="bentConnector2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9" name="Google Shape;1949;p24"/>
          <p:cNvSpPr/>
          <p:nvPr/>
        </p:nvSpPr>
        <p:spPr>
          <a:xfrm>
            <a:off x="3908385" y="2697721"/>
            <a:ext cx="1120782" cy="271436"/>
          </a:xfrm>
          <a:prstGeom prst="roundRect">
            <a:avLst>
              <a:gd fmla="val 6474" name="adj"/>
            </a:avLst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자체 mrd 배포</a:t>
            </a:r>
            <a:endParaRPr/>
          </a:p>
        </p:txBody>
      </p:sp>
      <p:cxnSp>
        <p:nvCxnSpPr>
          <p:cNvPr id="1950" name="Google Shape;1950;p24"/>
          <p:cNvCxnSpPr>
            <a:stCxn id="1931" idx="3"/>
            <a:endCxn id="1941" idx="0"/>
          </p:cNvCxnSpPr>
          <p:nvPr/>
        </p:nvCxnSpPr>
        <p:spPr>
          <a:xfrm>
            <a:off x="1833245" y="2770629"/>
            <a:ext cx="1313700" cy="519300"/>
          </a:xfrm>
          <a:prstGeom prst="bentConnector2">
            <a:avLst/>
          </a:prstGeom>
          <a:noFill/>
          <a:ln cap="flat" cmpd="sng" w="9525">
            <a:solidFill>
              <a:srgbClr val="00997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1" name="Google Shape;1951;p24"/>
          <p:cNvSpPr/>
          <p:nvPr/>
        </p:nvSpPr>
        <p:spPr>
          <a:xfrm flipH="1">
            <a:off x="5146864" y="1867947"/>
            <a:ext cx="4270185" cy="288000"/>
          </a:xfrm>
          <a:prstGeom prst="snip2SameRect">
            <a:avLst>
              <a:gd fmla="val 34246" name="adj1"/>
              <a:gd fmla="val 0" name="adj2"/>
            </a:avLst>
          </a:prstGeom>
          <a:solidFill>
            <a:srgbClr val="00346D"/>
          </a:solidFill>
          <a:ln>
            <a:noFill/>
          </a:ln>
          <a:effectLst>
            <a:outerShdw rotWithShape="0" algn="tl" dir="16200000" dist="25400">
              <a:srgbClr val="001226"/>
            </a:outerShdw>
          </a:effectLst>
        </p:spPr>
        <p:txBody>
          <a:bodyPr anchorCtr="0" anchor="ctr" bIns="3600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TO-BE</a:t>
            </a:r>
            <a:endParaRPr/>
          </a:p>
        </p:txBody>
      </p:sp>
      <p:sp>
        <p:nvSpPr>
          <p:cNvPr id="1952" name="Google Shape;1952;p24"/>
          <p:cNvSpPr/>
          <p:nvPr/>
        </p:nvSpPr>
        <p:spPr>
          <a:xfrm flipH="1">
            <a:off x="360038" y="1867947"/>
            <a:ext cx="4759200" cy="288000"/>
          </a:xfrm>
          <a:prstGeom prst="snip2SameRect">
            <a:avLst>
              <a:gd fmla="val 34246" name="adj1"/>
              <a:gd fmla="val 0" name="adj2"/>
            </a:avLst>
          </a:prstGeom>
          <a:solidFill>
            <a:srgbClr val="BFC9D3"/>
          </a:solidFill>
          <a:ln>
            <a:noFill/>
          </a:ln>
          <a:effectLst>
            <a:outerShdw rotWithShape="0" algn="tl" dir="16200000" dist="25400">
              <a:srgbClr val="99A9B9"/>
            </a:outerShdw>
          </a:effectLst>
        </p:spPr>
        <p:txBody>
          <a:bodyPr anchorCtr="0" anchor="ctr" bIns="3600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AS-IS</a:t>
            </a:r>
            <a:endParaRPr/>
          </a:p>
        </p:txBody>
      </p:sp>
      <p:sp>
        <p:nvSpPr>
          <p:cNvPr id="1924" name="Google Shape;1924;p24"/>
          <p:cNvSpPr/>
          <p:nvPr/>
        </p:nvSpPr>
        <p:spPr>
          <a:xfrm>
            <a:off x="6289309" y="2232059"/>
            <a:ext cx="2262074" cy="443439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E5F5FF"/>
              </a:gs>
              <a:gs pos="50000">
                <a:srgbClr val="E5F5FF"/>
              </a:gs>
              <a:gs pos="100000">
                <a:schemeClr val="lt1"/>
              </a:gs>
            </a:gsLst>
            <a:lin ang="8100000" scaled="0"/>
          </a:gradFill>
          <a:ln cap="flat" cmpd="sng" w="9525">
            <a:solidFill>
              <a:srgbClr val="047DB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PMS시스템</a:t>
            </a:r>
            <a:endParaRPr sz="120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3" name="Google Shape;195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0391" y="4274135"/>
            <a:ext cx="348363" cy="559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4" name="Google Shape;195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8418" y="4239331"/>
            <a:ext cx="348363" cy="559492"/>
          </a:xfrm>
          <a:prstGeom prst="rect">
            <a:avLst/>
          </a:prstGeom>
          <a:noFill/>
          <a:ln>
            <a:noFill/>
          </a:ln>
        </p:spPr>
      </p:pic>
      <p:sp>
        <p:nvSpPr>
          <p:cNvPr id="1955" name="Google Shape;1955;p24"/>
          <p:cNvSpPr/>
          <p:nvPr/>
        </p:nvSpPr>
        <p:spPr>
          <a:xfrm>
            <a:off x="5437043" y="5172038"/>
            <a:ext cx="4041915" cy="123180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6" name="Google Shape;195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80702" y="5255621"/>
            <a:ext cx="199436" cy="376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7" name="Google Shape;195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03983" y="5255621"/>
            <a:ext cx="199436" cy="376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8" name="Google Shape;195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31815" y="5255621"/>
            <a:ext cx="199436" cy="376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9" name="Google Shape;195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55096" y="5255621"/>
            <a:ext cx="199436" cy="376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0" name="Google Shape;196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48849" y="5255621"/>
            <a:ext cx="199436" cy="376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1" name="Google Shape;196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72130" y="5255621"/>
            <a:ext cx="199436" cy="376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2" name="Google Shape;196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9962" y="5255621"/>
            <a:ext cx="199436" cy="376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3" name="Google Shape;196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3243" y="5255621"/>
            <a:ext cx="199436" cy="376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4" name="Google Shape;196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42663" y="5255621"/>
            <a:ext cx="199436" cy="376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5" name="Google Shape;196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65944" y="5255621"/>
            <a:ext cx="199436" cy="376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6" name="Google Shape;196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6587" y="4239331"/>
            <a:ext cx="348363" cy="5594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67" name="Google Shape;1967;p24"/>
          <p:cNvCxnSpPr>
            <a:stCxn id="1922" idx="2"/>
            <a:endCxn id="1918" idx="0"/>
          </p:cNvCxnSpPr>
          <p:nvPr/>
        </p:nvCxnSpPr>
        <p:spPr>
          <a:xfrm flipH="1" rot="-5400000">
            <a:off x="7523396" y="3176446"/>
            <a:ext cx="1381800" cy="1587900"/>
          </a:xfrm>
          <a:prstGeom prst="bentConnector3">
            <a:avLst>
              <a:gd fmla="val 50003" name="adj1"/>
            </a:avLst>
          </a:prstGeom>
          <a:noFill/>
          <a:ln cap="flat" cmpd="sng" w="15875">
            <a:solidFill>
              <a:srgbClr val="009972"/>
            </a:solidFill>
            <a:prstDash val="dash"/>
            <a:round/>
            <a:headEnd len="sm" w="sm" type="none"/>
            <a:tailEnd len="med" w="med" type="triangle"/>
          </a:ln>
        </p:spPr>
      </p:cxnSp>
      <p:pic>
        <p:nvPicPr>
          <p:cNvPr id="1968" name="Google Shape;196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58425" y="5219675"/>
            <a:ext cx="199436" cy="376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9" name="Google Shape;196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81706" y="5219675"/>
            <a:ext cx="199436" cy="376078"/>
          </a:xfrm>
          <a:prstGeom prst="rect">
            <a:avLst/>
          </a:prstGeom>
          <a:noFill/>
          <a:ln>
            <a:noFill/>
          </a:ln>
        </p:spPr>
      </p:pic>
      <p:sp>
        <p:nvSpPr>
          <p:cNvPr id="1970" name="Google Shape;1970;p24"/>
          <p:cNvSpPr/>
          <p:nvPr/>
        </p:nvSpPr>
        <p:spPr>
          <a:xfrm>
            <a:off x="5580702" y="6199959"/>
            <a:ext cx="1104385" cy="138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/Appl/OZR/report</a:t>
            </a:r>
            <a:endParaRPr/>
          </a:p>
        </p:txBody>
      </p:sp>
      <p:sp>
        <p:nvSpPr>
          <p:cNvPr id="1971" name="Google Shape;1971;p24"/>
          <p:cNvSpPr/>
          <p:nvPr/>
        </p:nvSpPr>
        <p:spPr>
          <a:xfrm>
            <a:off x="8327101" y="4066292"/>
            <a:ext cx="1412401" cy="680290"/>
          </a:xfrm>
          <a:prstGeom prst="rect">
            <a:avLst/>
          </a:prstGeom>
          <a:solidFill>
            <a:srgbClr val="E7E7F9"/>
          </a:solidFill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algun Gothic"/>
              <a:buNone/>
            </a:pPr>
            <a:r>
              <a:rPr lang="en-US" sz="9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장애시</a:t>
            </a:r>
            <a:endParaRPr sz="9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클라이언트에서 호출할 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algun Gothic"/>
              <a:buNone/>
            </a:pPr>
            <a:r>
              <a:rPr lang="en-US" sz="9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예비용 OZR처리용으로</a:t>
            </a:r>
            <a:endParaRPr sz="9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확인필요</a:t>
            </a:r>
            <a:endParaRPr/>
          </a:p>
        </p:txBody>
      </p:sp>
      <p:sp>
        <p:nvSpPr>
          <p:cNvPr id="1972" name="Google Shape;1972;p24"/>
          <p:cNvSpPr/>
          <p:nvPr/>
        </p:nvSpPr>
        <p:spPr>
          <a:xfrm>
            <a:off x="6843868" y="3461541"/>
            <a:ext cx="1180800" cy="233927"/>
          </a:xfrm>
          <a:prstGeom prst="roundRect">
            <a:avLst>
              <a:gd fmla="val 6474" name="adj"/>
            </a:avLst>
          </a:prstGeom>
          <a:solidFill>
            <a:srgbClr val="FFC000"/>
          </a:solidFill>
          <a:ln cap="flat" cmpd="sng" w="1905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[통합 배포 시스템]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3" name="Google Shape;1973;p24"/>
          <p:cNvSpPr txBox="1"/>
          <p:nvPr/>
        </p:nvSpPr>
        <p:spPr>
          <a:xfrm>
            <a:off x="417770" y="714190"/>
            <a:ext cx="8964356" cy="637153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아키텍처 설계 &gt; 2.5 내외부 통합 발행물</a:t>
            </a:r>
            <a:endParaRPr b="1" i="0" sz="14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2.5.2 통합발행물 배포 구성도</a:t>
            </a:r>
            <a:endParaRPr b="1" i="0" sz="12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974" name="Google Shape;1974;p24"/>
          <p:cNvGrpSpPr/>
          <p:nvPr/>
        </p:nvGrpSpPr>
        <p:grpSpPr>
          <a:xfrm>
            <a:off x="5861452" y="5787941"/>
            <a:ext cx="531456" cy="331224"/>
            <a:chOff x="2004583" y="4825007"/>
            <a:chExt cx="531456" cy="308911"/>
          </a:xfrm>
        </p:grpSpPr>
        <p:pic>
          <p:nvPicPr>
            <p:cNvPr id="1975" name="Google Shape;1975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004584" y="4825007"/>
              <a:ext cx="531455" cy="3089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76" name="Google Shape;1976;p24"/>
            <p:cNvSpPr txBox="1"/>
            <p:nvPr/>
          </p:nvSpPr>
          <p:spPr>
            <a:xfrm>
              <a:off x="2004583" y="4888604"/>
              <a:ext cx="496454" cy="229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각각</a:t>
              </a:r>
              <a:endParaRPr sz="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로컬DISK</a:t>
              </a:r>
              <a:endParaRPr/>
            </a:p>
          </p:txBody>
        </p:sp>
      </p:grpSp>
      <p:sp>
        <p:nvSpPr>
          <p:cNvPr id="1977" name="Google Shape;1977;p24"/>
          <p:cNvSpPr/>
          <p:nvPr/>
        </p:nvSpPr>
        <p:spPr>
          <a:xfrm>
            <a:off x="7181567" y="6199959"/>
            <a:ext cx="1104385" cy="138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/Appl/OZR/report</a:t>
            </a:r>
            <a:endParaRPr/>
          </a:p>
        </p:txBody>
      </p:sp>
      <p:grpSp>
        <p:nvGrpSpPr>
          <p:cNvPr id="1978" name="Google Shape;1978;p24"/>
          <p:cNvGrpSpPr/>
          <p:nvPr/>
        </p:nvGrpSpPr>
        <p:grpSpPr>
          <a:xfrm>
            <a:off x="7432654" y="5779522"/>
            <a:ext cx="531456" cy="331224"/>
            <a:chOff x="2004583" y="4825007"/>
            <a:chExt cx="531456" cy="308911"/>
          </a:xfrm>
        </p:grpSpPr>
        <p:pic>
          <p:nvPicPr>
            <p:cNvPr id="1979" name="Google Shape;1979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004584" y="4825007"/>
              <a:ext cx="531455" cy="3089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0" name="Google Shape;1980;p24"/>
            <p:cNvSpPr txBox="1"/>
            <p:nvPr/>
          </p:nvSpPr>
          <p:spPr>
            <a:xfrm>
              <a:off x="2004583" y="4888604"/>
              <a:ext cx="496454" cy="229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각각</a:t>
              </a:r>
              <a:endParaRPr sz="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로컬DISK</a:t>
              </a:r>
              <a:endParaRPr/>
            </a:p>
          </p:txBody>
        </p:sp>
      </p:grpSp>
      <p:grpSp>
        <p:nvGrpSpPr>
          <p:cNvPr id="1981" name="Google Shape;1981;p24"/>
          <p:cNvGrpSpPr/>
          <p:nvPr/>
        </p:nvGrpSpPr>
        <p:grpSpPr>
          <a:xfrm>
            <a:off x="8749557" y="5779522"/>
            <a:ext cx="531456" cy="331224"/>
            <a:chOff x="2004583" y="4825007"/>
            <a:chExt cx="531456" cy="308911"/>
          </a:xfrm>
        </p:grpSpPr>
        <p:pic>
          <p:nvPicPr>
            <p:cNvPr id="1982" name="Google Shape;1982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004584" y="4825007"/>
              <a:ext cx="531455" cy="3089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3" name="Google Shape;1983;p24"/>
            <p:cNvSpPr txBox="1"/>
            <p:nvPr/>
          </p:nvSpPr>
          <p:spPr>
            <a:xfrm>
              <a:off x="2004583" y="4888604"/>
              <a:ext cx="496454" cy="229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각각</a:t>
              </a:r>
              <a:endParaRPr sz="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로컬DISK</a:t>
              </a:r>
              <a:endParaRPr/>
            </a:p>
          </p:txBody>
        </p:sp>
      </p:grpSp>
      <p:sp>
        <p:nvSpPr>
          <p:cNvPr id="1984" name="Google Shape;1984;p24"/>
          <p:cNvSpPr/>
          <p:nvPr/>
        </p:nvSpPr>
        <p:spPr>
          <a:xfrm>
            <a:off x="8481108" y="6199959"/>
            <a:ext cx="1104385" cy="138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/Appl/OZR/report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8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p25"/>
          <p:cNvSpPr txBox="1"/>
          <p:nvPr/>
        </p:nvSpPr>
        <p:spPr>
          <a:xfrm>
            <a:off x="478209" y="1467645"/>
            <a:ext cx="1508746" cy="242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■ 내부 RD NAS 사용현황</a:t>
            </a:r>
            <a:endParaRPr/>
          </a:p>
        </p:txBody>
      </p:sp>
      <p:graphicFrame>
        <p:nvGraphicFramePr>
          <p:cNvPr id="1990" name="Google Shape;1990;p25"/>
          <p:cNvGraphicFramePr/>
          <p:nvPr/>
        </p:nvGraphicFramePr>
        <p:xfrm>
          <a:off x="588827" y="17894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{9216E51F-281C-4444-9FEC-27A87119D8F7}</a:tableStyleId>
              </a:tblPr>
              <a:tblGrid>
                <a:gridCol w="1049325"/>
                <a:gridCol w="1383725"/>
                <a:gridCol w="1512475"/>
                <a:gridCol w="768725"/>
                <a:gridCol w="668800"/>
                <a:gridCol w="1076225"/>
                <a:gridCol w="1254000"/>
                <a:gridCol w="1038750"/>
              </a:tblGrid>
              <a:tr h="161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구분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호스트 네임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NAS 경로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할당용량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사용량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OS Mount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RD 경로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비고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13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내부 통합RD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cpsi-esrdwas01~4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10.7.15.230:/xprdvol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(장기손사포탈_내부 NAS)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3.0T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60GB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/NFS_Sonsa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/NFS_Sonsa/rdData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uid=101(wasadmin)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gid=320(solgroup)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내부이미지변환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cpsi-esimgwas01~10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vMerge="1"/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uid=101(wasadmin)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gid=320(solgroup)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통합이미지팩스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mpsi-fxwas01,02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vMerge="1"/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/NFS_Sonsa/sordData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uid=101(wasadmin)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gid=320(solgroup)　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장기손사포탈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cpli-xpwas01,02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vMerge="1"/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uid=101(wasadmin)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gid=320(solgroup)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525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내부보상포탈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cpli-clsowas01,02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10.7.15.180:/report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10G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1.65GB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/NFS/report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/NFS/report/tmp/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uid=101(wasadmin)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gid=320(wasadmin)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525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10.7.15.180:/smartpen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50G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8.39GB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/NFS/SMARTPEN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 vMerge="1"/>
              </a:tr>
              <a:tr h="313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디지털창구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cpsi-pprwas01,02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cisp-conas01:/pprvol1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51G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4.3GB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/DT_DATA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uid=3601(wasadmin)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gid=3601(solgroup) 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525"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3.06TB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00" u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74.34GB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91" name="Google Shape;1991;p25"/>
          <p:cNvSpPr/>
          <p:nvPr/>
        </p:nvSpPr>
        <p:spPr>
          <a:xfrm>
            <a:off x="2441531" y="5006393"/>
            <a:ext cx="754650" cy="672825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125" lIns="74275" spcFirstLastPara="1" rIns="74275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3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장기손사 NAS</a:t>
            </a:r>
            <a:br>
              <a:rPr lang="en-US" sz="73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(10.7.15.230)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:/xprdvol</a:t>
            </a:r>
            <a:endParaRPr sz="6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92" name="Google Shape;1992;p25"/>
          <p:cNvCxnSpPr>
            <a:stCxn id="1993" idx="2"/>
            <a:endCxn id="1991" idx="1"/>
          </p:cNvCxnSpPr>
          <p:nvPr/>
        </p:nvCxnSpPr>
        <p:spPr>
          <a:xfrm>
            <a:off x="1722886" y="4672538"/>
            <a:ext cx="1095900" cy="3339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4" name="Google Shape;1994;p25"/>
          <p:cNvCxnSpPr>
            <a:stCxn id="1995" idx="2"/>
            <a:endCxn id="1991" idx="1"/>
          </p:cNvCxnSpPr>
          <p:nvPr/>
        </p:nvCxnSpPr>
        <p:spPr>
          <a:xfrm>
            <a:off x="2443197" y="4672538"/>
            <a:ext cx="375600" cy="3339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6" name="Google Shape;1996;p25"/>
          <p:cNvCxnSpPr>
            <a:stCxn id="1991" idx="1"/>
            <a:endCxn id="1997" idx="2"/>
          </p:cNvCxnSpPr>
          <p:nvPr/>
        </p:nvCxnSpPr>
        <p:spPr>
          <a:xfrm flipH="1" rot="10800000">
            <a:off x="2818856" y="4672493"/>
            <a:ext cx="350700" cy="3339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8" name="Google Shape;1998;p25"/>
          <p:cNvSpPr/>
          <p:nvPr/>
        </p:nvSpPr>
        <p:spPr>
          <a:xfrm>
            <a:off x="7515132" y="5006393"/>
            <a:ext cx="754650" cy="672825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125" lIns="74275" spcFirstLastPara="1" rIns="74275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기간계 NAS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(10.7.15.241)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:/pprvol1</a:t>
            </a:r>
            <a:endParaRPr/>
          </a:p>
        </p:txBody>
      </p:sp>
      <p:sp>
        <p:nvSpPr>
          <p:cNvPr id="1999" name="Google Shape;1999;p25"/>
          <p:cNvSpPr/>
          <p:nvPr/>
        </p:nvSpPr>
        <p:spPr>
          <a:xfrm>
            <a:off x="7580618" y="4369662"/>
            <a:ext cx="623678" cy="29253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125" lIns="74275" spcFirstLastPara="1" rIns="74275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디지털창구</a:t>
            </a:r>
            <a:endParaRPr sz="6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/DT_DATA</a:t>
            </a:r>
            <a:endParaRPr/>
          </a:p>
        </p:txBody>
      </p:sp>
      <p:cxnSp>
        <p:nvCxnSpPr>
          <p:cNvPr id="2000" name="Google Shape;2000;p25"/>
          <p:cNvCxnSpPr>
            <a:stCxn id="1999" idx="2"/>
            <a:endCxn id="1998" idx="1"/>
          </p:cNvCxnSpPr>
          <p:nvPr/>
        </p:nvCxnSpPr>
        <p:spPr>
          <a:xfrm>
            <a:off x="7892457" y="4662195"/>
            <a:ext cx="0" cy="3441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1" name="Google Shape;2001;p25"/>
          <p:cNvSpPr/>
          <p:nvPr/>
        </p:nvSpPr>
        <p:spPr>
          <a:xfrm>
            <a:off x="5546031" y="5006393"/>
            <a:ext cx="851543" cy="672825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125" lIns="74275" spcFirstLastPara="1" rIns="74275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보상포탈 NAS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(10.7.15.180)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:/NFS/report</a:t>
            </a:r>
            <a:endParaRPr sz="6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2" name="Google Shape;2002;p25"/>
          <p:cNvSpPr/>
          <p:nvPr/>
        </p:nvSpPr>
        <p:spPr>
          <a:xfrm>
            <a:off x="5578774" y="4369661"/>
            <a:ext cx="786057" cy="37345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125" lIns="74275" spcFirstLastPara="1" rIns="74275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내부보상포탈</a:t>
            </a:r>
            <a:endParaRPr sz="6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/NFS/report</a:t>
            </a:r>
            <a:endParaRPr/>
          </a:p>
        </p:txBody>
      </p:sp>
      <p:cxnSp>
        <p:nvCxnSpPr>
          <p:cNvPr id="2003" name="Google Shape;2003;p25"/>
          <p:cNvCxnSpPr/>
          <p:nvPr/>
        </p:nvCxnSpPr>
        <p:spPr>
          <a:xfrm>
            <a:off x="5955431" y="4743113"/>
            <a:ext cx="0" cy="26328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4" name="Google Shape;2004;p25"/>
          <p:cNvSpPr txBox="1"/>
          <p:nvPr/>
        </p:nvSpPr>
        <p:spPr>
          <a:xfrm>
            <a:off x="1074982" y="4960148"/>
            <a:ext cx="931024" cy="793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/NFS_Sonsa</a:t>
            </a:r>
            <a:endParaRPr sz="56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303" lvl="0" marL="139303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569"/>
              <a:buFont typeface="Arial"/>
              <a:buChar char="-"/>
            </a:pPr>
            <a:r>
              <a:rPr lang="en-US" sz="569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asyncData</a:t>
            </a:r>
            <a:endParaRPr sz="569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303" lvl="0" marL="139303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569"/>
              <a:buFont typeface="Arial"/>
              <a:buChar char="-"/>
            </a:pPr>
            <a:r>
              <a:rPr lang="en-US" sz="569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MaFpsCommon.jsp</a:t>
            </a:r>
            <a:endParaRPr sz="569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303" lvl="0" marL="139303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569"/>
              <a:buFont typeface="Arial"/>
              <a:buChar char="-"/>
            </a:pPr>
            <a:r>
              <a:rPr lang="en-US" sz="569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markany_tmp</a:t>
            </a:r>
            <a:endParaRPr sz="569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303" lvl="0" marL="139303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569"/>
              <a:buFont typeface="Arial"/>
              <a:buChar char="-"/>
            </a:pPr>
            <a:r>
              <a:rPr lang="en-US" sz="569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rdData</a:t>
            </a:r>
            <a:endParaRPr sz="569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303" lvl="0" marL="139303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569"/>
              <a:buFont typeface="Arial"/>
              <a:buChar char="-"/>
            </a:pPr>
            <a:r>
              <a:rPr lang="en-US" sz="569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sordData</a:t>
            </a:r>
            <a:endParaRPr sz="569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303" lvl="0" marL="139303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569"/>
              <a:buFont typeface="Arial"/>
              <a:buChar char="-"/>
            </a:pPr>
            <a:r>
              <a:rPr lang="en-US" sz="569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tmp</a:t>
            </a:r>
            <a:endParaRPr sz="569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303" lvl="0" marL="139303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569"/>
              <a:buFont typeface="Arial"/>
              <a:buChar char="-"/>
            </a:pPr>
            <a:r>
              <a:rPr lang="en-US" sz="569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Upload</a:t>
            </a:r>
            <a:endParaRPr sz="56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5" name="Google Shape;2005;p25"/>
          <p:cNvSpPr/>
          <p:nvPr/>
        </p:nvSpPr>
        <p:spPr>
          <a:xfrm>
            <a:off x="1063377" y="4245808"/>
            <a:ext cx="3510961" cy="149191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125" lIns="74275" spcFirstLastPara="1" rIns="74275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1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6" name="Google Shape;2006;p25"/>
          <p:cNvSpPr/>
          <p:nvPr/>
        </p:nvSpPr>
        <p:spPr>
          <a:xfrm>
            <a:off x="4613089" y="4245808"/>
            <a:ext cx="1900054" cy="149191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125" lIns="74275" spcFirstLastPara="1" rIns="74275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1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7" name="Google Shape;2007;p25"/>
          <p:cNvSpPr/>
          <p:nvPr/>
        </p:nvSpPr>
        <p:spPr>
          <a:xfrm>
            <a:off x="6573094" y="4245808"/>
            <a:ext cx="1823291" cy="149191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125" lIns="74275" spcFirstLastPara="1" rIns="74275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1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08" name="Google Shape;2008;p25"/>
          <p:cNvGrpSpPr/>
          <p:nvPr/>
        </p:nvGrpSpPr>
        <p:grpSpPr>
          <a:xfrm>
            <a:off x="1411047" y="4324670"/>
            <a:ext cx="2815620" cy="351439"/>
            <a:chOff x="968789" y="2082697"/>
            <a:chExt cx="3465379" cy="363736"/>
          </a:xfrm>
        </p:grpSpPr>
        <p:sp>
          <p:nvSpPr>
            <p:cNvPr id="1993" name="Google Shape;1993;p25"/>
            <p:cNvSpPr/>
            <p:nvPr/>
          </p:nvSpPr>
          <p:spPr>
            <a:xfrm>
              <a:off x="968789" y="2082697"/>
              <a:ext cx="767604" cy="36004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7125" lIns="74275" spcFirstLastPara="1" rIns="74275" wrap="square" tIns="371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내부통합RD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/NFS_Sonsa</a:t>
              </a:r>
              <a:endParaRPr sz="6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5" name="Google Shape;1995;p25"/>
            <p:cNvSpPr/>
            <p:nvPr/>
          </p:nvSpPr>
          <p:spPr>
            <a:xfrm>
              <a:off x="1855326" y="2082697"/>
              <a:ext cx="767604" cy="36004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7125" lIns="74275" spcFirstLastPara="1" rIns="74275" wrap="square" tIns="371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내부</a:t>
              </a:r>
              <a:endParaRPr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이미지변환</a:t>
              </a:r>
              <a:endParaRPr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: /NFS_Sonsa</a:t>
              </a:r>
              <a:endParaRPr sz="6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7" name="Google Shape;1997;p25"/>
            <p:cNvSpPr/>
            <p:nvPr/>
          </p:nvSpPr>
          <p:spPr>
            <a:xfrm>
              <a:off x="2749172" y="2082697"/>
              <a:ext cx="767604" cy="36004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7125" lIns="74275" spcFirstLastPara="1" rIns="74275" wrap="square" tIns="371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통합</a:t>
              </a:r>
              <a:endParaRPr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이미지팩스</a:t>
              </a:r>
              <a:endParaRPr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/RDReport</a:t>
              </a:r>
              <a:endParaRPr sz="6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9" name="Google Shape;2009;p25"/>
            <p:cNvSpPr/>
            <p:nvPr/>
          </p:nvSpPr>
          <p:spPr>
            <a:xfrm>
              <a:off x="3666564" y="2086393"/>
              <a:ext cx="767604" cy="36004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7125" lIns="74275" spcFirstLastPara="1" rIns="74275" wrap="square" tIns="371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장기손사포탈</a:t>
              </a:r>
              <a:endParaRPr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/NFS_Sonsa</a:t>
              </a:r>
              <a:endParaRPr sz="6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010" name="Google Shape;2010;p25"/>
          <p:cNvCxnSpPr>
            <a:stCxn id="1991" idx="1"/>
            <a:endCxn id="2009" idx="2"/>
          </p:cNvCxnSpPr>
          <p:nvPr/>
        </p:nvCxnSpPr>
        <p:spPr>
          <a:xfrm flipH="1" rot="10800000">
            <a:off x="2818856" y="4676093"/>
            <a:ext cx="1095900" cy="330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1" name="Google Shape;2011;p25"/>
          <p:cNvSpPr txBox="1"/>
          <p:nvPr/>
        </p:nvSpPr>
        <p:spPr>
          <a:xfrm>
            <a:off x="4628063" y="4960148"/>
            <a:ext cx="929422" cy="530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/NFS/report</a:t>
            </a:r>
            <a:endParaRPr/>
          </a:p>
          <a:p>
            <a:pPr indent="-139303" lvl="0" marL="139303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569"/>
              <a:buFont typeface="Arial"/>
              <a:buChar char="-"/>
            </a:pPr>
            <a:r>
              <a:rPr lang="en-US" sz="569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CLZO0200U</a:t>
            </a:r>
            <a:endParaRPr/>
          </a:p>
          <a:p>
            <a:pPr indent="-139303" lvl="0" marL="139303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569"/>
              <a:buFont typeface="Arial"/>
              <a:buChar char="-"/>
            </a:pPr>
            <a:r>
              <a:rPr lang="en-US" sz="569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FALT_CHT_CD_IMG</a:t>
            </a:r>
            <a:endParaRPr/>
          </a:p>
          <a:p>
            <a:pPr indent="-139303" lvl="0" marL="139303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569"/>
              <a:buFont typeface="Arial"/>
              <a:buChar char="-"/>
            </a:pPr>
            <a:r>
              <a:rPr lang="en-US" sz="569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temp</a:t>
            </a:r>
            <a:endParaRPr/>
          </a:p>
          <a:p>
            <a:pPr indent="-139303" lvl="0" marL="139303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569"/>
              <a:buFont typeface="Arial"/>
              <a:buChar char="-"/>
            </a:pPr>
            <a:r>
              <a:rPr lang="en-US" sz="569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tmp</a:t>
            </a:r>
            <a:endParaRPr sz="569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2" name="Google Shape;2012;p25"/>
          <p:cNvSpPr txBox="1"/>
          <p:nvPr/>
        </p:nvSpPr>
        <p:spPr>
          <a:xfrm>
            <a:off x="6573093" y="4960148"/>
            <a:ext cx="929422" cy="530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/DT_DATA</a:t>
            </a:r>
            <a:endParaRPr/>
          </a:p>
          <a:p>
            <a:pPr indent="-139303" lvl="0" marL="139303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569"/>
              <a:buFont typeface="Arial"/>
              <a:buChar char="-"/>
            </a:pPr>
            <a:r>
              <a:rPr lang="en-US" sz="569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CLZO0200U</a:t>
            </a:r>
            <a:endParaRPr/>
          </a:p>
          <a:p>
            <a:pPr indent="-139303" lvl="0" marL="139303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569"/>
              <a:buFont typeface="Arial"/>
              <a:buChar char="-"/>
            </a:pPr>
            <a:r>
              <a:rPr lang="en-US" sz="569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FALT_CHT_CD_IMG</a:t>
            </a:r>
            <a:endParaRPr/>
          </a:p>
          <a:p>
            <a:pPr indent="-139303" lvl="0" marL="139303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569"/>
              <a:buFont typeface="Arial"/>
              <a:buChar char="-"/>
            </a:pPr>
            <a:r>
              <a:rPr lang="en-US" sz="569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temp</a:t>
            </a:r>
            <a:endParaRPr/>
          </a:p>
          <a:p>
            <a:pPr indent="-139303" lvl="0" marL="139303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569"/>
              <a:buFont typeface="Arial"/>
              <a:buChar char="-"/>
            </a:pPr>
            <a:r>
              <a:rPr lang="en-US" sz="569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tmp</a:t>
            </a:r>
            <a:endParaRPr sz="569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3" name="Google Shape;2013;p25"/>
          <p:cNvSpPr txBox="1"/>
          <p:nvPr/>
        </p:nvSpPr>
        <p:spPr>
          <a:xfrm>
            <a:off x="417770" y="714190"/>
            <a:ext cx="8964356" cy="637153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아키텍처 설계 &gt; 2.5 내외부 통합 발행물</a:t>
            </a:r>
            <a:endParaRPr b="1" i="0" sz="14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2.5.3 NAS 구성도</a:t>
            </a:r>
            <a:endParaRPr b="1" i="0" sz="12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7" name="Shape 2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8" name="Google Shape;2018;p26"/>
          <p:cNvSpPr txBox="1"/>
          <p:nvPr/>
        </p:nvSpPr>
        <p:spPr>
          <a:xfrm>
            <a:off x="298947" y="1460690"/>
            <a:ext cx="2653290" cy="242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■ TO-BE 내부 통합 발행물 NAS 예상 구성 정보</a:t>
            </a:r>
            <a:endParaRPr/>
          </a:p>
        </p:txBody>
      </p:sp>
      <p:graphicFrame>
        <p:nvGraphicFramePr>
          <p:cNvPr id="2019" name="Google Shape;2019;p26"/>
          <p:cNvGraphicFramePr/>
          <p:nvPr/>
        </p:nvGraphicFramePr>
        <p:xfrm>
          <a:off x="574341" y="17973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{9216E51F-281C-4444-9FEC-27A87119D8F7}</a:tableStyleId>
              </a:tblPr>
              <a:tblGrid>
                <a:gridCol w="1174325"/>
                <a:gridCol w="964350"/>
                <a:gridCol w="1023400"/>
                <a:gridCol w="1069325"/>
                <a:gridCol w="1069325"/>
                <a:gridCol w="1043075"/>
                <a:gridCol w="2153925"/>
              </a:tblGrid>
              <a:tr h="146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구분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호스트 네임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NAS 경로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할당 용량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OS Mount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계정 정보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비고</a:t>
                      </a:r>
                      <a:endParaRPr/>
                    </a:p>
                  </a:txBody>
                  <a:tcPr marT="7750" marB="0" marR="7750" marL="77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265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내부 통합RD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cpsi-esrdwas01~4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10.7.15.230:/xprdvol</a:t>
                      </a:r>
                      <a:b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(장기손사포탈_내부 NAS)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3.0TB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/NFS_Sonsa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uid=101(wasadmin)</a:t>
                      </a:r>
                      <a:b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gid=320(solgroup)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서버 변경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750" marB="0" marR="7750" marL="77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내부이미지변환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cpsi-esimgwas01~10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uid=101(wasadmin)</a:t>
                      </a:r>
                      <a:b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gid=320(solgroup)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서버 변경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750" marB="0" marR="7750" marL="77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통합이미지팩스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mpsi-fxwas01,02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uid=101(wasadmin)</a:t>
                      </a:r>
                      <a:b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gid=320(solgroup)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750" marB="0" marR="7750" marL="77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장기손사포탈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cpli-xpwas01,02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uid=101(wasadmin)</a:t>
                      </a:r>
                      <a:b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gid=320(solgroup)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750" marB="0" marR="7750" marL="77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6675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내부보상포탈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cpli-clsowas01,02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10.7.15.180:/report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10GB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/NFS/report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uid=101(wasadmin)</a:t>
                      </a:r>
                      <a:b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gid=320(solgroup)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SMARTPEN 업무 종료 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750" marB="0" marR="7750" marL="77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6675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10.7.15.180:/smartpen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50GB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/NFS/SMARTPEN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 vMerge="1"/>
                <a:tc vMerge="1"/>
              </a:tr>
              <a:tr h="265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디지털창구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cpsi-pprwas01,02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cisp-conas01:/pprvol1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51GB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/DT_DATA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uid=3601(wasadmin)</a:t>
                      </a:r>
                      <a:b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gid=3601(solgroup) 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750" marB="0" marR="7750" marL="77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20" name="Google Shape;2020;p26"/>
          <p:cNvGraphicFramePr/>
          <p:nvPr/>
        </p:nvGraphicFramePr>
        <p:xfrm>
          <a:off x="574341" y="42006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{9216E51F-281C-4444-9FEC-27A87119D8F7}</a:tableStyleId>
              </a:tblPr>
              <a:tblGrid>
                <a:gridCol w="1157325"/>
                <a:gridCol w="966600"/>
                <a:gridCol w="1071800"/>
                <a:gridCol w="1052075"/>
                <a:gridCol w="1052075"/>
                <a:gridCol w="1038925"/>
                <a:gridCol w="2158925"/>
              </a:tblGrid>
              <a:tr h="160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구분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호스트 네임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NAS 경로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Malgun Gothic"/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할당 용량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OS Mount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계정 정보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비고</a:t>
                      </a:r>
                      <a:endParaRPr/>
                    </a:p>
                  </a:txBody>
                  <a:tcPr marT="7750" marB="0" marR="7750" marL="77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29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내부 통합발행물 (NEW)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cpsi-ozrdwas01~4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rowSpan="5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10.7.15.230:/ozrdvol</a:t>
                      </a:r>
                      <a:b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(장기손사포탈_내부 NAS)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: 신규 볼륨 할당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rowSpan="5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200GB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rowSpan="5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/Sonsa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(신규)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uid=101(wasadmin)</a:t>
                      </a:r>
                      <a:b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gid=320(solgroup)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신규 서버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was 계정, 그룹에 대한 ID ASIS 와 동일하게 구성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750" marB="0" marR="7750" marL="77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내부이미지변환 (NEW)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cpsi-ozimgwas01~6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uid=101(wasadmin)</a:t>
                      </a:r>
                      <a:b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gid=320(solgroup)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신규 서버,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was 계정, 그룹에 대한 ID ASIS 와 동일하게 구성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750" marB="0" marR="7750" marL="77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통합이미지팩스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mpsi-fxwas01,02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uid=101(wasadmin)</a:t>
                      </a:r>
                      <a:b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gid=320(solgroup)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750" marB="0" marR="7750" marL="77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장기손사포탈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cpli-xpwas01,02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uid=101(wasadmin)</a:t>
                      </a:r>
                      <a:b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gid=320(solgroup)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750" marB="0" marR="7750" marL="77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내부보상포탈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cpli-clsowas01,02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uid=101(wasadmin)</a:t>
                      </a:r>
                      <a:b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gid=320(solgroup)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750" marB="0" marR="7750" marL="77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디지털창구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cpsi-pprwas01,02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cisp-conas01:/pprvol1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51GB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/DT_DATA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uid=3601(wasadmin)</a:t>
                      </a:r>
                      <a:b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gid=3601(solgroup) 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기존 NAS 사용, OZR API 호출 로직 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750" marB="0" marR="7750" marL="77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21" name="Google Shape;2021;p26"/>
          <p:cNvSpPr/>
          <p:nvPr/>
        </p:nvSpPr>
        <p:spPr>
          <a:xfrm>
            <a:off x="4371451" y="3664341"/>
            <a:ext cx="923059" cy="398197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6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2" name="Google Shape;2022;p26"/>
          <p:cNvSpPr txBox="1"/>
          <p:nvPr/>
        </p:nvSpPr>
        <p:spPr>
          <a:xfrm>
            <a:off x="417770" y="714190"/>
            <a:ext cx="8964356" cy="637153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아키텍처 설계 &gt; 2.5 내외부 통합 발행물</a:t>
            </a:r>
            <a:endParaRPr b="1" i="0" sz="14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2.5.3 NAS 구성도</a:t>
            </a:r>
            <a:endParaRPr b="1" i="0" sz="12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6" name="Shape 2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" name="Google Shape;2027;p27"/>
          <p:cNvSpPr txBox="1"/>
          <p:nvPr/>
        </p:nvSpPr>
        <p:spPr>
          <a:xfrm>
            <a:off x="439275" y="1743075"/>
            <a:ext cx="351731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6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■ 내부 통합 발행물 NAS 구성 방향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통합RD-&gt;기존 NAS 연동 +API 호출 로직</a:t>
            </a:r>
            <a:endParaRPr sz="105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: NAS 마운트 방식 – 물리적 파일 NAS로 공유 방식</a:t>
            </a:r>
            <a:endParaRPr sz="105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API(HTTPS) 방식 – PDF Binary data Response 방식</a:t>
            </a:r>
            <a:endParaRPr sz="105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8" name="Google Shape;2028;p27"/>
          <p:cNvSpPr txBox="1"/>
          <p:nvPr/>
        </p:nvSpPr>
        <p:spPr>
          <a:xfrm>
            <a:off x="579441" y="4604980"/>
            <a:ext cx="8302979" cy="1343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[내부 통합 발행물 시스템 구축 방향]</a:t>
            </a:r>
            <a:endParaRPr/>
          </a:p>
          <a:p>
            <a:pPr indent="-185738" lvl="0" marL="18573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13"/>
              <a:buFont typeface="Arial"/>
              <a:buAutoNum type="arabicPeriod"/>
            </a:pPr>
            <a:r>
              <a:rPr lang="en-US" sz="81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내부 통합 발행물, 내부 이미지 변환 서버의 WEB, WAS 계정의 UID 와 GID 는 기존과 동일 하게 설정 (uid=101(wasadmin), gid=320(solgroup))</a:t>
            </a:r>
            <a:br>
              <a:rPr lang="en-US" sz="81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1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차세대 발행물에서 생성된 발행물을 사용하기 위한 업무 서버와의 UID 와 GID 통일을 위하여 AS-IS 시스템과 동일한 UID, GID로 구성 필요 </a:t>
            </a:r>
            <a:endParaRPr sz="81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기존에 사용 중인 NAS (10.7.15.230:/xprdvol /NFS_Sonsa) 파일시스템은 AS-IS RD 업무 종료 후 Umount 예정 </a:t>
            </a:r>
            <a:br>
              <a:rPr lang="en-US" sz="81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1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: AS-IS RD 업무 종료 전 까지 기존 NAS 와 신규 NAS 동시 마운트 하여 운영 예정  </a:t>
            </a:r>
            <a:endParaRPr sz="81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내부보상포탈 서버 보상 포탈 NAS -&gt; 장기손사 NAS 로 전환 (RD 파일 생성을 위한 디렉토리 생성 필요)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업무 소스에 등록 되어 있는 NAS 마운트 포인트 변경으로 수정 필요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디지털창구에 대한 RD 업무 처리는 API 를 통하여 업무 처리 예정</a:t>
            </a:r>
            <a:endParaRPr sz="81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 기간계 NAS 에 있던 RD 서식(.MRD) =&gt; OZR 서식 파일 내부 통합 발행물 WAS 의 로컬 파일시스템으로 변경 구성 예정 </a:t>
            </a:r>
            <a:endParaRPr sz="81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81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9" name="Google Shape;2029;p27"/>
          <p:cNvSpPr/>
          <p:nvPr/>
        </p:nvSpPr>
        <p:spPr>
          <a:xfrm>
            <a:off x="1685623" y="3623432"/>
            <a:ext cx="1029292" cy="529273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125" lIns="74275" spcFirstLastPara="1" rIns="74275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3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장기손사 NAS</a:t>
            </a:r>
            <a:br>
              <a:rPr lang="en-US" sz="73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(10.7.15.230)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:/xprdvol</a:t>
            </a:r>
            <a:endParaRPr sz="6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30" name="Google Shape;2030;p27"/>
          <p:cNvCxnSpPr>
            <a:stCxn id="2031" idx="2"/>
            <a:endCxn id="2029" idx="1"/>
          </p:cNvCxnSpPr>
          <p:nvPr/>
        </p:nvCxnSpPr>
        <p:spPr>
          <a:xfrm>
            <a:off x="1017599" y="3260436"/>
            <a:ext cx="1182600" cy="3630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32" name="Google Shape;2032;p27"/>
          <p:cNvCxnSpPr>
            <a:stCxn id="2033" idx="2"/>
            <a:endCxn id="2029" idx="1"/>
          </p:cNvCxnSpPr>
          <p:nvPr/>
        </p:nvCxnSpPr>
        <p:spPr>
          <a:xfrm>
            <a:off x="1790375" y="3260436"/>
            <a:ext cx="409800" cy="3630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34" name="Google Shape;2034;p27"/>
          <p:cNvCxnSpPr>
            <a:stCxn id="2029" idx="1"/>
            <a:endCxn id="2035" idx="2"/>
          </p:cNvCxnSpPr>
          <p:nvPr/>
        </p:nvCxnSpPr>
        <p:spPr>
          <a:xfrm flipH="1" rot="10800000">
            <a:off x="2200269" y="3260432"/>
            <a:ext cx="397200" cy="3630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6" name="Google Shape;2036;p27"/>
          <p:cNvSpPr/>
          <p:nvPr/>
        </p:nvSpPr>
        <p:spPr>
          <a:xfrm>
            <a:off x="7097274" y="3479881"/>
            <a:ext cx="754650" cy="672825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125" lIns="74275" spcFirstLastPara="1" rIns="74275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기간계 NAS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(10.7.15.241)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:/pprvol1</a:t>
            </a:r>
            <a:endParaRPr/>
          </a:p>
        </p:txBody>
      </p:sp>
      <p:sp>
        <p:nvSpPr>
          <p:cNvPr id="2037" name="Google Shape;2037;p27"/>
          <p:cNvSpPr/>
          <p:nvPr/>
        </p:nvSpPr>
        <p:spPr>
          <a:xfrm>
            <a:off x="7162760" y="2843149"/>
            <a:ext cx="623678" cy="29253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125" lIns="74275" spcFirstLastPara="1" rIns="74275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디지털창구</a:t>
            </a:r>
            <a:endParaRPr sz="6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/DT_DATA</a:t>
            </a:r>
            <a:endParaRPr/>
          </a:p>
        </p:txBody>
      </p:sp>
      <p:cxnSp>
        <p:nvCxnSpPr>
          <p:cNvPr id="2038" name="Google Shape;2038;p27"/>
          <p:cNvCxnSpPr>
            <a:stCxn id="2037" idx="2"/>
            <a:endCxn id="2036" idx="1"/>
          </p:cNvCxnSpPr>
          <p:nvPr/>
        </p:nvCxnSpPr>
        <p:spPr>
          <a:xfrm>
            <a:off x="7474599" y="3135682"/>
            <a:ext cx="0" cy="3441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9" name="Google Shape;2039;p27"/>
          <p:cNvSpPr/>
          <p:nvPr/>
        </p:nvSpPr>
        <p:spPr>
          <a:xfrm>
            <a:off x="543831" y="2719296"/>
            <a:ext cx="5758691" cy="161706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125" lIns="74275" spcFirstLastPara="1" rIns="74275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1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0" name="Google Shape;2040;p27"/>
          <p:cNvSpPr/>
          <p:nvPr/>
        </p:nvSpPr>
        <p:spPr>
          <a:xfrm>
            <a:off x="6545284" y="2719296"/>
            <a:ext cx="1823291" cy="161706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125" lIns="74275" spcFirstLastPara="1" rIns="74275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1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1" name="Google Shape;2031;p27"/>
          <p:cNvSpPr/>
          <p:nvPr/>
        </p:nvSpPr>
        <p:spPr>
          <a:xfrm>
            <a:off x="674576" y="2798158"/>
            <a:ext cx="686046" cy="46227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125" lIns="74275" spcFirstLastPara="1" rIns="74275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내부통합RD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:/NFS_Sonsa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3" name="Google Shape;2033;p27"/>
          <p:cNvSpPr/>
          <p:nvPr/>
        </p:nvSpPr>
        <p:spPr>
          <a:xfrm>
            <a:off x="1413050" y="2798158"/>
            <a:ext cx="754650" cy="46227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125" lIns="74275" spcFirstLastPara="1" rIns="74275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내부</a:t>
            </a:r>
            <a:endParaRPr sz="6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이미지변환</a:t>
            </a:r>
            <a:endParaRPr sz="6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/NFS_Sonsa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5" name="Google Shape;2035;p27"/>
          <p:cNvSpPr/>
          <p:nvPr/>
        </p:nvSpPr>
        <p:spPr>
          <a:xfrm>
            <a:off x="2220129" y="2798158"/>
            <a:ext cx="754650" cy="46227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125" lIns="74275" spcFirstLastPara="1" rIns="74275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통합</a:t>
            </a:r>
            <a:endParaRPr sz="6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이미지팩스</a:t>
            </a:r>
            <a:endParaRPr sz="6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:/RDReport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:/Sonsa</a:t>
            </a:r>
            <a:endParaRPr sz="65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1" name="Google Shape;2041;p27"/>
          <p:cNvSpPr/>
          <p:nvPr/>
        </p:nvSpPr>
        <p:spPr>
          <a:xfrm>
            <a:off x="3027207" y="2802904"/>
            <a:ext cx="754650" cy="46227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125" lIns="74275" spcFirstLastPara="1" rIns="74275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장기손사포탈</a:t>
            </a:r>
            <a:endParaRPr sz="6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:/NFS_Sonsa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:/Sonsa</a:t>
            </a:r>
            <a:endParaRPr sz="65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42" name="Google Shape;2042;p27"/>
          <p:cNvCxnSpPr>
            <a:stCxn id="2029" idx="1"/>
            <a:endCxn id="2041" idx="2"/>
          </p:cNvCxnSpPr>
          <p:nvPr/>
        </p:nvCxnSpPr>
        <p:spPr>
          <a:xfrm flipH="1" rot="10800000">
            <a:off x="2200269" y="3265232"/>
            <a:ext cx="1204200" cy="3582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3" name="Google Shape;2043;p27"/>
          <p:cNvSpPr/>
          <p:nvPr/>
        </p:nvSpPr>
        <p:spPr>
          <a:xfrm>
            <a:off x="2941773" y="3623314"/>
            <a:ext cx="913127" cy="529273"/>
          </a:xfrm>
          <a:prstGeom prst="can">
            <a:avLst>
              <a:gd fmla="val 25000" name="adj"/>
            </a:avLst>
          </a:prstGeom>
          <a:solidFill>
            <a:srgbClr val="C0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125" lIns="74275" spcFirstLastPara="1" rIns="74275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3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장기손사 NAS</a:t>
            </a:r>
            <a:br>
              <a:rPr lang="en-US" sz="73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6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(10.7.15.230)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:/ozrdvol</a:t>
            </a:r>
            <a:endParaRPr sz="6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4" name="Google Shape;2044;p27"/>
          <p:cNvSpPr/>
          <p:nvPr/>
        </p:nvSpPr>
        <p:spPr>
          <a:xfrm>
            <a:off x="3834285" y="2802690"/>
            <a:ext cx="786058" cy="45774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125" lIns="74275" spcFirstLastPara="1" rIns="74275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내부보상포탈</a:t>
            </a:r>
            <a:endParaRPr sz="6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:/NFS/report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:/Sonsa</a:t>
            </a:r>
            <a:endParaRPr sz="65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5" name="Google Shape;2045;p27"/>
          <p:cNvSpPr/>
          <p:nvPr/>
        </p:nvSpPr>
        <p:spPr>
          <a:xfrm>
            <a:off x="4672771" y="2798158"/>
            <a:ext cx="754650" cy="46227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125" lIns="74275" spcFirstLastPara="1" rIns="74275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내부 통합</a:t>
            </a:r>
            <a:endParaRPr sz="6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발행물</a:t>
            </a:r>
            <a:endParaRPr sz="6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:/Sonsa</a:t>
            </a:r>
            <a:endParaRPr sz="65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6" name="Google Shape;2046;p27"/>
          <p:cNvSpPr/>
          <p:nvPr/>
        </p:nvSpPr>
        <p:spPr>
          <a:xfrm>
            <a:off x="5479848" y="2798158"/>
            <a:ext cx="754650" cy="46227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125" lIns="74275" spcFirstLastPara="1" rIns="74275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내부 이미지변환</a:t>
            </a:r>
            <a:endParaRPr sz="6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:/Sonsa</a:t>
            </a:r>
            <a:endParaRPr sz="65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47" name="Google Shape;2047;p27"/>
          <p:cNvCxnSpPr>
            <a:stCxn id="2044" idx="2"/>
            <a:endCxn id="2043" idx="1"/>
          </p:cNvCxnSpPr>
          <p:nvPr/>
        </p:nvCxnSpPr>
        <p:spPr>
          <a:xfrm flipH="1">
            <a:off x="3398414" y="3260436"/>
            <a:ext cx="828900" cy="363000"/>
          </a:xfrm>
          <a:prstGeom prst="straightConnector1">
            <a:avLst/>
          </a:prstGeom>
          <a:noFill/>
          <a:ln cap="flat" cmpd="sng" w="9525">
            <a:solidFill>
              <a:srgbClr val="00CB9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48" name="Google Shape;2048;p27"/>
          <p:cNvCxnSpPr>
            <a:stCxn id="2045" idx="2"/>
            <a:endCxn id="2043" idx="1"/>
          </p:cNvCxnSpPr>
          <p:nvPr/>
        </p:nvCxnSpPr>
        <p:spPr>
          <a:xfrm flipH="1">
            <a:off x="3398296" y="3260436"/>
            <a:ext cx="1651800" cy="363000"/>
          </a:xfrm>
          <a:prstGeom prst="straightConnector1">
            <a:avLst/>
          </a:prstGeom>
          <a:noFill/>
          <a:ln cap="flat" cmpd="sng" w="9525">
            <a:solidFill>
              <a:srgbClr val="00CB9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49" name="Google Shape;2049;p27"/>
          <p:cNvCxnSpPr>
            <a:stCxn id="2046" idx="2"/>
            <a:endCxn id="2043" idx="1"/>
          </p:cNvCxnSpPr>
          <p:nvPr/>
        </p:nvCxnSpPr>
        <p:spPr>
          <a:xfrm flipH="1">
            <a:off x="3398373" y="3260436"/>
            <a:ext cx="2458800" cy="363000"/>
          </a:xfrm>
          <a:prstGeom prst="straightConnector1">
            <a:avLst/>
          </a:prstGeom>
          <a:noFill/>
          <a:ln cap="flat" cmpd="sng" w="9525">
            <a:solidFill>
              <a:srgbClr val="00CB9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50" name="Google Shape;2050;p27"/>
          <p:cNvCxnSpPr>
            <a:stCxn id="2041" idx="2"/>
            <a:endCxn id="2043" idx="1"/>
          </p:cNvCxnSpPr>
          <p:nvPr/>
        </p:nvCxnSpPr>
        <p:spPr>
          <a:xfrm flipH="1">
            <a:off x="3398232" y="3265182"/>
            <a:ext cx="6300" cy="358200"/>
          </a:xfrm>
          <a:prstGeom prst="straightConnector1">
            <a:avLst/>
          </a:prstGeom>
          <a:noFill/>
          <a:ln cap="flat" cmpd="sng" w="9525">
            <a:solidFill>
              <a:srgbClr val="00CB9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51" name="Google Shape;2051;p27"/>
          <p:cNvCxnSpPr>
            <a:stCxn id="2035" idx="2"/>
            <a:endCxn id="2043" idx="1"/>
          </p:cNvCxnSpPr>
          <p:nvPr/>
        </p:nvCxnSpPr>
        <p:spPr>
          <a:xfrm>
            <a:off x="2597454" y="3260436"/>
            <a:ext cx="801000" cy="363000"/>
          </a:xfrm>
          <a:prstGeom prst="straightConnector1">
            <a:avLst/>
          </a:prstGeom>
          <a:noFill/>
          <a:ln cap="flat" cmpd="sng" w="9525">
            <a:solidFill>
              <a:srgbClr val="00CB9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52" name="Google Shape;2052;p27"/>
          <p:cNvCxnSpPr>
            <a:stCxn id="2045" idx="0"/>
            <a:endCxn id="2037" idx="0"/>
          </p:cNvCxnSpPr>
          <p:nvPr/>
        </p:nvCxnSpPr>
        <p:spPr>
          <a:xfrm flipH="1" rot="-5400000">
            <a:off x="6239896" y="1608358"/>
            <a:ext cx="45000" cy="2424600"/>
          </a:xfrm>
          <a:prstGeom prst="bentConnector3">
            <a:avLst>
              <a:gd fmla="val -412743" name="adj1"/>
            </a:avLst>
          </a:prstGeom>
          <a:noFill/>
          <a:ln cap="flat" cmpd="sng" w="9525">
            <a:solidFill>
              <a:srgbClr val="00CB97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53" name="Google Shape;2053;p27"/>
          <p:cNvSpPr txBox="1"/>
          <p:nvPr/>
        </p:nvSpPr>
        <p:spPr>
          <a:xfrm>
            <a:off x="6095296" y="2438254"/>
            <a:ext cx="649537" cy="1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API(HTTPS)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4" name="Google Shape;2054;p27"/>
          <p:cNvSpPr txBox="1"/>
          <p:nvPr/>
        </p:nvSpPr>
        <p:spPr>
          <a:xfrm>
            <a:off x="417770" y="714190"/>
            <a:ext cx="8964356" cy="637153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아키텍처 설계 &gt; 2.5 내외부 통합 발행물</a:t>
            </a:r>
            <a:endParaRPr b="1" i="0" sz="14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2.5.3 NAS 구성도</a:t>
            </a:r>
            <a:endParaRPr b="1" i="0" sz="12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8" name="Shape 2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9" name="Google Shape;2059;p28"/>
          <p:cNvGraphicFramePr/>
          <p:nvPr/>
        </p:nvGraphicFramePr>
        <p:xfrm>
          <a:off x="660930" y="19905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{9216E51F-281C-4444-9FEC-27A87119D8F7}</a:tableStyleId>
              </a:tblPr>
              <a:tblGrid>
                <a:gridCol w="1187475"/>
                <a:gridCol w="989550"/>
                <a:gridCol w="1268425"/>
                <a:gridCol w="872600"/>
                <a:gridCol w="872600"/>
                <a:gridCol w="780450"/>
                <a:gridCol w="1451500"/>
                <a:gridCol w="1121300"/>
              </a:tblGrid>
              <a:tr h="117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구분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호스트 네임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NAS 경로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할당용량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사용량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OS Mount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RD 경로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비고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229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MDS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cpse-mdrd01~08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mpae-mdhnas:/mdNAS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2.5TB 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1.8TB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/mdNAS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/mdNAS/md/upload (1.8TB)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uid=3601(wasadmin)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gid=3601(solgroup)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9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대표다이렉트 홈페이지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mpse-hswas01,02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mpae-mdhnas:/hsNAS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100GB 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0.11GB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/hsNAS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/hsNAS/rd (22MB)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uid=4001(wasadmin)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gid=4001(wasadmin)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9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보상포탈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cple-clsowas01,02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10.184.11.69:/cl_report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9.79GB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0.92GB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/NFS/report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/NFS/report/tmp (1016KB)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uid=101(wasadmin)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gid=320(wasadmin)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229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영업포탈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cppe-sprd01,02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10.184.11.69:/NFS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2.0TB 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696GB 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/NFS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/NFS/mrd (53G)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/NFS/RD_tmp (4.3GB)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uid=321(wasadmin)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gid=320(wasadmin)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229125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TM영업포탈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mpse-tmrd01,02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cppe-spnas01:/NFS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/NFS/mrd (53G)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uid=321(wasadmin)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gid=320(wasadmin)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229125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mpae-tmfas8200b:/Data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513GB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0.21GB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/Data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/Data/RD_tmp/Temp (9.3MB)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uid=321(wasadmin)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gid=320(wasadmin)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7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자동차 스마트 DM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cpsi-sdmrd01,02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E:\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200GB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2GB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/PDFS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E:/PDFS (70MB)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MDS 통합 예정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9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대량메일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mpse-ebcvt01,02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mpae-ebnas:nfs_vo1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12TB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3.6TB 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/NFS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>
                          <a:latin typeface="Arial"/>
                          <a:ea typeface="Arial"/>
                          <a:cs typeface="Arial"/>
                          <a:sym typeface="Arial"/>
                        </a:rPr>
                        <a:t> /NFS/emspdf/RD (330G)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latin typeface="Arial"/>
                          <a:ea typeface="Arial"/>
                          <a:cs typeface="Arial"/>
                          <a:sym typeface="Arial"/>
                        </a:rPr>
                        <a:t> /NFS/emspdf/markany (3.3T)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uid=4001(wasadmin)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gid=4001(solgroup)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7675"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17.3TB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00" u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6.08 TB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6225" marB="0" marR="6225" marL="62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60" name="Google Shape;2060;p28"/>
          <p:cNvSpPr txBox="1"/>
          <p:nvPr/>
        </p:nvSpPr>
        <p:spPr>
          <a:xfrm>
            <a:off x="479922" y="1584515"/>
            <a:ext cx="1508746" cy="242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■ 외부 RD NAS 사용현황</a:t>
            </a:r>
            <a:endParaRPr/>
          </a:p>
        </p:txBody>
      </p:sp>
      <p:sp>
        <p:nvSpPr>
          <p:cNvPr id="2061" name="Google Shape;2061;p28"/>
          <p:cNvSpPr/>
          <p:nvPr/>
        </p:nvSpPr>
        <p:spPr>
          <a:xfrm>
            <a:off x="686397" y="4194660"/>
            <a:ext cx="1719261" cy="149191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125" lIns="74275" spcFirstLastPara="1" rIns="74275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1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2" name="Google Shape;2062;p28"/>
          <p:cNvSpPr/>
          <p:nvPr/>
        </p:nvSpPr>
        <p:spPr>
          <a:xfrm>
            <a:off x="774423" y="5013630"/>
            <a:ext cx="754650" cy="556054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125" lIns="74275" spcFirstLastPara="1" rIns="74275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3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홈페이지 NAS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3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:/mdNAS</a:t>
            </a:r>
            <a:endParaRPr sz="73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3" name="Google Shape;2063;p28"/>
          <p:cNvSpPr/>
          <p:nvPr/>
        </p:nvSpPr>
        <p:spPr>
          <a:xfrm>
            <a:off x="777151" y="4329425"/>
            <a:ext cx="754650" cy="29253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125" lIns="74275" spcFirstLastPara="1" rIns="74275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MDS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/mdNAS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64" name="Google Shape;2064;p28"/>
          <p:cNvCxnSpPr>
            <a:stCxn id="2063" idx="2"/>
            <a:endCxn id="2062" idx="1"/>
          </p:cNvCxnSpPr>
          <p:nvPr/>
        </p:nvCxnSpPr>
        <p:spPr>
          <a:xfrm flipH="1">
            <a:off x="1151776" y="4621958"/>
            <a:ext cx="2700" cy="3918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5" name="Google Shape;2065;p28"/>
          <p:cNvSpPr/>
          <p:nvPr/>
        </p:nvSpPr>
        <p:spPr>
          <a:xfrm>
            <a:off x="1597034" y="4329425"/>
            <a:ext cx="754650" cy="29253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125" lIns="74275" spcFirstLastPara="1" rIns="74275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대표 홈페이지</a:t>
            </a:r>
            <a:endParaRPr sz="81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/hsNAS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6" name="Google Shape;2066;p28"/>
          <p:cNvSpPr/>
          <p:nvPr/>
        </p:nvSpPr>
        <p:spPr>
          <a:xfrm>
            <a:off x="3884435" y="5013781"/>
            <a:ext cx="754650" cy="556054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125" lIns="74275" spcFirstLastPara="1" rIns="74275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3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영업 포탈 NAS</a:t>
            </a:r>
            <a:br>
              <a:rPr lang="en-US" sz="73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(10.184.11.69)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:/NFS</a:t>
            </a:r>
            <a:endParaRPr sz="6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7" name="Google Shape;2067;p28"/>
          <p:cNvSpPr/>
          <p:nvPr/>
        </p:nvSpPr>
        <p:spPr>
          <a:xfrm>
            <a:off x="2623873" y="4329577"/>
            <a:ext cx="754650" cy="29253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125" lIns="74275" spcFirstLastPara="1" rIns="74275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보상포탈</a:t>
            </a:r>
            <a:endParaRPr sz="81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/NFS/report</a:t>
            </a:r>
            <a:endParaRPr sz="81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68" name="Google Shape;2068;p28"/>
          <p:cNvCxnSpPr>
            <a:endCxn id="2069" idx="1"/>
          </p:cNvCxnSpPr>
          <p:nvPr/>
        </p:nvCxnSpPr>
        <p:spPr>
          <a:xfrm>
            <a:off x="3001141" y="4622130"/>
            <a:ext cx="464400" cy="3915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70" name="Google Shape;2070;p28"/>
          <p:cNvSpPr/>
          <p:nvPr/>
        </p:nvSpPr>
        <p:spPr>
          <a:xfrm>
            <a:off x="3431185" y="4329577"/>
            <a:ext cx="830115" cy="29253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125" lIns="74275" spcFirstLastPara="1" rIns="74275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영업포탈</a:t>
            </a:r>
            <a:endParaRPr sz="81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/NFS</a:t>
            </a:r>
            <a:endParaRPr sz="81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71" name="Google Shape;2071;p28"/>
          <p:cNvCxnSpPr>
            <a:stCxn id="2070" idx="2"/>
            <a:endCxn id="2066" idx="1"/>
          </p:cNvCxnSpPr>
          <p:nvPr/>
        </p:nvCxnSpPr>
        <p:spPr>
          <a:xfrm>
            <a:off x="3846243" y="4622110"/>
            <a:ext cx="415500" cy="3918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72" name="Google Shape;2072;p28"/>
          <p:cNvSpPr/>
          <p:nvPr/>
        </p:nvSpPr>
        <p:spPr>
          <a:xfrm>
            <a:off x="4295775" y="4329577"/>
            <a:ext cx="754650" cy="29253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125" lIns="74275" spcFirstLastPara="1" rIns="74275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보상포탈</a:t>
            </a:r>
            <a:endParaRPr sz="81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/NFS</a:t>
            </a:r>
            <a:endParaRPr sz="81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73" name="Google Shape;2073;p28"/>
          <p:cNvCxnSpPr>
            <a:stCxn id="2066" idx="1"/>
            <a:endCxn id="2072" idx="2"/>
          </p:cNvCxnSpPr>
          <p:nvPr/>
        </p:nvCxnSpPr>
        <p:spPr>
          <a:xfrm flipH="1" rot="10800000">
            <a:off x="4261760" y="4621981"/>
            <a:ext cx="411300" cy="3918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74" name="Google Shape;2074;p28"/>
          <p:cNvSpPr/>
          <p:nvPr/>
        </p:nvSpPr>
        <p:spPr>
          <a:xfrm>
            <a:off x="2565131" y="4194811"/>
            <a:ext cx="2570431" cy="149191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125" lIns="74275" spcFirstLastPara="1" rIns="74275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1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5" name="Google Shape;2075;p28"/>
          <p:cNvSpPr/>
          <p:nvPr/>
        </p:nvSpPr>
        <p:spPr>
          <a:xfrm>
            <a:off x="7606652" y="4935655"/>
            <a:ext cx="754650" cy="672825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125" lIns="74275" spcFirstLastPara="1" rIns="74275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3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mpae-ebnas</a:t>
            </a:r>
            <a:br>
              <a:rPr lang="en-US" sz="73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3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:/</a:t>
            </a:r>
            <a:r>
              <a:rPr lang="en-US"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nfs_vo1</a:t>
            </a:r>
            <a:endParaRPr sz="6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6" name="Google Shape;2076;p28"/>
          <p:cNvSpPr/>
          <p:nvPr/>
        </p:nvSpPr>
        <p:spPr>
          <a:xfrm>
            <a:off x="7568919" y="4298923"/>
            <a:ext cx="830115" cy="29253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125" lIns="74275" spcFirstLastPara="1" rIns="74275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EMS (대량메일)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/NFS</a:t>
            </a:r>
            <a:endParaRPr/>
          </a:p>
        </p:txBody>
      </p:sp>
      <p:cxnSp>
        <p:nvCxnSpPr>
          <p:cNvPr id="2077" name="Google Shape;2077;p28"/>
          <p:cNvCxnSpPr>
            <a:stCxn id="2076" idx="2"/>
            <a:endCxn id="2075" idx="1"/>
          </p:cNvCxnSpPr>
          <p:nvPr/>
        </p:nvCxnSpPr>
        <p:spPr>
          <a:xfrm>
            <a:off x="7983977" y="4591456"/>
            <a:ext cx="0" cy="3441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78" name="Google Shape;2078;p28"/>
          <p:cNvSpPr/>
          <p:nvPr/>
        </p:nvSpPr>
        <p:spPr>
          <a:xfrm>
            <a:off x="5911755" y="4935655"/>
            <a:ext cx="754650" cy="672825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125" lIns="74275" spcFirstLastPara="1" rIns="74275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mpae-tmfas8200b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:/Data</a:t>
            </a:r>
            <a:endParaRPr sz="6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9" name="Google Shape;2079;p28"/>
          <p:cNvSpPr/>
          <p:nvPr/>
        </p:nvSpPr>
        <p:spPr>
          <a:xfrm>
            <a:off x="5874022" y="4298923"/>
            <a:ext cx="830115" cy="35849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125" lIns="74275" spcFirstLastPara="1" rIns="74275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TM 영업포탈</a:t>
            </a:r>
            <a:endParaRPr sz="81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:/NFS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:/Data</a:t>
            </a:r>
            <a:endParaRPr/>
          </a:p>
        </p:txBody>
      </p:sp>
      <p:cxnSp>
        <p:nvCxnSpPr>
          <p:cNvPr id="2080" name="Google Shape;2080;p28"/>
          <p:cNvCxnSpPr>
            <a:stCxn id="2079" idx="2"/>
            <a:endCxn id="2078" idx="1"/>
          </p:cNvCxnSpPr>
          <p:nvPr/>
        </p:nvCxnSpPr>
        <p:spPr>
          <a:xfrm>
            <a:off x="6289080" y="4657413"/>
            <a:ext cx="0" cy="2781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1" name="Google Shape;2081;p28"/>
          <p:cNvSpPr/>
          <p:nvPr/>
        </p:nvSpPr>
        <p:spPr>
          <a:xfrm>
            <a:off x="5230652" y="4194660"/>
            <a:ext cx="2027617" cy="147232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125" lIns="74275" spcFirstLastPara="1" rIns="74275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1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2" name="Google Shape;2082;p28"/>
          <p:cNvSpPr/>
          <p:nvPr/>
        </p:nvSpPr>
        <p:spPr>
          <a:xfrm>
            <a:off x="7343406" y="4175070"/>
            <a:ext cx="1823291" cy="149191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125" lIns="74275" spcFirstLastPara="1" rIns="74275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1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3" name="Google Shape;2083;p28"/>
          <p:cNvSpPr/>
          <p:nvPr/>
        </p:nvSpPr>
        <p:spPr>
          <a:xfrm>
            <a:off x="1597034" y="5013781"/>
            <a:ext cx="754650" cy="556054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125" lIns="74275" spcFirstLastPara="1" rIns="74275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3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홈페이지 NAS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3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:/hsNAS</a:t>
            </a:r>
            <a:endParaRPr sz="73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84" name="Google Shape;2084;p28"/>
          <p:cNvCxnSpPr/>
          <p:nvPr/>
        </p:nvCxnSpPr>
        <p:spPr>
          <a:xfrm>
            <a:off x="1974359" y="4621958"/>
            <a:ext cx="0" cy="391823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9" name="Google Shape;2069;p28"/>
          <p:cNvSpPr/>
          <p:nvPr/>
        </p:nvSpPr>
        <p:spPr>
          <a:xfrm>
            <a:off x="3088216" y="5013630"/>
            <a:ext cx="754650" cy="556054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125" lIns="74275" spcFirstLastPara="1" rIns="74275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3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영업 포탈 NAS</a:t>
            </a:r>
            <a:br>
              <a:rPr lang="en-US" sz="73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(10.184.11.69)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:/cl_report</a:t>
            </a:r>
            <a:endParaRPr sz="6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85" name="Google Shape;2085;p28"/>
          <p:cNvCxnSpPr>
            <a:stCxn id="2079" idx="2"/>
            <a:endCxn id="2066" idx="1"/>
          </p:cNvCxnSpPr>
          <p:nvPr/>
        </p:nvCxnSpPr>
        <p:spPr>
          <a:xfrm flipH="1">
            <a:off x="4261680" y="4657413"/>
            <a:ext cx="2027400" cy="3564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6" name="Google Shape;2086;p28"/>
          <p:cNvSpPr txBox="1"/>
          <p:nvPr/>
        </p:nvSpPr>
        <p:spPr>
          <a:xfrm>
            <a:off x="417770" y="714190"/>
            <a:ext cx="8964356" cy="637153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아키텍처 설계 &gt; 2.5 내외부 통합 발행물</a:t>
            </a:r>
            <a:endParaRPr b="1" i="0" sz="14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2.5.3 NAS 구성도</a:t>
            </a:r>
            <a:endParaRPr b="1" i="0" sz="12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0" name="Shape 2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91" name="Google Shape;2091;p29"/>
          <p:cNvGraphicFramePr/>
          <p:nvPr/>
        </p:nvGraphicFramePr>
        <p:xfrm>
          <a:off x="575204" y="19758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{9216E51F-281C-4444-9FEC-27A87119D8F7}</a:tableStyleId>
              </a:tblPr>
              <a:tblGrid>
                <a:gridCol w="1256400"/>
                <a:gridCol w="1047000"/>
                <a:gridCol w="1342075"/>
                <a:gridCol w="923275"/>
                <a:gridCol w="825750"/>
                <a:gridCol w="1186400"/>
                <a:gridCol w="1186400"/>
              </a:tblGrid>
              <a:tr h="117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구분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호스트 네임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NAS 경로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할당용량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OS Mount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계정 정보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비고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229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MDS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cpse-mdrd01~08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mpae-mdhnas:/mdNAS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2.5TB 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/mdNAS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uid=3601(wasadmin)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gid=3601(solgroup)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9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대표다이렉트 홈페이지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mpse-hswas01,02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mpae-mdhnas:/hsNAS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100GB 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/hsNAS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uid=4001(wasadmin)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gid=4001(wasadmin)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9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보상포탈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cple-clsowas01,02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10.184.11.69:/cl_report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9.79GB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/NFS/report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uid=101(wasadmin)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gid=320(wasadmin)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229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영업포탈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cppe-sprd01,02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10.184.11.69:/NFS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2.0TB 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/NFS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uid=321(wasadmin)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gid=320(wasadmin)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229125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TM영업포탈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mpse-tmrd01,02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cppe-spnas01:/NFS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uid=321(wasadmin)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gid=320(wasadmin)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229125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mpae-tmfas8200b:/Data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513GB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/Data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uid=321(wasadmin)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gid=320(wasadmin)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7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자동차 스마트 DM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cpsi-sdmrd01,02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E:\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200GB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/PDFS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MDS 통합 예정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9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대량메일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mpse-ebcvt01,02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mpae-ebnas:nfs_vo1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12TB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/NFS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uid=4001(wasadmin)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gid=4001(solgroup)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92" name="Google Shape;2092;p29"/>
          <p:cNvSpPr txBox="1"/>
          <p:nvPr/>
        </p:nvSpPr>
        <p:spPr>
          <a:xfrm>
            <a:off x="394197" y="1613090"/>
            <a:ext cx="2653290" cy="242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■ TO-BE 외부 통합 발행물 NAS 예상 구성 정보</a:t>
            </a:r>
            <a:endParaRPr/>
          </a:p>
        </p:txBody>
      </p:sp>
      <p:graphicFrame>
        <p:nvGraphicFramePr>
          <p:cNvPr id="2093" name="Google Shape;2093;p29"/>
          <p:cNvGraphicFramePr/>
          <p:nvPr/>
        </p:nvGraphicFramePr>
        <p:xfrm>
          <a:off x="575204" y="41798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{9216E51F-281C-4444-9FEC-27A87119D8F7}</a:tableStyleId>
              </a:tblPr>
              <a:tblGrid>
                <a:gridCol w="1256400"/>
                <a:gridCol w="1047000"/>
                <a:gridCol w="1342075"/>
                <a:gridCol w="923275"/>
                <a:gridCol w="825750"/>
                <a:gridCol w="1186400"/>
                <a:gridCol w="1186400"/>
              </a:tblGrid>
              <a:tr h="117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구분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호스트 네임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NAS 경로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할당용량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OS Mount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계정 정보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비고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229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Malgun Gothic"/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외부 통합발행물 (NEW)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cpse-ozrdwas01~6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mpae-mdhnas:/oz_vol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200GB 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/rdNAS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uid=3601(wasadmin)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gid=3601(solgroup)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(구)MDS RD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9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MDS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cpse-mdwas01~04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mpae-mdhnas:/mdNAS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2.5TB 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/mdNAS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uid=3601(wasadmin)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gid=3601(solgroup)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Malgun Gothic"/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OZR API 호출 로직 </a:t>
                      </a: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9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대표다이렉트 홈페이지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mpse-hswas01,02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mpae-mdhnas:/hsNAS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100GB 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/hsNAS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uid=4001(wasadmin)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gid=4001(wasadmin)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Malgun Gothic"/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OZR API 호출 로직 </a:t>
                      </a: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9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보상포탈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cple-clsowas01,02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10.184.11.69:/cl_report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9.79GB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/NFS/report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uid=101(wasadmin)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gid=320(wasadmin)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Malgun Gothic"/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OZR API 호출 로직 </a:t>
                      </a: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229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영업포탈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cppe-sprd01,02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10.184.11.69:/NFS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2.0TB 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/NFS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uid=321(wasadmin)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gid=320(wasadmin)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Malgun Gothic"/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OZR API 호출 로직 </a:t>
                      </a: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229125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TM영업포탈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mpse-tmrd01,02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cppe-spnas01:/NFS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uid=321(wasadmin)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gid=320(wasadmin)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229125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mpae-tmfas8200b:/Data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513GB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/Data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uid=321(wasadmin)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gid=320(wasadmin)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Malgun Gothic"/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OZR API 호출 로직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9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대량메일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mpse-ebcvt01,02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mpae-ebnas:nfs_vo1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12TB</a:t>
                      </a:r>
                      <a:endParaRPr/>
                    </a:p>
                  </a:txBody>
                  <a:tcPr marT="7750" marB="0" marR="7750" marL="77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/NFS</a:t>
                      </a:r>
                      <a:endParaRPr/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uid=4001(wasadmin)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gid=4001(solgroup)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OZR 전용 계정 생성 필요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(</a:t>
                      </a: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uid=3601, gid=3601)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5" marB="0" marR="6225" marL="6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94" name="Google Shape;2094;p29"/>
          <p:cNvSpPr/>
          <p:nvPr/>
        </p:nvSpPr>
        <p:spPr>
          <a:xfrm>
            <a:off x="4243816" y="3878654"/>
            <a:ext cx="923059" cy="213913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6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5" name="Google Shape;2095;p29"/>
          <p:cNvSpPr txBox="1"/>
          <p:nvPr/>
        </p:nvSpPr>
        <p:spPr>
          <a:xfrm>
            <a:off x="417770" y="714190"/>
            <a:ext cx="8964356" cy="637153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아키텍처 설계 &gt; 2.5 내외부 통합 발행물</a:t>
            </a:r>
            <a:endParaRPr b="1" i="0" sz="14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2.5.3 NAS 구성도</a:t>
            </a:r>
            <a:endParaRPr b="1" i="0" sz="12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9" name="Shape 2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Google Shape;2100;p30"/>
          <p:cNvSpPr txBox="1"/>
          <p:nvPr/>
        </p:nvSpPr>
        <p:spPr>
          <a:xfrm>
            <a:off x="525000" y="1924050"/>
            <a:ext cx="351731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6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■ 외부 통합 발행물 NAS 구성 방향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통합RD-&gt;기존 NAS 연동 +API 호출 로직</a:t>
            </a:r>
            <a:endParaRPr sz="105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: NAS 마운트 방식 – 물리적 파일 NAS로 공유 방식</a:t>
            </a:r>
            <a:endParaRPr sz="105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API(HTTPS) 방식 – PDF Binary data Response 방식</a:t>
            </a:r>
            <a:endParaRPr sz="105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1" name="Google Shape;2101;p30"/>
          <p:cNvSpPr txBox="1"/>
          <p:nvPr/>
        </p:nvSpPr>
        <p:spPr>
          <a:xfrm>
            <a:off x="689631" y="4794963"/>
            <a:ext cx="8302979" cy="717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[외부 통합 발행물 시스템 구축 방향]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외부 통합 발행물 시스템 MDS NAS와 대량메일 NAS 연결, 홈페이지, 영업포탈, TM 영업포탈, 외부 보상포탈에 대한 RD 처리는 API 로 처리 </a:t>
            </a:r>
            <a:endParaRPr sz="81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대량메일 서버 외부 통합 발행물 서버 WAS 계정 및 그룹 의 uid, gid 가 달라 대량 메일 서버에 OZ 전용 계정 생성 필요 (</a:t>
            </a:r>
            <a:r>
              <a:rPr lang="en-US" sz="81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uid=3601, gid=3601)</a:t>
            </a:r>
            <a:endParaRPr sz="81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기간계 NAS 에 있던 RD 서식(.MRD) =&gt; OZR 서식 파일 내부 통합 발행물 WAS 의 로컬 파일시스템으로 변경 구성 예정 </a:t>
            </a:r>
            <a:endParaRPr sz="81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81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2" name="Google Shape;2102;p30"/>
          <p:cNvSpPr/>
          <p:nvPr/>
        </p:nvSpPr>
        <p:spPr>
          <a:xfrm>
            <a:off x="654322" y="2925036"/>
            <a:ext cx="2516460" cy="161706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125" lIns="74275" spcFirstLastPara="1" rIns="74275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1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3" name="Google Shape;2103;p30"/>
          <p:cNvSpPr/>
          <p:nvPr/>
        </p:nvSpPr>
        <p:spPr>
          <a:xfrm>
            <a:off x="785066" y="3003898"/>
            <a:ext cx="686046" cy="46227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125" lIns="74275" spcFirstLastPara="1" rIns="74275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대용량 메일</a:t>
            </a:r>
            <a:endParaRPr sz="65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:/NFS</a:t>
            </a:r>
            <a:endParaRPr/>
          </a:p>
        </p:txBody>
      </p:sp>
      <p:sp>
        <p:nvSpPr>
          <p:cNvPr id="2104" name="Google Shape;2104;p30"/>
          <p:cNvSpPr/>
          <p:nvPr/>
        </p:nvSpPr>
        <p:spPr>
          <a:xfrm>
            <a:off x="1523540" y="3003898"/>
            <a:ext cx="754650" cy="46227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125" lIns="74275" spcFirstLastPara="1" rIns="74275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외부</a:t>
            </a:r>
            <a:endParaRPr sz="6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통합 발행물</a:t>
            </a:r>
            <a:endParaRPr sz="6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:/rdNAS</a:t>
            </a:r>
            <a:endParaRPr sz="65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5" name="Google Shape;2105;p30"/>
          <p:cNvSpPr/>
          <p:nvPr/>
        </p:nvSpPr>
        <p:spPr>
          <a:xfrm>
            <a:off x="2330619" y="3003898"/>
            <a:ext cx="754650" cy="46227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125" lIns="74275" spcFirstLastPara="1" rIns="74275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MDS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/mdNAS</a:t>
            </a:r>
            <a:endParaRPr sz="6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6" name="Google Shape;2106;p30"/>
          <p:cNvSpPr/>
          <p:nvPr/>
        </p:nvSpPr>
        <p:spPr>
          <a:xfrm>
            <a:off x="4332608" y="3008644"/>
            <a:ext cx="754650" cy="46227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125" lIns="74275" spcFirstLastPara="1" rIns="74275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외부 보상포탈</a:t>
            </a:r>
            <a:endParaRPr sz="6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/NFS/report</a:t>
            </a:r>
            <a:endParaRPr sz="65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7" name="Google Shape;2107;p30"/>
          <p:cNvSpPr/>
          <p:nvPr/>
        </p:nvSpPr>
        <p:spPr>
          <a:xfrm>
            <a:off x="5139686" y="3008430"/>
            <a:ext cx="786058" cy="45774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125" lIns="74275" spcFirstLastPara="1" rIns="74275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외부 영업포탈: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/NFS/RD_tmp</a:t>
            </a:r>
            <a:endParaRPr sz="6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8" name="Google Shape;2108;p30"/>
          <p:cNvSpPr/>
          <p:nvPr/>
        </p:nvSpPr>
        <p:spPr>
          <a:xfrm>
            <a:off x="5978172" y="3003898"/>
            <a:ext cx="754650" cy="46227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125" lIns="74275" spcFirstLastPara="1" rIns="74275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TM영업포탈</a:t>
            </a:r>
            <a:endParaRPr sz="6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:/Data</a:t>
            </a:r>
            <a:endParaRPr sz="6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9" name="Google Shape;2109;p30"/>
          <p:cNvCxnSpPr>
            <a:stCxn id="2104" idx="0"/>
            <a:endCxn id="2106" idx="0"/>
          </p:cNvCxnSpPr>
          <p:nvPr/>
        </p:nvCxnSpPr>
        <p:spPr>
          <a:xfrm flipH="1" rot="-5400000">
            <a:off x="3303065" y="1601698"/>
            <a:ext cx="4800" cy="2809200"/>
          </a:xfrm>
          <a:prstGeom prst="bentConnector3">
            <a:avLst>
              <a:gd fmla="val -3869684" name="adj1"/>
            </a:avLst>
          </a:prstGeom>
          <a:noFill/>
          <a:ln cap="flat" cmpd="sng" w="9525">
            <a:solidFill>
              <a:srgbClr val="00CB97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10" name="Google Shape;2110;p30"/>
          <p:cNvSpPr txBox="1"/>
          <p:nvPr/>
        </p:nvSpPr>
        <p:spPr>
          <a:xfrm>
            <a:off x="2586301" y="2667107"/>
            <a:ext cx="649537" cy="1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API(HTTPS)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1" name="Google Shape;2111;p30"/>
          <p:cNvSpPr/>
          <p:nvPr/>
        </p:nvSpPr>
        <p:spPr>
          <a:xfrm>
            <a:off x="4613871" y="3859495"/>
            <a:ext cx="1029292" cy="529273"/>
          </a:xfrm>
          <a:prstGeom prst="can">
            <a:avLst>
              <a:gd fmla="val 33188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125" lIns="74275" spcFirstLastPara="1" rIns="74275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12" name="Google Shape;2112;p30"/>
          <p:cNvCxnSpPr>
            <a:stCxn id="2111" idx="0"/>
            <a:endCxn id="2111" idx="3"/>
          </p:cNvCxnSpPr>
          <p:nvPr/>
        </p:nvCxnSpPr>
        <p:spPr>
          <a:xfrm>
            <a:off x="5128517" y="4035150"/>
            <a:ext cx="0" cy="353700"/>
          </a:xfrm>
          <a:prstGeom prst="straightConnector1">
            <a:avLst/>
          </a:prstGeom>
          <a:noFill/>
          <a:ln cap="flat" cmpd="sng" w="9525">
            <a:solidFill>
              <a:srgbClr val="00CB9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3" name="Google Shape;2113;p30"/>
          <p:cNvSpPr txBox="1"/>
          <p:nvPr/>
        </p:nvSpPr>
        <p:spPr>
          <a:xfrm>
            <a:off x="4706056" y="3843264"/>
            <a:ext cx="784189" cy="192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cppe-spnas01: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4" name="Google Shape;2114;p30"/>
          <p:cNvSpPr txBox="1"/>
          <p:nvPr/>
        </p:nvSpPr>
        <p:spPr>
          <a:xfrm>
            <a:off x="4577621" y="4090787"/>
            <a:ext cx="575799" cy="2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3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/cl_report</a:t>
            </a:r>
            <a:endParaRPr sz="73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5" name="Google Shape;2115;p30"/>
          <p:cNvSpPr txBox="1"/>
          <p:nvPr/>
        </p:nvSpPr>
        <p:spPr>
          <a:xfrm>
            <a:off x="5156351" y="4089608"/>
            <a:ext cx="397866" cy="2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3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/NFS</a:t>
            </a:r>
            <a:endParaRPr sz="73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6" name="Google Shape;2116;p30"/>
          <p:cNvSpPr/>
          <p:nvPr/>
        </p:nvSpPr>
        <p:spPr>
          <a:xfrm>
            <a:off x="879570" y="3848496"/>
            <a:ext cx="754650" cy="529274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125" lIns="74275" spcFirstLastPara="1" rIns="74275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3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7" name="Google Shape;2117;p30"/>
          <p:cNvSpPr txBox="1"/>
          <p:nvPr/>
        </p:nvSpPr>
        <p:spPr>
          <a:xfrm>
            <a:off x="921707" y="3810543"/>
            <a:ext cx="670376" cy="192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mpae-ebnas:</a:t>
            </a:r>
            <a:endParaRPr/>
          </a:p>
        </p:txBody>
      </p:sp>
      <p:sp>
        <p:nvSpPr>
          <p:cNvPr id="2118" name="Google Shape;2118;p30"/>
          <p:cNvSpPr/>
          <p:nvPr/>
        </p:nvSpPr>
        <p:spPr>
          <a:xfrm>
            <a:off x="1820123" y="3852475"/>
            <a:ext cx="1029292" cy="529273"/>
          </a:xfrm>
          <a:prstGeom prst="can">
            <a:avLst>
              <a:gd fmla="val 33188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125" lIns="74275" spcFirstLastPara="1" rIns="74275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19" name="Google Shape;2119;p30"/>
          <p:cNvCxnSpPr>
            <a:stCxn id="2118" idx="0"/>
            <a:endCxn id="2118" idx="3"/>
          </p:cNvCxnSpPr>
          <p:nvPr/>
        </p:nvCxnSpPr>
        <p:spPr>
          <a:xfrm>
            <a:off x="2334769" y="4028130"/>
            <a:ext cx="0" cy="353700"/>
          </a:xfrm>
          <a:prstGeom prst="straightConnector1">
            <a:avLst/>
          </a:prstGeom>
          <a:noFill/>
          <a:ln cap="flat" cmpd="sng" w="9525">
            <a:solidFill>
              <a:srgbClr val="00CB9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0" name="Google Shape;2120;p30"/>
          <p:cNvSpPr txBox="1"/>
          <p:nvPr/>
        </p:nvSpPr>
        <p:spPr>
          <a:xfrm>
            <a:off x="1934749" y="3836244"/>
            <a:ext cx="739306" cy="192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mpae-mdhnas: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1" name="Google Shape;2121;p30"/>
          <p:cNvSpPr txBox="1"/>
          <p:nvPr/>
        </p:nvSpPr>
        <p:spPr>
          <a:xfrm>
            <a:off x="1842741" y="4108532"/>
            <a:ext cx="482825" cy="204800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3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/oz_vol</a:t>
            </a:r>
            <a:endParaRPr sz="73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2" name="Google Shape;2122;p30"/>
          <p:cNvSpPr txBox="1"/>
          <p:nvPr/>
        </p:nvSpPr>
        <p:spPr>
          <a:xfrm>
            <a:off x="2319241" y="4094970"/>
            <a:ext cx="534121" cy="2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3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/mdNAS</a:t>
            </a:r>
            <a:endParaRPr sz="73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3" name="Google Shape;2123;p30"/>
          <p:cNvSpPr/>
          <p:nvPr/>
        </p:nvSpPr>
        <p:spPr>
          <a:xfrm>
            <a:off x="5916876" y="3855928"/>
            <a:ext cx="935720" cy="529273"/>
          </a:xfrm>
          <a:prstGeom prst="can">
            <a:avLst>
              <a:gd fmla="val 33188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125" lIns="74275" spcFirstLastPara="1" rIns="74275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4" name="Google Shape;2124;p30"/>
          <p:cNvSpPr txBox="1"/>
          <p:nvPr/>
        </p:nvSpPr>
        <p:spPr>
          <a:xfrm>
            <a:off x="5946154" y="3839697"/>
            <a:ext cx="877164" cy="192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mpae-tmfas8200b:</a:t>
            </a:r>
            <a:endParaRPr/>
          </a:p>
        </p:txBody>
      </p:sp>
      <p:sp>
        <p:nvSpPr>
          <p:cNvPr id="2125" name="Google Shape;2125;p30"/>
          <p:cNvSpPr txBox="1"/>
          <p:nvPr/>
        </p:nvSpPr>
        <p:spPr>
          <a:xfrm>
            <a:off x="6180192" y="4104615"/>
            <a:ext cx="409087" cy="2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3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/Data</a:t>
            </a:r>
            <a:endParaRPr sz="73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6" name="Google Shape;2126;p30"/>
          <p:cNvSpPr/>
          <p:nvPr/>
        </p:nvSpPr>
        <p:spPr>
          <a:xfrm>
            <a:off x="3205110" y="2928169"/>
            <a:ext cx="3733853" cy="161706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125" lIns="74275" spcFirstLastPara="1" rIns="74275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1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7" name="Google Shape;2127;p30"/>
          <p:cNvCxnSpPr>
            <a:stCxn id="2103" idx="2"/>
            <a:endCxn id="2128" idx="0"/>
          </p:cNvCxnSpPr>
          <p:nvPr/>
        </p:nvCxnSpPr>
        <p:spPr>
          <a:xfrm>
            <a:off x="1128089" y="3466176"/>
            <a:ext cx="101100" cy="6075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29" name="Google Shape;2129;p30"/>
          <p:cNvCxnSpPr>
            <a:stCxn id="2105" idx="2"/>
            <a:endCxn id="2122" idx="0"/>
          </p:cNvCxnSpPr>
          <p:nvPr/>
        </p:nvCxnSpPr>
        <p:spPr>
          <a:xfrm flipH="1">
            <a:off x="2586444" y="3466176"/>
            <a:ext cx="121500" cy="6288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8" name="Google Shape;2128;p30"/>
          <p:cNvSpPr txBox="1"/>
          <p:nvPr/>
        </p:nvSpPr>
        <p:spPr>
          <a:xfrm>
            <a:off x="969194" y="4073582"/>
            <a:ext cx="519694" cy="2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3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nfs_vo1</a:t>
            </a:r>
            <a:endParaRPr sz="73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30" name="Google Shape;2130;p30"/>
          <p:cNvCxnSpPr>
            <a:stCxn id="2104" idx="2"/>
            <a:endCxn id="2121" idx="0"/>
          </p:cNvCxnSpPr>
          <p:nvPr/>
        </p:nvCxnSpPr>
        <p:spPr>
          <a:xfrm>
            <a:off x="1900865" y="3466176"/>
            <a:ext cx="183300" cy="642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1" name="Google Shape;2131;p30"/>
          <p:cNvCxnSpPr>
            <a:stCxn id="2106" idx="2"/>
            <a:endCxn id="2114" idx="0"/>
          </p:cNvCxnSpPr>
          <p:nvPr/>
        </p:nvCxnSpPr>
        <p:spPr>
          <a:xfrm>
            <a:off x="4709933" y="3470922"/>
            <a:ext cx="155700" cy="6198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2" name="Google Shape;2132;p30"/>
          <p:cNvCxnSpPr>
            <a:stCxn id="2107" idx="2"/>
            <a:endCxn id="2115" idx="0"/>
          </p:cNvCxnSpPr>
          <p:nvPr/>
        </p:nvCxnSpPr>
        <p:spPr>
          <a:xfrm flipH="1">
            <a:off x="5355415" y="3466176"/>
            <a:ext cx="177300" cy="6234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3" name="Google Shape;2133;p30"/>
          <p:cNvCxnSpPr>
            <a:stCxn id="2108" idx="2"/>
            <a:endCxn id="2125" idx="0"/>
          </p:cNvCxnSpPr>
          <p:nvPr/>
        </p:nvCxnSpPr>
        <p:spPr>
          <a:xfrm>
            <a:off x="6355497" y="3466176"/>
            <a:ext cx="29100" cy="6384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4" name="Google Shape;2134;p30"/>
          <p:cNvCxnSpPr>
            <a:stCxn id="2104" idx="0"/>
            <a:endCxn id="2107" idx="0"/>
          </p:cNvCxnSpPr>
          <p:nvPr/>
        </p:nvCxnSpPr>
        <p:spPr>
          <a:xfrm flipH="1" rot="-5400000">
            <a:off x="3714515" y="1190248"/>
            <a:ext cx="4500" cy="3631800"/>
          </a:xfrm>
          <a:prstGeom prst="bentConnector3">
            <a:avLst>
              <a:gd fmla="val -4127204" name="adj1"/>
            </a:avLst>
          </a:prstGeom>
          <a:noFill/>
          <a:ln cap="flat" cmpd="sng" w="9525">
            <a:solidFill>
              <a:srgbClr val="00CB97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35" name="Google Shape;2135;p30"/>
          <p:cNvCxnSpPr>
            <a:stCxn id="2104" idx="0"/>
            <a:endCxn id="2108" idx="0"/>
          </p:cNvCxnSpPr>
          <p:nvPr/>
        </p:nvCxnSpPr>
        <p:spPr>
          <a:xfrm flipH="1" rot="-5400000">
            <a:off x="4127915" y="776848"/>
            <a:ext cx="600" cy="4454700"/>
          </a:xfrm>
          <a:prstGeom prst="bentConnector3">
            <a:avLst>
              <a:gd fmla="val -30097083" name="adj1"/>
            </a:avLst>
          </a:prstGeom>
          <a:noFill/>
          <a:ln cap="flat" cmpd="sng" w="9525">
            <a:solidFill>
              <a:srgbClr val="00CB97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36" name="Google Shape;2136;p30"/>
          <p:cNvSpPr/>
          <p:nvPr/>
        </p:nvSpPr>
        <p:spPr>
          <a:xfrm>
            <a:off x="3402612" y="3016281"/>
            <a:ext cx="754650" cy="46227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125" lIns="74275" spcFirstLastPara="1" rIns="74275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다이렉트 </a:t>
            </a:r>
            <a:endParaRPr sz="6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홈페이지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6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/hsNAS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7" name="Google Shape;2137;p30"/>
          <p:cNvSpPr/>
          <p:nvPr/>
        </p:nvSpPr>
        <p:spPr>
          <a:xfrm>
            <a:off x="3341316" y="3868310"/>
            <a:ext cx="935720" cy="529273"/>
          </a:xfrm>
          <a:prstGeom prst="can">
            <a:avLst>
              <a:gd fmla="val 33188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125" lIns="74275" spcFirstLastPara="1" rIns="74275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8" name="Google Shape;2138;p30"/>
          <p:cNvSpPr txBox="1"/>
          <p:nvPr/>
        </p:nvSpPr>
        <p:spPr>
          <a:xfrm>
            <a:off x="3439523" y="3852079"/>
            <a:ext cx="739306" cy="192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mpae-mdhnas: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9" name="Google Shape;2139;p30"/>
          <p:cNvSpPr txBox="1"/>
          <p:nvPr/>
        </p:nvSpPr>
        <p:spPr>
          <a:xfrm>
            <a:off x="3558145" y="4116997"/>
            <a:ext cx="502061" cy="2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3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/hsNAS</a:t>
            </a:r>
            <a:endParaRPr sz="73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40" name="Google Shape;2140;p30"/>
          <p:cNvCxnSpPr>
            <a:stCxn id="2136" idx="2"/>
            <a:endCxn id="2139" idx="0"/>
          </p:cNvCxnSpPr>
          <p:nvPr/>
        </p:nvCxnSpPr>
        <p:spPr>
          <a:xfrm>
            <a:off x="3779937" y="3478559"/>
            <a:ext cx="29100" cy="6384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41" name="Google Shape;2141;p30"/>
          <p:cNvCxnSpPr>
            <a:stCxn id="2104" idx="0"/>
            <a:endCxn id="2136" idx="0"/>
          </p:cNvCxnSpPr>
          <p:nvPr/>
        </p:nvCxnSpPr>
        <p:spPr>
          <a:xfrm flipH="1" rot="-5400000">
            <a:off x="2834315" y="2070448"/>
            <a:ext cx="12300" cy="1879200"/>
          </a:xfrm>
          <a:prstGeom prst="bentConnector3">
            <a:avLst>
              <a:gd fmla="val -1510118" name="adj1"/>
            </a:avLst>
          </a:prstGeom>
          <a:noFill/>
          <a:ln cap="flat" cmpd="sng" w="9525">
            <a:solidFill>
              <a:srgbClr val="00CB97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42" name="Google Shape;2142;p30"/>
          <p:cNvSpPr txBox="1"/>
          <p:nvPr/>
        </p:nvSpPr>
        <p:spPr>
          <a:xfrm>
            <a:off x="417770" y="714190"/>
            <a:ext cx="8964356" cy="637153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아키텍처 설계 &gt; 2.5 내외부 통합 발행물</a:t>
            </a:r>
            <a:endParaRPr b="1" i="0" sz="14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2.5.3 NAS 구성도</a:t>
            </a:r>
            <a:endParaRPr b="1" i="0" sz="12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6" name="Shape 2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47" name="Google Shape;2147;p31"/>
          <p:cNvGraphicFramePr/>
          <p:nvPr/>
        </p:nvGraphicFramePr>
        <p:xfrm>
          <a:off x="417770" y="16282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{F6045412-04BD-4F82-B1B7-2730D475FC39}</a:tableStyleId>
              </a:tblPr>
              <a:tblGrid>
                <a:gridCol w="378800"/>
                <a:gridCol w="655550"/>
                <a:gridCol w="1766225"/>
                <a:gridCol w="1239750"/>
                <a:gridCol w="1239750"/>
                <a:gridCol w="1239750"/>
                <a:gridCol w="1239750"/>
                <a:gridCol w="1239750"/>
              </a:tblGrid>
              <a:tr h="168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1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시스템</a:t>
                      </a:r>
                      <a:endParaRPr b="1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기간계</a:t>
                      </a:r>
                      <a:endParaRPr b="1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전사RD</a:t>
                      </a:r>
                      <a:endParaRPr b="1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영업포탈</a:t>
                      </a:r>
                      <a:endParaRPr b="1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보상포탈</a:t>
                      </a:r>
                      <a:endParaRPr b="1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 hMerge="1"/>
              </a:tr>
              <a:tr h="139925"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개발</a:t>
                      </a:r>
                      <a:endParaRPr b="1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hostname</a:t>
                      </a:r>
                      <a:endParaRPr b="1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cisd-web01(FMS)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 gridSpan="2"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 rowSpan="3" hMerge="1"/>
                <a:tc gridSpan="2"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 rowSpan="3" hMerge="1"/>
              </a:tr>
              <a:tr h="1399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배포위치</a:t>
                      </a:r>
                      <a:endParaRPr b="1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/NFS/DEV/DCOWEB/report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 vMerge="1"/>
                <a:tc gridSpan="2" vMerge="1"/>
                <a:tc hMerge="1" vMerge="1"/>
                <a:tc gridSpan="2" vMerge="1"/>
                <a:tc hMerge="1" vMerge="1"/>
              </a:tr>
              <a:tr h="1399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link</a:t>
                      </a:r>
                      <a:endParaRPr b="1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10.2.13.180:/export/cisd /NFS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 vMerge="1"/>
                <a:tc gridSpan="2" vMerge="1"/>
                <a:tc hMerge="1" vMerge="1"/>
                <a:tc gridSpan="2" vMerge="1"/>
                <a:tc hMerge="1" vMerge="1"/>
              </a:tr>
              <a:tr h="139925">
                <a:tc rowSpan="5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검증</a:t>
                      </a:r>
                      <a:endParaRPr b="1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hostname</a:t>
                      </a:r>
                      <a:endParaRPr b="1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cisq-web01, 02(쉘 배포)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cqsi-esrdwas01, 02 (LINK)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cqli-spwas02(쉘 배포)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cqpi-sprd01,02 (NAS)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cqli-clsowas01, 02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cqle-clsowas01, 02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</a:tr>
              <a:tr h="252500">
                <a:tc v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배포위치</a:t>
                      </a:r>
                      <a:endParaRPr b="1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/NFS/QA/QCOWEB/report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/Appl/Crownix_ERS/ReportingServer/mrd/report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/MRD/report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/Appl/Crownix_ERS/ReportingServer/mrd_ln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/Appl/RD/Crownix_ERS/ReportingServer/mrd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/Appl/RD/Crownix_ERS/ReportingServer/mrd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</a:tr>
              <a:tr h="193000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report = /NFS/QA/QCOWEB/report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mrd_ln = /NFS/mrd/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report = /NFS/report/tmp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</a:tr>
              <a:tr h="1399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1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</a:tr>
              <a:tr h="1930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link</a:t>
                      </a:r>
                      <a:endParaRPr b="1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10.2.13.180:/export/cisd /NFS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10.2.13.180:/export/cisd /NFS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10.7.19.72:/NFS/mrd  /MRD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10.7.19.72:/NFS/mrd  /MRD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/NFS = cqae-clnas01:/cl_vol01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</a:tr>
              <a:tr h="193000">
                <a:tc rowSpan="5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운영</a:t>
                      </a:r>
                      <a:endParaRPr b="1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hostname</a:t>
                      </a:r>
                      <a:endParaRPr b="1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cisp-coweb01~04(쉘 배포)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cpsi-esrdwas01~04(쉘 배포)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cppe-spwas02(쉘 배포)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cppe-sprd01, 02 (NAS)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cpli-clsowas01, 02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cple-clsowas01, 02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</a:tr>
              <a:tr h="252500">
                <a:tc v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배포위치</a:t>
                      </a:r>
                      <a:endParaRPr b="1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/Appl/OnlineWeb/report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/Appl/Crownix_ERS/ReportingServer/mrd/report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/MRD/report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/Product/Crownix_ERS/ReportingServer/mrd_ln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/Appl/RD/Crownix_ERS/ReportingServer/mrd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/Appl/RD/Crownix_ERS/ReportingServer/mrd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</a:tr>
              <a:tr h="139925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=/Appl/OnlineWeb/report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1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mrd_ln = /NFS/mrd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cble-clsowas01, 02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cbli-clsowas01, 02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</a:tr>
              <a:tr h="2525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1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1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1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/Appl/RD/Crownix_ERS/ReportingServer/mrd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/Appl/RD/Crownix_ERS/ReportingServer/mrd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</a:tr>
              <a:tr h="1930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link</a:t>
                      </a:r>
                      <a:endParaRPr b="1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10.184.11.69:/NFS/mrd /MRD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10.184.11.69:/NFS/mrd /MRD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</a:tr>
            </a:tbl>
          </a:graphicData>
        </a:graphic>
      </p:graphicFrame>
      <p:sp>
        <p:nvSpPr>
          <p:cNvPr id="2148" name="Google Shape;2148;p31"/>
          <p:cNvSpPr txBox="1"/>
          <p:nvPr/>
        </p:nvSpPr>
        <p:spPr>
          <a:xfrm>
            <a:off x="417770" y="714190"/>
            <a:ext cx="8964356" cy="637153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아키텍처 설계 &gt; 2.5 내외부 통합 발행물</a:t>
            </a:r>
            <a:endParaRPr b="1" i="0" sz="14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2.5.2 통합발행물 배포 구성도</a:t>
            </a:r>
            <a:endParaRPr b="1" i="0" sz="12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49" name="Google Shape;2149;p31"/>
          <p:cNvSpPr/>
          <p:nvPr/>
        </p:nvSpPr>
        <p:spPr>
          <a:xfrm>
            <a:off x="417770" y="1341438"/>
            <a:ext cx="2713556" cy="238849"/>
          </a:xfrm>
          <a:prstGeom prst="snip2SameRect">
            <a:avLst>
              <a:gd fmla="val 34085" name="adj1"/>
              <a:gd fmla="val 0" name="adj2"/>
            </a:avLst>
          </a:prstGeom>
          <a:solidFill>
            <a:srgbClr val="BFC9D3"/>
          </a:solidFill>
          <a:ln>
            <a:noFill/>
          </a:ln>
          <a:effectLst>
            <a:outerShdw rotWithShape="0" algn="tl" dir="16200000" dist="25400">
              <a:srgbClr val="99A9B9"/>
            </a:outerShdw>
          </a:effectLst>
        </p:spPr>
        <p:txBody>
          <a:bodyPr anchorCtr="0" anchor="ctr" bIns="3600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어두운 상향 대각선" id="2150" name="Google Shape;2150;p31"/>
          <p:cNvSpPr/>
          <p:nvPr/>
        </p:nvSpPr>
        <p:spPr>
          <a:xfrm>
            <a:off x="1137951" y="1399307"/>
            <a:ext cx="1324338" cy="123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MRD 자원 배포 정보 (AS-IS)</a:t>
            </a:r>
            <a:endParaRPr sz="100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51" name="Google Shape;2151;p31"/>
          <p:cNvGraphicFramePr/>
          <p:nvPr/>
        </p:nvGraphicFramePr>
        <p:xfrm>
          <a:off x="382848" y="4731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{F6045412-04BD-4F82-B1B7-2730D475FC39}</a:tableStyleId>
              </a:tblPr>
              <a:tblGrid>
                <a:gridCol w="524900"/>
                <a:gridCol w="908350"/>
                <a:gridCol w="2447400"/>
                <a:gridCol w="1717850"/>
                <a:gridCol w="1717850"/>
                <a:gridCol w="1717850"/>
              </a:tblGrid>
              <a:tr h="179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1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시스템</a:t>
                      </a:r>
                      <a:endParaRPr b="1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내부통합</a:t>
                      </a:r>
                      <a:endParaRPr b="1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외부통합</a:t>
                      </a:r>
                      <a:endParaRPr b="1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장기손사포탈</a:t>
                      </a:r>
                      <a:endParaRPr b="1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 hMerge="1"/>
              </a:tr>
              <a:tr h="179600"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개발</a:t>
                      </a:r>
                      <a:endParaRPr b="1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hostname</a:t>
                      </a:r>
                      <a:endParaRPr b="1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crsi-ozdev01</a:t>
                      </a:r>
                      <a:endParaRPr/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</a:tr>
              <a:tr h="1796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배포위치</a:t>
                      </a:r>
                      <a:endParaRPr b="1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</a:tr>
              <a:tr h="1796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link</a:t>
                      </a:r>
                      <a:endParaRPr b="1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</a:tr>
              <a:tr h="179600"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검증</a:t>
                      </a:r>
                      <a:endParaRPr b="1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hostname</a:t>
                      </a:r>
                      <a:endParaRPr b="1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</a:tr>
              <a:tr h="1796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배포위치</a:t>
                      </a:r>
                      <a:endParaRPr b="1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</a:tr>
              <a:tr h="1796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link</a:t>
                      </a:r>
                      <a:endParaRPr b="1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</a:tr>
              <a:tr h="17960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운영</a:t>
                      </a:r>
                      <a:endParaRPr b="1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hostname</a:t>
                      </a:r>
                      <a:endParaRPr b="1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</a:tr>
              <a:tr h="1796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배포위치</a:t>
                      </a:r>
                      <a:endParaRPr b="1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00" marB="0" marR="4300" marL="4300" anchor="ctr"/>
                </a:tc>
              </a:tr>
            </a:tbl>
          </a:graphicData>
        </a:graphic>
      </p:graphicFrame>
      <p:sp>
        <p:nvSpPr>
          <p:cNvPr id="2152" name="Google Shape;2152;p31"/>
          <p:cNvSpPr/>
          <p:nvPr/>
        </p:nvSpPr>
        <p:spPr>
          <a:xfrm>
            <a:off x="382848" y="4444800"/>
            <a:ext cx="2713556" cy="238849"/>
          </a:xfrm>
          <a:prstGeom prst="snip2SameRect">
            <a:avLst>
              <a:gd fmla="val 34085" name="adj1"/>
              <a:gd fmla="val 0" name="adj2"/>
            </a:avLst>
          </a:prstGeom>
          <a:solidFill>
            <a:srgbClr val="BFC9D3"/>
          </a:solidFill>
          <a:ln>
            <a:noFill/>
          </a:ln>
          <a:effectLst>
            <a:outerShdw rotWithShape="0" algn="tl" dir="16200000" dist="25400">
              <a:srgbClr val="99A9B9"/>
            </a:outerShdw>
          </a:effectLst>
        </p:spPr>
        <p:txBody>
          <a:bodyPr anchorCtr="0" anchor="ctr" bIns="3600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어두운 상향 대각선" id="2153" name="Google Shape;2153;p31"/>
          <p:cNvSpPr/>
          <p:nvPr/>
        </p:nvSpPr>
        <p:spPr>
          <a:xfrm>
            <a:off x="1113384" y="4502669"/>
            <a:ext cx="1303627" cy="123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OZR 자원 배포 정보(TO-BE)</a:t>
            </a:r>
            <a:endParaRPr sz="100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7" name="Shape 2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8" name="Google Shape;2158;p32"/>
          <p:cNvGrpSpPr/>
          <p:nvPr/>
        </p:nvGrpSpPr>
        <p:grpSpPr>
          <a:xfrm>
            <a:off x="381001" y="1578314"/>
            <a:ext cx="1241940" cy="1116403"/>
            <a:chOff x="789185" y="3018635"/>
            <a:chExt cx="1241940" cy="1116403"/>
          </a:xfrm>
        </p:grpSpPr>
        <p:sp>
          <p:nvSpPr>
            <p:cNvPr id="2159" name="Google Shape;2159;p32"/>
            <p:cNvSpPr/>
            <p:nvPr/>
          </p:nvSpPr>
          <p:spPr>
            <a:xfrm>
              <a:off x="808158" y="3018635"/>
              <a:ext cx="1222967" cy="111640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60" name="Google Shape;2160;p32"/>
            <p:cNvSpPr/>
            <p:nvPr/>
          </p:nvSpPr>
          <p:spPr>
            <a:xfrm>
              <a:off x="789185" y="3018635"/>
              <a:ext cx="1231306" cy="249688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1" marL="0" marR="0" rtl="0" algn="ctr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하이포탈+</a:t>
              </a:r>
              <a:endPara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61" name="Google Shape;2161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97743" y="3333892"/>
              <a:ext cx="1060069" cy="72415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62" name="Google Shape;2162;p32"/>
          <p:cNvSpPr txBox="1"/>
          <p:nvPr/>
        </p:nvSpPr>
        <p:spPr>
          <a:xfrm>
            <a:off x="1484198" y="1869839"/>
            <a:ext cx="141479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발신(IR_NP-ZZ_0401)</a:t>
            </a:r>
            <a:endParaRPr b="0"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3" name="Google Shape;2163;p32"/>
          <p:cNvSpPr txBox="1"/>
          <p:nvPr/>
        </p:nvSpPr>
        <p:spPr>
          <a:xfrm>
            <a:off x="4255618" y="2464864"/>
            <a:ext cx="104292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/emswebnas/ftp</a:t>
            </a:r>
            <a:endParaRPr b="0"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4" name="Google Shape;2164;p32"/>
          <p:cNvSpPr/>
          <p:nvPr/>
        </p:nvSpPr>
        <p:spPr>
          <a:xfrm>
            <a:off x="4012553" y="1348871"/>
            <a:ext cx="1467732" cy="717432"/>
          </a:xfrm>
          <a:prstGeom prst="rect">
            <a:avLst/>
          </a:prstGeom>
          <a:solidFill>
            <a:srgbClr val="E7E7F9"/>
          </a:solidFill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PDF 변환/발송서버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(mdse-ebdev01)</a:t>
            </a:r>
            <a:endParaRPr/>
          </a:p>
        </p:txBody>
      </p:sp>
      <p:sp>
        <p:nvSpPr>
          <p:cNvPr id="2165" name="Google Shape;2165;p32"/>
          <p:cNvSpPr/>
          <p:nvPr/>
        </p:nvSpPr>
        <p:spPr>
          <a:xfrm>
            <a:off x="4423543" y="2115767"/>
            <a:ext cx="513426" cy="362005"/>
          </a:xfrm>
          <a:prstGeom prst="flowChartMagneticDisk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2200" lIns="84400" spcFirstLastPara="1" rIns="84400" wrap="square" tIns="422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Malgun Gothic"/>
              <a:buNone/>
            </a:pPr>
            <a:r>
              <a:rPr b="0" i="0" lang="en-US" sz="923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NAS</a:t>
            </a:r>
            <a:endParaRPr b="0" i="0" sz="923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66" name="Google Shape;2166;p32"/>
          <p:cNvSpPr/>
          <p:nvPr/>
        </p:nvSpPr>
        <p:spPr>
          <a:xfrm>
            <a:off x="2159148" y="2164808"/>
            <a:ext cx="1148828" cy="717432"/>
          </a:xfrm>
          <a:prstGeom prst="rect">
            <a:avLst/>
          </a:prstGeom>
          <a:solidFill>
            <a:srgbClr val="E7E7F9"/>
          </a:solidFill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sendEMSFileFtp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67" name="Google Shape;2167;p32"/>
          <p:cNvCxnSpPr>
            <a:stCxn id="2159" idx="3"/>
            <a:endCxn id="2166" idx="1"/>
          </p:cNvCxnSpPr>
          <p:nvPr/>
        </p:nvCxnSpPr>
        <p:spPr>
          <a:xfrm>
            <a:off x="1622941" y="2136516"/>
            <a:ext cx="536100" cy="387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68" name="Google Shape;2168;p32"/>
          <p:cNvCxnSpPr>
            <a:stCxn id="2166" idx="3"/>
            <a:endCxn id="2165" idx="2"/>
          </p:cNvCxnSpPr>
          <p:nvPr/>
        </p:nvCxnSpPr>
        <p:spPr>
          <a:xfrm flipH="1" rot="10800000">
            <a:off x="3307976" y="2296724"/>
            <a:ext cx="1115700" cy="226800"/>
          </a:xfrm>
          <a:prstGeom prst="bentConnector3">
            <a:avLst>
              <a:gd fmla="val 49994" name="adj1"/>
            </a:avLst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69" name="Google Shape;2169;p32"/>
          <p:cNvSpPr/>
          <p:nvPr/>
        </p:nvSpPr>
        <p:spPr>
          <a:xfrm>
            <a:off x="2526702" y="3031948"/>
            <a:ext cx="1148828" cy="717432"/>
          </a:xfrm>
          <a:prstGeom prst="rect">
            <a:avLst/>
          </a:prstGeom>
          <a:solidFill>
            <a:srgbClr val="E7E7F9"/>
          </a:solidFill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EMS메일 PDF전환</a:t>
            </a:r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(IR_CIS-ZZ_0093)</a:t>
            </a:r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0" name="Google Shape;2170;p32"/>
          <p:cNvSpPr/>
          <p:nvPr/>
        </p:nvSpPr>
        <p:spPr>
          <a:xfrm>
            <a:off x="4012924" y="2834008"/>
            <a:ext cx="1692057" cy="208240"/>
          </a:xfrm>
          <a:prstGeom prst="roundRect">
            <a:avLst>
              <a:gd fmla="val 16667" name="adj"/>
            </a:avLst>
          </a:prstGeom>
          <a:solidFill>
            <a:srgbClr val="FF9900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emsTmsEailEaiSvr1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71" name="Google Shape;2171;p32"/>
          <p:cNvCxnSpPr>
            <a:stCxn id="2169" idx="3"/>
            <a:endCxn id="2172" idx="1"/>
          </p:cNvCxnSpPr>
          <p:nvPr/>
        </p:nvCxnSpPr>
        <p:spPr>
          <a:xfrm>
            <a:off x="3675530" y="3390664"/>
            <a:ext cx="335700" cy="459000"/>
          </a:xfrm>
          <a:prstGeom prst="bentConnector3">
            <a:avLst>
              <a:gd fmla="val 49998" name="adj1"/>
            </a:avLst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73" name="Google Shape;2173;p32"/>
          <p:cNvSpPr/>
          <p:nvPr/>
        </p:nvSpPr>
        <p:spPr>
          <a:xfrm>
            <a:off x="4012925" y="3056271"/>
            <a:ext cx="1692056" cy="262917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PdfForgeryPreventService.class</a:t>
            </a:r>
            <a:endParaRPr b="0" i="0" sz="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4" name="Google Shape;2174;p32"/>
          <p:cNvSpPr/>
          <p:nvPr/>
        </p:nvSpPr>
        <p:spPr>
          <a:xfrm flipH="1">
            <a:off x="1328944" y="1857725"/>
            <a:ext cx="273422" cy="232258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5" name="Google Shape;2175;p32"/>
          <p:cNvSpPr/>
          <p:nvPr/>
        </p:nvSpPr>
        <p:spPr>
          <a:xfrm flipH="1">
            <a:off x="3526199" y="2358812"/>
            <a:ext cx="273422" cy="232258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6" name="Google Shape;2176;p32"/>
          <p:cNvSpPr/>
          <p:nvPr/>
        </p:nvSpPr>
        <p:spPr>
          <a:xfrm flipH="1">
            <a:off x="3694704" y="3070628"/>
            <a:ext cx="321300" cy="244971"/>
          </a:xfrm>
          <a:prstGeom prst="roundRect">
            <a:avLst>
              <a:gd fmla="val 16667" name="adj"/>
            </a:avLst>
          </a:prstGeom>
          <a:solidFill>
            <a:srgbClr val="FF710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7" name="Google Shape;2177;p32"/>
          <p:cNvSpPr/>
          <p:nvPr/>
        </p:nvSpPr>
        <p:spPr>
          <a:xfrm>
            <a:off x="6194471" y="4722474"/>
            <a:ext cx="1285837" cy="1557478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78" name="Google Shape;2178;p32"/>
          <p:cNvSpPr/>
          <p:nvPr/>
        </p:nvSpPr>
        <p:spPr>
          <a:xfrm>
            <a:off x="6194471" y="4506474"/>
            <a:ext cx="1285837" cy="216000"/>
          </a:xfrm>
          <a:prstGeom prst="snip2SameRect">
            <a:avLst>
              <a:gd fmla="val 29265" name="adj1"/>
              <a:gd fmla="val 0" name="adj2"/>
            </a:avLst>
          </a:prstGeom>
          <a:solidFill>
            <a:srgbClr val="006DBA"/>
          </a:solidFill>
          <a:ln cap="flat" cmpd="sng" w="25400">
            <a:solidFill>
              <a:srgbClr val="9CA7B8">
                <a:alpha val="0"/>
              </a:srgbClr>
            </a:solidFill>
            <a:prstDash val="solid"/>
            <a:miter lim="8000"/>
            <a:headEnd len="sm" w="sm" type="none"/>
            <a:tailEnd len="sm" w="sm" type="none"/>
          </a:ln>
          <a:effectLst>
            <a:outerShdw rotWithShape="0" algn="tl" dir="16200000" dist="25400">
              <a:srgbClr val="005086"/>
            </a:outerShdw>
          </a:effectLst>
        </p:spPr>
        <p:txBody>
          <a:bodyPr anchorCtr="0" anchor="ctr" bIns="3600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외부 통합 발행물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79" name="Google Shape;2179;p32"/>
          <p:cNvGraphicFramePr/>
          <p:nvPr/>
        </p:nvGraphicFramePr>
        <p:xfrm>
          <a:off x="6274419" y="5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{F6045412-04BD-4F82-B1B7-2730D475FC39}</a:tableStyleId>
              </a:tblPr>
              <a:tblGrid>
                <a:gridCol w="1116000"/>
              </a:tblGrid>
              <a:tr h="225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640"/>
                        <a:buFont typeface="Noto Sans Symbols"/>
                        <a:buNone/>
                      </a:pPr>
                      <a:r>
                        <a:rPr lang="en-US" sz="800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PDF 생성</a:t>
                      </a:r>
                      <a:endParaRPr sz="800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" marB="7200" marR="36000" marL="36000" anchor="ctr">
                    <a:lnL cap="flat" cmpd="sng" w="9525">
                      <a:solidFill>
                        <a:srgbClr val="99A9B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9B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9B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5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640"/>
                        <a:buFont typeface="Noto Sans Symbols"/>
                        <a:buNone/>
                      </a:pPr>
                      <a:r>
                        <a:rPr lang="en-US" sz="800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TIFF 생성</a:t>
                      </a:r>
                      <a:endParaRPr/>
                    </a:p>
                  </a:txBody>
                  <a:tcPr marT="7200" marB="7200" marR="36000" marL="36000" anchor="ctr">
                    <a:lnL cap="flat" cmpd="sng" w="9525">
                      <a:solidFill>
                        <a:srgbClr val="99A9B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9B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9B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9B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80" name="Google Shape;2180;p32"/>
          <p:cNvSpPr/>
          <p:nvPr/>
        </p:nvSpPr>
        <p:spPr>
          <a:xfrm>
            <a:off x="6261390" y="5437445"/>
            <a:ext cx="1152000" cy="261710"/>
          </a:xfrm>
          <a:prstGeom prst="snip2SameRect">
            <a:avLst>
              <a:gd fmla="val 0" name="adj1"/>
              <a:gd fmla="val 0" name="adj2"/>
            </a:avLst>
          </a:prstGeom>
          <a:solidFill>
            <a:srgbClr val="BFC9D3"/>
          </a:solidFill>
          <a:ln>
            <a:noFill/>
          </a:ln>
          <a:effectLst>
            <a:outerShdw rotWithShape="0" algn="tl" dir="16200000" dist="12700">
              <a:srgbClr val="99A9B9"/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오즈스케쥴러</a:t>
            </a:r>
            <a:endParaRPr sz="9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81" name="Google Shape;2181;p32"/>
          <p:cNvGraphicFramePr/>
          <p:nvPr/>
        </p:nvGraphicFramePr>
        <p:xfrm>
          <a:off x="6261247" y="50905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{F6045412-04BD-4F82-B1B7-2730D475FC39}</a:tableStyleId>
              </a:tblPr>
              <a:tblGrid>
                <a:gridCol w="1138975"/>
              </a:tblGrid>
              <a:tr h="223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640"/>
                        <a:buFont typeface="Noto Sans Symbols"/>
                        <a:buNone/>
                      </a:pPr>
                      <a:r>
                        <a:rPr lang="en-US" sz="800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서식조회</a:t>
                      </a:r>
                      <a:endParaRPr sz="900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" marB="7200" marR="36000" marL="36000" anchor="ctr">
                    <a:lnL cap="flat" cmpd="sng" w="9525">
                      <a:solidFill>
                        <a:srgbClr val="99A9B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9B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9B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82" name="Google Shape;2182;p32"/>
          <p:cNvSpPr/>
          <p:nvPr/>
        </p:nvSpPr>
        <p:spPr>
          <a:xfrm>
            <a:off x="6248220" y="4836395"/>
            <a:ext cx="1152000" cy="261710"/>
          </a:xfrm>
          <a:prstGeom prst="snip2SameRect">
            <a:avLst>
              <a:gd fmla="val 0" name="adj1"/>
              <a:gd fmla="val 0" name="adj2"/>
            </a:avLst>
          </a:prstGeom>
          <a:solidFill>
            <a:srgbClr val="BFC9D3"/>
          </a:solidFill>
          <a:ln>
            <a:noFill/>
          </a:ln>
          <a:effectLst>
            <a:outerShdw rotWithShape="0" algn="tl" dir="16200000" dist="12700">
              <a:srgbClr val="99A9B9"/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OZ eForm Server</a:t>
            </a:r>
            <a:endParaRPr/>
          </a:p>
        </p:txBody>
      </p:sp>
      <p:sp>
        <p:nvSpPr>
          <p:cNvPr id="2183" name="Google Shape;2183;p32"/>
          <p:cNvSpPr/>
          <p:nvPr/>
        </p:nvSpPr>
        <p:spPr>
          <a:xfrm>
            <a:off x="6194472" y="1567076"/>
            <a:ext cx="1285837" cy="1125970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84" name="Google Shape;2184;p32"/>
          <p:cNvSpPr/>
          <p:nvPr/>
        </p:nvSpPr>
        <p:spPr>
          <a:xfrm>
            <a:off x="6194473" y="1341438"/>
            <a:ext cx="1285837" cy="216000"/>
          </a:xfrm>
          <a:prstGeom prst="snip2SameRect">
            <a:avLst>
              <a:gd fmla="val 29265" name="adj1"/>
              <a:gd fmla="val 0" name="adj2"/>
            </a:avLst>
          </a:prstGeom>
          <a:solidFill>
            <a:srgbClr val="C0C0C0"/>
          </a:solidFill>
          <a:ln cap="flat" cmpd="sng" w="25400">
            <a:solidFill>
              <a:srgbClr val="A5A5A5">
                <a:alpha val="0"/>
              </a:srgbClr>
            </a:solidFill>
            <a:prstDash val="solid"/>
            <a:miter lim="8000"/>
            <a:headEnd len="sm" w="sm" type="none"/>
            <a:tailEnd len="sm" w="sm" type="none"/>
          </a:ln>
          <a:effectLst>
            <a:outerShdw rotWithShape="0" algn="tl" dir="16200000" dist="25400">
              <a:srgbClr val="005086"/>
            </a:outerShdw>
          </a:effectLst>
        </p:spPr>
        <p:txBody>
          <a:bodyPr anchorCtr="0" anchor="ctr" bIns="3600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EMS RD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(emspdfSvr1,2)</a:t>
            </a:r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85" name="Google Shape;2185;p32"/>
          <p:cNvGraphicFramePr/>
          <p:nvPr/>
        </p:nvGraphicFramePr>
        <p:xfrm>
          <a:off x="6261247" y="19100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{F6045412-04BD-4F82-B1B7-2730D475FC39}</a:tableStyleId>
              </a:tblPr>
              <a:tblGrid>
                <a:gridCol w="1116000"/>
              </a:tblGrid>
              <a:tr h="176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640"/>
                        <a:buFont typeface="Noto Sans Symbols"/>
                        <a:buNone/>
                      </a:pPr>
                      <a:r>
                        <a:rPr lang="en-US" sz="800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서식조회</a:t>
                      </a:r>
                      <a:endParaRPr sz="800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" marB="7200" marR="36000" marL="36000" anchor="ctr">
                    <a:lnL cap="flat" cmpd="sng" w="9525">
                      <a:solidFill>
                        <a:srgbClr val="99A9B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9B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9B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6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640"/>
                        <a:buFont typeface="Noto Sans Symbols"/>
                        <a:buNone/>
                      </a:pPr>
                      <a:r>
                        <a:rPr lang="en-US" sz="800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PDF 생성</a:t>
                      </a:r>
                      <a:endParaRPr sz="800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" marB="7200" marR="36000" marL="36000" anchor="ctr">
                    <a:lnL cap="flat" cmpd="sng" w="9525">
                      <a:solidFill>
                        <a:srgbClr val="99A9B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9B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9B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9B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6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640"/>
                        <a:buFont typeface="Noto Sans Symbols"/>
                        <a:buNone/>
                      </a:pPr>
                      <a:r>
                        <a:rPr lang="en-US" sz="800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TIFF 생성</a:t>
                      </a:r>
                      <a:endParaRPr/>
                    </a:p>
                  </a:txBody>
                  <a:tcPr marT="7200" marB="7200" marR="36000" marL="36000" anchor="ctr">
                    <a:lnL cap="flat" cmpd="sng" w="9525">
                      <a:solidFill>
                        <a:srgbClr val="99A9B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9B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9B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9B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86" name="Google Shape;2186;p32"/>
          <p:cNvSpPr/>
          <p:nvPr/>
        </p:nvSpPr>
        <p:spPr>
          <a:xfrm>
            <a:off x="6248220" y="1655858"/>
            <a:ext cx="1152000" cy="261710"/>
          </a:xfrm>
          <a:prstGeom prst="snip2SameRect">
            <a:avLst>
              <a:gd fmla="val 0" name="adj1"/>
              <a:gd fmla="val 0" name="adj2"/>
            </a:avLst>
          </a:prstGeom>
          <a:solidFill>
            <a:srgbClr val="BFC9D3"/>
          </a:solidFill>
          <a:ln>
            <a:noFill/>
          </a:ln>
          <a:effectLst>
            <a:outerShdw rotWithShape="0" algn="tl" dir="16200000" dist="12700">
              <a:srgbClr val="99A9B9"/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RD</a:t>
            </a:r>
            <a:endParaRPr sz="10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7" name="Google Shape;2187;p32"/>
          <p:cNvSpPr/>
          <p:nvPr/>
        </p:nvSpPr>
        <p:spPr>
          <a:xfrm>
            <a:off x="6474268" y="3223300"/>
            <a:ext cx="513426" cy="362005"/>
          </a:xfrm>
          <a:prstGeom prst="flowChartMagneticDisk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2200" lIns="84400" spcFirstLastPara="1" rIns="84400" wrap="square" tIns="422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Malgun Gothic"/>
              <a:buNone/>
            </a:pPr>
            <a:r>
              <a:rPr b="0" i="0" lang="en-US" sz="923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NAS</a:t>
            </a:r>
            <a:endParaRPr b="0" i="0" sz="923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88" name="Google Shape;2188;p32"/>
          <p:cNvSpPr txBox="1"/>
          <p:nvPr/>
        </p:nvSpPr>
        <p:spPr>
          <a:xfrm>
            <a:off x="6111850" y="2854221"/>
            <a:ext cx="1537212" cy="3570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1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/NFS/emspdf/RD/B식별자_[UID].pdf</a:t>
            </a:r>
            <a:endParaRPr/>
          </a:p>
          <a:p>
            <a:pPr indent="0" lvl="1" marL="0" marR="0" rtl="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/NFS/emspdf/RD/B식별자_[UID].pdf.mml</a:t>
            </a:r>
            <a:endParaRPr b="0" i="0" sz="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9" name="Google Shape;2189;p32"/>
          <p:cNvCxnSpPr>
            <a:stCxn id="2166" idx="2"/>
            <a:endCxn id="2169" idx="0"/>
          </p:cNvCxnSpPr>
          <p:nvPr/>
        </p:nvCxnSpPr>
        <p:spPr>
          <a:xfrm flipH="1" rot="-5400000">
            <a:off x="2842462" y="2773340"/>
            <a:ext cx="149700" cy="367500"/>
          </a:xfrm>
          <a:prstGeom prst="bentConnector3">
            <a:avLst>
              <a:gd fmla="val 50003" name="adj1"/>
            </a:avLst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90" name="Google Shape;2190;p32"/>
          <p:cNvSpPr/>
          <p:nvPr/>
        </p:nvSpPr>
        <p:spPr>
          <a:xfrm flipH="1">
            <a:off x="2526702" y="2881269"/>
            <a:ext cx="273422" cy="232258"/>
          </a:xfrm>
          <a:prstGeom prst="roundRect">
            <a:avLst>
              <a:gd fmla="val 16667" name="adj"/>
            </a:avLst>
          </a:prstGeom>
          <a:solidFill>
            <a:srgbClr val="FF710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91" name="Google Shape;2191;p32"/>
          <p:cNvCxnSpPr>
            <a:stCxn id="2173" idx="3"/>
            <a:endCxn id="2183" idx="1"/>
          </p:cNvCxnSpPr>
          <p:nvPr/>
        </p:nvCxnSpPr>
        <p:spPr>
          <a:xfrm flipH="1" rot="10800000">
            <a:off x="5704981" y="2129930"/>
            <a:ext cx="489600" cy="1057800"/>
          </a:xfrm>
          <a:prstGeom prst="bentConnector3">
            <a:avLst>
              <a:gd fmla="val 57771" name="adj1"/>
            </a:avLst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92" name="Google Shape;2192;p32"/>
          <p:cNvSpPr/>
          <p:nvPr/>
        </p:nvSpPr>
        <p:spPr>
          <a:xfrm flipH="1">
            <a:off x="5724582" y="2251111"/>
            <a:ext cx="439170" cy="283000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3-1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2" name="Google Shape;2172;p32"/>
          <p:cNvSpPr/>
          <p:nvPr/>
        </p:nvSpPr>
        <p:spPr>
          <a:xfrm>
            <a:off x="4011214" y="3718057"/>
            <a:ext cx="1692056" cy="262917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PdfConvertService.class</a:t>
            </a:r>
            <a:endParaRPr b="0" i="0" sz="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93" name="Google Shape;2193;p32"/>
          <p:cNvCxnSpPr>
            <a:stCxn id="2173" idx="3"/>
          </p:cNvCxnSpPr>
          <p:nvPr/>
        </p:nvCxnSpPr>
        <p:spPr>
          <a:xfrm>
            <a:off x="5704981" y="3187730"/>
            <a:ext cx="569400" cy="2729700"/>
          </a:xfrm>
          <a:prstGeom prst="bentConnector3">
            <a:avLst>
              <a:gd fmla="val 50003" name="adj1"/>
            </a:avLst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94" name="Google Shape;2194;p32"/>
          <p:cNvSpPr/>
          <p:nvPr/>
        </p:nvSpPr>
        <p:spPr>
          <a:xfrm flipH="1">
            <a:off x="5653876" y="3450647"/>
            <a:ext cx="439170" cy="283000"/>
          </a:xfrm>
          <a:prstGeom prst="roundRect">
            <a:avLst>
              <a:gd fmla="val 16667" name="adj"/>
            </a:avLst>
          </a:prstGeom>
          <a:solidFill>
            <a:srgbClr val="FF710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3-2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5" name="Google Shape;2195;p32"/>
          <p:cNvSpPr txBox="1"/>
          <p:nvPr/>
        </p:nvSpPr>
        <p:spPr>
          <a:xfrm>
            <a:off x="6111850" y="3614941"/>
            <a:ext cx="2108786" cy="390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1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/NFS/emspdf/OZ/B식별자_[UID].pdf</a:t>
            </a:r>
            <a:endParaRPr/>
          </a:p>
          <a:p>
            <a:pPr indent="0" lvl="1" marL="0" marR="0" rtl="0" algn="l">
              <a:lnSpc>
                <a:spcPct val="95000"/>
              </a:lnSpc>
              <a:spcBef>
                <a:spcPts val="225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/NFS/emspdf/OZ/B식별자_[UID].pdf.ozd</a:t>
            </a:r>
            <a:endParaRPr b="1" i="0" sz="9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96" name="Google Shape;2196;p32"/>
          <p:cNvCxnSpPr>
            <a:stCxn id="2173" idx="2"/>
            <a:endCxn id="2172" idx="0"/>
          </p:cNvCxnSpPr>
          <p:nvPr/>
        </p:nvCxnSpPr>
        <p:spPr>
          <a:xfrm rot="5400000">
            <a:off x="4658553" y="3517788"/>
            <a:ext cx="399000" cy="1800"/>
          </a:xfrm>
          <a:prstGeom prst="bentConnector3">
            <a:avLst>
              <a:gd fmla="val 49984" name="adj1"/>
            </a:avLst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97" name="Google Shape;2197;p32"/>
          <p:cNvSpPr/>
          <p:nvPr/>
        </p:nvSpPr>
        <p:spPr>
          <a:xfrm>
            <a:off x="8277081" y="2055648"/>
            <a:ext cx="1139969" cy="261710"/>
          </a:xfrm>
          <a:prstGeom prst="snip2SameRect">
            <a:avLst>
              <a:gd fmla="val 0" name="adj1"/>
              <a:gd fmla="val 0" name="adj2"/>
            </a:avLst>
          </a:prstGeom>
          <a:solidFill>
            <a:srgbClr val="BFC9D3"/>
          </a:solidFill>
          <a:ln>
            <a:noFill/>
          </a:ln>
          <a:effectLst>
            <a:outerShdw rotWithShape="0" algn="tl" dir="16200000" dist="12700">
              <a:srgbClr val="99A9B9"/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emsTmsWebSvr1,2</a:t>
            </a:r>
            <a:endParaRPr/>
          </a:p>
        </p:txBody>
      </p:sp>
      <p:graphicFrame>
        <p:nvGraphicFramePr>
          <p:cNvPr id="2198" name="Google Shape;2198;p32"/>
          <p:cNvGraphicFramePr/>
          <p:nvPr/>
        </p:nvGraphicFramePr>
        <p:xfrm>
          <a:off x="8290109" y="17016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{F6045412-04BD-4F82-B1B7-2730D475FC39}</a:tableStyleId>
              </a:tblPr>
              <a:tblGrid>
                <a:gridCol w="1116600"/>
              </a:tblGrid>
              <a:tr h="30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640"/>
                        <a:buFont typeface="Noto Sans Symbols"/>
                        <a:buNone/>
                      </a:pPr>
                      <a:r>
                        <a:rPr lang="en-US" sz="800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AmailService.class</a:t>
                      </a:r>
                      <a:endParaRPr sz="800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" marB="7200" marR="36000" marL="36000" anchor="ctr">
                    <a:lnL cap="flat" cmpd="sng" w="9525">
                      <a:solidFill>
                        <a:srgbClr val="99A9B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9B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9B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99" name="Google Shape;2199;p32"/>
          <p:cNvSpPr/>
          <p:nvPr/>
        </p:nvSpPr>
        <p:spPr>
          <a:xfrm>
            <a:off x="8277081" y="1447459"/>
            <a:ext cx="1139969" cy="261710"/>
          </a:xfrm>
          <a:prstGeom prst="snip2SameRect">
            <a:avLst>
              <a:gd fmla="val 0" name="adj1"/>
              <a:gd fmla="val 0" name="adj2"/>
            </a:avLst>
          </a:prstGeom>
          <a:solidFill>
            <a:srgbClr val="BFC9D3"/>
          </a:solidFill>
          <a:ln>
            <a:noFill/>
          </a:ln>
          <a:effectLst>
            <a:outerShdw rotWithShape="0" algn="tl" dir="16200000" dist="12700">
              <a:srgbClr val="99A9B9"/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emsTmsEailEaiSvr1,2</a:t>
            </a:r>
            <a:endParaRPr/>
          </a:p>
        </p:txBody>
      </p:sp>
      <p:sp>
        <p:nvSpPr>
          <p:cNvPr id="2200" name="Google Shape;2200;p32"/>
          <p:cNvSpPr/>
          <p:nvPr/>
        </p:nvSpPr>
        <p:spPr>
          <a:xfrm>
            <a:off x="8277081" y="2362226"/>
            <a:ext cx="1139969" cy="261710"/>
          </a:xfrm>
          <a:prstGeom prst="snip2SameRect">
            <a:avLst>
              <a:gd fmla="val 0" name="adj1"/>
              <a:gd fmla="val 0" name="adj2"/>
            </a:avLst>
          </a:prstGeom>
          <a:solidFill>
            <a:srgbClr val="BFC9D3"/>
          </a:solidFill>
          <a:ln>
            <a:noFill/>
          </a:ln>
          <a:effectLst>
            <a:outerShdw rotWithShape="0" algn="tl" dir="16200000" dist="12700">
              <a:srgbClr val="99A9B9"/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emsTmsTrackingSvr1,2</a:t>
            </a:r>
            <a:endParaRPr/>
          </a:p>
        </p:txBody>
      </p:sp>
      <p:sp>
        <p:nvSpPr>
          <p:cNvPr id="2201" name="Google Shape;2201;p32"/>
          <p:cNvSpPr/>
          <p:nvPr/>
        </p:nvSpPr>
        <p:spPr>
          <a:xfrm>
            <a:off x="8180324" y="1149008"/>
            <a:ext cx="1285837" cy="216000"/>
          </a:xfrm>
          <a:prstGeom prst="snip2SameRect">
            <a:avLst>
              <a:gd fmla="val 29265" name="adj1"/>
              <a:gd fmla="val 0" name="adj2"/>
            </a:avLst>
          </a:prstGeom>
          <a:solidFill>
            <a:srgbClr val="C0C0C0"/>
          </a:solidFill>
          <a:ln cap="flat" cmpd="sng" w="25400">
            <a:solidFill>
              <a:srgbClr val="A5A5A5">
                <a:alpha val="0"/>
              </a:srgbClr>
            </a:solidFill>
            <a:prstDash val="solid"/>
            <a:miter lim="8000"/>
            <a:headEnd len="sm" w="sm" type="none"/>
            <a:tailEnd len="sm" w="sm" type="none"/>
          </a:ln>
          <a:effectLst>
            <a:outerShdw rotWithShape="0" algn="tl" dir="16200000" dist="25400">
              <a:srgbClr val="005086"/>
            </a:outerShdw>
          </a:effectLst>
        </p:spPr>
        <p:txBody>
          <a:bodyPr anchorCtr="0" anchor="ctr" bIns="3600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WAS 발송서버</a:t>
            </a:r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(mpse-ebwas01,02)</a:t>
            </a:r>
            <a:endParaRPr/>
          </a:p>
        </p:txBody>
      </p:sp>
      <p:sp>
        <p:nvSpPr>
          <p:cNvPr id="2202" name="Google Shape;2202;p32"/>
          <p:cNvSpPr/>
          <p:nvPr/>
        </p:nvSpPr>
        <p:spPr>
          <a:xfrm>
            <a:off x="8194496" y="1367111"/>
            <a:ext cx="1285837" cy="1343974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203" name="Google Shape;2203;p32"/>
          <p:cNvCxnSpPr>
            <a:stCxn id="2187" idx="2"/>
            <a:endCxn id="2170" idx="2"/>
          </p:cNvCxnSpPr>
          <p:nvPr/>
        </p:nvCxnSpPr>
        <p:spPr>
          <a:xfrm rot="10800000">
            <a:off x="4859068" y="3042203"/>
            <a:ext cx="1615200" cy="3621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04" name="Google Shape;2204;p32"/>
          <p:cNvCxnSpPr>
            <a:stCxn id="2187" idx="1"/>
            <a:endCxn id="2183" idx="2"/>
          </p:cNvCxnSpPr>
          <p:nvPr/>
        </p:nvCxnSpPr>
        <p:spPr>
          <a:xfrm flipH="1" rot="10800000">
            <a:off x="6730981" y="2692900"/>
            <a:ext cx="106500" cy="5304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05" name="Google Shape;2205;p32"/>
          <p:cNvCxnSpPr>
            <a:stCxn id="2178" idx="3"/>
            <a:endCxn id="2187" idx="3"/>
          </p:cNvCxnSpPr>
          <p:nvPr/>
        </p:nvCxnSpPr>
        <p:spPr>
          <a:xfrm rot="10800000">
            <a:off x="6730890" y="3585174"/>
            <a:ext cx="106500" cy="9213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206" name="Google Shape;2206;p32"/>
          <p:cNvSpPr/>
          <p:nvPr/>
        </p:nvSpPr>
        <p:spPr>
          <a:xfrm>
            <a:off x="7472719" y="1958055"/>
            <a:ext cx="625998" cy="247774"/>
          </a:xfrm>
          <a:prstGeom prst="roundRect">
            <a:avLst>
              <a:gd fmla="val 16667" name="adj"/>
            </a:avLst>
          </a:prstGeom>
          <a:solidFill>
            <a:srgbClr val="FF9900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markany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7" name="Google Shape;2207;p32"/>
          <p:cNvSpPr/>
          <p:nvPr/>
        </p:nvSpPr>
        <p:spPr>
          <a:xfrm>
            <a:off x="7493337" y="5689492"/>
            <a:ext cx="625998" cy="247774"/>
          </a:xfrm>
          <a:prstGeom prst="roundRect">
            <a:avLst>
              <a:gd fmla="val 16667" name="adj"/>
            </a:avLst>
          </a:prstGeom>
          <a:solidFill>
            <a:srgbClr val="FF9900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markany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08" name="Google Shape;2208;p32"/>
          <p:cNvCxnSpPr>
            <a:stCxn id="2172" idx="3"/>
            <a:endCxn id="2187" idx="2"/>
          </p:cNvCxnSpPr>
          <p:nvPr/>
        </p:nvCxnSpPr>
        <p:spPr>
          <a:xfrm flipH="1" rot="10800000">
            <a:off x="5703270" y="3404316"/>
            <a:ext cx="771000" cy="445200"/>
          </a:xfrm>
          <a:prstGeom prst="bentConnector3">
            <a:avLst>
              <a:gd fmla="val 50000" name="adj1"/>
            </a:avLst>
          </a:pr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09" name="Google Shape;2209;p32"/>
          <p:cNvCxnSpPr>
            <a:stCxn id="2207" idx="3"/>
          </p:cNvCxnSpPr>
          <p:nvPr/>
        </p:nvCxnSpPr>
        <p:spPr>
          <a:xfrm rot="10800000">
            <a:off x="6626535" y="3556779"/>
            <a:ext cx="1492800" cy="2256600"/>
          </a:xfrm>
          <a:prstGeom prst="bentConnector4">
            <a:avLst>
              <a:gd fmla="val -15314" name="adj1"/>
              <a:gd fmla="val 52747" name="adj2"/>
            </a:avLst>
          </a:pr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10" name="Google Shape;2210;p32"/>
          <p:cNvSpPr txBox="1"/>
          <p:nvPr/>
        </p:nvSpPr>
        <p:spPr>
          <a:xfrm>
            <a:off x="7649062" y="4299281"/>
            <a:ext cx="2571344" cy="390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1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/NFS/emspdf/OZ/markany/B식별자_[UID].pdf</a:t>
            </a:r>
            <a:endParaRPr/>
          </a:p>
          <a:p>
            <a:pPr indent="0" lvl="1" marL="0" marR="0" rtl="0" algn="l">
              <a:lnSpc>
                <a:spcPct val="95000"/>
              </a:lnSpc>
              <a:spcBef>
                <a:spcPts val="225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/NFS/emspdf/OZ/ markany/ /B식별자_[UID].pdf.ozd</a:t>
            </a:r>
            <a:endParaRPr b="1" i="0" sz="9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11" name="Google Shape;2211;p32"/>
          <p:cNvCxnSpPr>
            <a:stCxn id="2173" idx="3"/>
            <a:endCxn id="2206" idx="2"/>
          </p:cNvCxnSpPr>
          <p:nvPr/>
        </p:nvCxnSpPr>
        <p:spPr>
          <a:xfrm flipH="1" rot="10800000">
            <a:off x="5704981" y="2205830"/>
            <a:ext cx="2080800" cy="981900"/>
          </a:xfrm>
          <a:prstGeom prst="bentConnector2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12" name="Google Shape;2212;p32"/>
          <p:cNvCxnSpPr>
            <a:stCxn id="2206" idx="0"/>
            <a:endCxn id="2186" idx="0"/>
          </p:cNvCxnSpPr>
          <p:nvPr/>
        </p:nvCxnSpPr>
        <p:spPr>
          <a:xfrm flipH="1" rot="5400000">
            <a:off x="7507318" y="1679655"/>
            <a:ext cx="171300" cy="385500"/>
          </a:xfrm>
          <a:prstGeom prst="bentConnector2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13" name="Google Shape;2213;p32"/>
          <p:cNvSpPr txBox="1"/>
          <p:nvPr/>
        </p:nvSpPr>
        <p:spPr>
          <a:xfrm>
            <a:off x="7699093" y="2861911"/>
            <a:ext cx="2056879" cy="3570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1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/NFS/emspdf/RD/markany/B식별자_[UID].pdf</a:t>
            </a:r>
            <a:endParaRPr/>
          </a:p>
          <a:p>
            <a:pPr indent="0" lvl="1" marL="0" marR="0" rtl="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/NFS/emspdf/RD/markany/ B식별자_[UID].pdf.mml</a:t>
            </a:r>
            <a:endParaRPr b="0" i="0" sz="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4" name="Google Shape;2214;p32"/>
          <p:cNvSpPr txBox="1"/>
          <p:nvPr/>
        </p:nvSpPr>
        <p:spPr>
          <a:xfrm>
            <a:off x="417770" y="714190"/>
            <a:ext cx="8964356" cy="637153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아키텍처 설계 &gt; 2.5 내외부 통합 발행물</a:t>
            </a:r>
            <a:endParaRPr b="1" i="0" sz="14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2.5.3 EMS(대량메일) 연동</a:t>
            </a:r>
            <a:endParaRPr b="1" i="0" sz="12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15" name="Google Shape;2215;p32"/>
          <p:cNvSpPr/>
          <p:nvPr/>
        </p:nvSpPr>
        <p:spPr>
          <a:xfrm>
            <a:off x="2474546" y="4049767"/>
            <a:ext cx="1148828" cy="717432"/>
          </a:xfrm>
          <a:prstGeom prst="rect">
            <a:avLst/>
          </a:prstGeom>
          <a:solidFill>
            <a:srgbClr val="E7E7F9"/>
          </a:solidFill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EMS메일 PDF위변조방지</a:t>
            </a:r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(IR_CIS-ZZ_0094)</a:t>
            </a:r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6" name="Google Shape;2216;p32"/>
          <p:cNvSpPr/>
          <p:nvPr/>
        </p:nvSpPr>
        <p:spPr>
          <a:xfrm flipH="1">
            <a:off x="2474546" y="3899088"/>
            <a:ext cx="273422" cy="232258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7" name="Google Shape;2217;p32"/>
          <p:cNvSpPr/>
          <p:nvPr/>
        </p:nvSpPr>
        <p:spPr>
          <a:xfrm flipH="1">
            <a:off x="2459948" y="3892731"/>
            <a:ext cx="321300" cy="244971"/>
          </a:xfrm>
          <a:prstGeom prst="roundRect">
            <a:avLst>
              <a:gd fmla="val 16667" name="adj"/>
            </a:avLst>
          </a:prstGeom>
          <a:solidFill>
            <a:srgbClr val="FF710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18" name="Google Shape;2218;p32"/>
          <p:cNvCxnSpPr>
            <a:stCxn id="2215" idx="3"/>
            <a:endCxn id="2173" idx="1"/>
          </p:cNvCxnSpPr>
          <p:nvPr/>
        </p:nvCxnSpPr>
        <p:spPr>
          <a:xfrm flipH="1" rot="10800000">
            <a:off x="3623374" y="3187783"/>
            <a:ext cx="389700" cy="1220700"/>
          </a:xfrm>
          <a:prstGeom prst="bentConnector3">
            <a:avLst>
              <a:gd fmla="val 42649" name="adj1"/>
            </a:avLst>
          </a:prstGeom>
          <a:noFill/>
          <a:ln cap="flat" cmpd="sng" w="9525">
            <a:solidFill>
              <a:srgbClr val="00664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19" name="Google Shape;2219;p32"/>
          <p:cNvSpPr/>
          <p:nvPr/>
        </p:nvSpPr>
        <p:spPr>
          <a:xfrm flipH="1">
            <a:off x="3915608" y="3521347"/>
            <a:ext cx="273422" cy="232258"/>
          </a:xfrm>
          <a:prstGeom prst="roundRect">
            <a:avLst>
              <a:gd fmla="val 16667" name="adj"/>
            </a:avLst>
          </a:prstGeom>
          <a:solidFill>
            <a:srgbClr val="FF710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0" name="Google Shape;2220;p32"/>
          <p:cNvSpPr/>
          <p:nvPr/>
        </p:nvSpPr>
        <p:spPr>
          <a:xfrm>
            <a:off x="2471518" y="5148193"/>
            <a:ext cx="1148828" cy="717432"/>
          </a:xfrm>
          <a:prstGeom prst="rect">
            <a:avLst/>
          </a:prstGeom>
          <a:solidFill>
            <a:srgbClr val="E7E7F9"/>
          </a:solidFill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EMS메일 이메일 발송</a:t>
            </a:r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(IR_CIS-ZZ_0064)</a:t>
            </a:r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21" name="Google Shape;2221;p32"/>
          <p:cNvCxnSpPr>
            <a:endCxn id="2220" idx="0"/>
          </p:cNvCxnSpPr>
          <p:nvPr/>
        </p:nvCxnSpPr>
        <p:spPr>
          <a:xfrm>
            <a:off x="2678432" y="4998493"/>
            <a:ext cx="367500" cy="149700"/>
          </a:xfrm>
          <a:prstGeom prst="bentConnector3">
            <a:avLst>
              <a:gd fmla="val -15" name="adj1"/>
            </a:avLst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22" name="Google Shape;2222;p32"/>
          <p:cNvSpPr/>
          <p:nvPr/>
        </p:nvSpPr>
        <p:spPr>
          <a:xfrm flipH="1">
            <a:off x="2471518" y="4997514"/>
            <a:ext cx="273422" cy="232258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3" name="Google Shape;2223;p32"/>
          <p:cNvSpPr/>
          <p:nvPr/>
        </p:nvSpPr>
        <p:spPr>
          <a:xfrm flipH="1">
            <a:off x="5735701" y="2575191"/>
            <a:ext cx="439170" cy="283000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4-1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4" name="Google Shape;2224;p32"/>
          <p:cNvSpPr/>
          <p:nvPr/>
        </p:nvSpPr>
        <p:spPr>
          <a:xfrm flipH="1">
            <a:off x="7565219" y="2289983"/>
            <a:ext cx="439170" cy="283000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4-1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5" name="Google Shape;2225;p32"/>
          <p:cNvSpPr/>
          <p:nvPr/>
        </p:nvSpPr>
        <p:spPr>
          <a:xfrm flipH="1">
            <a:off x="5672680" y="3794302"/>
            <a:ext cx="439170" cy="283000"/>
          </a:xfrm>
          <a:prstGeom prst="roundRect">
            <a:avLst>
              <a:gd fmla="val 16667" name="adj"/>
            </a:avLst>
          </a:prstGeom>
          <a:solidFill>
            <a:srgbClr val="FF710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4-2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6" name="Google Shape;2226;p32"/>
          <p:cNvSpPr/>
          <p:nvPr/>
        </p:nvSpPr>
        <p:spPr>
          <a:xfrm flipH="1">
            <a:off x="8197717" y="5500290"/>
            <a:ext cx="439170" cy="283000"/>
          </a:xfrm>
          <a:prstGeom prst="roundRect">
            <a:avLst>
              <a:gd fmla="val 16667" name="adj"/>
            </a:avLst>
          </a:prstGeom>
          <a:solidFill>
            <a:srgbClr val="FF710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4-2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7" name="Google Shape;2227;p32"/>
          <p:cNvSpPr/>
          <p:nvPr/>
        </p:nvSpPr>
        <p:spPr>
          <a:xfrm flipH="1">
            <a:off x="6423430" y="785091"/>
            <a:ext cx="564263" cy="283000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AS-IS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8" name="Google Shape;2228;p32"/>
          <p:cNvSpPr/>
          <p:nvPr/>
        </p:nvSpPr>
        <p:spPr>
          <a:xfrm flipH="1">
            <a:off x="7055754" y="784024"/>
            <a:ext cx="729963" cy="283000"/>
          </a:xfrm>
          <a:prstGeom prst="roundRect">
            <a:avLst>
              <a:gd fmla="val 16667" name="adj"/>
            </a:avLst>
          </a:prstGeom>
          <a:solidFill>
            <a:srgbClr val="FF710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TO-BE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29" name="Google Shape;2229;p32"/>
          <p:cNvCxnSpPr>
            <a:stCxn id="2220" idx="2"/>
            <a:endCxn id="2202" idx="2"/>
          </p:cNvCxnSpPr>
          <p:nvPr/>
        </p:nvCxnSpPr>
        <p:spPr>
          <a:xfrm rot="-5400000">
            <a:off x="4364432" y="1392625"/>
            <a:ext cx="3154500" cy="5791500"/>
          </a:xfrm>
          <a:prstGeom prst="bentConnector3">
            <a:avLst>
              <a:gd fmla="val -15400" name="adj1"/>
            </a:avLst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3" name="Shape 2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4" name="Google Shape;2234;p33"/>
          <p:cNvSpPr txBox="1"/>
          <p:nvPr/>
        </p:nvSpPr>
        <p:spPr>
          <a:xfrm>
            <a:off x="417770" y="714190"/>
            <a:ext cx="8964356" cy="637153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아키텍처 설계 &gt; 2.5 내외부 통합 발행물</a:t>
            </a:r>
            <a:endParaRPr b="1" i="0" sz="14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2.5.3 EMS(대량메일) 연동 ( AS-IS) 인터페이스</a:t>
            </a:r>
            <a:endParaRPr b="1" i="0" sz="12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2235" name="Google Shape;2235;p33"/>
          <p:cNvGraphicFramePr/>
          <p:nvPr/>
        </p:nvGraphicFramePr>
        <p:xfrm>
          <a:off x="295926" y="13837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{9216E51F-281C-4444-9FEC-27A87119D8F7}</a:tableStyleId>
              </a:tblPr>
              <a:tblGrid>
                <a:gridCol w="2450025"/>
                <a:gridCol w="2541125"/>
                <a:gridCol w="4095050"/>
              </a:tblGrid>
              <a:tr h="149275">
                <a:tc rowSpan="5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기간계</a:t>
                      </a:r>
                      <a:endParaRPr sz="7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IR_CIS-ZZ_0093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EMS 메일 PDF변환 요청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69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IR_CIS-ZZ_0094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EMS 메일 위변조방지적용 요청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69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IR_CIS-ZZ_0095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EMS 메일 PDF변환 요청(배치)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69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IR_CIS-ZZ_0096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EMS 메일 위변조방지적용 요청(배치)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69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IR_CIS-ZZ_0133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EMS 메일 PDF 변환 요청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6925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IVR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IR_HI-IVR_0069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PDF파일변환호출_증명서[VARS]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69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IR_HI-IVR_0073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PDF위변조방지적용호출_증명서[VARS]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6925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구다이렉트</a:t>
                      </a:r>
                      <a:endParaRPr sz="7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IR_HI-OD_0023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구다이렉트이메일PDF변환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69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IR_HI-OD_0025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구다이렉트이메일PDF위변조방지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6925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OPENAPI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IR_HI-OPENAPI_0034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PDF파일변환호출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69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IR_HI-OPENAPI_0035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PDF위변조방지적용호출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6925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기업보험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IR_HI-CH_0050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기업보험 PDF파일변환호출(증명서)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69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IR_HI-CH_0051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기업보험 PDF위변조방지적용호출(증명서)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6925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홈페이지모바일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IR_HI-MOBILE_0616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PDF파일변환호출(증명서)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69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IR_HI-MOBILE_0617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PDF위변조방지적용호출(증명서)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6925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여신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IR_HI-LO_0130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여신 EMS 메일 PDF변환 요청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69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IR_HI-LO_0131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여신 EMS 메일 위변조방지적용 요청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6925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EMS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IR_HI-EMS_0008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PDF변환서비스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69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IR_HI-EMS_0009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PDF위변조방지서비스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6925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카카오톡업무플랫폼</a:t>
                      </a:r>
                      <a:endParaRPr sz="7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IR_HI-KAKAO_0032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PDF파일변환호출(증명서)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69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IR_HI-KAKAO_0033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PDF위변조방지적용호출(증명서)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6925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퇴직연금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IR_HI-RP_0033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이메일 RD파일 PDF 변환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69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IR_HI-RP_0034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이메일 PDF위변조방지 적용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6925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하이카다이렉트</a:t>
                      </a:r>
                      <a:endParaRPr sz="7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IR_HI-DIRECTO_0042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구다이렉트이메일PDF변환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69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IR_HI-DIRECTO_0043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구다이렉트이메일PDF위변조방지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6925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다이렉트모바일</a:t>
                      </a:r>
                      <a:endParaRPr sz="7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IR_HI-DIMOB_0447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PDF파일변환호출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69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IR_HI-DIMOB_0448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PDF위변조방지적용호출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6925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다이렉트HOME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IR_HI-DIHOME_0447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PDF파일변환호출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69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IR_HI-DIHOME_0448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PDF위변조방지적용호출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대표홈페이지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IR_HI-HOME_1489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PDF위변조방지EAI연동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6925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대표모바일</a:t>
                      </a:r>
                      <a:endParaRPr sz="7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IR_HI-HOMEPAGE_0408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PDF파일변환호출(증명서)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69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IR_HI-HOMEPAGE_0409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PDF위변조방지적용호출(증명서)</a:t>
                      </a:r>
                      <a:endParaRPr/>
                    </a:p>
                  </a:txBody>
                  <a:tcPr marT="11325" marB="11325" marR="22675" marL="22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9" name="Shape 2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Google Shape;2240;p34"/>
          <p:cNvSpPr txBox="1"/>
          <p:nvPr/>
        </p:nvSpPr>
        <p:spPr>
          <a:xfrm>
            <a:off x="367535" y="693413"/>
            <a:ext cx="5909157" cy="342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2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보안메일 발송개선 WEB/WAS/솔루션 구성 가이드</a:t>
            </a:r>
            <a:endParaRPr/>
          </a:p>
        </p:txBody>
      </p:sp>
      <p:graphicFrame>
        <p:nvGraphicFramePr>
          <p:cNvPr id="2241" name="Google Shape;2241;p34"/>
          <p:cNvGraphicFramePr/>
          <p:nvPr/>
        </p:nvGraphicFramePr>
        <p:xfrm>
          <a:off x="415925" y="10358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{9216E51F-281C-4444-9FEC-27A87119D8F7}</a:tableStyleId>
              </a:tblPr>
              <a:tblGrid>
                <a:gridCol w="359475"/>
                <a:gridCol w="678550"/>
                <a:gridCol w="437250"/>
                <a:gridCol w="497575"/>
                <a:gridCol w="715075"/>
                <a:gridCol w="1302450"/>
                <a:gridCol w="316600"/>
                <a:gridCol w="713575"/>
                <a:gridCol w="1302450"/>
                <a:gridCol w="316600"/>
                <a:gridCol w="454725"/>
                <a:gridCol w="989700"/>
                <a:gridCol w="316600"/>
                <a:gridCol w="292800"/>
                <a:gridCol w="711025"/>
              </a:tblGrid>
              <a:tr h="185425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구분</a:t>
                      </a:r>
                      <a:endParaRPr/>
                    </a:p>
                  </a:txBody>
                  <a:tcPr marT="3525" marB="0" marR="3525" marL="3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정의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계정(권한)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PDF변환 개발서버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PDF 변환 서버 (운영)</a:t>
                      </a:r>
                      <a:b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mpsi-bmpdfcvt01/02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MGS 서버 (운영)</a:t>
                      </a:r>
                      <a:b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mpse-bmmsg01/02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기존 eMs 서버 (운영)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 hMerge="1"/>
              </a:tr>
              <a:tr h="88675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서비스 구분명 </a:t>
                      </a:r>
                      <a:endParaRPr/>
                    </a:p>
                  </a:txBody>
                  <a:tcPr marT="3525" marB="0" marR="3525" marL="3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endParaRPr/>
                    </a:p>
                  </a:txBody>
                  <a:tcPr marT="3525" marB="0" marR="3525" marL="35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4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디렉토리</a:t>
                      </a:r>
                      <a:endParaRPr/>
                    </a:p>
                  </a:txBody>
                  <a:tcPr marT="3525" marB="0" marR="3525" marL="3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Domain Home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4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root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java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/Product/java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java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/Product/java/jdk1.6</a:t>
                      </a:r>
                      <a:b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'/Product/java/jdk1.8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jdk1.6</a:t>
                      </a:r>
                      <a:b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jdk1.8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java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/Product/java/jdk1.8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jdk1.8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4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3025">
                <a:tc rowSpan="1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유형 구분</a:t>
                      </a:r>
                      <a:endParaRPr/>
                    </a:p>
                  </a:txBody>
                  <a:tcPr marT="3525" marB="0" marR="3525" marL="3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rowSpan="6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SW Product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rowSpan="6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/Product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wasadmin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WebToB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/Product/webtob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WebToB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/Product/webtob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4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3025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wasadmin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JEUS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/Product/jeus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jdk1.8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JEUS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/Product/jeus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jdk1.8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4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3025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wasadmin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위·변조방지모듈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/Product/markany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jdk1.8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위·변조방지모듈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/Product/markany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jdk1.8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4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3025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wasadmin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보안모듈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/Product/vestmail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jdk1.8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보안모듈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/Product/vestmail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jdk1.8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4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3025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wasadmin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PDF SMTP 모듈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/Product/ems/engine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jdk1.6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PDF SMTP 모듈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/Product/ems/engine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jdk1.6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4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3025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soladmin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MGS 모듈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/Product/ems/mgs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jdk1.8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MGS 모듈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/Product/ems/mgs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jdk1.8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4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3025">
                <a:tc vMerge="1"/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Application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/Appl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wasadmin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PDF변환모듈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/Appl/emspdf/Crownix_ERS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jdk1.8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PDF변환모듈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/Appl/emspdf/Crownix_ERS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jdk1.8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4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3025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wasadmin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PDFEAI통신모듈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/Appl/ems/ems65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jdk1.6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PDFEAI통신모듈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/Appl/ems/ems65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jdk1.6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4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624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로그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/Logs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wasadmin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/Log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6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/Logs/WAS</a:t>
                      </a:r>
                      <a:br>
                        <a:rPr b="0" i="0" lang="en-US" sz="6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6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/Logs/WEB</a:t>
                      </a:r>
                      <a:br>
                        <a:rPr b="0" i="0" lang="en-US" sz="6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6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/Logs/RD</a:t>
                      </a:r>
                      <a:br>
                        <a:rPr b="0" i="0" lang="en-US" sz="6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6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/Logs/SOL/vestmail</a:t>
                      </a:r>
                      <a:br>
                        <a:rPr b="0" i="0" lang="en-US" sz="6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6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/Logs/SOL/markany</a:t>
                      </a:r>
                      <a:br>
                        <a:rPr b="0" i="0" lang="en-US" sz="6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6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/Logs/SOL/ems/mgs_auto01</a:t>
                      </a:r>
                      <a:br>
                        <a:rPr b="0" i="0" lang="en-US" sz="6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6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/Logs/SOL/ems/mgs_auto02</a:t>
                      </a:r>
                      <a:br>
                        <a:rPr b="0" i="0" lang="en-US" sz="6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6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/Logs/SOL/ems/mgs_auto03</a:t>
                      </a:r>
                      <a:br>
                        <a:rPr b="0" i="0" lang="en-US" sz="6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6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/Logs/SOL/ems/mgs_jupiter01</a:t>
                      </a:r>
                      <a:br>
                        <a:rPr b="0" i="0" lang="en-US" sz="6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6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/Logs/SOL/ems/mgs_pdf_auto01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/Log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* mpsi-bmpdfcvt01</a:t>
                      </a:r>
                      <a:b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/Logs/WAS</a:t>
                      </a:r>
                      <a:b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/Logs/WEB</a:t>
                      </a:r>
                      <a:b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/Logs/RD</a:t>
                      </a:r>
                      <a:b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/Logs/SOL/vestmail</a:t>
                      </a:r>
                      <a:b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/Logs/SOL/markany</a:t>
                      </a:r>
                      <a:b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/Logs/SOL/ems/pdf_auto01</a:t>
                      </a:r>
                      <a:b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/Logs/SOL/ems/pdf_auto02</a:t>
                      </a:r>
                      <a:b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b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* mpsi-bmpdfcvt02</a:t>
                      </a:r>
                      <a:b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/Logs/WAS</a:t>
                      </a:r>
                      <a:b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/Logs/WEB</a:t>
                      </a:r>
                      <a:b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/Logs/RD</a:t>
                      </a:r>
                      <a:b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/Logs/SOL/vestmail</a:t>
                      </a:r>
                      <a:b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/Logs/SOL/markany</a:t>
                      </a:r>
                      <a:b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/Logs/SOL/ems/pdf_auto03</a:t>
                      </a:r>
                      <a:b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/Logs/SOL/ems/pdf_auto04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4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453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soladmin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/Log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/Logs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* mpse-bmmsg01 </a:t>
                      </a:r>
                      <a:b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/Logs/SOL/mgs/mgs_auto01</a:t>
                      </a:r>
                      <a:b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/Logs/SOL/mgs/mgs_auto02</a:t>
                      </a:r>
                      <a:b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/Logs/SOL/mgs/mgs_auto03</a:t>
                      </a:r>
                      <a:b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/Logs/SOL/mgs/mgs_auto04</a:t>
                      </a:r>
                      <a:b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/Logs/SOL/mgs/mgs_jupiter01</a:t>
                      </a:r>
                      <a:b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/Logs/SOL/mgs/mgs_jupiter02</a:t>
                      </a:r>
                      <a:b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/Logs/SOL/mgs/mgs_pdf_auto01</a:t>
                      </a:r>
                      <a:b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/Logs/SOL/mgs/mgs_pdf_auto02</a:t>
                      </a:r>
                      <a:b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b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* mpse-bmmsg02</a:t>
                      </a:r>
                      <a:b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/Logs/SOL/mgs/mgs_auto05</a:t>
                      </a:r>
                      <a:b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/Logs/SOL/mgs/mgs_auto06</a:t>
                      </a:r>
                      <a:b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/Logs/SOL/mgs/mgs_auto07</a:t>
                      </a:r>
                      <a:b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/Logs/SOL/mgs/mgs_auto08</a:t>
                      </a:r>
                      <a:b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/Logs/SOL/mgs/mgs_jupiter03</a:t>
                      </a:r>
                      <a:b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/Logs/SOL/mgs/mgs_jupiter04</a:t>
                      </a:r>
                      <a:b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/Logs/SOL/mgs/mgs_pdf_auto03</a:t>
                      </a:r>
                      <a:b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/Logs/SOL/mgs/mgs_pdf_auto04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4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675">
                <a:tc vMerge="1"/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공유 파일시스템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/NFS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wasadmin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NAS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/NFS/emspdf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PDF변환파일저장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/NFS/emspdf</a:t>
                      </a:r>
                      <a:b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(** read-write 권한)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NAS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6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PDF변환</a:t>
                      </a:r>
                      <a:endParaRPr b="0" i="0" sz="6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6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파일저장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6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/NFS/emspdf</a:t>
                      </a:r>
                      <a:br>
                        <a:rPr b="0" i="0" lang="en-US" sz="6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6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(** read 권한)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00">
                <a:tc vMerge="1"/>
                <a:tc vMerge="1"/>
                <a:tc vMerge="1"/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4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4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3525" marB="0" marR="3525" marL="3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5" name="Shape 2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6" name="Google Shape;2246;p35"/>
          <p:cNvSpPr txBox="1"/>
          <p:nvPr/>
        </p:nvSpPr>
        <p:spPr>
          <a:xfrm>
            <a:off x="417770" y="714190"/>
            <a:ext cx="8964356" cy="637153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아키텍처 설계</a:t>
            </a:r>
            <a:endParaRPr b="1" i="0" sz="14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2.2 비동기서버 </a:t>
            </a:r>
            <a:endParaRPr b="1" i="0" sz="12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47" name="Google Shape;2247;p35"/>
          <p:cNvSpPr/>
          <p:nvPr/>
        </p:nvSpPr>
        <p:spPr>
          <a:xfrm>
            <a:off x="417770" y="1351344"/>
            <a:ext cx="1038880" cy="1595498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t" bIns="51525" lIns="99125" spcFirstLastPara="1" rIns="99125" wrap="square" tIns="5152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2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Client Tier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2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48" name="Google Shape;2248;p35"/>
          <p:cNvSpPr/>
          <p:nvPr/>
        </p:nvSpPr>
        <p:spPr>
          <a:xfrm>
            <a:off x="1536087" y="1351344"/>
            <a:ext cx="1922400" cy="1595498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t" bIns="51525" lIns="99125" spcFirstLastPara="1" rIns="99125" wrap="square" tIns="5152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2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Application Tier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2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(esAsync)</a:t>
            </a:r>
            <a:endParaRPr b="1" sz="1102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49" name="Google Shape;2249;p35"/>
          <p:cNvSpPr/>
          <p:nvPr/>
        </p:nvSpPr>
        <p:spPr>
          <a:xfrm>
            <a:off x="5490443" y="1357366"/>
            <a:ext cx="1920727" cy="1579579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t" bIns="51525" lIns="99125" spcFirstLastPara="1" rIns="99125" wrap="square" tIns="5152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2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Solution Tier</a:t>
            </a:r>
            <a:endParaRPr b="1" sz="1102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50" name="Google Shape;2250;p35"/>
          <p:cNvSpPr/>
          <p:nvPr/>
        </p:nvSpPr>
        <p:spPr>
          <a:xfrm>
            <a:off x="3583601" y="1341439"/>
            <a:ext cx="1922400" cy="1595498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t" bIns="51525" lIns="99125" spcFirstLastPara="1" rIns="99125" wrap="square" tIns="5152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2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IDMG Queue Tier</a:t>
            </a:r>
            <a:endParaRPr/>
          </a:p>
        </p:txBody>
      </p:sp>
      <p:sp>
        <p:nvSpPr>
          <p:cNvPr id="2251" name="Google Shape;2251;p35"/>
          <p:cNvSpPr/>
          <p:nvPr/>
        </p:nvSpPr>
        <p:spPr>
          <a:xfrm>
            <a:off x="7465949" y="1341438"/>
            <a:ext cx="1920727" cy="1593590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t" bIns="51525" lIns="99125" spcFirstLastPara="1" rIns="99125" wrap="square" tIns="5152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2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 Tier</a:t>
            </a:r>
            <a:endParaRPr b="1" sz="1102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52" name="Google Shape;2252;p35"/>
          <p:cNvSpPr/>
          <p:nvPr/>
        </p:nvSpPr>
        <p:spPr>
          <a:xfrm>
            <a:off x="460888" y="1913206"/>
            <a:ext cx="914400" cy="402773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F75B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endParaRPr sz="1000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OZ 요청</a:t>
            </a:r>
            <a:endParaRPr sz="1000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3" name="Google Shape;2253;p35"/>
          <p:cNvSpPr/>
          <p:nvPr/>
        </p:nvSpPr>
        <p:spPr>
          <a:xfrm>
            <a:off x="1687428" y="1891050"/>
            <a:ext cx="1645920" cy="415786"/>
          </a:xfrm>
          <a:prstGeom prst="roundRect">
            <a:avLst>
              <a:gd fmla="val 16667" name="adj"/>
            </a:avLst>
          </a:prstGeom>
          <a:solidFill>
            <a:srgbClr val="EAF3FB"/>
          </a:solidFill>
          <a:ln cap="flat" cmpd="sng" w="12700">
            <a:solidFill>
              <a:srgbClr val="2F75B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EsAsync</a:t>
            </a:r>
            <a:br>
              <a:rPr lang="en-US" sz="10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0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/async/ozInvoker</a:t>
            </a:r>
            <a:endParaRPr sz="1000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4" name="Google Shape;2254;p35"/>
          <p:cNvSpPr/>
          <p:nvPr/>
        </p:nvSpPr>
        <p:spPr>
          <a:xfrm>
            <a:off x="3672007" y="1891050"/>
            <a:ext cx="1691310" cy="415786"/>
          </a:xfrm>
          <a:prstGeom prst="roundRect">
            <a:avLst>
              <a:gd fmla="val 16667" name="adj"/>
            </a:avLst>
          </a:prstGeom>
          <a:solidFill>
            <a:srgbClr val="EAF6EF"/>
          </a:solidFill>
          <a:ln cap="flat" cmpd="sng" w="12700">
            <a:solidFill>
              <a:srgbClr val="3C8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OZ 요청 Queue</a:t>
            </a:r>
            <a:br>
              <a:rPr lang="en-US" sz="10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0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Hazelcast</a:t>
            </a:r>
            <a:endParaRPr sz="1000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5" name="Google Shape;2255;p35"/>
          <p:cNvSpPr/>
          <p:nvPr/>
        </p:nvSpPr>
        <p:spPr>
          <a:xfrm>
            <a:off x="5560779" y="1885774"/>
            <a:ext cx="1762485" cy="418884"/>
          </a:xfrm>
          <a:prstGeom prst="roundRect">
            <a:avLst>
              <a:gd fmla="val 16667" name="adj"/>
            </a:avLst>
          </a:prstGeom>
          <a:solidFill>
            <a:srgbClr val="FFF0DE"/>
          </a:solidFill>
          <a:ln cap="flat" cmpd="sng" w="12700">
            <a:solidFill>
              <a:srgbClr val="D9812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OZ Server</a:t>
            </a:r>
            <a:br>
              <a:rPr lang="en-US" sz="10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0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/ReportingServer/service</a:t>
            </a:r>
            <a:endParaRPr/>
          </a:p>
        </p:txBody>
      </p:sp>
      <p:sp>
        <p:nvSpPr>
          <p:cNvPr id="2256" name="Google Shape;2256;p35"/>
          <p:cNvSpPr/>
          <p:nvPr/>
        </p:nvSpPr>
        <p:spPr>
          <a:xfrm>
            <a:off x="7499532" y="1885774"/>
            <a:ext cx="1818480" cy="418884"/>
          </a:xfrm>
          <a:prstGeom prst="roundRect">
            <a:avLst>
              <a:gd fmla="val 16667" name="adj"/>
            </a:avLst>
          </a:prstGeom>
          <a:solidFill>
            <a:srgbClr val="F6F8FB"/>
          </a:solidFill>
          <a:ln cap="flat" cmpd="sng" w="127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NAS</a:t>
            </a:r>
            <a:br>
              <a:rPr lang="en-US" sz="10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0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MRD/결과</a:t>
            </a:r>
            <a:endParaRPr/>
          </a:p>
        </p:txBody>
      </p:sp>
      <p:sp>
        <p:nvSpPr>
          <p:cNvPr id="2257" name="Google Shape;2257;p35"/>
          <p:cNvSpPr/>
          <p:nvPr/>
        </p:nvSpPr>
        <p:spPr>
          <a:xfrm>
            <a:off x="3672008" y="2427030"/>
            <a:ext cx="1691309" cy="415786"/>
          </a:xfrm>
          <a:prstGeom prst="roundRect">
            <a:avLst>
              <a:gd fmla="val 16667" name="adj"/>
            </a:avLst>
          </a:prstGeom>
          <a:solidFill>
            <a:srgbClr val="EAF6EF"/>
          </a:solidFill>
          <a:ln cap="flat" cmpd="sng" w="12700">
            <a:solidFill>
              <a:srgbClr val="3C8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이미지변환 Queue</a:t>
            </a:r>
            <a:br>
              <a:rPr lang="en-US" sz="10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0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Hazelcast</a:t>
            </a:r>
            <a:endParaRPr/>
          </a:p>
        </p:txBody>
      </p:sp>
      <p:sp>
        <p:nvSpPr>
          <p:cNvPr id="2258" name="Google Shape;2258;p35"/>
          <p:cNvSpPr/>
          <p:nvPr/>
        </p:nvSpPr>
        <p:spPr>
          <a:xfrm>
            <a:off x="5560780" y="2427030"/>
            <a:ext cx="1762484" cy="370783"/>
          </a:xfrm>
          <a:prstGeom prst="roundRect">
            <a:avLst>
              <a:gd fmla="val 16667" name="adj"/>
            </a:avLst>
          </a:prstGeom>
          <a:solidFill>
            <a:srgbClr val="FFF0DE"/>
          </a:solidFill>
          <a:ln cap="flat" cmpd="sng" w="12700">
            <a:solidFill>
              <a:srgbClr val="D9812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이미지변환 Server</a:t>
            </a:r>
            <a:br>
              <a:rPr lang="en-US" sz="10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0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/convert/api/registDoc</a:t>
            </a:r>
            <a:endParaRPr/>
          </a:p>
        </p:txBody>
      </p:sp>
      <p:sp>
        <p:nvSpPr>
          <p:cNvPr id="2259" name="Google Shape;2259;p35"/>
          <p:cNvSpPr/>
          <p:nvPr/>
        </p:nvSpPr>
        <p:spPr>
          <a:xfrm>
            <a:off x="7499532" y="2427030"/>
            <a:ext cx="1818480" cy="373881"/>
          </a:xfrm>
          <a:prstGeom prst="roundRect">
            <a:avLst>
              <a:gd fmla="val 16667" name="adj"/>
            </a:avLst>
          </a:prstGeom>
          <a:solidFill>
            <a:srgbClr val="F6F8FB"/>
          </a:solidFill>
          <a:ln cap="flat" cmpd="sng" w="127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로그 DB</a:t>
            </a:r>
            <a:br>
              <a:rPr lang="en-US" sz="10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0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UNIF_LOG_HIS_MGNT</a:t>
            </a:r>
            <a:endParaRPr/>
          </a:p>
        </p:txBody>
      </p:sp>
      <p:cxnSp>
        <p:nvCxnSpPr>
          <p:cNvPr id="2260" name="Google Shape;2260;p35"/>
          <p:cNvCxnSpPr>
            <a:stCxn id="2252" idx="3"/>
            <a:endCxn id="2253" idx="1"/>
          </p:cNvCxnSpPr>
          <p:nvPr/>
        </p:nvCxnSpPr>
        <p:spPr>
          <a:xfrm flipH="1" rot="10800000">
            <a:off x="1375288" y="2098993"/>
            <a:ext cx="312000" cy="15600"/>
          </a:xfrm>
          <a:prstGeom prst="straightConnector1">
            <a:avLst/>
          </a:prstGeom>
          <a:noFill/>
          <a:ln cap="rnd" cmpd="sng" w="15875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cxnSp>
        <p:nvCxnSpPr>
          <p:cNvPr id="2261" name="Google Shape;2261;p35"/>
          <p:cNvCxnSpPr>
            <a:stCxn id="2253" idx="3"/>
            <a:endCxn id="2254" idx="1"/>
          </p:cNvCxnSpPr>
          <p:nvPr/>
        </p:nvCxnSpPr>
        <p:spPr>
          <a:xfrm>
            <a:off x="3333348" y="2098943"/>
            <a:ext cx="338700" cy="0"/>
          </a:xfrm>
          <a:prstGeom prst="straightConnector1">
            <a:avLst/>
          </a:prstGeom>
          <a:noFill/>
          <a:ln cap="rnd" cmpd="sng" w="15875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cxnSp>
        <p:nvCxnSpPr>
          <p:cNvPr id="2262" name="Google Shape;2262;p35"/>
          <p:cNvCxnSpPr>
            <a:stCxn id="2254" idx="3"/>
            <a:endCxn id="2255" idx="1"/>
          </p:cNvCxnSpPr>
          <p:nvPr/>
        </p:nvCxnSpPr>
        <p:spPr>
          <a:xfrm flipH="1" rot="10800000">
            <a:off x="5363317" y="2095343"/>
            <a:ext cx="197400" cy="3600"/>
          </a:xfrm>
          <a:prstGeom prst="straightConnector1">
            <a:avLst/>
          </a:prstGeom>
          <a:noFill/>
          <a:ln cap="rnd" cmpd="sng" w="15875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cxnSp>
        <p:nvCxnSpPr>
          <p:cNvPr id="2263" name="Google Shape;2263;p35"/>
          <p:cNvCxnSpPr>
            <a:stCxn id="2255" idx="3"/>
            <a:endCxn id="2256" idx="1"/>
          </p:cNvCxnSpPr>
          <p:nvPr/>
        </p:nvCxnSpPr>
        <p:spPr>
          <a:xfrm>
            <a:off x="7323264" y="2095216"/>
            <a:ext cx="176400" cy="0"/>
          </a:xfrm>
          <a:prstGeom prst="straightConnector1">
            <a:avLst/>
          </a:prstGeom>
          <a:noFill/>
          <a:ln cap="rnd" cmpd="sng" w="15875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cxnSp>
        <p:nvCxnSpPr>
          <p:cNvPr id="2264" name="Google Shape;2264;p35"/>
          <p:cNvCxnSpPr>
            <a:stCxn id="2255" idx="1"/>
            <a:endCxn id="2257" idx="0"/>
          </p:cNvCxnSpPr>
          <p:nvPr/>
        </p:nvCxnSpPr>
        <p:spPr>
          <a:xfrm flipH="1">
            <a:off x="4517679" y="2095216"/>
            <a:ext cx="1043100" cy="331800"/>
          </a:xfrm>
          <a:prstGeom prst="straightConnector1">
            <a:avLst/>
          </a:prstGeom>
          <a:noFill/>
          <a:ln cap="rnd" cmpd="sng" w="15875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cxnSp>
        <p:nvCxnSpPr>
          <p:cNvPr id="2265" name="Google Shape;2265;p35"/>
          <p:cNvCxnSpPr>
            <a:stCxn id="2257" idx="3"/>
            <a:endCxn id="2258" idx="1"/>
          </p:cNvCxnSpPr>
          <p:nvPr/>
        </p:nvCxnSpPr>
        <p:spPr>
          <a:xfrm flipH="1" rot="10800000">
            <a:off x="5363317" y="2612423"/>
            <a:ext cx="197400" cy="22500"/>
          </a:xfrm>
          <a:prstGeom prst="straightConnector1">
            <a:avLst/>
          </a:prstGeom>
          <a:noFill/>
          <a:ln cap="rnd" cmpd="sng" w="15875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cxnSp>
        <p:nvCxnSpPr>
          <p:cNvPr id="2266" name="Google Shape;2266;p35"/>
          <p:cNvCxnSpPr>
            <a:stCxn id="2258" idx="3"/>
            <a:endCxn id="2259" idx="1"/>
          </p:cNvCxnSpPr>
          <p:nvPr/>
        </p:nvCxnSpPr>
        <p:spPr>
          <a:xfrm>
            <a:off x="7323264" y="2612422"/>
            <a:ext cx="176400" cy="1500"/>
          </a:xfrm>
          <a:prstGeom prst="straightConnector1">
            <a:avLst/>
          </a:prstGeom>
          <a:noFill/>
          <a:ln cap="rnd" cmpd="sng" w="15875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  <a:effectLst>
            <a:outerShdw sx="1000" rotWithShape="0" algn="tl" dist="38100" sy="1000">
              <a:srgbClr val="000000"/>
            </a:outerShdw>
          </a:effectLst>
        </p:spPr>
      </p:cxnSp>
      <p:graphicFrame>
        <p:nvGraphicFramePr>
          <p:cNvPr id="2267" name="Google Shape;2267;p35"/>
          <p:cNvGraphicFramePr/>
          <p:nvPr/>
        </p:nvGraphicFramePr>
        <p:xfrm>
          <a:off x="415925" y="30192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{F6045412-04BD-4F82-B1B7-2730D475FC39}</a:tableStyleId>
              </a:tblPr>
              <a:tblGrid>
                <a:gridCol w="499325"/>
                <a:gridCol w="1665300"/>
                <a:gridCol w="6836475"/>
              </a:tblGrid>
              <a:tr h="26945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구분</a:t>
                      </a:r>
                      <a:endParaRPr/>
                    </a:p>
                  </a:txBody>
                  <a:tcPr marT="51575" marB="51575" marR="91500" marL="91500" anchor="ctr">
                    <a:lnL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상세 설명</a:t>
                      </a:r>
                      <a:endParaRPr/>
                    </a:p>
                  </a:txBody>
                  <a:tcPr marT="51575" marB="51575" marR="91500" marL="915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3815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Client Tier</a:t>
                      </a:r>
                      <a:endParaRPr/>
                    </a:p>
                  </a:txBody>
                  <a:tcPr marT="39650" marB="39650" marR="39650" marL="118950" anchor="ctr">
                    <a:lnL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-93663" lvl="0" marL="93663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사용자가 직접 사용하는 Tier이며 HTML5기반</a:t>
                      </a: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으로 Non-ActiveX를 기반으로 함</a:t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9650" marB="39650" marR="39650" marL="396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9650" marB="39650" marR="39650" marL="118950" anchor="ctr">
                    <a:lnL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UI</a:t>
                      </a:r>
                      <a:endParaRPr/>
                    </a:p>
                  </a:txBody>
                  <a:tcPr marT="39650" marB="39650" marR="39650" marL="31722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93663" lvl="0" marL="936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UI</a:t>
                      </a: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Client에서 전문 방식으로 Dispatcher Servlet Gateway를 호출</a:t>
                      </a:r>
                      <a:endParaRPr/>
                    </a:p>
                  </a:txBody>
                  <a:tcPr marT="39650" marB="39650" marR="39650" marL="396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815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Application Tier(esAsync)</a:t>
                      </a:r>
                      <a:endParaRPr/>
                    </a:p>
                  </a:txBody>
                  <a:tcPr marT="39650" marB="39650" marR="39650" marL="118950" anchor="ctr">
                    <a:lnL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-93663" lvl="0" marL="93663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외부망 시스템과 내부망 시스템 간에 EAI를 통한 GateWay역할을 수행하며 제한된 Biz로직 처리 가능</a:t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9650" marB="39650" marR="39650" marL="396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4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9650" marB="39650" marR="39650" marL="118950" anchor="ctr">
                    <a:lnL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/async/ozInvoker</a:t>
                      </a:r>
                      <a:endParaRPr b="1" i="0" sz="105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9650" marB="39650" marR="39650" marL="31722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93663" lvl="0" marL="93663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Client로부터 요청 받으면 OZ데이터를 임시저장하고, 작업이력 로그DB에 저장</a:t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9650" marB="39650" marR="39650" marL="396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815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IMDG Queue Tier</a:t>
                      </a:r>
                      <a:endParaRPr/>
                    </a:p>
                  </a:txBody>
                  <a:tcPr marT="39650" marB="39650" marR="39650" marL="118950" anchor="ctr">
                    <a:lnL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-93663" lvl="0" marL="93663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외부망 서비스 및 내부망 서비스 연계</a:t>
                      </a:r>
                      <a:endParaRPr/>
                    </a:p>
                  </a:txBody>
                  <a:tcPr marT="39650" marB="39650" marR="39650" marL="396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9650" marB="39650" marR="39650" marL="118950" anchor="ctr">
                    <a:lnL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Queue등록</a:t>
                      </a:r>
                      <a:endParaRPr/>
                    </a:p>
                  </a:txBody>
                  <a:tcPr marT="39650" marB="39650" marR="39650" marL="31722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93663" lvl="0" marL="93663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Queue 등록RD 요청 QueueIMDG(Hazelcast)</a:t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9650" marB="39650" marR="39650" marL="396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955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솔루션 Tier</a:t>
                      </a:r>
                      <a:endParaRPr/>
                    </a:p>
                  </a:txBody>
                  <a:tcPr marT="39650" marB="39650" marR="39650" marL="118950" anchor="ctr">
                    <a:lnL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-93663" lvl="0" marL="93663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OZ서버와 이미지변환서버 기록</a:t>
                      </a:r>
                      <a:endParaRPr/>
                    </a:p>
                  </a:txBody>
                  <a:tcPr marT="39650" marB="39650" marR="39650" marL="396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9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9650" marB="39650" marR="39650" marL="118950" anchor="ctr">
                    <a:lnL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OZ호출</a:t>
                      </a:r>
                      <a:endParaRPr/>
                    </a:p>
                  </a:txBody>
                  <a:tcPr marT="39650" marB="39650" marR="39650" marL="31722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93663" lvl="0" marL="93663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RD 호출RD 서비스 호출동기 HTTP</a:t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9650" marB="39650" marR="39650" marL="396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9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9650" marB="39650" marR="39650" marL="118950" anchor="ctr">
                    <a:lnL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이미지변환서버호출</a:t>
                      </a:r>
                      <a:endParaRPr/>
                    </a:p>
                  </a:txBody>
                  <a:tcPr marT="39650" marB="39650" marR="39650" marL="31722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93663" lvl="0" marL="93663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EDMS등록호출</a:t>
                      </a:r>
                      <a:endParaRPr/>
                    </a:p>
                  </a:txBody>
                  <a:tcPr marT="39650" marB="39650" marR="39650" marL="396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815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Tier</a:t>
                      </a:r>
                      <a:endParaRPr b="0" i="0" sz="105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9650" marB="39650" marR="39650" marL="118950" anchor="ctr">
                    <a:lnL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-93663" lvl="0" marL="93663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접속이력 적재</a:t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9650" marB="39650" marR="39650" marL="396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85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5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9650" marB="39650" marR="39650" marL="118950" anchor="ctr">
                    <a:lnL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결과기록</a:t>
                      </a:r>
                      <a:endParaRPr b="1" i="0" sz="105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9650" marB="39650" marR="39650" marL="27757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93663" lvl="0" marL="93663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로그DB에 적제</a:t>
                      </a:r>
                      <a:endParaRPr/>
                    </a:p>
                  </a:txBody>
                  <a:tcPr marT="39650" marB="39650" marR="39650" marL="396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268" name="Google Shape;2268;p35"/>
          <p:cNvSpPr/>
          <p:nvPr/>
        </p:nvSpPr>
        <p:spPr>
          <a:xfrm>
            <a:off x="937210" y="3484937"/>
            <a:ext cx="197588" cy="197587"/>
          </a:xfrm>
          <a:prstGeom prst="ellipse">
            <a:avLst/>
          </a:prstGeom>
          <a:solidFill>
            <a:srgbClr val="000000">
              <a:alpha val="98824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sz="1102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9" name="Google Shape;2269;p35"/>
          <p:cNvSpPr/>
          <p:nvPr/>
        </p:nvSpPr>
        <p:spPr>
          <a:xfrm>
            <a:off x="947500" y="4035771"/>
            <a:ext cx="197588" cy="197587"/>
          </a:xfrm>
          <a:prstGeom prst="ellipse">
            <a:avLst/>
          </a:prstGeom>
          <a:solidFill>
            <a:srgbClr val="000000">
              <a:alpha val="98824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sz="1102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0" name="Google Shape;2270;p35"/>
          <p:cNvSpPr/>
          <p:nvPr/>
        </p:nvSpPr>
        <p:spPr>
          <a:xfrm>
            <a:off x="1266106" y="1959442"/>
            <a:ext cx="197588" cy="197587"/>
          </a:xfrm>
          <a:prstGeom prst="ellipse">
            <a:avLst/>
          </a:prstGeom>
          <a:solidFill>
            <a:srgbClr val="000000">
              <a:alpha val="98824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sz="1102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1" name="Google Shape;2271;p35"/>
          <p:cNvSpPr/>
          <p:nvPr/>
        </p:nvSpPr>
        <p:spPr>
          <a:xfrm>
            <a:off x="1745544" y="1812554"/>
            <a:ext cx="197588" cy="197587"/>
          </a:xfrm>
          <a:prstGeom prst="ellipse">
            <a:avLst/>
          </a:prstGeom>
          <a:solidFill>
            <a:srgbClr val="000000">
              <a:alpha val="98824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sz="1102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2" name="Google Shape;2272;p35"/>
          <p:cNvSpPr/>
          <p:nvPr/>
        </p:nvSpPr>
        <p:spPr>
          <a:xfrm>
            <a:off x="3669998" y="1859349"/>
            <a:ext cx="197588" cy="197587"/>
          </a:xfrm>
          <a:prstGeom prst="ellipse">
            <a:avLst/>
          </a:prstGeom>
          <a:solidFill>
            <a:srgbClr val="000000">
              <a:alpha val="98824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sz="1102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3" name="Google Shape;2273;p35"/>
          <p:cNvSpPr/>
          <p:nvPr/>
        </p:nvSpPr>
        <p:spPr>
          <a:xfrm>
            <a:off x="5470265" y="1837592"/>
            <a:ext cx="197588" cy="197587"/>
          </a:xfrm>
          <a:prstGeom prst="ellipse">
            <a:avLst/>
          </a:prstGeom>
          <a:solidFill>
            <a:srgbClr val="000000">
              <a:alpha val="98824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sz="1102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4" name="Google Shape;2274;p35"/>
          <p:cNvSpPr/>
          <p:nvPr/>
        </p:nvSpPr>
        <p:spPr>
          <a:xfrm>
            <a:off x="5440790" y="2420933"/>
            <a:ext cx="197588" cy="197587"/>
          </a:xfrm>
          <a:prstGeom prst="ellipse">
            <a:avLst/>
          </a:prstGeom>
          <a:solidFill>
            <a:srgbClr val="000000">
              <a:alpha val="98824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sz="1102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5" name="Google Shape;2275;p35"/>
          <p:cNvSpPr/>
          <p:nvPr/>
        </p:nvSpPr>
        <p:spPr>
          <a:xfrm>
            <a:off x="937210" y="4516000"/>
            <a:ext cx="197588" cy="197587"/>
          </a:xfrm>
          <a:prstGeom prst="ellipse">
            <a:avLst/>
          </a:prstGeom>
          <a:solidFill>
            <a:srgbClr val="000000">
              <a:alpha val="98824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sz="1102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6" name="Google Shape;2276;p35"/>
          <p:cNvSpPr/>
          <p:nvPr/>
        </p:nvSpPr>
        <p:spPr>
          <a:xfrm>
            <a:off x="944437" y="4962202"/>
            <a:ext cx="197588" cy="197587"/>
          </a:xfrm>
          <a:prstGeom prst="ellipse">
            <a:avLst/>
          </a:prstGeom>
          <a:solidFill>
            <a:srgbClr val="000000">
              <a:alpha val="98824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sz="1102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7" name="Google Shape;2277;p35"/>
          <p:cNvSpPr/>
          <p:nvPr/>
        </p:nvSpPr>
        <p:spPr>
          <a:xfrm>
            <a:off x="944437" y="5199015"/>
            <a:ext cx="197588" cy="197587"/>
          </a:xfrm>
          <a:prstGeom prst="ellipse">
            <a:avLst/>
          </a:prstGeom>
          <a:solidFill>
            <a:srgbClr val="000000">
              <a:alpha val="98824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sz="1102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8" name="Google Shape;2278;p35"/>
          <p:cNvSpPr/>
          <p:nvPr/>
        </p:nvSpPr>
        <p:spPr>
          <a:xfrm>
            <a:off x="918102" y="5901310"/>
            <a:ext cx="197588" cy="197587"/>
          </a:xfrm>
          <a:prstGeom prst="ellipse">
            <a:avLst/>
          </a:prstGeom>
          <a:solidFill>
            <a:srgbClr val="000000">
              <a:alpha val="98824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sz="1102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9" name="Google Shape;2279;p35"/>
          <p:cNvSpPr/>
          <p:nvPr/>
        </p:nvSpPr>
        <p:spPr>
          <a:xfrm>
            <a:off x="7421933" y="2398108"/>
            <a:ext cx="197588" cy="197587"/>
          </a:xfrm>
          <a:prstGeom prst="ellipse">
            <a:avLst/>
          </a:prstGeom>
          <a:solidFill>
            <a:srgbClr val="000000">
              <a:alpha val="98824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sz="1102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3" name="Shape 2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4" name="Google Shape;2284;p36"/>
          <p:cNvSpPr txBox="1"/>
          <p:nvPr/>
        </p:nvSpPr>
        <p:spPr>
          <a:xfrm>
            <a:off x="417770" y="714190"/>
            <a:ext cx="8964356" cy="637153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아키텍처 설계</a:t>
            </a:r>
            <a:endParaRPr/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2.2 WEB 서비스 구성 설정</a:t>
            </a:r>
            <a:endParaRPr b="1" i="0" sz="12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2285" name="Google Shape;2285;p36"/>
          <p:cNvGraphicFramePr/>
          <p:nvPr/>
        </p:nvGraphicFramePr>
        <p:xfrm>
          <a:off x="417770" y="18288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{9216E51F-281C-4444-9FEC-27A87119D8F7}</a:tableStyleId>
              </a:tblPr>
              <a:tblGrid>
                <a:gridCol w="573425"/>
                <a:gridCol w="463400"/>
                <a:gridCol w="511975"/>
                <a:gridCol w="559775"/>
                <a:gridCol w="1890925"/>
                <a:gridCol w="256000"/>
                <a:gridCol w="286700"/>
                <a:gridCol w="647850"/>
                <a:gridCol w="312675"/>
                <a:gridCol w="948050"/>
                <a:gridCol w="447775"/>
                <a:gridCol w="366650"/>
                <a:gridCol w="211450"/>
                <a:gridCol w="1617875"/>
              </a:tblGrid>
              <a:tr h="99825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HOSTNAME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IP 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URL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Port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 hMerge="1"/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Log Dir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Doc Root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Context</a:t>
                      </a:r>
                      <a:br>
                        <a:rPr b="1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1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Root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설치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</a:tr>
              <a:tr h="1297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L4 VIP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L4 SLB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BackEnd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HTTP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SSL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NodeManager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Admin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 vMerge="1"/>
                <a:tc vMerge="1"/>
                <a:tc vMerge="1"/>
                <a:tc vMerge="1"/>
                <a:tc vMerge="1"/>
              </a:tr>
              <a:tr h="199675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cdsi-ozdev01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10.2.21.xx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10.2.21.xx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10.11.111.xx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dev-oz.hi.co.kr</a:t>
                      </a:r>
                      <a:b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0" i="0" lang="en-US" sz="700" u="none" strike="noStrike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dev-ozi.hi.co.kr (내부망전용)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8080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8443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/Logs/Apache24/DOZWEB11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/Appl/OZ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내부 통합발행물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95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10.2.21.xx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dev-ozremote.hi.co.kr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8081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9443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/Logs/Apache24/DRMWEB11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/Appl/RM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원격지발행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9525"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cdsi-ozdev01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10.2.21.xx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10.2.21.xx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10.11.111.xx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dev-ozasync.hi.co.kr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8080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8443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/Logs/Apache24/DASWEB11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/Appl/AS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비동기/재처리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95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10.2.21.xx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dev-ic.hi.co.kr </a:t>
                      </a:r>
                      <a:r>
                        <a:rPr b="0" i="0" lang="en-US" sz="700" u="none" strike="noStrike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(프로젝트 개발전용)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8081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9443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/Logs/Apache24/DICWEB11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/Appl/IC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이미지변환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95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10.2.21.xx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dev-iv.hi.co.kr </a:t>
                      </a:r>
                      <a:r>
                        <a:rPr b="0" i="0" lang="en-US" sz="700" u="none" strike="noStrike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(프로젝트 개발전용)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8082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10443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/Logs/Apache24/DIVWEB11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/Appl/IV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인지뷰어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99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cdsi-mcmdev01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10.2.21.xx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10.2.21.xx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10.11.111.xx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dev-mcm.hi.co.kr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8080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8443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/Logs/Apache24/DMCMWEB11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/Appl/MCM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동영상미디어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9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199675">
                <a:tc rowSpan="6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cpsi-ozweb01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10.3.12.xx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6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10.3.12.xx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6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10.7.15.xx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oz.hi.co.kr</a:t>
                      </a:r>
                      <a:b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0" i="0" lang="en-US" sz="700" u="none" strike="noStrike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ozi.hi.co.kr (내부망전용)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8080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8443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/Logs/Apache24/POZWEB11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/Appl/OZ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내부 통합발행물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95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10.3.12.xx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ozremote.hi.co.kr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8081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9443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/Logs/Apache24/PRMWEB11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/Appl/RM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원격지발행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95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10.3.12.xx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ozasync.hi.co.kr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8080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8443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/Logs/Apache24/PASWEB11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/Appl/AS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비동기/재처리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996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10.3.12.xx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sng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ic.hi.co.kr</a:t>
                      </a: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-&gt; esedms.hi.co.kr (기존도메인 DNS전환)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8081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9443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/Logs/Apache24/PICWEB11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/Appl/IC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이미지변환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95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10.3.12.xx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sng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iv.hi.co.kr</a:t>
                      </a: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-&gt; esiv.hi.co.kr (기존도메인 DNS전환)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8082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10443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/Logs/Apache24/PIVWEB11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/Appl/IV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인지뷰어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95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10.3.12.xx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mcm.hi.co.kr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8080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8443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/Logs/Apache24/PMCMWEB11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/Appl/MCM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동영상미디어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99675">
                <a:tc rowSpan="6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cpsi-ozweb02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10.3.12.xx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6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10.3.12.xx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6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10.7.15.xx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oz.hi.co.kr</a:t>
                      </a:r>
                      <a:b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0" i="0" lang="en-US" sz="700" u="none" strike="noStrike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ozi.hi.co.kr (내부망전용)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8080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8443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/Logs/Apache24/POZWEB21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/Appl/OZ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내부 통합발행물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95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10.3.12.xx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ozremote.hi.co.kr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8081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9443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/Logs/Apache24/RMWEB21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/Appl/RM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원격지발행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95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10.3.12.xx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ozasync.hi.co.kr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8080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8443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/Logs/Apache24/PASWEB21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/Appl/AS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비동기/재처리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996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10.3.12.xx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sng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ic.hi.co.kr</a:t>
                      </a: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-&gt; esedms.hi.co.kr (기존도메인 DNS전환)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8081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9443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/Logs/Apache24/PICWEB21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/Appl/IC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이미지변환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95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10.3.12.xx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sng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iv.hi.co.kr</a:t>
                      </a: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-&gt; esiv.hi.co.kr (기존도메인 DNS전환)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8082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10443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/Logs/Apache24/PIVWEB21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/Appl/IV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인지뷰어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95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10.3.12.xx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mcm.hi.co.kr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8080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8443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/Logs/Apache24/PMCMWEB21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/Appl/MCM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동영상미디어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9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199675">
                <a:tc rowSpan="5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cbsi-ozweb01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10.8.12.xx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5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10.8.12.xx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5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10.10.11.xx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oz.hi.co.kr</a:t>
                      </a:r>
                      <a:b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0" i="0" lang="en-US" sz="700" u="none" strike="noStrike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ozi.hi.co.kr (내부망전용)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8080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8443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/Logs/Apache24/POZWEB11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/Appl/OZ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내부 통합발행물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95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10.8.12.xx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ozremote.hi.co.kr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8081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9443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/Logs/Apache24/PRMWEB11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/Appl/RM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원격지발행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95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10.8.12.xx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ozasync.hi.co.kr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8080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8443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/Logs/Apache24/PASWEB11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/Appl/AS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비동기/재처리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996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10.8.12.xx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sng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ic.hi.co.kr</a:t>
                      </a: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-&gt; esedms.hi.co.kr (기존도메인 DNS전환)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8081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9443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/Logs/Apache24/PICWEB11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/Appl/IC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이미지변환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95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10.8.12.xx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sng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iv.hi.co.kr</a:t>
                      </a: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-&gt; esiv.hi.co.kr (기존도메인 DNS전환)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8082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10443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/Logs/Apache24/PIVWEB11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5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/Appl/IV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7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인지뷰어</a:t>
                      </a:r>
                      <a:endParaRPr b="0" i="0" sz="7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86" name="Google Shape;2286;p36"/>
          <p:cNvGraphicFramePr/>
          <p:nvPr/>
        </p:nvGraphicFramePr>
        <p:xfrm>
          <a:off x="417770" y="1341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{9216E51F-281C-4444-9FEC-27A87119D8F7}</a:tableStyleId>
              </a:tblPr>
              <a:tblGrid>
                <a:gridCol w="1682500"/>
                <a:gridCol w="1675425"/>
                <a:gridCol w="1102825"/>
                <a:gridCol w="1187650"/>
                <a:gridCol w="3350875"/>
              </a:tblGrid>
              <a:tr h="18370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공통사항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WAS Ver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JVM Ver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JVM Path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2020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Apache 2.4.68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wasadmin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Open JDK21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/Product/jdk/open/jdk21.0.11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0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91" name="Google Shape;2291;p37"/>
          <p:cNvGraphicFramePr/>
          <p:nvPr/>
        </p:nvGraphicFramePr>
        <p:xfrm>
          <a:off x="569842" y="22050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{9216E51F-281C-4444-9FEC-27A87119D8F7}</a:tableStyleId>
              </a:tblPr>
              <a:tblGrid>
                <a:gridCol w="370450"/>
                <a:gridCol w="897575"/>
                <a:gridCol w="1074650"/>
                <a:gridCol w="3231275"/>
                <a:gridCol w="2794075"/>
                <a:gridCol w="717325"/>
              </a:tblGrid>
              <a:tr h="376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번호</a:t>
                      </a:r>
                      <a:endParaRPr b="1" i="0" sz="10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요구사항ID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요구사항명</a:t>
                      </a:r>
                      <a:endParaRPr b="1" i="0" sz="10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요구사항 상세설명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수용방안</a:t>
                      </a:r>
                      <a:endParaRPr b="1" i="0" sz="10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비고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528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REQ-AN-IS-AA-011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컴플라이언스 준수 방안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준수해야 할 법률과 회계기준 등이 있을 경우 명기하지 않았더라도 개발범위에 포함되어야 하며, 구체적 방안을 제시해야 함</a:t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보안 관련 법규 및 규정을 준수하고, 체계적인 보안 관리방안을 확립하며 보안 취약점 진단 및 개인정보 보안 적용 등 보안 요건을 철저히 준수하여 보안성을 확립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0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REQ-AN-IN-AA-024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컴플라이언스 준수 방안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개인정보 보호 대책</a:t>
                      </a:r>
                      <a:b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- 암호화(정형/비정형/통신구간), 마스킹, 조회 및 처리 이력 생성 등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Secure Coding 적용, 암호화, 마스킹, 조회 및 처리 이력 생성 등의 개인 보호 정책을 준수하여 구축함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8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REQ-AN-IS-AA-025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취약점 점검 및 모의해킹</a:t>
                      </a:r>
                      <a:b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수행 방안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구축된 시스템에 대한 프로젝트 자체 취약점 점검(OS, WEB, WAS, DB, 네트워크) 및 모의해킹 수행 방안 제시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구축된 시스템에 대한 프로젝트 자체 취약점 점검을 수행함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8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REQ-AN-IS-AA-026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정보보호 제품 도입 시 </a:t>
                      </a:r>
                      <a:b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제안 요구사항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 정보보호 제품은 국내·외 보안 관련 인증을 획득한 제품이어야 함.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 솔루션이 악성코드를 포함하고 있지 않음을 보증해야 함 (보안무결성 공문 제출 등)</a:t>
                      </a:r>
                      <a:b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 보안취약점 발견 시 취약점 조치를 위한 보안패치 지원 정책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 정보보호 제품은 국내·외 보안 관련 인증을 획득한 제품으로 구축함.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 보안무결성 공문 제출등으로 솔루션이 </a:t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악성코드를 포함하고 있지 않음을 보증함</a:t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 보안취약점 발견 시 취약점 조치를 위한 보안패치등을 수행함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REQ-AN-IN-AA-027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프로그램 개발 시 요구사항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 당사의 개인정보 보호 기준 (마스킹, 암호화(정형,비정형), 조회로깅) 준수</a:t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 보안취약점 최소화를 위해 행정안전부 소프트웨어 개발보안 가이드(’21.11월) 및 당사의 보안 가이드라인(OS, WEB, WAS, DB, 네트워크 등)을 준수해야 함.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 개인정보 보호 기준 정책을 준수하여 구축함</a:t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 보안취약점 최소화를 위해 행정안전부 소프트웨어 개발보안 가이드(’21.11월) 및 당사의 보안 가이드라인(OS, WEB, WAS, DB, 네트워크 등)을 준수함.</a:t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92" name="Google Shape;2292;p37"/>
          <p:cNvSpPr txBox="1"/>
          <p:nvPr/>
        </p:nvSpPr>
        <p:spPr>
          <a:xfrm>
            <a:off x="417769" y="714190"/>
            <a:ext cx="8992693" cy="10590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</a:t>
            </a:r>
            <a:r>
              <a:rPr b="1" i="0" lang="en-US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보안 아키텍처</a:t>
            </a:r>
            <a:endParaRPr b="1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3.1 </a:t>
            </a:r>
            <a:r>
              <a:rPr b="1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주요 보안요구사항 (1/3)</a:t>
            </a:r>
            <a:endParaRPr/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 사업의 범위 개발 보안을 위하여 컴플라이언스, 프로그램 개발, 취약점 점검 및 모의해킹, 정보보호 제품 도입 등 요구사항을 고려하고 시큐어 코딩 개발자가이드를 마련함</a:t>
            </a:r>
            <a:endParaRPr b="0"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6" name="Shape 2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97" name="Google Shape;2297;p38"/>
          <p:cNvGraphicFramePr/>
          <p:nvPr/>
        </p:nvGraphicFramePr>
        <p:xfrm>
          <a:off x="415922" y="21997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{9216E51F-281C-4444-9FEC-27A87119D8F7}</a:tableStyleId>
              </a:tblPr>
              <a:tblGrid>
                <a:gridCol w="251325"/>
                <a:gridCol w="897575"/>
                <a:gridCol w="1074650"/>
                <a:gridCol w="3231275"/>
                <a:gridCol w="2794075"/>
                <a:gridCol w="717325"/>
              </a:tblGrid>
              <a:tr h="149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번호</a:t>
                      </a:r>
                      <a:endParaRPr b="1" i="0" sz="10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요구사항ID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요구사항명</a:t>
                      </a:r>
                      <a:endParaRPr b="1" i="0" sz="10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요구사항 상세설명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수용방안</a:t>
                      </a:r>
                      <a:endParaRPr b="1" i="0" sz="10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비고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201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REQ-AN-IN-AA-029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보안 아키텍쳐 수립 방안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상기 보안 요구 사항들이 포함된 보안 아키텍처(인력, 프로세스, 기술) 수립방안을 제시해야 함.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상기 보안 요구 사항들이 포함된 보안 아키텍처(인력, 프로세스, 기술) 수립방안을 제시함.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98" name="Google Shape;2298;p38"/>
          <p:cNvSpPr txBox="1"/>
          <p:nvPr/>
        </p:nvSpPr>
        <p:spPr>
          <a:xfrm>
            <a:off x="417769" y="714190"/>
            <a:ext cx="8992693" cy="10590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</a:t>
            </a:r>
            <a:r>
              <a:rPr b="1" i="0" lang="en-US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보안 아키텍처</a:t>
            </a:r>
            <a:endParaRPr b="1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3.1 </a:t>
            </a:r>
            <a:r>
              <a:rPr b="1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주요 보안요구사항 (3/3)</a:t>
            </a:r>
            <a:endParaRPr/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 사업의 범위 개발 보안을 위하여 컴플라이언스, 프로그램 개발, 취약점 점검 및 모의해킹, 정보보호 제품 도입 등 요구사항을 고려하고 시큐어 코딩 개발자가이드를 마련함</a:t>
            </a:r>
            <a:endParaRPr b="0"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2" name="Shape 2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3" name="Google Shape;2303;p39"/>
          <p:cNvSpPr txBox="1"/>
          <p:nvPr/>
        </p:nvSpPr>
        <p:spPr>
          <a:xfrm>
            <a:off x="417769" y="714190"/>
            <a:ext cx="8992693" cy="10590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3.2 </a:t>
            </a:r>
            <a:r>
              <a:rPr b="1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시큐어코딩 보안가이드</a:t>
            </a:r>
            <a:endParaRPr b="1"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3.2.1 입력데이터 검증 및 표현</a:t>
            </a:r>
            <a:endParaRPr b="1"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행정안전부 제공 시큐어코딩 가이드를 근거로 차세대발행물 및 동영상플랫폼 보안성을 확보하여 개발과정에 반영함</a:t>
            </a:r>
            <a:endParaRPr b="0"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2304" name="Google Shape;2304;p39"/>
          <p:cNvGraphicFramePr/>
          <p:nvPr/>
        </p:nvGraphicFramePr>
        <p:xfrm>
          <a:off x="417769" y="173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{9216E51F-281C-4444-9FEC-27A87119D8F7}</a:tableStyleId>
              </a:tblPr>
              <a:tblGrid>
                <a:gridCol w="351200"/>
                <a:gridCol w="752450"/>
                <a:gridCol w="390575"/>
                <a:gridCol w="1465500"/>
                <a:gridCol w="5575325"/>
                <a:gridCol w="429300"/>
              </a:tblGrid>
              <a:tr h="263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번호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분류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코드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보안취약점진단 항목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보안위협 내용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중요도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30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rowSpan="1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입력데이터 검증 및 표현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SI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SQL 삽입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조작된 쿼리를 통한 DB 노출 및 변조 발생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RI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자원 삽입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시스템 자원간 충돌, 비정상적인 오류 발생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XS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크로스사이트 스크립트(XSS)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악성코드 실행/ 세션 하이재킹 유발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OI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Command 인젝션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시스템 명령어 수행으로 인한 시스템 점령 및 파괴를 유발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DF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파일 업로드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시스템 명령어 수행으로 인한 시스템 점령 및 파괴를 유발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UD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URL Redirection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피싱(Phishing) 공격에 노출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XI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XQuery 삽입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쿼리문의 구조를 임의로 변경하여 허가되지 않는 데이터를 조회하거나 인증절차 우회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PI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XPath 삽입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의도하지 않은 문자열을 전달하여 쿼리문의 의미를 왜곡시키거나 그 구조를 변경하고 임의의 쿼리를 실행하여 인가되지 않은 데이터를 열람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LI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LDAP 삽입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LDAP 쿼리문이 실행될 때 공격자는 LDAP 쿼리문의 내용을 조작하여 인가되지 않은 데이터를 열람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CF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크로스사이트 요청 위조(CSRF)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해당 사용자가 관리자인 경우 사용자 권한관리, 게시물삭제, 사용자 등록 등 관리자 권한으로만 수행 가능한 기능을 공격자의 의도대로 실행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2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11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DF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디렉토리 경로 조작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의도하지 않은 접근 제한 영역에 대한 경로 문자열 구성이 가능하여 시스템 정보유출, 서비스 장애 등을 유발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12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HM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HTTP 응답분할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개행문자를 이용하여 첫 번째 응답을 종료시키고, 두 번째 응답에 악의적인 코드를 주입하여 XSS 및 캐시 훼손 공격 등을 수행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13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BO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버퍼 오버플로우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시스템 오류 발생, 임의 명령 실행, 시스템 점령 등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14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IF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보호메커니즘을 우회할 수 있는 입력값 변조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보호메커니즘을 우회하여 부적절한 권한을 취득하여 인가되지 않은 정보를 열람하거나 악의적으로 수정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8" name="Shape 2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9" name="Google Shape;2309;p40"/>
          <p:cNvSpPr txBox="1"/>
          <p:nvPr/>
        </p:nvSpPr>
        <p:spPr>
          <a:xfrm>
            <a:off x="417769" y="714190"/>
            <a:ext cx="8992693" cy="10590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3.2 </a:t>
            </a:r>
            <a:r>
              <a:rPr b="1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시큐어코딩 보안가이드</a:t>
            </a:r>
            <a:endParaRPr b="1"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3.2.2 보안기능</a:t>
            </a:r>
            <a:endParaRPr b="1"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행정안전부 제공 시큐어코딩 가이드를 근거로 차세대발행물 및 동영상플랫폼 시스템 소스코드 보안성을 확보하여 개발과정에 반영함</a:t>
            </a:r>
            <a:endParaRPr b="0"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2310" name="Google Shape;2310;p40"/>
          <p:cNvGraphicFramePr/>
          <p:nvPr/>
        </p:nvGraphicFramePr>
        <p:xfrm>
          <a:off x="417769" y="17367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{9216E51F-281C-4444-9FEC-27A87119D8F7}</a:tableStyleId>
              </a:tblPr>
              <a:tblGrid>
                <a:gridCol w="350500"/>
                <a:gridCol w="750950"/>
                <a:gridCol w="389775"/>
                <a:gridCol w="1466150"/>
                <a:gridCol w="5578525"/>
                <a:gridCol w="428450"/>
              </a:tblGrid>
              <a:tr h="263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번호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분류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코드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보안취약점진단 항목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보안위협 내용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중요도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165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15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rowSpan="16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보안기능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CP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적절한 인증없는 중요기능 허용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중요정보(계좌이체 정보, 개인정보 등)의 불법적인 열람, 중요정보 유출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5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16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IA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부적절한 인가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중요정보(계좌이체 정보, 개인정보 등)의 불법적인 열람, 중요정보 유출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17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CS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중요한 자원에 대한 잘못된 권한설정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권한을 갖지 않은 사용자가 해당자원을 사용하여 악용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18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EA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취약한 암호화 알고리즘 사용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패스워드와 같은 중요정보가 노출되어 권한이 탈취되어 2차적인 피해가 발생하고 개인정보가 유출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19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PS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 중요정보 평문저장(또는 전송)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PC 내 파일 노출 또는 통신채널 스니핑을 통해 인가되지 않은 사용자에게 민감한 데이터가 노출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HP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하드코드된 패스워드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관리자의 정보가 노출될 수 있고, 코드 내부에 하드코드된 패스워드가 인증실패를 야기하는 경우, 시스템 관리자가 그 실패의 원인을 파악하기 쉽지 않음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5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21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KL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충분하지 않은 키 길이 사용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공격자가 암호화된 테이터나 패스워드를 복호화 할수 있고, 이로 인하여 데이터를 탈취하거나 시스템을 장악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22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RN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적절하지 않은 난수 값 사용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공격자가 암호화된 데이터나 패스워드를 복호화 할수 있고, 이로 인하여 데이터를 탈취하거나 시스템을 장악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5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23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PP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패스워드 평문 저장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공격자가 패스워드를 알아낼 수 있고, 이로 인하여 데이터를 탈취하거나 시스템을 장악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5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24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HK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하드코드된 암호화 키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프로그램 소스코드가 노출되는 경우, 패스워드도 동시에 노출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5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25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PA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취약한 패스워드 허용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패스워드 유출에 따른 계정 도용으로 중요정보 유출, 시스템 파괴 등 2차적인 피해가 발생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26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CL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 하드디스크에 저장되는 쿠키를 통한 정보누출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공격자로 하여금 쿠키에 접근할 수 있는 보다 많은 기회를 제공하게 되며, 프라이버시 침해를 야기시킴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27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CE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보안속성 미적용으로 인한 쿠키 노출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사용자의 계정정보 및 개인정보가 노출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28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CI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주석문 안에 포함된 패스워드 등 시스템정보</a:t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공격자가 소스코드에 접근할 수 있다면, 쉽게 시스템에 침입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29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SH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솔트 없이 일방향 해쉬 함수 사용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레인보우 테이블과 같이 가능한 모든 패스워드에 대해 해쉬값을 미리 계산하고, 이를 악용한 전수조사를 통해 패스워드를 찾음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30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CD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무결성 검사없는 코드 다운로드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호스트 서버의 변수, DNS 스푸핑 또는 전송시 코드 변조 등의 방법을 이용하여 악성코드를 실행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4" name="Shape 2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5" name="Google Shape;2315;p41"/>
          <p:cNvSpPr txBox="1"/>
          <p:nvPr/>
        </p:nvSpPr>
        <p:spPr>
          <a:xfrm>
            <a:off x="417769" y="714190"/>
            <a:ext cx="8992693" cy="10590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3.2 </a:t>
            </a:r>
            <a:r>
              <a:rPr b="1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시큐어코딩 보안가이드</a:t>
            </a:r>
            <a:endParaRPr b="1"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3.2.3 기타 보안 요건</a:t>
            </a:r>
            <a:endParaRPr b="1"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행정안전부 제공 시큐어코딩 가이드를 근거로 차세대발행물 및 동영상플랫폼 시스템 소스코드 보안성을 확보하여 개발과정에 반영함</a:t>
            </a:r>
            <a:endParaRPr b="0"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2316" name="Google Shape;2316;p41"/>
          <p:cNvGraphicFramePr/>
          <p:nvPr/>
        </p:nvGraphicFramePr>
        <p:xfrm>
          <a:off x="417769" y="17367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{9216E51F-281C-4444-9FEC-27A87119D8F7}</a:tableStyleId>
              </a:tblPr>
              <a:tblGrid>
                <a:gridCol w="350500"/>
                <a:gridCol w="750950"/>
                <a:gridCol w="389775"/>
                <a:gridCol w="1466150"/>
                <a:gridCol w="5578525"/>
                <a:gridCol w="428450"/>
              </a:tblGrid>
              <a:tr h="263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번호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분류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코드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보안취약점진단 항목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보안위협 내용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중요도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362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31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시간 및 상태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CC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경쟁조건: 검사시점과 사용시점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하나의 자원에 대하여 동시에 검사시점과 사용지점이 달라 생기는 보안약점으로 인해 동기화 오류뿐 아니라 교착상태 등과 같은 문제점이 발생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2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32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CR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종료되지 않는 반복문 또는 재귀함수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귀납조건(Base Case)이 없는 재귀함수는 무한 루프에 빠져들게 되고 자원고갈을 유발함으로써 시스템의 정상적인 서비스를 제공할 수 없음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33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에러처리</a:t>
                      </a:r>
                      <a:endParaRPr b="1" i="0" sz="9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EM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오류메시지 통한 정보 노출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예외발생 시 예외이름이나 스택 트래이스를 출력하는 경우, 프로그램 내부구조를 쉽게 파악당함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34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ES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오류상황 대응 부재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오류상황을 악용하여 개발자가 의도하지 않은 방향으로 프로그램이 동작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35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EH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적절하지 않은 예외처리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예기치 못한 상황에 대한 적절한 판단이 불가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36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rowSpan="7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캡슐화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ND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널(NULL)포인터 역참조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예상치 못한 Null포인터로 인한 비정상 경로가 노출되어 내부 정보가 유출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8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37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RC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부적절한 자원 해제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자원의 고갈로 인해 의도하지 않은 정보 노출 등이 발생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2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38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SM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잘못된 세션에 의한 정보 노출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정보노출, 권한상승 등의 문제가 발생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2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39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DC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제거되지 않고 남은 디버그 코드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공격자가 식별 과정을 우회하거나 의도하지 않은 정보와 제어 정보가 노출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8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40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SD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시스템 데이터 정보노출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시스템 내부 데이터를 취득하여 권한 상승으로 인한 정보유출 등이 발생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2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41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PU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Public 메소드부터 반환된 Private 배열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배열 주소값이 외부에 공개됨으로써 외부에서 배열 수정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2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42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Private 배열에 Public 데이터 할당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Private 배열을 외부에서 접근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2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43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API 오용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DL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DNS lookup에 의존한 보안결정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로컬 DNS 서버의 캐시가 공격자에 의해 오염된 상황이라면, 사용자와 특정 서버간의 네트워크 트래픽이 공격자를 경유하도록 할 수 있고, 공격자가 마치 동일 도메인에 속한 서버인 것처럼 위장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0" name="Shape 2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1" name="Google Shape;2321;p42"/>
          <p:cNvSpPr txBox="1"/>
          <p:nvPr/>
        </p:nvSpPr>
        <p:spPr>
          <a:xfrm>
            <a:off x="417769" y="714190"/>
            <a:ext cx="8992693" cy="10590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3.3 </a:t>
            </a:r>
            <a:r>
              <a:rPr b="1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기술적 보안 취약점 진단 및 조치</a:t>
            </a:r>
            <a:endParaRPr b="1"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3.3.1 취약점 점검 절차</a:t>
            </a:r>
            <a:endParaRPr b="1"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기술적 취약점 진단은 대상선정 및 진단, 분석, 평가순으로 진행하고, 점검결과에 따라 취약점 조치 후 이행점검을 실시함</a:t>
            </a:r>
            <a:endParaRPr b="0"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322" name="Google Shape;2322;p42"/>
          <p:cNvGrpSpPr/>
          <p:nvPr/>
        </p:nvGrpSpPr>
        <p:grpSpPr>
          <a:xfrm>
            <a:off x="415926" y="1935155"/>
            <a:ext cx="8966200" cy="4339887"/>
            <a:chOff x="415925" y="1935155"/>
            <a:chExt cx="9001125" cy="4339887"/>
          </a:xfrm>
        </p:grpSpPr>
        <p:sp>
          <p:nvSpPr>
            <p:cNvPr id="2323" name="Google Shape;2323;p42"/>
            <p:cNvSpPr/>
            <p:nvPr/>
          </p:nvSpPr>
          <p:spPr>
            <a:xfrm>
              <a:off x="416435" y="5140630"/>
              <a:ext cx="9000615" cy="1134412"/>
            </a:xfrm>
            <a:prstGeom prst="rect">
              <a:avLst/>
            </a:prstGeom>
            <a:solidFill>
              <a:srgbClr val="E6EA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72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324" name="Google Shape;2324;p42"/>
            <p:cNvSpPr/>
            <p:nvPr/>
          </p:nvSpPr>
          <p:spPr>
            <a:xfrm>
              <a:off x="2225490" y="1935155"/>
              <a:ext cx="1763880" cy="322129"/>
            </a:xfrm>
            <a:prstGeom prst="chevron">
              <a:avLst>
                <a:gd fmla="val 25747" name="adj"/>
              </a:avLst>
            </a:prstGeom>
            <a:solidFill>
              <a:srgbClr val="D8D8D8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325" name="Google Shape;2325;p42"/>
            <p:cNvSpPr txBox="1"/>
            <p:nvPr/>
          </p:nvSpPr>
          <p:spPr>
            <a:xfrm>
              <a:off x="2587671" y="2011581"/>
              <a:ext cx="1039515" cy="169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취약점 진단 수행</a:t>
              </a:r>
              <a:endParaRPr/>
            </a:p>
          </p:txBody>
        </p:sp>
        <p:sp>
          <p:nvSpPr>
            <p:cNvPr id="2326" name="Google Shape;2326;p42"/>
            <p:cNvSpPr/>
            <p:nvPr/>
          </p:nvSpPr>
          <p:spPr>
            <a:xfrm>
              <a:off x="416435" y="1935155"/>
              <a:ext cx="1763880" cy="322129"/>
            </a:xfrm>
            <a:prstGeom prst="homePlate">
              <a:avLst>
                <a:gd fmla="val 25526" name="adj"/>
              </a:avLst>
            </a:prstGeom>
            <a:solidFill>
              <a:srgbClr val="F2F2F2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327" name="Google Shape;2327;p42"/>
            <p:cNvSpPr txBox="1"/>
            <p:nvPr/>
          </p:nvSpPr>
          <p:spPr>
            <a:xfrm>
              <a:off x="907328" y="2011581"/>
              <a:ext cx="632096" cy="1692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사전 협의 </a:t>
              </a:r>
              <a:endParaRPr/>
            </a:p>
          </p:txBody>
        </p:sp>
        <p:sp>
          <p:nvSpPr>
            <p:cNvPr id="2328" name="Google Shape;2328;p42"/>
            <p:cNvSpPr/>
            <p:nvPr/>
          </p:nvSpPr>
          <p:spPr>
            <a:xfrm>
              <a:off x="4034546" y="1935155"/>
              <a:ext cx="1763880" cy="322129"/>
            </a:xfrm>
            <a:prstGeom prst="chevron">
              <a:avLst>
                <a:gd fmla="val 25747" name="adj"/>
              </a:avLst>
            </a:prstGeom>
            <a:solidFill>
              <a:srgbClr val="BFBFBF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329" name="Google Shape;2329;p42"/>
            <p:cNvSpPr txBox="1"/>
            <p:nvPr/>
          </p:nvSpPr>
          <p:spPr>
            <a:xfrm>
              <a:off x="4554752" y="2011581"/>
              <a:ext cx="723467" cy="169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취약점 분석</a:t>
              </a:r>
              <a:endParaRPr/>
            </a:p>
          </p:txBody>
        </p:sp>
        <p:sp>
          <p:nvSpPr>
            <p:cNvPr id="2330" name="Google Shape;2330;p42"/>
            <p:cNvSpPr/>
            <p:nvPr/>
          </p:nvSpPr>
          <p:spPr>
            <a:xfrm>
              <a:off x="5843601" y="1935155"/>
              <a:ext cx="1763880" cy="322129"/>
            </a:xfrm>
            <a:prstGeom prst="chevron">
              <a:avLst>
                <a:gd fmla="val 25747" name="adj"/>
              </a:avLst>
            </a:prstGeom>
            <a:solidFill>
              <a:srgbClr val="A5A5A5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331" name="Google Shape;2331;p42"/>
            <p:cNvSpPr txBox="1"/>
            <p:nvPr/>
          </p:nvSpPr>
          <p:spPr>
            <a:xfrm>
              <a:off x="6431712" y="2011581"/>
              <a:ext cx="587660" cy="169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위험 평가</a:t>
              </a:r>
              <a:endParaRPr/>
            </a:p>
          </p:txBody>
        </p:sp>
        <p:sp>
          <p:nvSpPr>
            <p:cNvPr id="2332" name="Google Shape;2332;p42"/>
            <p:cNvSpPr/>
            <p:nvPr/>
          </p:nvSpPr>
          <p:spPr>
            <a:xfrm>
              <a:off x="7652659" y="1935155"/>
              <a:ext cx="1763881" cy="322129"/>
            </a:xfrm>
            <a:prstGeom prst="chevron">
              <a:avLst>
                <a:gd fmla="val 25747" name="adj"/>
              </a:avLst>
            </a:prstGeom>
            <a:solidFill>
              <a:srgbClr val="7F7F7F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333" name="Google Shape;2333;p42"/>
            <p:cNvSpPr txBox="1"/>
            <p:nvPr/>
          </p:nvSpPr>
          <p:spPr>
            <a:xfrm>
              <a:off x="8294342" y="2011581"/>
              <a:ext cx="587660" cy="169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이행 점검</a:t>
              </a:r>
              <a:endParaRPr/>
            </a:p>
          </p:txBody>
        </p:sp>
        <p:cxnSp>
          <p:nvCxnSpPr>
            <p:cNvPr id="2334" name="Google Shape;2334;p42"/>
            <p:cNvCxnSpPr/>
            <p:nvPr/>
          </p:nvCxnSpPr>
          <p:spPr>
            <a:xfrm>
              <a:off x="415925" y="6275042"/>
              <a:ext cx="9000615" cy="0"/>
            </a:xfrm>
            <a:prstGeom prst="straightConnector1">
              <a:avLst/>
            </a:prstGeom>
            <a:solidFill>
              <a:schemeClr val="lt1"/>
            </a:solidFill>
            <a:ln cap="sq" cmpd="sng" w="25400">
              <a:solidFill>
                <a:srgbClr val="CDD5DD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35" name="Google Shape;2335;p42"/>
            <p:cNvCxnSpPr/>
            <p:nvPr/>
          </p:nvCxnSpPr>
          <p:spPr>
            <a:xfrm>
              <a:off x="2214254" y="2377783"/>
              <a:ext cx="0" cy="3897258"/>
            </a:xfrm>
            <a:prstGeom prst="straightConnector1">
              <a:avLst/>
            </a:prstGeom>
            <a:solidFill>
              <a:schemeClr val="lt1"/>
            </a:solidFill>
            <a:ln cap="sq" cmpd="sng" w="9525">
              <a:solidFill>
                <a:srgbClr val="CDD5DD"/>
              </a:solidFill>
              <a:prstDash val="dash"/>
              <a:miter lim="8000"/>
              <a:headEnd len="sm" w="sm" type="none"/>
              <a:tailEnd len="sm" w="sm" type="none"/>
            </a:ln>
          </p:spPr>
        </p:cxnSp>
        <p:cxnSp>
          <p:nvCxnSpPr>
            <p:cNvPr id="2336" name="Google Shape;2336;p42"/>
            <p:cNvCxnSpPr/>
            <p:nvPr/>
          </p:nvCxnSpPr>
          <p:spPr>
            <a:xfrm>
              <a:off x="4014825" y="2377783"/>
              <a:ext cx="0" cy="3897258"/>
            </a:xfrm>
            <a:prstGeom prst="straightConnector1">
              <a:avLst/>
            </a:prstGeom>
            <a:solidFill>
              <a:schemeClr val="lt1"/>
            </a:solidFill>
            <a:ln cap="sq" cmpd="sng" w="9525">
              <a:solidFill>
                <a:srgbClr val="CDD5DD"/>
              </a:solidFill>
              <a:prstDash val="dash"/>
              <a:miter lim="8000"/>
              <a:headEnd len="sm" w="sm" type="none"/>
              <a:tailEnd len="sm" w="sm" type="none"/>
            </a:ln>
          </p:spPr>
        </p:cxnSp>
        <p:cxnSp>
          <p:nvCxnSpPr>
            <p:cNvPr id="2337" name="Google Shape;2337;p42"/>
            <p:cNvCxnSpPr/>
            <p:nvPr/>
          </p:nvCxnSpPr>
          <p:spPr>
            <a:xfrm>
              <a:off x="5815396" y="2377783"/>
              <a:ext cx="0" cy="3897258"/>
            </a:xfrm>
            <a:prstGeom prst="straightConnector1">
              <a:avLst/>
            </a:prstGeom>
            <a:solidFill>
              <a:schemeClr val="lt1"/>
            </a:solidFill>
            <a:ln cap="sq" cmpd="sng" w="9525">
              <a:solidFill>
                <a:srgbClr val="CDD5DD"/>
              </a:solidFill>
              <a:prstDash val="dash"/>
              <a:miter lim="8000"/>
              <a:headEnd len="sm" w="sm" type="none"/>
              <a:tailEnd len="sm" w="sm" type="none"/>
            </a:ln>
          </p:spPr>
        </p:cxnSp>
        <p:cxnSp>
          <p:nvCxnSpPr>
            <p:cNvPr id="2338" name="Google Shape;2338;p42"/>
            <p:cNvCxnSpPr/>
            <p:nvPr/>
          </p:nvCxnSpPr>
          <p:spPr>
            <a:xfrm>
              <a:off x="7615968" y="2377783"/>
              <a:ext cx="0" cy="3897258"/>
            </a:xfrm>
            <a:prstGeom prst="straightConnector1">
              <a:avLst/>
            </a:prstGeom>
            <a:solidFill>
              <a:schemeClr val="lt1"/>
            </a:solidFill>
            <a:ln cap="sq" cmpd="sng" w="9525">
              <a:solidFill>
                <a:srgbClr val="CDD5DD"/>
              </a:solidFill>
              <a:prstDash val="dash"/>
              <a:miter lim="8000"/>
              <a:headEnd len="sm" w="sm" type="none"/>
              <a:tailEnd len="sm" w="sm" type="none"/>
            </a:ln>
          </p:spPr>
        </p:cxnSp>
        <p:sp>
          <p:nvSpPr>
            <p:cNvPr id="2339" name="Google Shape;2339;p42"/>
            <p:cNvSpPr/>
            <p:nvPr/>
          </p:nvSpPr>
          <p:spPr>
            <a:xfrm>
              <a:off x="528915" y="5229286"/>
              <a:ext cx="1549123" cy="6976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90000" lvl="0" marL="90000" marR="0" rtl="0" algn="l"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1050"/>
                <a:buFont typeface="Noto Sans Symbols"/>
                <a:buChar char="▪"/>
              </a:pPr>
              <a:r>
                <a:rPr lang="en-US" sz="105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진단대상 선정</a:t>
              </a:r>
              <a:endParaRPr/>
            </a:p>
            <a:p>
              <a:pPr indent="-90000" lvl="0" marL="90000" marR="0" rtl="0" algn="l">
                <a:spcBef>
                  <a:spcPts val="200"/>
                </a:spcBef>
                <a:spcAft>
                  <a:spcPts val="0"/>
                </a:spcAft>
                <a:buClr>
                  <a:srgbClr val="7F7F7F"/>
                </a:buClr>
                <a:buSzPts val="1050"/>
                <a:buFont typeface="Noto Sans Symbols"/>
                <a:buChar char="▪"/>
              </a:pPr>
              <a:r>
                <a:rPr lang="en-US" sz="105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세부진단기간 협의</a:t>
              </a:r>
              <a:endParaRPr/>
            </a:p>
            <a:p>
              <a:pPr indent="-90000" lvl="0" marL="90000" marR="0" rtl="0" algn="l">
                <a:spcBef>
                  <a:spcPts val="200"/>
                </a:spcBef>
                <a:spcAft>
                  <a:spcPts val="0"/>
                </a:spcAft>
                <a:buClr>
                  <a:srgbClr val="7F7F7F"/>
                </a:buClr>
                <a:buSzPts val="1050"/>
                <a:buFont typeface="Noto Sans Symbols"/>
                <a:buChar char="▪"/>
              </a:pPr>
              <a:r>
                <a:rPr lang="en-US" sz="105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[산출물] 취약점진단 수행계획서</a:t>
              </a:r>
              <a:endParaRPr sz="105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340" name="Google Shape;2340;p42"/>
            <p:cNvSpPr/>
            <p:nvPr/>
          </p:nvSpPr>
          <p:spPr>
            <a:xfrm>
              <a:off x="2330896" y="5229286"/>
              <a:ext cx="1549123" cy="8592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90000" lvl="0" marL="90000" marR="0" rtl="0" algn="l"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1050"/>
                <a:buFont typeface="Noto Sans Symbols"/>
                <a:buChar char="▪"/>
              </a:pPr>
              <a:r>
                <a:rPr lang="en-US" sz="105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자동화도구를 이용 </a:t>
              </a:r>
              <a:br>
                <a:rPr lang="en-US" sz="105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en-US" sz="105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1차 진단</a:t>
              </a:r>
              <a:endParaRPr/>
            </a:p>
            <a:p>
              <a:pPr indent="-90000" lvl="0" marL="90000" marR="0" rtl="0" algn="l">
                <a:spcBef>
                  <a:spcPts val="200"/>
                </a:spcBef>
                <a:spcAft>
                  <a:spcPts val="0"/>
                </a:spcAft>
                <a:buClr>
                  <a:srgbClr val="7F7F7F"/>
                </a:buClr>
                <a:buSzPts val="1050"/>
                <a:buFont typeface="Noto Sans Symbols"/>
                <a:buChar char="▪"/>
              </a:pPr>
              <a:r>
                <a:rPr lang="en-US" sz="105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수동점검을 통한 2차 진단</a:t>
              </a:r>
              <a:endParaRPr/>
            </a:p>
            <a:p>
              <a:pPr indent="-90000" lvl="0" marL="90000" marR="0" rtl="0" algn="l">
                <a:spcBef>
                  <a:spcPts val="200"/>
                </a:spcBef>
                <a:spcAft>
                  <a:spcPts val="0"/>
                </a:spcAft>
                <a:buClr>
                  <a:srgbClr val="7F7F7F"/>
                </a:buClr>
                <a:buSzPts val="1050"/>
                <a:buFont typeface="Noto Sans Symbols"/>
                <a:buChar char="▪"/>
              </a:pPr>
              <a:r>
                <a:rPr lang="en-US" sz="105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취약점도출 항목 담당자 인터뷰</a:t>
              </a:r>
              <a:endParaRPr/>
            </a:p>
          </p:txBody>
        </p:sp>
        <p:sp>
          <p:nvSpPr>
            <p:cNvPr id="2341" name="Google Shape;2341;p42"/>
            <p:cNvSpPr/>
            <p:nvPr/>
          </p:nvSpPr>
          <p:spPr>
            <a:xfrm>
              <a:off x="4132877" y="5229286"/>
              <a:ext cx="1549123" cy="8848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90000" lvl="0" marL="90000" marR="0" rtl="0" algn="l"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1050"/>
                <a:buFont typeface="Noto Sans Symbols"/>
                <a:buChar char="▪"/>
              </a:pPr>
              <a:r>
                <a:rPr lang="en-US" sz="105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취약점도출</a:t>
              </a:r>
              <a:endParaRPr sz="105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-90000" lvl="0" marL="90000" marR="0" rtl="0" algn="l">
                <a:spcBef>
                  <a:spcPts val="200"/>
                </a:spcBef>
                <a:spcAft>
                  <a:spcPts val="0"/>
                </a:spcAft>
                <a:buClr>
                  <a:srgbClr val="7F7F7F"/>
                </a:buClr>
                <a:buSzPts val="1050"/>
                <a:buFont typeface="Noto Sans Symbols"/>
                <a:buChar char="▪"/>
              </a:pPr>
              <a:r>
                <a:rPr lang="en-US" sz="105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최초점검보고서 작성</a:t>
              </a:r>
              <a:endParaRPr/>
            </a:p>
            <a:p>
              <a:pPr indent="-90000" lvl="0" marL="90000" marR="0" rtl="0" algn="l">
                <a:spcBef>
                  <a:spcPts val="200"/>
                </a:spcBef>
                <a:spcAft>
                  <a:spcPts val="0"/>
                </a:spcAft>
                <a:buClr>
                  <a:srgbClr val="7F7F7F"/>
                </a:buClr>
                <a:buSzPts val="1050"/>
                <a:buFont typeface="Noto Sans Symbols"/>
                <a:buChar char="▪"/>
              </a:pPr>
              <a:r>
                <a:rPr lang="en-US" sz="105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[산출물] 최초점검 결과보고서 </a:t>
              </a:r>
              <a:endParaRPr/>
            </a:p>
            <a:p>
              <a:pPr indent="-90000" lvl="0" marL="90000" marR="0" rtl="0" algn="l">
                <a:spcBef>
                  <a:spcPts val="200"/>
                </a:spcBef>
                <a:spcAft>
                  <a:spcPts val="0"/>
                </a:spcAft>
                <a:buClr>
                  <a:srgbClr val="7F7F7F"/>
                </a:buClr>
                <a:buSzPts val="1050"/>
                <a:buFont typeface="Noto Sans Symbols"/>
                <a:buChar char="▪"/>
              </a:pPr>
              <a:r>
                <a:rPr lang="en-US" sz="105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[산출물] 보안권고안</a:t>
              </a:r>
              <a:endParaRPr sz="105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342" name="Google Shape;2342;p42"/>
            <p:cNvSpPr/>
            <p:nvPr/>
          </p:nvSpPr>
          <p:spPr>
            <a:xfrm>
              <a:off x="5934858" y="5229286"/>
              <a:ext cx="1549123" cy="9570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90000" lvl="0" marL="90000" marR="0" rtl="0" algn="l"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1050"/>
                <a:buFont typeface="Noto Sans Symbols"/>
                <a:buChar char="▪"/>
              </a:pPr>
              <a:r>
                <a:rPr lang="en-US" sz="105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위험 평가</a:t>
              </a:r>
              <a:endParaRPr/>
            </a:p>
            <a:p>
              <a:pPr indent="-90000" lvl="0" marL="90000" marR="0" rtl="0" algn="l">
                <a:spcBef>
                  <a:spcPts val="200"/>
                </a:spcBef>
                <a:spcAft>
                  <a:spcPts val="0"/>
                </a:spcAft>
                <a:buClr>
                  <a:srgbClr val="7F7F7F"/>
                </a:buClr>
                <a:buSzPts val="1050"/>
                <a:buFont typeface="Noto Sans Symbols"/>
                <a:buChar char="▪"/>
              </a:pPr>
              <a:r>
                <a:rPr lang="en-US" sz="105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도출된 취약점 </a:t>
              </a:r>
              <a:br>
                <a:rPr lang="en-US" sz="105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en-US" sz="105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대응방안 수립</a:t>
              </a:r>
              <a:endParaRPr/>
            </a:p>
            <a:p>
              <a:pPr indent="-90000" lvl="0" marL="90000" marR="0" rtl="0" algn="l">
                <a:spcBef>
                  <a:spcPts val="200"/>
                </a:spcBef>
                <a:spcAft>
                  <a:spcPts val="0"/>
                </a:spcAft>
                <a:buClr>
                  <a:srgbClr val="7F7F7F"/>
                </a:buClr>
                <a:buSzPts val="1050"/>
                <a:buFont typeface="Noto Sans Symbols"/>
                <a:buChar char="▪"/>
              </a:pPr>
              <a:r>
                <a:rPr lang="en-US" sz="105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[산출물] 위험평가 결과보고서</a:t>
              </a:r>
              <a:endParaRPr/>
            </a:p>
          </p:txBody>
        </p:sp>
        <p:sp>
          <p:nvSpPr>
            <p:cNvPr id="2343" name="Google Shape;2343;p42"/>
            <p:cNvSpPr/>
            <p:nvPr/>
          </p:nvSpPr>
          <p:spPr>
            <a:xfrm>
              <a:off x="7736839" y="5229286"/>
              <a:ext cx="1549123" cy="6976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90000" lvl="0" marL="90000" marR="0" rtl="0" algn="l"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1050"/>
                <a:buFont typeface="Noto Sans Symbols"/>
                <a:buChar char="▪"/>
              </a:pPr>
              <a:r>
                <a:rPr lang="en-US" sz="105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이행점검 수행</a:t>
              </a:r>
              <a:endParaRPr/>
            </a:p>
            <a:p>
              <a:pPr indent="-90000" lvl="0" marL="90000" marR="0" rtl="0" algn="l">
                <a:spcBef>
                  <a:spcPts val="200"/>
                </a:spcBef>
                <a:spcAft>
                  <a:spcPts val="0"/>
                </a:spcAft>
                <a:buClr>
                  <a:srgbClr val="7F7F7F"/>
                </a:buClr>
                <a:buSzPts val="1050"/>
                <a:buFont typeface="Noto Sans Symbols"/>
                <a:buChar char="▪"/>
              </a:pPr>
              <a:r>
                <a:rPr lang="en-US" sz="105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이행점검보고서 작성</a:t>
              </a:r>
              <a:endParaRPr/>
            </a:p>
            <a:p>
              <a:pPr indent="-90000" lvl="0" marL="90000" marR="0" rtl="0" algn="l">
                <a:spcBef>
                  <a:spcPts val="200"/>
                </a:spcBef>
                <a:spcAft>
                  <a:spcPts val="0"/>
                </a:spcAft>
                <a:buClr>
                  <a:srgbClr val="7F7F7F"/>
                </a:buClr>
                <a:buSzPts val="1050"/>
                <a:buFont typeface="Noto Sans Symbols"/>
                <a:buChar char="▪"/>
              </a:pPr>
              <a:r>
                <a:rPr lang="en-US" sz="105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[산출물] 이행점검 결과보고서</a:t>
              </a:r>
              <a:endParaRPr/>
            </a:p>
          </p:txBody>
        </p:sp>
        <p:sp>
          <p:nvSpPr>
            <p:cNvPr id="2344" name="Google Shape;2344;p42"/>
            <p:cNvSpPr/>
            <p:nvPr/>
          </p:nvSpPr>
          <p:spPr>
            <a:xfrm>
              <a:off x="493733" y="2440912"/>
              <a:ext cx="1506711" cy="389391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5400">
              <a:solidFill>
                <a:srgbClr val="CBCAC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725" lIns="36725" spcFirstLastPara="1" rIns="36725" wrap="square" tIns="36725">
              <a:noAutofit/>
            </a:bodyPr>
            <a:lstStyle/>
            <a:p>
              <a:pPr indent="0" lvl="1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취약점 진단</a:t>
              </a:r>
              <a:br>
                <a:rPr b="0" i="0" lang="en-US" sz="1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0" i="0" lang="en-US" sz="1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수행일정 협의</a:t>
              </a:r>
              <a:endParaRPr/>
            </a:p>
          </p:txBody>
        </p:sp>
        <p:sp>
          <p:nvSpPr>
            <p:cNvPr id="2345" name="Google Shape;2345;p42"/>
            <p:cNvSpPr/>
            <p:nvPr/>
          </p:nvSpPr>
          <p:spPr>
            <a:xfrm>
              <a:off x="493733" y="3100295"/>
              <a:ext cx="1506711" cy="389391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5400">
              <a:solidFill>
                <a:srgbClr val="CBCAC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725" lIns="36725" spcFirstLastPara="1" rIns="36725" wrap="square" tIns="36725">
              <a:noAutofit/>
            </a:bodyPr>
            <a:lstStyle/>
            <a:p>
              <a:pPr indent="0" lvl="1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취약점 진단</a:t>
              </a:r>
              <a:br>
                <a:rPr b="0" i="0" lang="en-US" sz="1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0" i="0" lang="en-US" sz="1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항목 선정</a:t>
              </a:r>
              <a:endParaRPr/>
            </a:p>
          </p:txBody>
        </p:sp>
        <p:sp>
          <p:nvSpPr>
            <p:cNvPr id="2346" name="Google Shape;2346;p42"/>
            <p:cNvSpPr/>
            <p:nvPr/>
          </p:nvSpPr>
          <p:spPr>
            <a:xfrm>
              <a:off x="493733" y="3759677"/>
              <a:ext cx="1506711" cy="389391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5400">
              <a:solidFill>
                <a:srgbClr val="CBCAC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725" lIns="36725" spcFirstLastPara="1" rIns="36725" wrap="square" tIns="36725">
              <a:noAutofit/>
            </a:bodyPr>
            <a:lstStyle/>
            <a:p>
              <a:pPr indent="0" lvl="1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취약점 진단</a:t>
              </a:r>
              <a:br>
                <a:rPr b="0" i="0" lang="en-US" sz="1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0" i="0" lang="en-US" sz="1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수행대상 선정</a:t>
              </a:r>
              <a:endParaRPr/>
            </a:p>
          </p:txBody>
        </p:sp>
        <p:sp>
          <p:nvSpPr>
            <p:cNvPr id="2347" name="Google Shape;2347;p42"/>
            <p:cNvSpPr/>
            <p:nvPr/>
          </p:nvSpPr>
          <p:spPr>
            <a:xfrm>
              <a:off x="493733" y="4419061"/>
              <a:ext cx="1506711" cy="389391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5400">
              <a:solidFill>
                <a:srgbClr val="CBCAC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725" lIns="36725" spcFirstLastPara="1" rIns="36725" wrap="square" tIns="36725">
              <a:noAutofit/>
            </a:bodyPr>
            <a:lstStyle/>
            <a:p>
              <a:pPr indent="0" lvl="1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취약점 진단</a:t>
              </a:r>
              <a:br>
                <a:rPr b="0" i="0" lang="en-US" sz="1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0" i="0" lang="en-US" sz="1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수행계획서 작성</a:t>
              </a:r>
              <a:endParaRPr/>
            </a:p>
          </p:txBody>
        </p:sp>
        <p:cxnSp>
          <p:nvCxnSpPr>
            <p:cNvPr id="2348" name="Google Shape;2348;p42"/>
            <p:cNvCxnSpPr>
              <a:stCxn id="2344" idx="2"/>
              <a:endCxn id="2345" idx="0"/>
            </p:cNvCxnSpPr>
            <p:nvPr/>
          </p:nvCxnSpPr>
          <p:spPr>
            <a:xfrm>
              <a:off x="1247089" y="2830303"/>
              <a:ext cx="0" cy="270000"/>
            </a:xfrm>
            <a:prstGeom prst="straightConnector1">
              <a:avLst/>
            </a:prstGeom>
            <a:solidFill>
              <a:schemeClr val="lt1"/>
            </a:solidFill>
            <a:ln cap="flat" cmpd="sng" w="9525">
              <a:solidFill>
                <a:srgbClr val="A3AEBD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2349" name="Google Shape;2349;p42"/>
            <p:cNvCxnSpPr>
              <a:stCxn id="2345" idx="2"/>
              <a:endCxn id="2346" idx="0"/>
            </p:cNvCxnSpPr>
            <p:nvPr/>
          </p:nvCxnSpPr>
          <p:spPr>
            <a:xfrm>
              <a:off x="1247089" y="3489686"/>
              <a:ext cx="0" cy="270000"/>
            </a:xfrm>
            <a:prstGeom prst="straightConnector1">
              <a:avLst/>
            </a:prstGeom>
            <a:solidFill>
              <a:schemeClr val="lt1"/>
            </a:solidFill>
            <a:ln cap="flat" cmpd="sng" w="9525">
              <a:solidFill>
                <a:srgbClr val="A3AEBD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2350" name="Google Shape;2350;p42"/>
            <p:cNvCxnSpPr>
              <a:stCxn id="2346" idx="2"/>
              <a:endCxn id="2347" idx="0"/>
            </p:cNvCxnSpPr>
            <p:nvPr/>
          </p:nvCxnSpPr>
          <p:spPr>
            <a:xfrm>
              <a:off x="1247089" y="4149068"/>
              <a:ext cx="0" cy="270000"/>
            </a:xfrm>
            <a:prstGeom prst="straightConnector1">
              <a:avLst/>
            </a:prstGeom>
            <a:solidFill>
              <a:schemeClr val="lt1"/>
            </a:solidFill>
            <a:ln cap="flat" cmpd="sng" w="9525">
              <a:solidFill>
                <a:srgbClr val="A3AEBD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sp>
          <p:nvSpPr>
            <p:cNvPr id="2351" name="Google Shape;2351;p42"/>
            <p:cNvSpPr/>
            <p:nvPr/>
          </p:nvSpPr>
          <p:spPr>
            <a:xfrm>
              <a:off x="2354075" y="2440912"/>
              <a:ext cx="1506711" cy="389391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5400">
              <a:solidFill>
                <a:srgbClr val="CBCAC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725" lIns="36725" spcFirstLastPara="1" rIns="36725" wrap="square" tIns="36725">
              <a:noAutofit/>
            </a:bodyPr>
            <a:lstStyle/>
            <a:p>
              <a:pPr indent="0" lvl="1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스크립트 배포 및</a:t>
              </a:r>
              <a:br>
                <a:rPr b="0" i="0" lang="en-US" sz="1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0" i="0" lang="en-US" sz="1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Raw Data 수집</a:t>
              </a:r>
              <a:endParaRPr/>
            </a:p>
          </p:txBody>
        </p:sp>
        <p:sp>
          <p:nvSpPr>
            <p:cNvPr id="2352" name="Google Shape;2352;p42"/>
            <p:cNvSpPr/>
            <p:nvPr/>
          </p:nvSpPr>
          <p:spPr>
            <a:xfrm>
              <a:off x="2354075" y="3100295"/>
              <a:ext cx="1506711" cy="389391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5400">
              <a:solidFill>
                <a:srgbClr val="CBCAC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725" lIns="36725" spcFirstLastPara="1" rIns="36725" wrap="square" tIns="36725">
              <a:noAutofit/>
            </a:bodyPr>
            <a:lstStyle/>
            <a:p>
              <a:pPr indent="0" lvl="1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수동점검 수행</a:t>
              </a:r>
              <a:endParaRPr/>
            </a:p>
          </p:txBody>
        </p:sp>
        <p:sp>
          <p:nvSpPr>
            <p:cNvPr id="2353" name="Google Shape;2353;p42"/>
            <p:cNvSpPr/>
            <p:nvPr/>
          </p:nvSpPr>
          <p:spPr>
            <a:xfrm>
              <a:off x="2354075" y="3759677"/>
              <a:ext cx="1506711" cy="389391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5400">
              <a:solidFill>
                <a:srgbClr val="CBCAC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725" lIns="36725" spcFirstLastPara="1" rIns="36725" wrap="square" tIns="36725">
              <a:noAutofit/>
            </a:bodyPr>
            <a:lstStyle/>
            <a:p>
              <a:pPr indent="0" lvl="1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보안질문지 요청</a:t>
              </a:r>
              <a:endParaRPr/>
            </a:p>
          </p:txBody>
        </p:sp>
        <p:sp>
          <p:nvSpPr>
            <p:cNvPr id="2354" name="Google Shape;2354;p42"/>
            <p:cNvSpPr/>
            <p:nvPr/>
          </p:nvSpPr>
          <p:spPr>
            <a:xfrm>
              <a:off x="2354075" y="4419061"/>
              <a:ext cx="1506711" cy="389391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5400">
              <a:solidFill>
                <a:srgbClr val="CBCAC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725" lIns="36725" spcFirstLastPara="1" rIns="36725" wrap="square" tIns="36725">
              <a:noAutofit/>
            </a:bodyPr>
            <a:lstStyle/>
            <a:p>
              <a:pPr indent="0" lvl="1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인터뷰 수행</a:t>
              </a:r>
              <a:endParaRPr/>
            </a:p>
          </p:txBody>
        </p:sp>
        <p:cxnSp>
          <p:nvCxnSpPr>
            <p:cNvPr id="2355" name="Google Shape;2355;p42"/>
            <p:cNvCxnSpPr>
              <a:stCxn id="2351" idx="2"/>
              <a:endCxn id="2352" idx="0"/>
            </p:cNvCxnSpPr>
            <p:nvPr/>
          </p:nvCxnSpPr>
          <p:spPr>
            <a:xfrm>
              <a:off x="3107431" y="2830303"/>
              <a:ext cx="0" cy="270000"/>
            </a:xfrm>
            <a:prstGeom prst="straightConnector1">
              <a:avLst/>
            </a:prstGeom>
            <a:solidFill>
              <a:schemeClr val="lt1"/>
            </a:solidFill>
            <a:ln cap="flat" cmpd="sng" w="9525">
              <a:solidFill>
                <a:srgbClr val="A3AEBD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2356" name="Google Shape;2356;p42"/>
            <p:cNvCxnSpPr>
              <a:stCxn id="2352" idx="2"/>
              <a:endCxn id="2353" idx="0"/>
            </p:cNvCxnSpPr>
            <p:nvPr/>
          </p:nvCxnSpPr>
          <p:spPr>
            <a:xfrm>
              <a:off x="3107431" y="3489686"/>
              <a:ext cx="0" cy="270000"/>
            </a:xfrm>
            <a:prstGeom prst="straightConnector1">
              <a:avLst/>
            </a:prstGeom>
            <a:solidFill>
              <a:schemeClr val="lt1"/>
            </a:solidFill>
            <a:ln cap="flat" cmpd="sng" w="9525">
              <a:solidFill>
                <a:srgbClr val="A3AEBD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2357" name="Google Shape;2357;p42"/>
            <p:cNvCxnSpPr>
              <a:stCxn id="2353" idx="2"/>
              <a:endCxn id="2354" idx="0"/>
            </p:cNvCxnSpPr>
            <p:nvPr/>
          </p:nvCxnSpPr>
          <p:spPr>
            <a:xfrm>
              <a:off x="3107431" y="4149068"/>
              <a:ext cx="0" cy="270000"/>
            </a:xfrm>
            <a:prstGeom prst="straightConnector1">
              <a:avLst/>
            </a:prstGeom>
            <a:solidFill>
              <a:schemeClr val="lt1"/>
            </a:solidFill>
            <a:ln cap="flat" cmpd="sng" w="9525">
              <a:solidFill>
                <a:srgbClr val="A3AEBD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sp>
          <p:nvSpPr>
            <p:cNvPr id="2358" name="Google Shape;2358;p42"/>
            <p:cNvSpPr/>
            <p:nvPr/>
          </p:nvSpPr>
          <p:spPr>
            <a:xfrm>
              <a:off x="4163130" y="2440912"/>
              <a:ext cx="1506711" cy="389391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5400">
              <a:solidFill>
                <a:srgbClr val="CBCAC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725" lIns="36725" spcFirstLastPara="1" rIns="36725" wrap="square" tIns="36725">
              <a:noAutofit/>
            </a:bodyPr>
            <a:lstStyle/>
            <a:p>
              <a:pPr indent="0" lvl="1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도출취약점 식별</a:t>
              </a:r>
              <a:endParaRPr/>
            </a:p>
          </p:txBody>
        </p:sp>
        <p:sp>
          <p:nvSpPr>
            <p:cNvPr id="2359" name="Google Shape;2359;p42"/>
            <p:cNvSpPr/>
            <p:nvPr/>
          </p:nvSpPr>
          <p:spPr>
            <a:xfrm>
              <a:off x="4163130" y="3429987"/>
              <a:ext cx="1506711" cy="389391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5400">
              <a:solidFill>
                <a:srgbClr val="CBCAC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725" lIns="36725" spcFirstLastPara="1" rIns="36725" wrap="square" tIns="36725">
              <a:noAutofit/>
            </a:bodyPr>
            <a:lstStyle/>
            <a:p>
              <a:pPr indent="0" lvl="1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도출취약점 목록화</a:t>
              </a:r>
              <a:endParaRPr/>
            </a:p>
          </p:txBody>
        </p:sp>
        <p:sp>
          <p:nvSpPr>
            <p:cNvPr id="2360" name="Google Shape;2360;p42"/>
            <p:cNvSpPr/>
            <p:nvPr/>
          </p:nvSpPr>
          <p:spPr>
            <a:xfrm>
              <a:off x="4163130" y="4419061"/>
              <a:ext cx="1506711" cy="389391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5400">
              <a:solidFill>
                <a:srgbClr val="CBCAC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725" lIns="36725" spcFirstLastPara="1" rIns="36725" wrap="square" tIns="36725">
              <a:noAutofit/>
            </a:bodyPr>
            <a:lstStyle/>
            <a:p>
              <a:pPr indent="0" lvl="1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최초점검</a:t>
              </a:r>
              <a:br>
                <a:rPr b="0" i="0" lang="en-US" sz="1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0" i="0" lang="en-US" sz="1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결과보고서 작성</a:t>
              </a:r>
              <a:endParaRPr/>
            </a:p>
          </p:txBody>
        </p:sp>
        <p:cxnSp>
          <p:nvCxnSpPr>
            <p:cNvPr id="2361" name="Google Shape;2361;p42"/>
            <p:cNvCxnSpPr>
              <a:stCxn id="2358" idx="2"/>
              <a:endCxn id="2359" idx="0"/>
            </p:cNvCxnSpPr>
            <p:nvPr/>
          </p:nvCxnSpPr>
          <p:spPr>
            <a:xfrm>
              <a:off x="4916486" y="2830303"/>
              <a:ext cx="0" cy="599700"/>
            </a:xfrm>
            <a:prstGeom prst="straightConnector1">
              <a:avLst/>
            </a:prstGeom>
            <a:solidFill>
              <a:schemeClr val="lt1"/>
            </a:solidFill>
            <a:ln cap="flat" cmpd="sng" w="9525">
              <a:solidFill>
                <a:srgbClr val="A3AEBD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2362" name="Google Shape;2362;p42"/>
            <p:cNvCxnSpPr>
              <a:stCxn id="2359" idx="2"/>
              <a:endCxn id="2360" idx="0"/>
            </p:cNvCxnSpPr>
            <p:nvPr/>
          </p:nvCxnSpPr>
          <p:spPr>
            <a:xfrm>
              <a:off x="4916486" y="3819378"/>
              <a:ext cx="0" cy="599700"/>
            </a:xfrm>
            <a:prstGeom prst="straightConnector1">
              <a:avLst/>
            </a:prstGeom>
            <a:solidFill>
              <a:schemeClr val="lt1"/>
            </a:solidFill>
            <a:ln cap="flat" cmpd="sng" w="9525">
              <a:solidFill>
                <a:srgbClr val="A3AEBD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sp>
          <p:nvSpPr>
            <p:cNvPr id="2363" name="Google Shape;2363;p42"/>
            <p:cNvSpPr/>
            <p:nvPr/>
          </p:nvSpPr>
          <p:spPr>
            <a:xfrm>
              <a:off x="5972186" y="2440912"/>
              <a:ext cx="1506711" cy="389391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5400">
              <a:solidFill>
                <a:srgbClr val="CBCAC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725" lIns="36725" spcFirstLastPara="1" rIns="36725" wrap="square" tIns="36725">
              <a:noAutofit/>
            </a:bodyPr>
            <a:lstStyle/>
            <a:p>
              <a:pPr indent="0" lvl="1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위험 식별</a:t>
              </a:r>
              <a:endParaRPr/>
            </a:p>
          </p:txBody>
        </p:sp>
        <p:sp>
          <p:nvSpPr>
            <p:cNvPr id="2364" name="Google Shape;2364;p42"/>
            <p:cNvSpPr/>
            <p:nvPr/>
          </p:nvSpPr>
          <p:spPr>
            <a:xfrm>
              <a:off x="5972186" y="3100295"/>
              <a:ext cx="1506711" cy="389391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5400">
              <a:solidFill>
                <a:srgbClr val="CBCAC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725" lIns="36725" spcFirstLastPara="1" rIns="36725" wrap="square" tIns="36725">
              <a:noAutofit/>
            </a:bodyPr>
            <a:lstStyle/>
            <a:p>
              <a:pPr indent="0" lvl="1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위험 평가</a:t>
              </a:r>
              <a:endParaRPr/>
            </a:p>
          </p:txBody>
        </p:sp>
        <p:sp>
          <p:nvSpPr>
            <p:cNvPr id="2365" name="Google Shape;2365;p42"/>
            <p:cNvSpPr/>
            <p:nvPr/>
          </p:nvSpPr>
          <p:spPr>
            <a:xfrm>
              <a:off x="5972186" y="3759677"/>
              <a:ext cx="1506711" cy="389391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5400">
              <a:solidFill>
                <a:srgbClr val="CBCAC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725" lIns="36725" spcFirstLastPara="1" rIns="36725" wrap="square" tIns="36725">
              <a:noAutofit/>
            </a:bodyPr>
            <a:lstStyle/>
            <a:p>
              <a:pPr indent="0" lvl="1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대응방안 수립</a:t>
              </a:r>
              <a:endParaRPr/>
            </a:p>
          </p:txBody>
        </p:sp>
        <p:sp>
          <p:nvSpPr>
            <p:cNvPr id="2366" name="Google Shape;2366;p42"/>
            <p:cNvSpPr/>
            <p:nvPr/>
          </p:nvSpPr>
          <p:spPr>
            <a:xfrm>
              <a:off x="5972186" y="4419061"/>
              <a:ext cx="1506711" cy="389391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5400">
              <a:solidFill>
                <a:srgbClr val="CBCAC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725" lIns="36725" spcFirstLastPara="1" rIns="36725" wrap="square" tIns="36725">
              <a:noAutofit/>
            </a:bodyPr>
            <a:lstStyle/>
            <a:p>
              <a:pPr indent="0" lvl="1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위험 평가</a:t>
              </a:r>
              <a:br>
                <a:rPr b="0" i="0" lang="en-US" sz="1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0" i="0" lang="en-US" sz="1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결과보고서 작성</a:t>
              </a:r>
              <a:endParaRPr/>
            </a:p>
          </p:txBody>
        </p:sp>
        <p:cxnSp>
          <p:nvCxnSpPr>
            <p:cNvPr id="2367" name="Google Shape;2367;p42"/>
            <p:cNvCxnSpPr>
              <a:stCxn id="2363" idx="2"/>
              <a:endCxn id="2364" idx="0"/>
            </p:cNvCxnSpPr>
            <p:nvPr/>
          </p:nvCxnSpPr>
          <p:spPr>
            <a:xfrm>
              <a:off x="6725541" y="2830303"/>
              <a:ext cx="0" cy="270000"/>
            </a:xfrm>
            <a:prstGeom prst="straightConnector1">
              <a:avLst/>
            </a:prstGeom>
            <a:solidFill>
              <a:schemeClr val="lt1"/>
            </a:solidFill>
            <a:ln cap="flat" cmpd="sng" w="9525">
              <a:solidFill>
                <a:srgbClr val="A3AEBD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2368" name="Google Shape;2368;p42"/>
            <p:cNvCxnSpPr>
              <a:stCxn id="2364" idx="2"/>
              <a:endCxn id="2365" idx="0"/>
            </p:cNvCxnSpPr>
            <p:nvPr/>
          </p:nvCxnSpPr>
          <p:spPr>
            <a:xfrm>
              <a:off x="6725541" y="3489686"/>
              <a:ext cx="0" cy="270000"/>
            </a:xfrm>
            <a:prstGeom prst="straightConnector1">
              <a:avLst/>
            </a:prstGeom>
            <a:solidFill>
              <a:schemeClr val="lt1"/>
            </a:solidFill>
            <a:ln cap="flat" cmpd="sng" w="9525">
              <a:solidFill>
                <a:srgbClr val="A3AEBD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2369" name="Google Shape;2369;p42"/>
            <p:cNvCxnSpPr>
              <a:stCxn id="2365" idx="2"/>
              <a:endCxn id="2366" idx="0"/>
            </p:cNvCxnSpPr>
            <p:nvPr/>
          </p:nvCxnSpPr>
          <p:spPr>
            <a:xfrm>
              <a:off x="6725541" y="4149068"/>
              <a:ext cx="0" cy="270000"/>
            </a:xfrm>
            <a:prstGeom prst="straightConnector1">
              <a:avLst/>
            </a:prstGeom>
            <a:solidFill>
              <a:schemeClr val="lt1"/>
            </a:solidFill>
            <a:ln cap="flat" cmpd="sng" w="9525">
              <a:solidFill>
                <a:srgbClr val="A3AEBD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sp>
          <p:nvSpPr>
            <p:cNvPr id="2370" name="Google Shape;2370;p42"/>
            <p:cNvSpPr/>
            <p:nvPr/>
          </p:nvSpPr>
          <p:spPr>
            <a:xfrm>
              <a:off x="7781243" y="2440912"/>
              <a:ext cx="1506711" cy="389391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5400">
              <a:solidFill>
                <a:srgbClr val="CBCAC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725" lIns="36725" spcFirstLastPara="1" rIns="36725" wrap="square" tIns="36725">
              <a:noAutofit/>
            </a:bodyPr>
            <a:lstStyle/>
            <a:p>
              <a:pPr indent="0" lvl="1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이행점검 수행</a:t>
              </a:r>
              <a:endParaRPr/>
            </a:p>
          </p:txBody>
        </p:sp>
        <p:sp>
          <p:nvSpPr>
            <p:cNvPr id="2371" name="Google Shape;2371;p42"/>
            <p:cNvSpPr/>
            <p:nvPr/>
          </p:nvSpPr>
          <p:spPr>
            <a:xfrm>
              <a:off x="7781243" y="3100295"/>
              <a:ext cx="1506711" cy="389391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5400">
              <a:solidFill>
                <a:srgbClr val="CBCAC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725" lIns="36725" spcFirstLastPara="1" rIns="36725" wrap="square" tIns="36725">
              <a:noAutofit/>
            </a:bodyPr>
            <a:lstStyle/>
            <a:p>
              <a:pPr indent="0" lvl="1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이행점검</a:t>
              </a:r>
              <a:br>
                <a:rPr b="0" i="0" lang="en-US" sz="1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0" i="0" lang="en-US" sz="1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결과보고서 작성</a:t>
              </a:r>
              <a:endParaRPr/>
            </a:p>
          </p:txBody>
        </p:sp>
        <p:sp>
          <p:nvSpPr>
            <p:cNvPr id="2372" name="Google Shape;2372;p42"/>
            <p:cNvSpPr/>
            <p:nvPr/>
          </p:nvSpPr>
          <p:spPr>
            <a:xfrm>
              <a:off x="7781243" y="3759677"/>
              <a:ext cx="1506711" cy="389391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5400">
              <a:solidFill>
                <a:srgbClr val="CBCAC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725" lIns="36725" spcFirstLastPara="1" rIns="36725" wrap="square" tIns="36725">
              <a:noAutofit/>
            </a:bodyPr>
            <a:lstStyle/>
            <a:p>
              <a:pPr indent="0" lvl="1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취약점진단 리뷰</a:t>
              </a:r>
              <a:endParaRPr/>
            </a:p>
          </p:txBody>
        </p:sp>
        <p:sp>
          <p:nvSpPr>
            <p:cNvPr id="2373" name="Google Shape;2373;p42"/>
            <p:cNvSpPr/>
            <p:nvPr/>
          </p:nvSpPr>
          <p:spPr>
            <a:xfrm>
              <a:off x="7781243" y="4419061"/>
              <a:ext cx="1506711" cy="389391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5400">
              <a:solidFill>
                <a:srgbClr val="CBCAC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725" lIns="36725" spcFirstLastPara="1" rIns="36725" wrap="square" tIns="36725">
              <a:noAutofit/>
            </a:bodyPr>
            <a:lstStyle/>
            <a:p>
              <a:pPr indent="0" lvl="1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취약점진단 종료</a:t>
              </a:r>
              <a:endParaRPr/>
            </a:p>
          </p:txBody>
        </p:sp>
        <p:cxnSp>
          <p:nvCxnSpPr>
            <p:cNvPr id="2374" name="Google Shape;2374;p42"/>
            <p:cNvCxnSpPr>
              <a:stCxn id="2370" idx="2"/>
              <a:endCxn id="2371" idx="0"/>
            </p:cNvCxnSpPr>
            <p:nvPr/>
          </p:nvCxnSpPr>
          <p:spPr>
            <a:xfrm>
              <a:off x="8534599" y="2830303"/>
              <a:ext cx="0" cy="270000"/>
            </a:xfrm>
            <a:prstGeom prst="straightConnector1">
              <a:avLst/>
            </a:prstGeom>
            <a:solidFill>
              <a:schemeClr val="lt1"/>
            </a:solidFill>
            <a:ln cap="flat" cmpd="sng" w="9525">
              <a:solidFill>
                <a:srgbClr val="A3AEBD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2375" name="Google Shape;2375;p42"/>
            <p:cNvCxnSpPr>
              <a:stCxn id="2371" idx="2"/>
              <a:endCxn id="2372" idx="0"/>
            </p:cNvCxnSpPr>
            <p:nvPr/>
          </p:nvCxnSpPr>
          <p:spPr>
            <a:xfrm>
              <a:off x="8534599" y="3489686"/>
              <a:ext cx="0" cy="270000"/>
            </a:xfrm>
            <a:prstGeom prst="straightConnector1">
              <a:avLst/>
            </a:prstGeom>
            <a:solidFill>
              <a:schemeClr val="lt1"/>
            </a:solidFill>
            <a:ln cap="flat" cmpd="sng" w="9525">
              <a:solidFill>
                <a:srgbClr val="A3AEBD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2376" name="Google Shape;2376;p42"/>
            <p:cNvCxnSpPr>
              <a:stCxn id="2372" idx="2"/>
              <a:endCxn id="2373" idx="0"/>
            </p:cNvCxnSpPr>
            <p:nvPr/>
          </p:nvCxnSpPr>
          <p:spPr>
            <a:xfrm>
              <a:off x="8534599" y="4149068"/>
              <a:ext cx="0" cy="270000"/>
            </a:xfrm>
            <a:prstGeom prst="straightConnector1">
              <a:avLst/>
            </a:prstGeom>
            <a:solidFill>
              <a:schemeClr val="lt1"/>
            </a:solidFill>
            <a:ln cap="flat" cmpd="sng" w="9525">
              <a:solidFill>
                <a:srgbClr val="A3AEBD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2377" name="Google Shape;2377;p42"/>
            <p:cNvCxnSpPr>
              <a:stCxn id="2347" idx="3"/>
              <a:endCxn id="2351" idx="1"/>
            </p:cNvCxnSpPr>
            <p:nvPr/>
          </p:nvCxnSpPr>
          <p:spPr>
            <a:xfrm flipH="1" rot="10800000">
              <a:off x="2000444" y="2635557"/>
              <a:ext cx="353700" cy="1978200"/>
            </a:xfrm>
            <a:prstGeom prst="bentConnector3">
              <a:avLst>
                <a:gd fmla="val 33674" name="adj1"/>
              </a:avLst>
            </a:prstGeom>
            <a:solidFill>
              <a:schemeClr val="lt1"/>
            </a:solidFill>
            <a:ln cap="flat" cmpd="sng" w="9525">
              <a:solidFill>
                <a:srgbClr val="A3AEBD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2378" name="Google Shape;2378;p42"/>
            <p:cNvCxnSpPr>
              <a:stCxn id="2354" idx="3"/>
              <a:endCxn id="2358" idx="1"/>
            </p:cNvCxnSpPr>
            <p:nvPr/>
          </p:nvCxnSpPr>
          <p:spPr>
            <a:xfrm flipH="1" rot="10800000">
              <a:off x="3860786" y="2635557"/>
              <a:ext cx="302400" cy="1978200"/>
            </a:xfrm>
            <a:prstGeom prst="bentConnector3">
              <a:avLst>
                <a:gd fmla="val 36984" name="adj1"/>
              </a:avLst>
            </a:prstGeom>
            <a:solidFill>
              <a:schemeClr val="lt1"/>
            </a:solidFill>
            <a:ln cap="flat" cmpd="sng" w="9525">
              <a:solidFill>
                <a:srgbClr val="A3AEBD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2379" name="Google Shape;2379;p42"/>
            <p:cNvCxnSpPr>
              <a:stCxn id="2360" idx="3"/>
              <a:endCxn id="2363" idx="1"/>
            </p:cNvCxnSpPr>
            <p:nvPr/>
          </p:nvCxnSpPr>
          <p:spPr>
            <a:xfrm flipH="1" rot="10800000">
              <a:off x="5669841" y="2635557"/>
              <a:ext cx="302400" cy="1978200"/>
            </a:xfrm>
            <a:prstGeom prst="bentConnector3">
              <a:avLst>
                <a:gd fmla="val 33741" name="adj1"/>
              </a:avLst>
            </a:prstGeom>
            <a:solidFill>
              <a:schemeClr val="lt1"/>
            </a:solidFill>
            <a:ln cap="flat" cmpd="sng" w="9525">
              <a:solidFill>
                <a:srgbClr val="A3AEBD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2380" name="Google Shape;2380;p42"/>
            <p:cNvCxnSpPr>
              <a:stCxn id="2366" idx="3"/>
              <a:endCxn id="2370" idx="1"/>
            </p:cNvCxnSpPr>
            <p:nvPr/>
          </p:nvCxnSpPr>
          <p:spPr>
            <a:xfrm flipH="1" rot="10800000">
              <a:off x="7478897" y="2635557"/>
              <a:ext cx="302400" cy="1978200"/>
            </a:xfrm>
            <a:prstGeom prst="bentConnector3">
              <a:avLst>
                <a:gd fmla="val 36072" name="adj1"/>
              </a:avLst>
            </a:prstGeom>
            <a:solidFill>
              <a:schemeClr val="lt1"/>
            </a:solidFill>
            <a:ln cap="flat" cmpd="sng" w="9525">
              <a:solidFill>
                <a:srgbClr val="A3AEBD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4" name="Shape 2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" name="Google Shape;2385;p43"/>
          <p:cNvSpPr txBox="1"/>
          <p:nvPr/>
        </p:nvSpPr>
        <p:spPr>
          <a:xfrm>
            <a:off x="417769" y="714190"/>
            <a:ext cx="8992693" cy="10590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3.3 </a:t>
            </a:r>
            <a:r>
              <a:rPr b="1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기술적 보안취약점 진단 및 조치</a:t>
            </a:r>
            <a:endParaRPr b="1"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3.3.2 정보시스템 취약점 점검</a:t>
            </a:r>
            <a:endParaRPr b="1"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운영체제 및 DBMS를 대상으로 Windows 5개 분야 83개 항목, Unix 6개 분야 78개 항목, 데이터베이스는 4개 분야 14개 항목을 점검함</a:t>
            </a:r>
            <a:endParaRPr b="0"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2386" name="Google Shape;2386;p43"/>
          <p:cNvGraphicFramePr/>
          <p:nvPr/>
        </p:nvGraphicFramePr>
        <p:xfrm>
          <a:off x="415926" y="17367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{9216E51F-281C-4444-9FEC-27A87119D8F7}</a:tableStyleId>
              </a:tblPr>
              <a:tblGrid>
                <a:gridCol w="1028350"/>
                <a:gridCol w="1934925"/>
                <a:gridCol w="4817600"/>
                <a:gridCol w="592650"/>
                <a:gridCol w="592650"/>
              </a:tblGrid>
              <a:tr h="30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FF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lang="en-US" sz="100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구분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FF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lang="en-US" sz="100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점검분야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FF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lang="en-US" sz="100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설명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FF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lang="en-US" sz="100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점검 항목수</a:t>
                      </a:r>
                      <a:endParaRPr b="1" sz="1000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 hMerge="1"/>
              </a:tr>
              <a:tr h="280800">
                <a:tc rowSpan="5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FF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lang="en-US" sz="10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Windows</a:t>
                      </a:r>
                      <a:endParaRPr b="1" sz="10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계정관리</a:t>
                      </a:r>
                      <a:endParaRPr sz="1000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-88900" lvl="0" marL="88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F7F7F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en-US" sz="100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계정의 취약한 패스워드 설정, 계정의 잠금이나 디폴트계정 설정을 점검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18</a:t>
                      </a:r>
                      <a:endParaRPr sz="1000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5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86</a:t>
                      </a:r>
                      <a:endParaRPr sz="1000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8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네트워크 서비스 관리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-88900" lvl="0" marL="88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F7F7F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en-US" sz="100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악의적 공격을 막기 위한 불필요한 서비스의 비활성화와 취약한 설정 점검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38</a:t>
                      </a:r>
                      <a:endParaRPr sz="1000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2808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보안 패치 관리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-88900" lvl="0" marL="88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F7F7F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en-US" sz="100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최신 보안 패치의 설정으로 Zero-day 공격의 대비 여부 점검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1000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2808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로그 및 보안 감사 설정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-88900" lvl="0" marL="88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F7F7F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en-US" sz="100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응용 및 시스템의 주요 로그에 대한 안전한 관리 여부 점검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1000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2808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시스템 보안 설정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-88900" lvl="0" marL="88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F7F7F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en-US" sz="100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OS 시스템의 화면보호기, 자동로그인 등 보안에 취약한 설정 점검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23</a:t>
                      </a:r>
                      <a:endParaRPr sz="1000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246150">
                <a:tc row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FF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lang="en-US" sz="10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Unix</a:t>
                      </a:r>
                      <a:endParaRPr b="1" sz="10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계정 관리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-88900" lvl="0" marL="88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F7F7F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en-US" sz="100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계정의 취약한 패스워드 설정, 계정의 잠금이나 디폴트계정 설정을 점검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15</a:t>
                      </a:r>
                      <a:endParaRPr sz="1000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78</a:t>
                      </a:r>
                      <a:endParaRPr sz="1000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8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파일 및 디렉토리 관리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-88900" lvl="0" marL="88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F7F7F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en-US" sz="100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주요 파일에 대한 소유자 및 권한 관리, 보안 설정 점검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33</a:t>
                      </a:r>
                      <a:endParaRPr sz="1000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2808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네트워크 서비스 관리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-88900" lvl="0" marL="88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F7F7F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en-US" sz="100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악의적 공격을 막기 위한 불필요한 서비스의 비활성화와 취약한 설정 점검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23</a:t>
                      </a:r>
                      <a:endParaRPr sz="1000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2808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보안 패치 관리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-88900" lvl="0" marL="88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F7F7F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en-US" sz="100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최신 보안 패치의 설정으로 Zero-day 공격의 대비 여부 점검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000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2808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로그 및 보안 감사 설정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-88900" lvl="0" marL="88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F7F7F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en-US" sz="100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응용 및 시스템의 주요 로그에 대한 안전한 관리 여부 점검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1000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2808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DB관리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-88900" lvl="0" marL="88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F7F7F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en-US" sz="100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서버에 설치된 DB의 계정, 원격 접속 여부 점검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1000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280800">
                <a:tc row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FF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lang="en-US" sz="10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데이터베이스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계정관리</a:t>
                      </a:r>
                      <a:endParaRPr sz="1000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-88900" lvl="0" marL="88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F7F7F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en-US" sz="100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DB에 접근 가능한 계정 목록의 관리와 취약한 패스워드 설정 점검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1000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14</a:t>
                      </a:r>
                      <a:endParaRPr sz="1000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8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권한 관리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-88900" lvl="0" marL="88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F7F7F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en-US" sz="100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접근 권한 별 계정 관리 점검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000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2808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보안 패치 관리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-88900" lvl="0" marL="88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F7F7F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en-US" sz="100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최신 보안 패치의 설정으로 Zero-day 공격의 대비 여부 점검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000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2808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DBMS보안 설정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-88900" lvl="0" marL="88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F7F7F"/>
                        </a:buClr>
                        <a:buSzPts val="1000"/>
                        <a:buFont typeface="Noto Sans Symbols"/>
                        <a:buChar char="▪"/>
                      </a:pPr>
                      <a:r>
                        <a:rPr lang="en-US" sz="100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DBMS를 운용에 필요한 설정의 보안 취약성 점검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1000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0" name="Shape 2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1" name="Google Shape;2391;p44"/>
          <p:cNvSpPr txBox="1"/>
          <p:nvPr/>
        </p:nvSpPr>
        <p:spPr>
          <a:xfrm>
            <a:off x="417770" y="714190"/>
            <a:ext cx="8964356" cy="926783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아키텍처 설계</a:t>
            </a:r>
            <a:endParaRPr b="1" i="0" sz="14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2.2 MDS 시스템 아키텍처 구성도</a:t>
            </a:r>
            <a:endParaRPr b="1" i="0" sz="12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사용자단말(모바일)부터 외부연계에 이르기까지 일련의 과정을 MDS 시스템을 중심으로 어플리케이션 통합뷰를 제공함</a:t>
            </a:r>
            <a:endParaRPr b="0" i="0" sz="11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92" name="Google Shape;2392;p44"/>
          <p:cNvSpPr/>
          <p:nvPr/>
        </p:nvSpPr>
        <p:spPr>
          <a:xfrm flipH="1">
            <a:off x="417769" y="1772816"/>
            <a:ext cx="5482444" cy="4608512"/>
          </a:xfrm>
          <a:prstGeom prst="corner">
            <a:avLst>
              <a:gd fmla="val 85138" name="adj1"/>
              <a:gd fmla="val 94554" name="adj2"/>
            </a:avLst>
          </a:prstGeom>
          <a:solidFill>
            <a:srgbClr val="F9F9F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</a:t>
            </a:r>
            <a:endParaRPr/>
          </a:p>
        </p:txBody>
      </p:sp>
      <p:grpSp>
        <p:nvGrpSpPr>
          <p:cNvPr id="2393" name="Google Shape;2393;p44"/>
          <p:cNvGrpSpPr/>
          <p:nvPr/>
        </p:nvGrpSpPr>
        <p:grpSpPr>
          <a:xfrm>
            <a:off x="530025" y="2661787"/>
            <a:ext cx="1061734" cy="1708445"/>
            <a:chOff x="553731" y="2789043"/>
            <a:chExt cx="1061734" cy="1608908"/>
          </a:xfrm>
        </p:grpSpPr>
        <p:sp>
          <p:nvSpPr>
            <p:cNvPr id="2394" name="Google Shape;2394;p44"/>
            <p:cNvSpPr/>
            <p:nvPr/>
          </p:nvSpPr>
          <p:spPr>
            <a:xfrm>
              <a:off x="553731" y="2789043"/>
              <a:ext cx="1061734" cy="1608908"/>
            </a:xfrm>
            <a:prstGeom prst="rect">
              <a:avLst/>
            </a:prstGeom>
            <a:solidFill>
              <a:srgbClr val="EAEAEA"/>
            </a:solidFill>
            <a:ln cap="flat" cmpd="sng" w="9525">
              <a:solidFill>
                <a:srgbClr val="D8D8D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MDS WEB</a:t>
              </a:r>
              <a:endParaRPr/>
            </a:p>
          </p:txBody>
        </p:sp>
        <p:grpSp>
          <p:nvGrpSpPr>
            <p:cNvPr id="2395" name="Google Shape;2395;p44"/>
            <p:cNvGrpSpPr/>
            <p:nvPr/>
          </p:nvGrpSpPr>
          <p:grpSpPr>
            <a:xfrm>
              <a:off x="605584" y="3040524"/>
              <a:ext cx="960731" cy="1278908"/>
              <a:chOff x="3986931" y="3032578"/>
              <a:chExt cx="464895" cy="1536795"/>
            </a:xfrm>
          </p:grpSpPr>
          <p:sp>
            <p:nvSpPr>
              <p:cNvPr id="2396" name="Google Shape;2396;p44"/>
              <p:cNvSpPr/>
              <p:nvPr/>
            </p:nvSpPr>
            <p:spPr>
              <a:xfrm>
                <a:off x="3986931" y="3032578"/>
                <a:ext cx="464895" cy="1536795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rgbClr val="BFBFB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36000">
                <a:noAutofit/>
              </a:bodyPr>
              <a:lstStyle/>
              <a:p>
                <a:pPr indent="0" lvl="0" marL="0" marR="0" rtl="0" algn="ctr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웹자원</a:t>
                </a:r>
                <a:endParaRPr sz="800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397" name="Google Shape;2397;p44"/>
              <p:cNvSpPr/>
              <p:nvPr/>
            </p:nvSpPr>
            <p:spPr>
              <a:xfrm>
                <a:off x="4039378" y="3258277"/>
                <a:ext cx="360000" cy="1980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70707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36000" lIns="36000" spcFirstLastPara="1" rIns="36000" wrap="square" tIns="36000">
                <a:noAutofit/>
              </a:bodyPr>
              <a:lstStyle/>
              <a:p>
                <a:pPr indent="0" lvl="1" marL="1588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SSL</a:t>
                </a:r>
                <a:endParaRPr/>
              </a:p>
            </p:txBody>
          </p:sp>
          <p:sp>
            <p:nvSpPr>
              <p:cNvPr id="2398" name="Google Shape;2398;p44"/>
              <p:cNvSpPr/>
              <p:nvPr/>
            </p:nvSpPr>
            <p:spPr>
              <a:xfrm>
                <a:off x="4039378" y="3527219"/>
                <a:ext cx="360000" cy="1980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70707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36000" lIns="36000" spcFirstLastPara="1" rIns="36000" wrap="square" tIns="36000">
                <a:noAutofit/>
              </a:bodyPr>
              <a:lstStyle/>
              <a:p>
                <a:pPr indent="0" lvl="1" marL="1588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Image</a:t>
                </a:r>
                <a:endParaRPr/>
              </a:p>
            </p:txBody>
          </p:sp>
          <p:sp>
            <p:nvSpPr>
              <p:cNvPr id="2399" name="Google Shape;2399;p44"/>
              <p:cNvSpPr/>
              <p:nvPr/>
            </p:nvSpPr>
            <p:spPr>
              <a:xfrm>
                <a:off x="4039378" y="3792571"/>
                <a:ext cx="360000" cy="1980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70707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36000" lIns="36000" spcFirstLastPara="1" rIns="36000" wrap="square" tIns="36000">
                <a:noAutofit/>
              </a:bodyPr>
              <a:lstStyle/>
              <a:p>
                <a:pPr indent="0" lvl="1" marL="1588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JS</a:t>
                </a:r>
                <a:endParaRPr/>
              </a:p>
            </p:txBody>
          </p:sp>
          <p:sp>
            <p:nvSpPr>
              <p:cNvPr id="2400" name="Google Shape;2400;p44"/>
              <p:cNvSpPr/>
              <p:nvPr/>
            </p:nvSpPr>
            <p:spPr>
              <a:xfrm>
                <a:off x="4039378" y="4057927"/>
                <a:ext cx="360000" cy="1980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70707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36000" lIns="36000" spcFirstLastPara="1" rIns="36000" wrap="square" tIns="36000">
                <a:noAutofit/>
              </a:bodyPr>
              <a:lstStyle/>
              <a:p>
                <a:pPr indent="0" lvl="1" marL="1588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HTML</a:t>
                </a:r>
                <a:endParaRPr/>
              </a:p>
            </p:txBody>
          </p:sp>
          <p:sp>
            <p:nvSpPr>
              <p:cNvPr id="2401" name="Google Shape;2401;p44"/>
              <p:cNvSpPr/>
              <p:nvPr/>
            </p:nvSpPr>
            <p:spPr>
              <a:xfrm>
                <a:off x="4039378" y="4315716"/>
                <a:ext cx="360000" cy="1980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70707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36000" lIns="36000" spcFirstLastPara="1" rIns="36000" wrap="square" tIns="36000">
                <a:noAutofit/>
              </a:bodyPr>
              <a:lstStyle/>
              <a:p>
                <a:pPr indent="0" lvl="1" marL="1588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CSS</a:t>
                </a:r>
                <a:endParaRPr/>
              </a:p>
            </p:txBody>
          </p:sp>
        </p:grpSp>
      </p:grpSp>
      <p:sp>
        <p:nvSpPr>
          <p:cNvPr id="2402" name="Google Shape;2402;p44"/>
          <p:cNvSpPr/>
          <p:nvPr/>
        </p:nvSpPr>
        <p:spPr>
          <a:xfrm flipH="1">
            <a:off x="456042" y="1862966"/>
            <a:ext cx="5380359" cy="4456895"/>
          </a:xfrm>
          <a:prstGeom prst="corner">
            <a:avLst>
              <a:gd fmla="val 84872" name="adj1"/>
              <a:gd fmla="val 95029" name="adj2"/>
            </a:avLst>
          </a:prstGeom>
          <a:noFill/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03" name="Google Shape;2403;p44"/>
          <p:cNvSpPr/>
          <p:nvPr/>
        </p:nvSpPr>
        <p:spPr>
          <a:xfrm>
            <a:off x="1696382" y="2081726"/>
            <a:ext cx="4048662" cy="2371812"/>
          </a:xfrm>
          <a:prstGeom prst="rect">
            <a:avLst/>
          </a:prstGeom>
          <a:solidFill>
            <a:srgbClr val="EAEAEA"/>
          </a:solidFill>
          <a:ln cap="flat" cmpd="sng" w="9525">
            <a:solidFill>
              <a:srgbClr val="D8D8D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Application Framework (MDS WAS)</a:t>
            </a:r>
            <a:endParaRPr/>
          </a:p>
        </p:txBody>
      </p:sp>
      <p:sp>
        <p:nvSpPr>
          <p:cNvPr id="2404" name="Google Shape;2404;p44"/>
          <p:cNvSpPr/>
          <p:nvPr/>
        </p:nvSpPr>
        <p:spPr>
          <a:xfrm>
            <a:off x="2011460" y="2328025"/>
            <a:ext cx="1471564" cy="45744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1" marL="1588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Dispatcher Servlet</a:t>
            </a:r>
            <a:endParaRPr/>
          </a:p>
          <a:p>
            <a:pPr indent="0" lvl="1" marL="1588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Gateway</a:t>
            </a:r>
            <a:endParaRPr b="0" i="0" sz="800" u="none" cap="none" strike="noStrik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05" name="Google Shape;2405;p44"/>
          <p:cNvSpPr/>
          <p:nvPr/>
        </p:nvSpPr>
        <p:spPr>
          <a:xfrm>
            <a:off x="5144106" y="2421293"/>
            <a:ext cx="402519" cy="823485"/>
          </a:xfrm>
          <a:prstGeom prst="roundRect">
            <a:avLst>
              <a:gd fmla="val 6244" name="adj"/>
            </a:avLst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6" name="Google Shape;2406;p44"/>
          <p:cNvSpPr txBox="1"/>
          <p:nvPr/>
        </p:nvSpPr>
        <p:spPr>
          <a:xfrm rot="5400000">
            <a:off x="4940978" y="2639119"/>
            <a:ext cx="808762" cy="3877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Internal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adaptor</a:t>
            </a:r>
            <a:endParaRPr/>
          </a:p>
        </p:txBody>
      </p:sp>
      <p:sp>
        <p:nvSpPr>
          <p:cNvPr id="2407" name="Google Shape;2407;p44"/>
          <p:cNvSpPr/>
          <p:nvPr/>
        </p:nvSpPr>
        <p:spPr>
          <a:xfrm>
            <a:off x="1971928" y="3058198"/>
            <a:ext cx="2688332" cy="1290704"/>
          </a:xfrm>
          <a:prstGeom prst="rect">
            <a:avLst/>
          </a:prstGeom>
          <a:solidFill>
            <a:srgbClr val="D8D8D8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  <a:effectLst>
            <a:outerShdw blurRad="25400" rotWithShape="0" algn="tl" dir="1980000" dist="127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9595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08" name="Google Shape;2408;p44"/>
          <p:cNvSpPr/>
          <p:nvPr/>
        </p:nvSpPr>
        <p:spPr>
          <a:xfrm rot="5400000">
            <a:off x="1831822" y="3491178"/>
            <a:ext cx="992620" cy="42692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1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Service Endpoint</a:t>
            </a:r>
            <a:endParaRPr b="0" i="0" sz="800" u="none" cap="none" strike="noStrik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09" name="Google Shape;2409;p44"/>
          <p:cNvSpPr/>
          <p:nvPr/>
        </p:nvSpPr>
        <p:spPr>
          <a:xfrm rot="5400000">
            <a:off x="2494204" y="3491178"/>
            <a:ext cx="992620" cy="42692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1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Service Executor</a:t>
            </a:r>
            <a:endParaRPr/>
          </a:p>
        </p:txBody>
      </p:sp>
      <p:sp>
        <p:nvSpPr>
          <p:cNvPr id="2410" name="Google Shape;2410;p44"/>
          <p:cNvSpPr/>
          <p:nvPr/>
        </p:nvSpPr>
        <p:spPr>
          <a:xfrm rot="5400000">
            <a:off x="3156587" y="3491178"/>
            <a:ext cx="992620" cy="42692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1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Main Service</a:t>
            </a:r>
            <a:endParaRPr/>
          </a:p>
        </p:txBody>
      </p:sp>
      <p:sp>
        <p:nvSpPr>
          <p:cNvPr id="2411" name="Google Shape;2411;p44"/>
          <p:cNvSpPr/>
          <p:nvPr/>
        </p:nvSpPr>
        <p:spPr>
          <a:xfrm rot="5400000">
            <a:off x="3818970" y="3491178"/>
            <a:ext cx="992620" cy="42692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1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Sub Service</a:t>
            </a:r>
            <a:endParaRPr/>
          </a:p>
        </p:txBody>
      </p:sp>
      <p:sp>
        <p:nvSpPr>
          <p:cNvPr id="2412" name="Google Shape;2412;p44"/>
          <p:cNvSpPr txBox="1"/>
          <p:nvPr/>
        </p:nvSpPr>
        <p:spPr>
          <a:xfrm>
            <a:off x="2569964" y="3741942"/>
            <a:ext cx="170993" cy="117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VO</a:t>
            </a:r>
            <a:endParaRPr sz="7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13" name="Google Shape;2413;p44"/>
          <p:cNvSpPr txBox="1"/>
          <p:nvPr/>
        </p:nvSpPr>
        <p:spPr>
          <a:xfrm>
            <a:off x="2335664" y="2809400"/>
            <a:ext cx="1092773" cy="128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Biz. Logic 처리 전문</a:t>
            </a:r>
            <a:endParaRPr/>
          </a:p>
        </p:txBody>
      </p:sp>
      <p:cxnSp>
        <p:nvCxnSpPr>
          <p:cNvPr id="2414" name="Google Shape;2414;p44"/>
          <p:cNvCxnSpPr>
            <a:stCxn id="2396" idx="3"/>
            <a:endCxn id="2404" idx="1"/>
          </p:cNvCxnSpPr>
          <p:nvPr/>
        </p:nvCxnSpPr>
        <p:spPr>
          <a:xfrm flipH="1" rot="10800000">
            <a:off x="1542609" y="2556641"/>
            <a:ext cx="468900" cy="1051200"/>
          </a:xfrm>
          <a:prstGeom prst="bentConnector3">
            <a:avLst>
              <a:gd fmla="val 49995" name="adj1"/>
            </a:avLst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415" name="Google Shape;2415;p44"/>
          <p:cNvCxnSpPr>
            <a:stCxn id="2411" idx="3"/>
            <a:endCxn id="2416" idx="1"/>
          </p:cNvCxnSpPr>
          <p:nvPr/>
        </p:nvCxnSpPr>
        <p:spPr>
          <a:xfrm flipH="1" rot="10800000">
            <a:off x="4315280" y="3704752"/>
            <a:ext cx="828900" cy="4962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416" name="Google Shape;2416;p44"/>
          <p:cNvSpPr/>
          <p:nvPr/>
        </p:nvSpPr>
        <p:spPr>
          <a:xfrm>
            <a:off x="5144106" y="3289333"/>
            <a:ext cx="402519" cy="830619"/>
          </a:xfrm>
          <a:prstGeom prst="roundRect">
            <a:avLst>
              <a:gd fmla="val 6244" name="adj"/>
            </a:avLst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7" name="Google Shape;2417;p44"/>
          <p:cNvSpPr txBox="1"/>
          <p:nvPr/>
        </p:nvSpPr>
        <p:spPr>
          <a:xfrm rot="5400000">
            <a:off x="4937411" y="3510736"/>
            <a:ext cx="815896" cy="3877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External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adaptor</a:t>
            </a:r>
            <a:endParaRPr/>
          </a:p>
        </p:txBody>
      </p:sp>
      <p:grpSp>
        <p:nvGrpSpPr>
          <p:cNvPr id="2418" name="Google Shape;2418;p44"/>
          <p:cNvGrpSpPr/>
          <p:nvPr/>
        </p:nvGrpSpPr>
        <p:grpSpPr>
          <a:xfrm>
            <a:off x="458101" y="1858191"/>
            <a:ext cx="1017820" cy="559499"/>
            <a:chOff x="458101" y="1867684"/>
            <a:chExt cx="1017820" cy="559499"/>
          </a:xfrm>
        </p:grpSpPr>
        <p:sp>
          <p:nvSpPr>
            <p:cNvPr id="2419" name="Google Shape;2419;p44"/>
            <p:cNvSpPr/>
            <p:nvPr/>
          </p:nvSpPr>
          <p:spPr>
            <a:xfrm>
              <a:off x="458101" y="1867684"/>
              <a:ext cx="1017820" cy="559499"/>
            </a:xfrm>
            <a:prstGeom prst="rect">
              <a:avLst/>
            </a:prstGeom>
            <a:noFill/>
            <a:ln cap="flat" cmpd="sng" w="9525">
              <a:solidFill>
                <a:srgbClr val="7F7F7F"/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Client</a:t>
              </a:r>
              <a:endParaRPr/>
            </a:p>
          </p:txBody>
        </p:sp>
        <p:sp>
          <p:nvSpPr>
            <p:cNvPr id="2420" name="Google Shape;2420;p44"/>
            <p:cNvSpPr/>
            <p:nvPr/>
          </p:nvSpPr>
          <p:spPr>
            <a:xfrm>
              <a:off x="774320" y="2099086"/>
              <a:ext cx="640809" cy="25080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1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모바일 </a:t>
              </a:r>
              <a:endParaRPr b="0" i="0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2421" name="Google Shape;2421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34604" y="2013368"/>
              <a:ext cx="172462" cy="37251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22" name="Google Shape;2422;p44"/>
          <p:cNvSpPr txBox="1"/>
          <p:nvPr/>
        </p:nvSpPr>
        <p:spPr>
          <a:xfrm rot="5400000">
            <a:off x="1522928" y="3006018"/>
            <a:ext cx="681766" cy="272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http (JSON)</a:t>
            </a:r>
            <a:endParaRPr sz="800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423" name="Google Shape;2423;p44"/>
          <p:cNvGrpSpPr/>
          <p:nvPr/>
        </p:nvGrpSpPr>
        <p:grpSpPr>
          <a:xfrm>
            <a:off x="6207278" y="1866519"/>
            <a:ext cx="660726" cy="1933034"/>
            <a:chOff x="5861371" y="1866519"/>
            <a:chExt cx="660726" cy="1134584"/>
          </a:xfrm>
        </p:grpSpPr>
        <p:sp>
          <p:nvSpPr>
            <p:cNvPr id="2424" name="Google Shape;2424;p44"/>
            <p:cNvSpPr/>
            <p:nvPr/>
          </p:nvSpPr>
          <p:spPr>
            <a:xfrm>
              <a:off x="5861371" y="1866519"/>
              <a:ext cx="660726" cy="1134584"/>
            </a:xfrm>
            <a:prstGeom prst="rect">
              <a:avLst/>
            </a:prstGeom>
            <a:noFill/>
            <a:ln cap="flat" cmpd="sng" w="12700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00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EAI Instance</a:t>
              </a:r>
              <a:br>
                <a:rPr lang="en-US" sz="700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en-US" sz="700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구성</a:t>
              </a:r>
              <a:endParaRPr sz="70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425" name="Google Shape;2425;p44"/>
            <p:cNvSpPr/>
            <p:nvPr/>
          </p:nvSpPr>
          <p:spPr>
            <a:xfrm>
              <a:off x="5963073" y="1938315"/>
              <a:ext cx="450907" cy="735806"/>
            </a:xfrm>
            <a:prstGeom prst="rect">
              <a:avLst/>
            </a:prstGeom>
            <a:solidFill>
              <a:srgbClr val="D8D8D8"/>
            </a:soli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18000">
              <a:noAutofit/>
            </a:bodyPr>
            <a:lstStyle/>
            <a:p>
              <a:pPr indent="0" lvl="1" marL="1588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EAI</a:t>
              </a:r>
              <a:endParaRPr/>
            </a:p>
          </p:txBody>
        </p:sp>
      </p:grpSp>
      <p:cxnSp>
        <p:nvCxnSpPr>
          <p:cNvPr id="2426" name="Google Shape;2426;p44"/>
          <p:cNvCxnSpPr>
            <a:stCxn id="2408" idx="3"/>
            <a:endCxn id="2409" idx="1"/>
          </p:cNvCxnSpPr>
          <p:nvPr/>
        </p:nvCxnSpPr>
        <p:spPr>
          <a:xfrm flipH="1" rot="10800000">
            <a:off x="2328132" y="3208252"/>
            <a:ext cx="662400" cy="9927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427" name="Google Shape;2427;p44"/>
          <p:cNvCxnSpPr/>
          <p:nvPr/>
        </p:nvCxnSpPr>
        <p:spPr>
          <a:xfrm rot="-5400000">
            <a:off x="4449693" y="2934976"/>
            <a:ext cx="773400" cy="6153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2428" name="Google Shape;2428;p44"/>
          <p:cNvGrpSpPr/>
          <p:nvPr/>
        </p:nvGrpSpPr>
        <p:grpSpPr>
          <a:xfrm>
            <a:off x="6157713" y="3902510"/>
            <a:ext cx="756384" cy="1269131"/>
            <a:chOff x="5862077" y="3672037"/>
            <a:chExt cx="756384" cy="1269131"/>
          </a:xfrm>
        </p:grpSpPr>
        <p:sp>
          <p:nvSpPr>
            <p:cNvPr id="2429" name="Google Shape;2429;p44"/>
            <p:cNvSpPr/>
            <p:nvPr/>
          </p:nvSpPr>
          <p:spPr>
            <a:xfrm flipH="1">
              <a:off x="5862077" y="3672037"/>
              <a:ext cx="756384" cy="1269131"/>
            </a:xfrm>
            <a:prstGeom prst="rect">
              <a:avLst/>
            </a:prstGeom>
            <a:solidFill>
              <a:srgbClr val="F2F2F2"/>
            </a:solidFill>
            <a:ln cap="flat" cmpd="sng" w="9525">
              <a:solidFill>
                <a:srgbClr val="7F7F7F"/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내/외부망</a:t>
              </a:r>
              <a:endParaRPr b="1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430" name="Google Shape;2430;p44"/>
            <p:cNvSpPr/>
            <p:nvPr/>
          </p:nvSpPr>
          <p:spPr>
            <a:xfrm>
              <a:off x="5917628" y="3892125"/>
              <a:ext cx="650428" cy="1002779"/>
            </a:xfrm>
            <a:prstGeom prst="rect">
              <a:avLst/>
            </a:prstGeom>
            <a:noFill/>
            <a:ln cap="flat" cmpd="sng" w="12700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-339725" lvl="0" marL="339725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431" name="Google Shape;2431;p44"/>
            <p:cNvSpPr/>
            <p:nvPr/>
          </p:nvSpPr>
          <p:spPr>
            <a:xfrm>
              <a:off x="5999929" y="3940929"/>
              <a:ext cx="482651" cy="436969"/>
            </a:xfrm>
            <a:prstGeom prst="rect">
              <a:avLst/>
            </a:prstGeom>
            <a:solidFill>
              <a:srgbClr val="D8D8D8"/>
            </a:soli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18000">
              <a:noAutofit/>
            </a:bodyPr>
            <a:lstStyle/>
            <a:p>
              <a:pPr indent="0" lvl="1" marL="1588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GW/FEP</a:t>
              </a:r>
              <a:endParaRPr/>
            </a:p>
          </p:txBody>
        </p:sp>
        <p:sp>
          <p:nvSpPr>
            <p:cNvPr id="2432" name="Google Shape;2432;p44"/>
            <p:cNvSpPr txBox="1"/>
            <p:nvPr/>
          </p:nvSpPr>
          <p:spPr>
            <a:xfrm>
              <a:off x="5904543" y="4373606"/>
              <a:ext cx="68337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FEP Instance</a:t>
              </a:r>
              <a:br>
                <a:rPr lang="en-US" sz="800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en-US" sz="800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구성</a:t>
              </a:r>
              <a:endParaRPr/>
            </a:p>
          </p:txBody>
        </p:sp>
      </p:grpSp>
      <p:grpSp>
        <p:nvGrpSpPr>
          <p:cNvPr id="2433" name="Google Shape;2433;p44"/>
          <p:cNvGrpSpPr/>
          <p:nvPr/>
        </p:nvGrpSpPr>
        <p:grpSpPr>
          <a:xfrm>
            <a:off x="7209318" y="1866519"/>
            <a:ext cx="2352194" cy="1929403"/>
            <a:chOff x="7209318" y="1866519"/>
            <a:chExt cx="2352194" cy="1929403"/>
          </a:xfrm>
        </p:grpSpPr>
        <p:sp>
          <p:nvSpPr>
            <p:cNvPr id="2434" name="Google Shape;2434;p44"/>
            <p:cNvSpPr/>
            <p:nvPr/>
          </p:nvSpPr>
          <p:spPr>
            <a:xfrm>
              <a:off x="7209318" y="1866519"/>
              <a:ext cx="2352194" cy="1929403"/>
            </a:xfrm>
            <a:prstGeom prst="rect">
              <a:avLst/>
            </a:prstGeom>
            <a:noFill/>
            <a:ln cap="flat" cmpd="sng" w="9525">
              <a:solidFill>
                <a:srgbClr val="7F7F7F"/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대내 I/F Tier</a:t>
              </a:r>
              <a:endParaRPr/>
            </a:p>
          </p:txBody>
        </p:sp>
        <p:grpSp>
          <p:nvGrpSpPr>
            <p:cNvPr id="2435" name="Google Shape;2435;p44"/>
            <p:cNvGrpSpPr/>
            <p:nvPr/>
          </p:nvGrpSpPr>
          <p:grpSpPr>
            <a:xfrm>
              <a:off x="7310393" y="2106798"/>
              <a:ext cx="2156252" cy="771233"/>
              <a:chOff x="7310393" y="2106798"/>
              <a:chExt cx="2156252" cy="771233"/>
            </a:xfrm>
          </p:grpSpPr>
          <p:sp>
            <p:nvSpPr>
              <p:cNvPr id="2436" name="Google Shape;2436;p44"/>
              <p:cNvSpPr/>
              <p:nvPr/>
            </p:nvSpPr>
            <p:spPr>
              <a:xfrm>
                <a:off x="7310393" y="2106798"/>
                <a:ext cx="2156252" cy="771233"/>
              </a:xfrm>
              <a:prstGeom prst="rect">
                <a:avLst/>
              </a:prstGeom>
              <a:noFill/>
              <a:ln cap="flat" cmpd="sng" w="9525">
                <a:solidFill>
                  <a:srgbClr val="7F7F7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6800" lIns="90000" spcFirstLastPara="1" rIns="90000" wrap="square" tIns="4680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대내 연관 시스템</a:t>
                </a:r>
                <a:endParaRPr b="1" sz="900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437" name="Google Shape;2437;p44"/>
              <p:cNvSpPr/>
              <p:nvPr/>
            </p:nvSpPr>
            <p:spPr>
              <a:xfrm>
                <a:off x="8625775" y="2675850"/>
                <a:ext cx="584340" cy="1354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기타 시스템</a:t>
                </a:r>
                <a:endParaRPr/>
              </a:p>
            </p:txBody>
          </p:sp>
          <p:grpSp>
            <p:nvGrpSpPr>
              <p:cNvPr id="2438" name="Google Shape;2438;p44"/>
              <p:cNvGrpSpPr/>
              <p:nvPr/>
            </p:nvGrpSpPr>
            <p:grpSpPr>
              <a:xfrm>
                <a:off x="8742027" y="2348874"/>
                <a:ext cx="325086" cy="320155"/>
                <a:chOff x="9087096" y="1504172"/>
                <a:chExt cx="1240250" cy="1380613"/>
              </a:xfrm>
            </p:grpSpPr>
            <p:pic>
              <p:nvPicPr>
                <p:cNvPr descr="D:\모스트비주얼\아이콘 작업\왜가리\서버1.png" id="2439" name="Google Shape;2439;p44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9087096" y="1504172"/>
                  <a:ext cx="804862" cy="132714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\\10.250.177.62\###   개별 제안팀   ###\### Design Library ###\900. 개인폴더\916.박  성\DB\DB_05.png" id="2440" name="Google Shape;2440;p44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9610553" y="2241597"/>
                  <a:ext cx="716793" cy="64318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2441" name="Google Shape;2441;p44"/>
              <p:cNvSpPr/>
              <p:nvPr/>
            </p:nvSpPr>
            <p:spPr>
              <a:xfrm>
                <a:off x="7500269" y="2670905"/>
                <a:ext cx="817732" cy="1354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기간계 시스템</a:t>
                </a:r>
                <a:endParaRPr/>
              </a:p>
            </p:txBody>
          </p:sp>
          <p:grpSp>
            <p:nvGrpSpPr>
              <p:cNvPr id="2442" name="Google Shape;2442;p44"/>
              <p:cNvGrpSpPr/>
              <p:nvPr/>
            </p:nvGrpSpPr>
            <p:grpSpPr>
              <a:xfrm>
                <a:off x="7732508" y="2324694"/>
                <a:ext cx="325086" cy="320155"/>
                <a:chOff x="9087096" y="1504172"/>
                <a:chExt cx="1240250" cy="1380613"/>
              </a:xfrm>
            </p:grpSpPr>
            <p:pic>
              <p:nvPicPr>
                <p:cNvPr descr="D:\모스트비주얼\아이콘 작업\왜가리\서버1.png" id="2443" name="Google Shape;2443;p44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9087096" y="1504172"/>
                  <a:ext cx="804862" cy="132714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\\10.250.177.62\###   개별 제안팀   ###\### Design Library ###\900. 개인폴더\916.박  성\DB\DB_05.png" id="2444" name="Google Shape;2444;p44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9610553" y="2241597"/>
                  <a:ext cx="716793" cy="64318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2445" name="Google Shape;2445;p44"/>
            <p:cNvGrpSpPr/>
            <p:nvPr/>
          </p:nvGrpSpPr>
          <p:grpSpPr>
            <a:xfrm>
              <a:off x="7310392" y="2971126"/>
              <a:ext cx="2156252" cy="717702"/>
              <a:chOff x="4736679" y="3310990"/>
              <a:chExt cx="815089" cy="717702"/>
            </a:xfrm>
          </p:grpSpPr>
          <p:sp>
            <p:nvSpPr>
              <p:cNvPr id="2446" name="Google Shape;2446;p44"/>
              <p:cNvSpPr/>
              <p:nvPr/>
            </p:nvSpPr>
            <p:spPr>
              <a:xfrm>
                <a:off x="4736679" y="3310990"/>
                <a:ext cx="815089" cy="717702"/>
              </a:xfrm>
              <a:prstGeom prst="rect">
                <a:avLst/>
              </a:prstGeom>
              <a:noFill/>
              <a:ln cap="flat" cmpd="sng" w="9525">
                <a:solidFill>
                  <a:srgbClr val="7F7F7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6800" lIns="90000" spcFirstLastPara="1" rIns="90000" wrap="square" tIns="4680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공통 솔루션</a:t>
                </a:r>
                <a:endParaRPr/>
              </a:p>
            </p:txBody>
          </p:sp>
          <p:sp>
            <p:nvSpPr>
              <p:cNvPr id="2447" name="Google Shape;2447;p44"/>
              <p:cNvSpPr/>
              <p:nvPr/>
            </p:nvSpPr>
            <p:spPr>
              <a:xfrm>
                <a:off x="4771439" y="3597780"/>
                <a:ext cx="367133" cy="309107"/>
              </a:xfrm>
              <a:prstGeom prst="rect">
                <a:avLst/>
              </a:prstGeom>
              <a:solidFill>
                <a:srgbClr val="D8D8D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1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9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EDMS</a:t>
                </a:r>
                <a:endParaRPr b="0" i="0" sz="9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2448" name="Google Shape;2448;p44"/>
            <p:cNvSpPr/>
            <p:nvPr/>
          </p:nvSpPr>
          <p:spPr>
            <a:xfrm>
              <a:off x="8606141" y="3257915"/>
              <a:ext cx="775985" cy="309107"/>
            </a:xfrm>
            <a:prstGeom prst="flowChartMagneticDisk">
              <a:avLst/>
            </a:prstGeom>
            <a:solidFill>
              <a:schemeClr val="lt1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EDMS DB</a:t>
              </a:r>
              <a:endParaRPr sz="9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449" name="Google Shape;2449;p44"/>
          <p:cNvSpPr/>
          <p:nvPr/>
        </p:nvSpPr>
        <p:spPr>
          <a:xfrm>
            <a:off x="7310392" y="4171402"/>
            <a:ext cx="2156252" cy="2070281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대외기관</a:t>
            </a:r>
            <a:endParaRPr/>
          </a:p>
        </p:txBody>
      </p:sp>
      <p:grpSp>
        <p:nvGrpSpPr>
          <p:cNvPr id="2450" name="Google Shape;2450;p44"/>
          <p:cNvGrpSpPr/>
          <p:nvPr/>
        </p:nvGrpSpPr>
        <p:grpSpPr>
          <a:xfrm>
            <a:off x="7513039" y="5383664"/>
            <a:ext cx="839535" cy="591495"/>
            <a:chOff x="9413397" y="5271183"/>
            <a:chExt cx="448964" cy="370199"/>
          </a:xfrm>
        </p:grpSpPr>
        <p:sp>
          <p:nvSpPr>
            <p:cNvPr id="2451" name="Google Shape;2451;p44"/>
            <p:cNvSpPr/>
            <p:nvPr/>
          </p:nvSpPr>
          <p:spPr>
            <a:xfrm>
              <a:off x="9413397" y="5556625"/>
              <a:ext cx="448964" cy="847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공전소</a:t>
              </a:r>
              <a:endParaRPr sz="80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descr="D:\모스트비주얼\아이콘 작업\01\08.png" id="2452" name="Google Shape;2452;p4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550231" y="5271183"/>
              <a:ext cx="161058" cy="2522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53" name="Google Shape;2453;p44"/>
          <p:cNvGrpSpPr/>
          <p:nvPr/>
        </p:nvGrpSpPr>
        <p:grpSpPr>
          <a:xfrm>
            <a:off x="7410031" y="4543552"/>
            <a:ext cx="1016719" cy="606707"/>
            <a:chOff x="7371931" y="5350746"/>
            <a:chExt cx="1016719" cy="606707"/>
          </a:xfrm>
        </p:grpSpPr>
        <p:sp>
          <p:nvSpPr>
            <p:cNvPr id="2454" name="Google Shape;2454;p44"/>
            <p:cNvSpPr/>
            <p:nvPr/>
          </p:nvSpPr>
          <p:spPr>
            <a:xfrm>
              <a:off x="7371931" y="5822031"/>
              <a:ext cx="1016719" cy="1354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네이버</a:t>
              </a:r>
              <a:endParaRPr sz="80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descr="D:\모스트비주얼\아이콘 작업\01\08.png" id="2455" name="Google Shape;2455;p4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730810" y="5350746"/>
              <a:ext cx="298963" cy="4256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56" name="Google Shape;2456;p44"/>
          <p:cNvGrpSpPr/>
          <p:nvPr/>
        </p:nvGrpSpPr>
        <p:grpSpPr>
          <a:xfrm>
            <a:off x="8342163" y="4543552"/>
            <a:ext cx="1016719" cy="606707"/>
            <a:chOff x="8304063" y="5350746"/>
            <a:chExt cx="1016719" cy="606707"/>
          </a:xfrm>
        </p:grpSpPr>
        <p:sp>
          <p:nvSpPr>
            <p:cNvPr id="2457" name="Google Shape;2457;p44"/>
            <p:cNvSpPr/>
            <p:nvPr/>
          </p:nvSpPr>
          <p:spPr>
            <a:xfrm>
              <a:off x="8304063" y="5822031"/>
              <a:ext cx="1016719" cy="1354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카카오</a:t>
              </a:r>
              <a:endParaRPr sz="80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descr="D:\모스트비주얼\아이콘 작업\01\08.png" id="2458" name="Google Shape;2458;p4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661965" y="5350746"/>
              <a:ext cx="305519" cy="434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59" name="Google Shape;2459;p44"/>
          <p:cNvSpPr/>
          <p:nvPr/>
        </p:nvSpPr>
        <p:spPr>
          <a:xfrm>
            <a:off x="7209318" y="3896789"/>
            <a:ext cx="2352194" cy="2424633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대외 I/F Tier</a:t>
            </a:r>
            <a:endParaRPr/>
          </a:p>
        </p:txBody>
      </p:sp>
      <p:grpSp>
        <p:nvGrpSpPr>
          <p:cNvPr id="2460" name="Google Shape;2460;p44"/>
          <p:cNvGrpSpPr/>
          <p:nvPr/>
        </p:nvGrpSpPr>
        <p:grpSpPr>
          <a:xfrm>
            <a:off x="8378835" y="5390609"/>
            <a:ext cx="958617" cy="605842"/>
            <a:chOff x="8817127" y="4374388"/>
            <a:chExt cx="654748" cy="413798"/>
          </a:xfrm>
        </p:grpSpPr>
        <p:sp>
          <p:nvSpPr>
            <p:cNvPr id="2461" name="Google Shape;2461;p44"/>
            <p:cNvSpPr/>
            <p:nvPr/>
          </p:nvSpPr>
          <p:spPr>
            <a:xfrm>
              <a:off x="8817127" y="4695691"/>
              <a:ext cx="654748" cy="924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기타 대외기관</a:t>
              </a:r>
              <a:endParaRPr/>
            </a:p>
          </p:txBody>
        </p:sp>
        <p:pic>
          <p:nvPicPr>
            <p:cNvPr descr="D:\모스트비주얼\아이콘 작업\01\08.png" id="2462" name="Google Shape;2462;p4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034959" y="4374388"/>
              <a:ext cx="208674" cy="29710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463" name="Google Shape;2463;p44"/>
          <p:cNvCxnSpPr/>
          <p:nvPr/>
        </p:nvCxnSpPr>
        <p:spPr>
          <a:xfrm rot="10800000">
            <a:off x="1060892" y="2412070"/>
            <a:ext cx="0" cy="241086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464" name="Google Shape;2464;p44"/>
          <p:cNvSpPr txBox="1"/>
          <p:nvPr/>
        </p:nvSpPr>
        <p:spPr>
          <a:xfrm>
            <a:off x="3234769" y="3741941"/>
            <a:ext cx="170993" cy="117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VO</a:t>
            </a:r>
            <a:endParaRPr sz="7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465" name="Google Shape;2465;p44"/>
          <p:cNvCxnSpPr>
            <a:stCxn id="2409" idx="3"/>
            <a:endCxn id="2410" idx="1"/>
          </p:cNvCxnSpPr>
          <p:nvPr/>
        </p:nvCxnSpPr>
        <p:spPr>
          <a:xfrm flipH="1" rot="10800000">
            <a:off x="2990515" y="3208252"/>
            <a:ext cx="662400" cy="9927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466" name="Google Shape;2466;p44"/>
          <p:cNvCxnSpPr>
            <a:stCxn id="2410" idx="3"/>
            <a:endCxn id="2411" idx="1"/>
          </p:cNvCxnSpPr>
          <p:nvPr/>
        </p:nvCxnSpPr>
        <p:spPr>
          <a:xfrm flipH="1" rot="10800000">
            <a:off x="3652898" y="3208252"/>
            <a:ext cx="662400" cy="9927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467" name="Google Shape;2467;p44"/>
          <p:cNvSpPr txBox="1"/>
          <p:nvPr/>
        </p:nvSpPr>
        <p:spPr>
          <a:xfrm>
            <a:off x="3899644" y="3749778"/>
            <a:ext cx="170993" cy="117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VO</a:t>
            </a:r>
            <a:endParaRPr sz="7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68" name="Google Shape;2468;p44"/>
          <p:cNvSpPr txBox="1"/>
          <p:nvPr/>
        </p:nvSpPr>
        <p:spPr>
          <a:xfrm>
            <a:off x="5579805" y="2635212"/>
            <a:ext cx="587239" cy="165399"/>
          </a:xfrm>
          <a:prstGeom prst="rect">
            <a:avLst/>
          </a:prstGeom>
          <a:solidFill>
            <a:schemeClr val="lt1">
              <a:alpha val="80000"/>
            </a:scheme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http (JSON)</a:t>
            </a:r>
            <a:endParaRPr sz="800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469" name="Google Shape;2469;p44"/>
          <p:cNvCxnSpPr>
            <a:stCxn id="2416" idx="3"/>
            <a:endCxn id="2429" idx="3"/>
          </p:cNvCxnSpPr>
          <p:nvPr/>
        </p:nvCxnSpPr>
        <p:spPr>
          <a:xfrm>
            <a:off x="5546625" y="3704643"/>
            <a:ext cx="611100" cy="832500"/>
          </a:xfrm>
          <a:prstGeom prst="bentConnector3">
            <a:avLst>
              <a:gd fmla="val 76951" name="adj1"/>
            </a:avLst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470" name="Google Shape;2470;p44"/>
          <p:cNvSpPr/>
          <p:nvPr/>
        </p:nvSpPr>
        <p:spPr>
          <a:xfrm>
            <a:off x="3616962" y="5073708"/>
            <a:ext cx="1346407" cy="41615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전자서명</a:t>
            </a:r>
            <a:endParaRPr b="1" sz="9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(TradeSign SCORE PKI/PDF)</a:t>
            </a:r>
            <a:endParaRPr b="1" sz="8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71" name="Google Shape;2471;p44"/>
          <p:cNvSpPr/>
          <p:nvPr/>
        </p:nvSpPr>
        <p:spPr>
          <a:xfrm>
            <a:off x="2111068" y="5073708"/>
            <a:ext cx="1346407" cy="41615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공전소발급 </a:t>
            </a:r>
            <a:endParaRPr b="1" sz="9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( Docuon *Mate Client )</a:t>
            </a:r>
            <a:endParaRPr/>
          </a:p>
        </p:txBody>
      </p:sp>
      <p:cxnSp>
        <p:nvCxnSpPr>
          <p:cNvPr id="2472" name="Google Shape;2472;p44"/>
          <p:cNvCxnSpPr/>
          <p:nvPr/>
        </p:nvCxnSpPr>
        <p:spPr>
          <a:xfrm flipH="1" rot="10800000">
            <a:off x="2775416" y="4196965"/>
            <a:ext cx="1539000" cy="8712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473" name="Google Shape;2473;p44"/>
          <p:cNvCxnSpPr/>
          <p:nvPr/>
        </p:nvCxnSpPr>
        <p:spPr>
          <a:xfrm rot="-5400000">
            <a:off x="3907870" y="4579458"/>
            <a:ext cx="876900" cy="111600"/>
          </a:xfrm>
          <a:prstGeom prst="bentConnector3">
            <a:avLst>
              <a:gd fmla="val 16322" name="adj1"/>
            </a:avLst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474" name="Google Shape;2474;p44"/>
          <p:cNvCxnSpPr/>
          <p:nvPr/>
        </p:nvCxnSpPr>
        <p:spPr>
          <a:xfrm flipH="1" rot="10800000">
            <a:off x="1634224" y="4196607"/>
            <a:ext cx="2596800" cy="8847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475" name="Google Shape;2475;p44"/>
          <p:cNvSpPr txBox="1"/>
          <p:nvPr/>
        </p:nvSpPr>
        <p:spPr>
          <a:xfrm>
            <a:off x="3251353" y="1834094"/>
            <a:ext cx="944489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MDS 시스템</a:t>
            </a:r>
            <a:endParaRPr/>
          </a:p>
        </p:txBody>
      </p:sp>
      <p:cxnSp>
        <p:nvCxnSpPr>
          <p:cNvPr id="2476" name="Google Shape;2476;p44"/>
          <p:cNvCxnSpPr>
            <a:stCxn id="2424" idx="3"/>
            <a:endCxn id="2434" idx="1"/>
          </p:cNvCxnSpPr>
          <p:nvPr/>
        </p:nvCxnSpPr>
        <p:spPr>
          <a:xfrm flipH="1" rot="10800000">
            <a:off x="6868004" y="2831236"/>
            <a:ext cx="341400" cy="18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477" name="Google Shape;2477;p44"/>
          <p:cNvCxnSpPr/>
          <p:nvPr/>
        </p:nvCxnSpPr>
        <p:spPr>
          <a:xfrm>
            <a:off x="5546625" y="2841425"/>
            <a:ext cx="660653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478" name="Google Shape;2478;p44"/>
          <p:cNvSpPr txBox="1"/>
          <p:nvPr/>
        </p:nvSpPr>
        <p:spPr>
          <a:xfrm rot="5400000">
            <a:off x="6736133" y="2358913"/>
            <a:ext cx="619787" cy="205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http (JSON)</a:t>
            </a:r>
            <a:endParaRPr sz="800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79" name="Google Shape;2479;p44"/>
          <p:cNvSpPr txBox="1"/>
          <p:nvPr/>
        </p:nvSpPr>
        <p:spPr>
          <a:xfrm rot="5400000">
            <a:off x="6722735" y="4152743"/>
            <a:ext cx="681766" cy="272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http (JSON)</a:t>
            </a:r>
            <a:endParaRPr sz="800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480" name="Google Shape;2480;p44"/>
          <p:cNvGrpSpPr/>
          <p:nvPr/>
        </p:nvGrpSpPr>
        <p:grpSpPr>
          <a:xfrm>
            <a:off x="6019287" y="5489106"/>
            <a:ext cx="1037400" cy="830755"/>
            <a:chOff x="6033120" y="5498420"/>
            <a:chExt cx="1131702" cy="830755"/>
          </a:xfrm>
        </p:grpSpPr>
        <p:sp>
          <p:nvSpPr>
            <p:cNvPr id="2481" name="Google Shape;2481;p44"/>
            <p:cNvSpPr/>
            <p:nvPr/>
          </p:nvSpPr>
          <p:spPr>
            <a:xfrm>
              <a:off x="6033120" y="5498420"/>
              <a:ext cx="1131702" cy="830755"/>
            </a:xfrm>
            <a:prstGeom prst="rect">
              <a:avLst/>
            </a:prstGeom>
            <a:solidFill>
              <a:srgbClr val="F2F2F2"/>
            </a:solidFill>
            <a:ln cap="flat" cmpd="sng" w="9525">
              <a:solidFill>
                <a:srgbClr val="D8D8D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하이포탈 WEB</a:t>
              </a:r>
              <a:br>
                <a:rPr b="1" lang="en-US" sz="9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en-US" sz="8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(core.hi-portal.co.kr)</a:t>
              </a:r>
              <a:endParaRPr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482" name="Google Shape;2482;p44"/>
            <p:cNvSpPr/>
            <p:nvPr/>
          </p:nvSpPr>
          <p:spPr>
            <a:xfrm>
              <a:off x="6162275" y="6006625"/>
              <a:ext cx="873392" cy="24281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36000">
              <a:no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.mrd</a:t>
              </a:r>
              <a:endParaRPr sz="80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483" name="Google Shape;2483;p44"/>
          <p:cNvSpPr/>
          <p:nvPr/>
        </p:nvSpPr>
        <p:spPr>
          <a:xfrm>
            <a:off x="2882632" y="5540307"/>
            <a:ext cx="2823943" cy="709573"/>
          </a:xfrm>
          <a:prstGeom prst="rect">
            <a:avLst/>
          </a:prstGeom>
          <a:solidFill>
            <a:srgbClr val="EAEAEA"/>
          </a:solidFill>
          <a:ln cap="flat" cmpd="sng" w="9525">
            <a:solidFill>
              <a:srgbClr val="D8D8D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RD</a:t>
            </a:r>
            <a:endParaRPr/>
          </a:p>
        </p:txBody>
      </p:sp>
      <p:sp>
        <p:nvSpPr>
          <p:cNvPr id="2484" name="Google Shape;2484;p44"/>
          <p:cNvSpPr/>
          <p:nvPr/>
        </p:nvSpPr>
        <p:spPr>
          <a:xfrm>
            <a:off x="2981228" y="5745009"/>
            <a:ext cx="1136118" cy="41615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RD WEB</a:t>
            </a:r>
            <a:endParaRPr b="1" sz="8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85" name="Google Shape;2485;p44"/>
          <p:cNvSpPr/>
          <p:nvPr/>
        </p:nvSpPr>
        <p:spPr>
          <a:xfrm>
            <a:off x="4486597" y="5745009"/>
            <a:ext cx="1136118" cy="41615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RD WAS</a:t>
            </a:r>
            <a:br>
              <a:rPr b="1"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(Crownix ERS 6.0)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486" name="Google Shape;2486;p44"/>
          <p:cNvCxnSpPr/>
          <p:nvPr/>
        </p:nvCxnSpPr>
        <p:spPr>
          <a:xfrm rot="10800000">
            <a:off x="1068163" y="4370990"/>
            <a:ext cx="1907400" cy="1527300"/>
          </a:xfrm>
          <a:prstGeom prst="bentConnector2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487" name="Google Shape;2487;p44"/>
          <p:cNvCxnSpPr>
            <a:stCxn id="2484" idx="3"/>
            <a:endCxn id="2485" idx="1"/>
          </p:cNvCxnSpPr>
          <p:nvPr/>
        </p:nvCxnSpPr>
        <p:spPr>
          <a:xfrm>
            <a:off x="4117346" y="5953086"/>
            <a:ext cx="3693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488" name="Google Shape;2488;p44"/>
          <p:cNvCxnSpPr>
            <a:stCxn id="2485" idx="3"/>
          </p:cNvCxnSpPr>
          <p:nvPr/>
        </p:nvCxnSpPr>
        <p:spPr>
          <a:xfrm>
            <a:off x="5622715" y="5953086"/>
            <a:ext cx="4011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489" name="Google Shape;2489;p44"/>
          <p:cNvCxnSpPr/>
          <p:nvPr/>
        </p:nvCxnSpPr>
        <p:spPr>
          <a:xfrm rot="-5400000">
            <a:off x="2764052" y="4408959"/>
            <a:ext cx="1594800" cy="1171200"/>
          </a:xfrm>
          <a:prstGeom prst="bentConnector4">
            <a:avLst>
              <a:gd fmla="val 0" name="adj1"/>
              <a:gd fmla="val 0" name="adj2"/>
            </a:avLst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490" name="Google Shape;2490;p44"/>
          <p:cNvCxnSpPr/>
          <p:nvPr/>
        </p:nvCxnSpPr>
        <p:spPr>
          <a:xfrm flipH="1" rot="10800000">
            <a:off x="6917677" y="4557343"/>
            <a:ext cx="292303" cy="1815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491" name="Google Shape;2491;p44"/>
          <p:cNvSpPr/>
          <p:nvPr/>
        </p:nvSpPr>
        <p:spPr>
          <a:xfrm>
            <a:off x="3945855" y="2592503"/>
            <a:ext cx="730613" cy="19400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1" marL="1588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View (JSP)</a:t>
            </a:r>
            <a:endParaRPr b="0" i="0" sz="800" u="none" cap="none" strike="noStrik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92" name="Google Shape;2492;p44"/>
          <p:cNvSpPr/>
          <p:nvPr/>
        </p:nvSpPr>
        <p:spPr>
          <a:xfrm>
            <a:off x="3946983" y="2329130"/>
            <a:ext cx="730613" cy="19400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1" marL="1588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Controller</a:t>
            </a:r>
            <a:endParaRPr b="0" i="0" sz="800" u="none" cap="none" strike="noStrik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493" name="Google Shape;2493;p44"/>
          <p:cNvCxnSpPr/>
          <p:nvPr/>
        </p:nvCxnSpPr>
        <p:spPr>
          <a:xfrm>
            <a:off x="3479945" y="2688131"/>
            <a:ext cx="469295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494" name="Google Shape;2494;p44"/>
          <p:cNvCxnSpPr/>
          <p:nvPr/>
        </p:nvCxnSpPr>
        <p:spPr>
          <a:xfrm>
            <a:off x="3479812" y="2418287"/>
            <a:ext cx="465617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495" name="Google Shape;2495;p44"/>
          <p:cNvSpPr txBox="1"/>
          <p:nvPr/>
        </p:nvSpPr>
        <p:spPr>
          <a:xfrm>
            <a:off x="5579805" y="3516564"/>
            <a:ext cx="587239" cy="165399"/>
          </a:xfrm>
          <a:prstGeom prst="rect">
            <a:avLst/>
          </a:prstGeom>
          <a:solidFill>
            <a:schemeClr val="lt1">
              <a:alpha val="80000"/>
            </a:scheme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http (JSON)</a:t>
            </a:r>
            <a:endParaRPr sz="800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496" name="Google Shape;2496;p44"/>
          <p:cNvCxnSpPr/>
          <p:nvPr/>
        </p:nvCxnSpPr>
        <p:spPr>
          <a:xfrm>
            <a:off x="2179684" y="2800611"/>
            <a:ext cx="0" cy="257587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2497" name="Google Shape;2497;p44"/>
          <p:cNvGrpSpPr/>
          <p:nvPr/>
        </p:nvGrpSpPr>
        <p:grpSpPr>
          <a:xfrm>
            <a:off x="1288085" y="5081307"/>
            <a:ext cx="705441" cy="413679"/>
            <a:chOff x="1742287" y="4931008"/>
            <a:chExt cx="853584" cy="413679"/>
          </a:xfrm>
        </p:grpSpPr>
        <p:sp>
          <p:nvSpPr>
            <p:cNvPr id="2498" name="Google Shape;2498;p44"/>
            <p:cNvSpPr/>
            <p:nvPr/>
          </p:nvSpPr>
          <p:spPr>
            <a:xfrm>
              <a:off x="1742287" y="5163962"/>
              <a:ext cx="853584" cy="180725"/>
            </a:xfrm>
            <a:prstGeom prst="flowChartMagneticDisk">
              <a:avLst/>
            </a:prstGeom>
            <a:solidFill>
              <a:schemeClr val="lt1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499" name="Google Shape;2499;p44"/>
            <p:cNvSpPr/>
            <p:nvPr/>
          </p:nvSpPr>
          <p:spPr>
            <a:xfrm>
              <a:off x="1742287" y="5050258"/>
              <a:ext cx="853584" cy="180725"/>
            </a:xfrm>
            <a:prstGeom prst="flowChartMagneticDisk">
              <a:avLst/>
            </a:prstGeom>
            <a:solidFill>
              <a:schemeClr val="lt1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MDS DB</a:t>
              </a:r>
              <a:endParaRPr sz="9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500" name="Google Shape;2500;p44"/>
            <p:cNvSpPr/>
            <p:nvPr/>
          </p:nvSpPr>
          <p:spPr>
            <a:xfrm>
              <a:off x="1742287" y="4931008"/>
              <a:ext cx="853584" cy="180725"/>
            </a:xfrm>
            <a:prstGeom prst="flowChartMagneticDisk">
              <a:avLst/>
            </a:prstGeom>
            <a:solidFill>
              <a:schemeClr val="lt1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501" name="Google Shape;2501;p44"/>
          <p:cNvSpPr/>
          <p:nvPr/>
        </p:nvSpPr>
        <p:spPr>
          <a:xfrm>
            <a:off x="5073677" y="4737206"/>
            <a:ext cx="634638" cy="416846"/>
          </a:xfrm>
          <a:prstGeom prst="flowChartMagneticDisk">
            <a:avLst/>
          </a:prstGeom>
          <a:solidFill>
            <a:srgbClr val="D8D8D8"/>
          </a:solidFill>
          <a:ln cap="flat" cmpd="sng" w="9525">
            <a:solidFill>
              <a:srgbClr val="4B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MDS NAS</a:t>
            </a:r>
            <a:endParaRPr sz="9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502" name="Google Shape;2502;p44"/>
          <p:cNvCxnSpPr>
            <a:stCxn id="2501" idx="2"/>
          </p:cNvCxnSpPr>
          <p:nvPr/>
        </p:nvCxnSpPr>
        <p:spPr>
          <a:xfrm rot="10800000">
            <a:off x="4486577" y="4196529"/>
            <a:ext cx="587100" cy="749100"/>
          </a:xfrm>
          <a:prstGeom prst="bentConnector2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503" name="Google Shape;2503;p44"/>
          <p:cNvCxnSpPr>
            <a:stCxn id="2501" idx="3"/>
          </p:cNvCxnSpPr>
          <p:nvPr/>
        </p:nvCxnSpPr>
        <p:spPr>
          <a:xfrm>
            <a:off x="5390996" y="5154052"/>
            <a:ext cx="600" cy="3864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7" name="Shape 2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" name="Google Shape;2508;p45"/>
          <p:cNvSpPr txBox="1"/>
          <p:nvPr/>
        </p:nvSpPr>
        <p:spPr>
          <a:xfrm>
            <a:off x="417770" y="714190"/>
            <a:ext cx="9071734" cy="926783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아키텍처 설계</a:t>
            </a:r>
            <a:endParaRPr b="1" i="0" sz="14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2.2.1 관련 솔루션</a:t>
            </a:r>
            <a:endParaRPr b="1" i="0" sz="12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MDS 시스템 구축에 적용되는 주요 솔루션 목록은 다음과 같다.</a:t>
            </a:r>
            <a:endParaRPr/>
          </a:p>
        </p:txBody>
      </p:sp>
      <p:graphicFrame>
        <p:nvGraphicFramePr>
          <p:cNvPr id="2509" name="Google Shape;2509;p45"/>
          <p:cNvGraphicFramePr/>
          <p:nvPr/>
        </p:nvGraphicFramePr>
        <p:xfrm>
          <a:off x="419100" y="1640973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{F6045412-04BD-4F82-B1B7-2730D475FC39}</a:tableStyleId>
              </a:tblPr>
              <a:tblGrid>
                <a:gridCol w="1527150"/>
                <a:gridCol w="5163425"/>
                <a:gridCol w="2379825"/>
              </a:tblGrid>
              <a:tr h="39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 분</a:t>
                      </a:r>
                      <a:endParaRPr sz="10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22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제품명(버전포함)</a:t>
                      </a:r>
                      <a:endParaRPr sz="10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22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업체명</a:t>
                      </a:r>
                      <a:endParaRPr sz="10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22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38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프레임워크</a:t>
                      </a:r>
                      <a:endParaRPr sz="10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108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Hi2</a:t>
                      </a: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Framework (BXM)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54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뱅크웨어 글로벌</a:t>
                      </a:r>
                      <a:endParaRPr sz="11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54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EAI</a:t>
                      </a:r>
                      <a:endParaRPr sz="10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108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Businessware v4.7</a:t>
                      </a:r>
                      <a:endParaRPr sz="11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54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모코엠시스</a:t>
                      </a:r>
                      <a:endParaRPr sz="11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54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FEP</a:t>
                      </a:r>
                      <a:endParaRPr sz="10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108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Megaware v7.0</a:t>
                      </a:r>
                      <a:endParaRPr sz="11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54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메가투스 </a:t>
                      </a:r>
                      <a:endParaRPr sz="11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54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WEB (MDS)</a:t>
                      </a:r>
                      <a:endParaRPr sz="10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108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Oracle HTTP Server 12.2</a:t>
                      </a:r>
                      <a:endParaRPr sz="11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54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Oracle</a:t>
                      </a:r>
                      <a:endParaRPr sz="11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54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WAS (MDS)</a:t>
                      </a:r>
                      <a:endParaRPr sz="10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108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Oracle WebLogic 12.2</a:t>
                      </a:r>
                      <a:endParaRPr sz="11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54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Oracle</a:t>
                      </a:r>
                      <a:endParaRPr sz="11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54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WEB (RD)</a:t>
                      </a:r>
                      <a:endParaRPr sz="10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108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Apache HTTPD 2.4</a:t>
                      </a:r>
                      <a:endParaRPr sz="11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54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Apache</a:t>
                      </a:r>
                      <a:r>
                        <a:rPr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SoftwareFoundation</a:t>
                      </a:r>
                      <a:endParaRPr sz="11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54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WAS</a:t>
                      </a:r>
                      <a:r>
                        <a:rPr lang="en-US" sz="10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(RD)</a:t>
                      </a:r>
                      <a:endParaRPr sz="10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108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Tomcat 9.0</a:t>
                      </a:r>
                      <a:endParaRPr sz="11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54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Apache</a:t>
                      </a:r>
                      <a:r>
                        <a:rPr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SoftwareFoundation</a:t>
                      </a:r>
                      <a:endParaRPr sz="11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54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DBMS</a:t>
                      </a:r>
                      <a:endParaRPr sz="10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108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Oracle19c</a:t>
                      </a:r>
                      <a:endParaRPr sz="11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54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Oracle</a:t>
                      </a:r>
                      <a:endParaRPr sz="11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54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타임스탬프</a:t>
                      </a:r>
                      <a:r>
                        <a:rPr lang="en-US" sz="10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endParaRPr sz="10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108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SCORE*PDF</a:t>
                      </a:r>
                      <a:endParaRPr sz="11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54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KTNET</a:t>
                      </a:r>
                      <a:endParaRPr sz="11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54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공전소 연계</a:t>
                      </a:r>
                      <a:endParaRPr sz="10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108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Docuon*Mate Client</a:t>
                      </a:r>
                      <a:endParaRPr sz="11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54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KTNET</a:t>
                      </a:r>
                      <a:endParaRPr sz="11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54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리포트</a:t>
                      </a:r>
                      <a:endParaRPr sz="10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108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CROWNIX Report &amp; ERS 6.0</a:t>
                      </a:r>
                      <a:endParaRPr sz="11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54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㈜엠투소프트</a:t>
                      </a:r>
                      <a:endParaRPr sz="11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54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3" name="Shape 2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4" name="Google Shape;2514;p46"/>
          <p:cNvSpPr txBox="1"/>
          <p:nvPr/>
        </p:nvSpPr>
        <p:spPr>
          <a:xfrm>
            <a:off x="417770" y="714190"/>
            <a:ext cx="9071734" cy="926783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아키텍처 설계</a:t>
            </a:r>
            <a:endParaRPr b="1" i="0" sz="14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2.2.2 그외 개발지원/모니터링/기타 솔루션</a:t>
            </a:r>
            <a:endParaRPr b="1" i="0" sz="12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MDS 시스템 구축에 적용되는 개발지원 및 기타 솔루션 목록은 다음과 같음.</a:t>
            </a:r>
            <a:endParaRPr/>
          </a:p>
        </p:txBody>
      </p:sp>
      <p:graphicFrame>
        <p:nvGraphicFramePr>
          <p:cNvPr id="2515" name="Google Shape;2515;p46"/>
          <p:cNvGraphicFramePr/>
          <p:nvPr/>
        </p:nvGraphicFramePr>
        <p:xfrm>
          <a:off x="419100" y="1640973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{F6045412-04BD-4F82-B1B7-2730D475FC39}</a:tableStyleId>
              </a:tblPr>
              <a:tblGrid>
                <a:gridCol w="1527150"/>
                <a:gridCol w="5163425"/>
                <a:gridCol w="2379825"/>
              </a:tblGrid>
              <a:tr h="40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 분</a:t>
                      </a:r>
                      <a:endParaRPr sz="10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22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제품명(버전포함)</a:t>
                      </a:r>
                      <a:endParaRPr sz="10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22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업체명</a:t>
                      </a:r>
                      <a:endParaRPr sz="10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22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3888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DB</a:t>
                      </a:r>
                      <a:r>
                        <a:rPr lang="en-US" sz="10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모니터링</a:t>
                      </a:r>
                      <a:endParaRPr sz="10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108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MaxGauge</a:t>
                      </a:r>
                      <a:endParaRPr sz="11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54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엑셈</a:t>
                      </a:r>
                      <a:endParaRPr sz="11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54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8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APM</a:t>
                      </a:r>
                      <a:endParaRPr sz="10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108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Jennifer</a:t>
                      </a:r>
                      <a:endParaRPr sz="11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54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제니퍼소프트</a:t>
                      </a:r>
                      <a:endParaRPr sz="11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54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8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백업</a:t>
                      </a:r>
                      <a:endParaRPr sz="10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108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Netbackup</a:t>
                      </a:r>
                      <a:endParaRPr sz="11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54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Veritas</a:t>
                      </a:r>
                      <a:endParaRPr sz="11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54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8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OS백업</a:t>
                      </a:r>
                      <a:endParaRPr sz="10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108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Acronics</a:t>
                      </a:r>
                      <a:endParaRPr sz="11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54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아크로니스</a:t>
                      </a:r>
                      <a:endParaRPr sz="11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54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8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서버보안</a:t>
                      </a:r>
                      <a:endParaRPr sz="10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108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SecuveTOS 5.0</a:t>
                      </a:r>
                      <a:endParaRPr sz="11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54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시큐브</a:t>
                      </a:r>
                      <a:endParaRPr sz="11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54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8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터치패드 보안</a:t>
                      </a:r>
                      <a:endParaRPr sz="10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108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TouchEn mTransKey</a:t>
                      </a:r>
                      <a:endParaRPr sz="11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54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7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라온시큐어</a:t>
                      </a:r>
                      <a:endParaRPr sz="11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22600" marL="54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9" name="Shape 2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0" name="Google Shape;2520;p47"/>
          <p:cNvSpPr txBox="1"/>
          <p:nvPr/>
        </p:nvSpPr>
        <p:spPr>
          <a:xfrm>
            <a:off x="417770" y="714190"/>
            <a:ext cx="8964356" cy="1203782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아키텍처 구현 방안</a:t>
            </a:r>
            <a:endParaRPr b="1" i="0" sz="14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3.1 프레임워크 아키텍처</a:t>
            </a:r>
            <a:endParaRPr b="1" i="0" sz="12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4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●"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Hi2 Framework</a:t>
            </a:r>
            <a:b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1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MDS 시스템 구축에 적용되는 </a:t>
            </a:r>
            <a: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Hi2 Framework</a:t>
            </a:r>
            <a:r>
              <a:rPr b="0" i="0" lang="en-US" sz="11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 </a:t>
            </a:r>
            <a: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온라인 실행환경은 표준프레임워크를 통하여 각 영역별로 해당 기능을 제공함</a:t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521" name="Google Shape;2521;p47"/>
          <p:cNvGrpSpPr/>
          <p:nvPr/>
        </p:nvGrpSpPr>
        <p:grpSpPr>
          <a:xfrm>
            <a:off x="417770" y="2023843"/>
            <a:ext cx="8928546" cy="4277295"/>
            <a:chOff x="417770" y="2023843"/>
            <a:chExt cx="8928546" cy="4277295"/>
          </a:xfrm>
        </p:grpSpPr>
        <p:grpSp>
          <p:nvGrpSpPr>
            <p:cNvPr id="2522" name="Google Shape;2522;p47"/>
            <p:cNvGrpSpPr/>
            <p:nvPr/>
          </p:nvGrpSpPr>
          <p:grpSpPr>
            <a:xfrm>
              <a:off x="4636756" y="2023843"/>
              <a:ext cx="4709560" cy="4277295"/>
              <a:chOff x="4707490" y="2023843"/>
              <a:chExt cx="4709560" cy="4277295"/>
            </a:xfrm>
          </p:grpSpPr>
          <p:sp>
            <p:nvSpPr>
              <p:cNvPr id="2523" name="Google Shape;2523;p47"/>
              <p:cNvSpPr/>
              <p:nvPr/>
            </p:nvSpPr>
            <p:spPr>
              <a:xfrm>
                <a:off x="4707490" y="2550301"/>
                <a:ext cx="1201594" cy="413900"/>
              </a:xfrm>
              <a:prstGeom prst="roundRect">
                <a:avLst>
                  <a:gd fmla="val 0" name="adj"/>
                </a:avLst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rm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일관된 </a:t>
                </a:r>
                <a:br>
                  <a:rPr b="1" lang="en-US" sz="9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b="1" lang="en-US" sz="9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Interface</a:t>
                </a:r>
                <a:endParaRPr b="1" sz="9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524" name="Google Shape;2524;p47"/>
              <p:cNvSpPr/>
              <p:nvPr/>
            </p:nvSpPr>
            <p:spPr>
              <a:xfrm>
                <a:off x="5906962" y="2550301"/>
                <a:ext cx="3510088" cy="413900"/>
              </a:xfrm>
              <a:prstGeom prst="roundRect">
                <a:avLst>
                  <a:gd fmla="val 0" name="adj"/>
                </a:avLst>
              </a:prstGeom>
              <a:noFill/>
              <a:ln cap="sq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-85725" lvl="0" marL="85725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algun Gothic"/>
                  <a:buChar char="•"/>
                </a:pPr>
                <a:r>
                  <a:rPr lang="en-US" sz="9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Service Endpoint, Application Container, Data Access Layer간 Data Object 단일 인터페이스</a:t>
                </a:r>
                <a:endParaRPr sz="9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525" name="Google Shape;2525;p47"/>
              <p:cNvSpPr/>
              <p:nvPr/>
            </p:nvSpPr>
            <p:spPr>
              <a:xfrm>
                <a:off x="4707490" y="3029805"/>
                <a:ext cx="1201594" cy="460854"/>
              </a:xfrm>
              <a:prstGeom prst="roundRect">
                <a:avLst>
                  <a:gd fmla="val 0" name="adj"/>
                </a:avLst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rm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계층화된</a:t>
                </a:r>
                <a:endParaRPr b="1" sz="9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처리구조</a:t>
                </a:r>
                <a:endParaRPr/>
              </a:p>
            </p:txBody>
          </p:sp>
          <p:sp>
            <p:nvSpPr>
              <p:cNvPr id="2526" name="Google Shape;2526;p47"/>
              <p:cNvSpPr/>
              <p:nvPr/>
            </p:nvSpPr>
            <p:spPr>
              <a:xfrm>
                <a:off x="5906962" y="3029805"/>
                <a:ext cx="3510088" cy="460854"/>
              </a:xfrm>
              <a:prstGeom prst="roundRect">
                <a:avLst>
                  <a:gd fmla="val 0" name="adj"/>
                </a:avLst>
              </a:prstGeom>
              <a:noFill/>
              <a:ln cap="sq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-85725" lvl="0" marL="85725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algun Gothic"/>
                  <a:buChar char="•"/>
                </a:pPr>
                <a:r>
                  <a:rPr lang="en-US" sz="9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시스템 전/후처리, 업무 공통 전/후처리 지원</a:t>
                </a:r>
                <a:endParaRPr sz="9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-85725" lvl="0" marL="85725" marR="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algun Gothic"/>
                  <a:buChar char="•"/>
                </a:pPr>
                <a:r>
                  <a:rPr lang="en-US" sz="9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권한 체크, 접근 로깅 등 처리 강제화 구조</a:t>
                </a:r>
                <a:endParaRPr sz="9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527" name="Google Shape;2527;p47"/>
              <p:cNvSpPr/>
              <p:nvPr/>
            </p:nvSpPr>
            <p:spPr>
              <a:xfrm>
                <a:off x="4707490" y="4035767"/>
                <a:ext cx="1201594" cy="413900"/>
              </a:xfrm>
              <a:prstGeom prst="roundRect">
                <a:avLst>
                  <a:gd fmla="val 0" name="adj"/>
                </a:avLst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rm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최적의</a:t>
                </a:r>
                <a:endParaRPr b="1" sz="9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프로그램 관리</a:t>
                </a:r>
                <a:endParaRPr/>
              </a:p>
            </p:txBody>
          </p:sp>
          <p:sp>
            <p:nvSpPr>
              <p:cNvPr id="2528" name="Google Shape;2528;p47"/>
              <p:cNvSpPr/>
              <p:nvPr/>
            </p:nvSpPr>
            <p:spPr>
              <a:xfrm>
                <a:off x="5906962" y="4035767"/>
                <a:ext cx="3510088" cy="413900"/>
              </a:xfrm>
              <a:prstGeom prst="roundRect">
                <a:avLst>
                  <a:gd fmla="val 0" name="adj"/>
                </a:avLst>
              </a:prstGeom>
              <a:noFill/>
              <a:ln cap="sq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-85725" lvl="0" marL="85725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algun Gothic"/>
                  <a:buChar char="•"/>
                </a:pPr>
                <a:r>
                  <a:rPr lang="en-US" sz="9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Pure POJO 방식의 프로그램 라이프사이클 관리 및 프레임워크 종속 코드의 동적 삽입</a:t>
                </a:r>
                <a:endParaRPr sz="9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529" name="Google Shape;2529;p47"/>
              <p:cNvSpPr/>
              <p:nvPr/>
            </p:nvSpPr>
            <p:spPr>
              <a:xfrm>
                <a:off x="4707490" y="2023843"/>
                <a:ext cx="1201594" cy="460854"/>
              </a:xfrm>
              <a:prstGeom prst="roundRect">
                <a:avLst>
                  <a:gd fmla="val 0" name="adj"/>
                </a:avLst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rm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고성능</a:t>
                </a:r>
                <a:endParaRPr b="1" sz="9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기반 엔진</a:t>
                </a:r>
                <a:endParaRPr b="1" sz="9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530" name="Google Shape;2530;p47"/>
              <p:cNvSpPr/>
              <p:nvPr/>
            </p:nvSpPr>
            <p:spPr>
              <a:xfrm>
                <a:off x="5906962" y="2023843"/>
                <a:ext cx="3510088" cy="460854"/>
              </a:xfrm>
              <a:prstGeom prst="roundRect">
                <a:avLst>
                  <a:gd fmla="val 0" name="adj"/>
                </a:avLst>
              </a:prstGeom>
              <a:noFill/>
              <a:ln cap="sq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-85725" lvl="0" marL="85725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algun Gothic"/>
                  <a:buChar char="•"/>
                </a:pPr>
                <a:r>
                  <a:rPr lang="en-US" sz="9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Load Time BCI 구조로 실행 부하 최소화</a:t>
                </a:r>
                <a:endParaRPr sz="9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-85725" lvl="0" marL="85725" marR="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algun Gothic"/>
                  <a:buChar char="•"/>
                </a:pPr>
                <a:r>
                  <a:rPr lang="en-US" sz="9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Cache, Data Container를 이용한 I/O 최소화</a:t>
                </a:r>
                <a:endParaRPr sz="9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531" name="Google Shape;2531;p47"/>
              <p:cNvSpPr/>
              <p:nvPr/>
            </p:nvSpPr>
            <p:spPr>
              <a:xfrm>
                <a:off x="4707490" y="3556263"/>
                <a:ext cx="1201594" cy="413900"/>
              </a:xfrm>
              <a:prstGeom prst="roundRect">
                <a:avLst>
                  <a:gd fmla="val 0" name="adj"/>
                </a:avLst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rm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유연한</a:t>
                </a:r>
                <a:endParaRPr b="1" sz="9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Layer 구조</a:t>
                </a:r>
                <a:endParaRPr/>
              </a:p>
            </p:txBody>
          </p:sp>
          <p:sp>
            <p:nvSpPr>
              <p:cNvPr id="2532" name="Google Shape;2532;p47"/>
              <p:cNvSpPr/>
              <p:nvPr/>
            </p:nvSpPr>
            <p:spPr>
              <a:xfrm>
                <a:off x="5906962" y="3556263"/>
                <a:ext cx="3510088" cy="413900"/>
              </a:xfrm>
              <a:prstGeom prst="roundRect">
                <a:avLst>
                  <a:gd fmla="val 0" name="adj"/>
                </a:avLst>
              </a:prstGeom>
              <a:noFill/>
              <a:ln cap="sq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-85725" lvl="0" marL="85725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algun Gothic"/>
                  <a:buChar char="•"/>
                </a:pPr>
                <a:r>
                  <a:rPr lang="en-US" sz="9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입출력 및 DB, 타 시스템 인터페이스 Layer 분리를 통한 유연한 처리 가능 구조</a:t>
                </a:r>
                <a:endParaRPr sz="9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533" name="Google Shape;2533;p47"/>
              <p:cNvSpPr/>
              <p:nvPr/>
            </p:nvSpPr>
            <p:spPr>
              <a:xfrm>
                <a:off x="4707490" y="4515271"/>
                <a:ext cx="1201594" cy="413900"/>
              </a:xfrm>
              <a:prstGeom prst="roundRect">
                <a:avLst>
                  <a:gd fmla="val 0" name="adj"/>
                </a:avLst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rm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표준기술 기반</a:t>
                </a:r>
                <a:endParaRPr/>
              </a:p>
            </p:txBody>
          </p:sp>
          <p:sp>
            <p:nvSpPr>
              <p:cNvPr id="2534" name="Google Shape;2534;p47"/>
              <p:cNvSpPr/>
              <p:nvPr/>
            </p:nvSpPr>
            <p:spPr>
              <a:xfrm>
                <a:off x="5906962" y="4515271"/>
                <a:ext cx="3510088" cy="413900"/>
              </a:xfrm>
              <a:prstGeom prst="roundRect">
                <a:avLst>
                  <a:gd fmla="val 0" name="adj"/>
                </a:avLst>
              </a:prstGeom>
              <a:noFill/>
              <a:ln cap="sq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-85725" lvl="0" marL="85725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algun Gothic"/>
                  <a:buChar char="•"/>
                </a:pPr>
                <a:r>
                  <a:rPr lang="en-US" sz="9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Java EE 기반의 de-facto 표준 오픈 소스 기반이나, Transaction 처리 성능 개선 등 최적화 기술 적용</a:t>
                </a:r>
                <a:endParaRPr/>
              </a:p>
            </p:txBody>
          </p:sp>
          <p:sp>
            <p:nvSpPr>
              <p:cNvPr id="2535" name="Google Shape;2535;p47"/>
              <p:cNvSpPr/>
              <p:nvPr/>
            </p:nvSpPr>
            <p:spPr>
              <a:xfrm>
                <a:off x="4707490" y="4994775"/>
                <a:ext cx="1201594" cy="779905"/>
              </a:xfrm>
              <a:prstGeom prst="roundRect">
                <a:avLst>
                  <a:gd fmla="val 0" name="adj"/>
                </a:avLst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rm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Application 호환</a:t>
                </a:r>
                <a:endParaRPr/>
              </a:p>
            </p:txBody>
          </p:sp>
          <p:sp>
            <p:nvSpPr>
              <p:cNvPr id="2536" name="Google Shape;2536;p47"/>
              <p:cNvSpPr/>
              <p:nvPr/>
            </p:nvSpPr>
            <p:spPr>
              <a:xfrm>
                <a:off x="5906962" y="4994775"/>
                <a:ext cx="3510088" cy="779905"/>
              </a:xfrm>
              <a:prstGeom prst="roundRect">
                <a:avLst>
                  <a:gd fmla="val 0" name="adj"/>
                </a:avLst>
              </a:prstGeom>
              <a:noFill/>
              <a:ln cap="sq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-85725" lvl="0" marL="85725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algun Gothic"/>
                  <a:buChar char="•"/>
                </a:pPr>
                <a:r>
                  <a:rPr lang="en-US" sz="9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Application Layer 구조 및 공통 API 및 각종 Utility의 AS-IS 호환성 유지</a:t>
                </a:r>
                <a:endParaRPr sz="9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-85725" lvl="0" marL="85725" marR="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algun Gothic"/>
                  <a:buChar char="•"/>
                </a:pPr>
                <a:r>
                  <a:rPr lang="en-US" sz="9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Internal / External / Rule Adaptor, File upload / download, 암호화 등 모듈  AS-IS 호환성 유지</a:t>
                </a:r>
                <a:endParaRPr/>
              </a:p>
            </p:txBody>
          </p:sp>
          <p:sp>
            <p:nvSpPr>
              <p:cNvPr id="2537" name="Google Shape;2537;p47"/>
              <p:cNvSpPr/>
              <p:nvPr/>
            </p:nvSpPr>
            <p:spPr>
              <a:xfrm>
                <a:off x="4707490" y="5840284"/>
                <a:ext cx="1201594" cy="460854"/>
              </a:xfrm>
              <a:prstGeom prst="roundRect">
                <a:avLst>
                  <a:gd fmla="val 0" name="adj"/>
                </a:avLst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rm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실행환경</a:t>
                </a:r>
                <a:endParaRPr b="1" sz="9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환경설정 관리</a:t>
                </a:r>
                <a:endParaRPr/>
              </a:p>
            </p:txBody>
          </p:sp>
          <p:sp>
            <p:nvSpPr>
              <p:cNvPr id="2538" name="Google Shape;2538;p47"/>
              <p:cNvSpPr/>
              <p:nvPr/>
            </p:nvSpPr>
            <p:spPr>
              <a:xfrm>
                <a:off x="5906962" y="5840284"/>
                <a:ext cx="3510088" cy="460854"/>
              </a:xfrm>
              <a:prstGeom prst="roundRect">
                <a:avLst>
                  <a:gd fmla="val 0" name="adj"/>
                </a:avLst>
              </a:prstGeom>
              <a:noFill/>
              <a:ln cap="sq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-85725" lvl="0" marL="85725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algun Gothic"/>
                  <a:buChar char="•"/>
                </a:pPr>
                <a:r>
                  <a:rPr lang="en-US" sz="9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FMS에서 온라인 실행환경 환경설정 관리</a:t>
                </a:r>
                <a:endParaRPr sz="9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-85725" lvl="0" marL="85725" marR="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algun Gothic"/>
                  <a:buChar char="•"/>
                </a:pPr>
                <a:r>
                  <a:rPr lang="en-US" sz="9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TranID 관리, 서비스 제어, 서비스 로그레벨 조정 기능 지원</a:t>
                </a:r>
                <a:endParaRPr/>
              </a:p>
            </p:txBody>
          </p:sp>
        </p:grpSp>
        <p:sp>
          <p:nvSpPr>
            <p:cNvPr id="2539" name="Google Shape;2539;p47"/>
            <p:cNvSpPr/>
            <p:nvPr/>
          </p:nvSpPr>
          <p:spPr>
            <a:xfrm>
              <a:off x="417770" y="2192810"/>
              <a:ext cx="4122195" cy="4108327"/>
            </a:xfrm>
            <a:prstGeom prst="rect">
              <a:avLst/>
            </a:prstGeom>
            <a:solidFill>
              <a:srgbClr val="F2F2F2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540" name="Google Shape;2540;p47"/>
            <p:cNvSpPr/>
            <p:nvPr/>
          </p:nvSpPr>
          <p:spPr>
            <a:xfrm>
              <a:off x="463167" y="2376776"/>
              <a:ext cx="1400832" cy="1228671"/>
            </a:xfrm>
            <a:prstGeom prst="rect">
              <a:avLst/>
            </a:prstGeom>
            <a:solidFill>
              <a:srgbClr val="D8D8D8"/>
            </a:solidFill>
            <a:ln cap="flat" cmpd="sng" w="127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입출력</a:t>
              </a:r>
              <a:endParaRPr b="1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541" name="Google Shape;2541;p47"/>
            <p:cNvSpPr/>
            <p:nvPr/>
          </p:nvSpPr>
          <p:spPr>
            <a:xfrm>
              <a:off x="463168" y="3698847"/>
              <a:ext cx="4031842" cy="1102923"/>
            </a:xfrm>
            <a:prstGeom prst="rect">
              <a:avLst/>
            </a:prstGeom>
            <a:solidFill>
              <a:srgbClr val="D8D8D8"/>
            </a:solidFill>
            <a:ln cap="flat" cmpd="sng" w="127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인터페이스</a:t>
              </a:r>
              <a:endParaRPr b="1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542" name="Google Shape;2542;p47"/>
            <p:cNvSpPr/>
            <p:nvPr/>
          </p:nvSpPr>
          <p:spPr>
            <a:xfrm>
              <a:off x="513213" y="2685459"/>
              <a:ext cx="1295932" cy="16444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Channel Adaptor</a:t>
              </a:r>
              <a:endParaRPr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543" name="Google Shape;2543;p47"/>
            <p:cNvSpPr/>
            <p:nvPr/>
          </p:nvSpPr>
          <p:spPr>
            <a:xfrm>
              <a:off x="513213" y="2906330"/>
              <a:ext cx="1295932" cy="16444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Object Message 변환</a:t>
              </a:r>
              <a:endParaRPr/>
            </a:p>
          </p:txBody>
        </p:sp>
        <p:sp>
          <p:nvSpPr>
            <p:cNvPr id="2544" name="Google Shape;2544;p47"/>
            <p:cNvSpPr/>
            <p:nvPr/>
          </p:nvSpPr>
          <p:spPr>
            <a:xfrm>
              <a:off x="513213" y="3135263"/>
              <a:ext cx="1295932" cy="16444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Service Control Manager</a:t>
              </a:r>
              <a:endParaRPr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545" name="Google Shape;2545;p47"/>
            <p:cNvSpPr/>
            <p:nvPr/>
          </p:nvSpPr>
          <p:spPr>
            <a:xfrm>
              <a:off x="513213" y="3347260"/>
              <a:ext cx="1295932" cy="16042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Service Controller</a:t>
              </a:r>
              <a:endParaRPr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546" name="Google Shape;2546;p47"/>
            <p:cNvSpPr/>
            <p:nvPr/>
          </p:nvSpPr>
          <p:spPr>
            <a:xfrm>
              <a:off x="1910254" y="2376776"/>
              <a:ext cx="1269251" cy="1228671"/>
            </a:xfrm>
            <a:prstGeom prst="rect">
              <a:avLst/>
            </a:prstGeom>
            <a:solidFill>
              <a:srgbClr val="D8D8D8"/>
            </a:solidFill>
            <a:ln cap="flat" cmpd="sng" w="127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업무</a:t>
              </a:r>
              <a:endParaRPr b="1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547" name="Google Shape;2547;p47"/>
            <p:cNvSpPr/>
            <p:nvPr/>
          </p:nvSpPr>
          <p:spPr>
            <a:xfrm>
              <a:off x="1954856" y="2685459"/>
              <a:ext cx="1181585" cy="16444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서비스 프레임</a:t>
              </a:r>
              <a:endParaRPr/>
            </a:p>
          </p:txBody>
        </p:sp>
        <p:sp>
          <p:nvSpPr>
            <p:cNvPr id="2548" name="Google Shape;2548;p47"/>
            <p:cNvSpPr/>
            <p:nvPr/>
          </p:nvSpPr>
          <p:spPr>
            <a:xfrm>
              <a:off x="1954856" y="2906330"/>
              <a:ext cx="1181585" cy="16444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서비스 선후처리 기능</a:t>
              </a:r>
              <a:endParaRPr/>
            </a:p>
          </p:txBody>
        </p:sp>
        <p:sp>
          <p:nvSpPr>
            <p:cNvPr id="2549" name="Google Shape;2549;p47"/>
            <p:cNvSpPr/>
            <p:nvPr/>
          </p:nvSpPr>
          <p:spPr>
            <a:xfrm>
              <a:off x="1954856" y="3135263"/>
              <a:ext cx="1181585" cy="16444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이미지로그</a:t>
              </a:r>
              <a:endParaRPr/>
            </a:p>
          </p:txBody>
        </p:sp>
        <p:sp>
          <p:nvSpPr>
            <p:cNvPr id="2550" name="Google Shape;2550;p47"/>
            <p:cNvSpPr/>
            <p:nvPr/>
          </p:nvSpPr>
          <p:spPr>
            <a:xfrm>
              <a:off x="1954856" y="3343238"/>
              <a:ext cx="1181585" cy="16444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서비스 검증</a:t>
              </a:r>
              <a:endParaRPr/>
            </a:p>
          </p:txBody>
        </p:sp>
        <p:sp>
          <p:nvSpPr>
            <p:cNvPr id="2551" name="Google Shape;2551;p47"/>
            <p:cNvSpPr/>
            <p:nvPr/>
          </p:nvSpPr>
          <p:spPr>
            <a:xfrm>
              <a:off x="3225759" y="2376776"/>
              <a:ext cx="1269251" cy="1228671"/>
            </a:xfrm>
            <a:prstGeom prst="rect">
              <a:avLst/>
            </a:prstGeom>
            <a:solidFill>
              <a:srgbClr val="D8D8D8"/>
            </a:solidFill>
            <a:ln cap="flat" cmpd="sng" w="127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데이터</a:t>
              </a:r>
              <a:endParaRPr b="1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552" name="Google Shape;2552;p47"/>
            <p:cNvSpPr/>
            <p:nvPr/>
          </p:nvSpPr>
          <p:spPr>
            <a:xfrm>
              <a:off x="3276184" y="2695132"/>
              <a:ext cx="1181585" cy="16444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DB access 관리</a:t>
              </a:r>
              <a:endParaRPr/>
            </a:p>
          </p:txBody>
        </p:sp>
        <p:sp>
          <p:nvSpPr>
            <p:cNvPr id="2553" name="Google Shape;2553;p47"/>
            <p:cNvSpPr/>
            <p:nvPr/>
          </p:nvSpPr>
          <p:spPr>
            <a:xfrm>
              <a:off x="3276184" y="2916004"/>
              <a:ext cx="1181585" cy="16444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DataSource 관리</a:t>
              </a:r>
              <a:endParaRPr/>
            </a:p>
          </p:txBody>
        </p:sp>
        <p:sp>
          <p:nvSpPr>
            <p:cNvPr id="2554" name="Google Shape;2554;p47"/>
            <p:cNvSpPr/>
            <p:nvPr/>
          </p:nvSpPr>
          <p:spPr>
            <a:xfrm>
              <a:off x="3276184" y="3144937"/>
              <a:ext cx="1181585" cy="16444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DB Trace 기능</a:t>
              </a:r>
              <a:endParaRPr/>
            </a:p>
          </p:txBody>
        </p:sp>
        <p:sp>
          <p:nvSpPr>
            <p:cNvPr id="2555" name="Google Shape;2555;p47"/>
            <p:cNvSpPr/>
            <p:nvPr/>
          </p:nvSpPr>
          <p:spPr>
            <a:xfrm>
              <a:off x="463168" y="4892708"/>
              <a:ext cx="4031842" cy="1358784"/>
            </a:xfrm>
            <a:prstGeom prst="rect">
              <a:avLst/>
            </a:prstGeom>
            <a:solidFill>
              <a:srgbClr val="D8D8D8"/>
            </a:solidFill>
            <a:ln cap="flat" cmpd="sng" w="127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공통</a:t>
              </a:r>
              <a:endParaRPr b="1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556" name="Google Shape;2556;p47"/>
            <p:cNvSpPr/>
            <p:nvPr/>
          </p:nvSpPr>
          <p:spPr>
            <a:xfrm>
              <a:off x="535860" y="5127003"/>
              <a:ext cx="724197" cy="31842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서비스</a:t>
              </a:r>
              <a:endParaRPr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spcBef>
                  <a:spcPts val="16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제어 </a:t>
              </a:r>
              <a:endParaRPr/>
            </a:p>
          </p:txBody>
        </p:sp>
        <p:sp>
          <p:nvSpPr>
            <p:cNvPr id="2557" name="Google Shape;2557;p47"/>
            <p:cNvSpPr/>
            <p:nvPr/>
          </p:nvSpPr>
          <p:spPr>
            <a:xfrm>
              <a:off x="1324610" y="5127003"/>
              <a:ext cx="724197" cy="31842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로그관리</a:t>
              </a:r>
              <a:endParaRPr/>
            </a:p>
          </p:txBody>
        </p:sp>
        <p:sp>
          <p:nvSpPr>
            <p:cNvPr id="2558" name="Google Shape;2558;p47"/>
            <p:cNvSpPr/>
            <p:nvPr/>
          </p:nvSpPr>
          <p:spPr>
            <a:xfrm>
              <a:off x="2113359" y="5127003"/>
              <a:ext cx="724197" cy="31842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장애관리</a:t>
              </a:r>
              <a:endParaRPr/>
            </a:p>
          </p:txBody>
        </p:sp>
        <p:sp>
          <p:nvSpPr>
            <p:cNvPr id="2559" name="Google Shape;2559;p47"/>
            <p:cNvSpPr/>
            <p:nvPr/>
          </p:nvSpPr>
          <p:spPr>
            <a:xfrm>
              <a:off x="2902107" y="5127003"/>
              <a:ext cx="724197" cy="31842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Timeout</a:t>
              </a:r>
              <a:endParaRPr/>
            </a:p>
            <a:p>
              <a:pPr indent="0" lvl="0" marL="0" marR="0" rtl="0" algn="ctr">
                <a:spcBef>
                  <a:spcPts val="16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관리</a:t>
              </a:r>
              <a:endParaRPr/>
            </a:p>
          </p:txBody>
        </p:sp>
        <p:sp>
          <p:nvSpPr>
            <p:cNvPr id="2560" name="Google Shape;2560;p47"/>
            <p:cNvSpPr/>
            <p:nvPr/>
          </p:nvSpPr>
          <p:spPr>
            <a:xfrm>
              <a:off x="3690856" y="5127003"/>
              <a:ext cx="724197" cy="31842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TX 관리</a:t>
              </a:r>
              <a:endParaRPr/>
            </a:p>
          </p:txBody>
        </p:sp>
        <p:sp>
          <p:nvSpPr>
            <p:cNvPr id="2561" name="Google Shape;2561;p47"/>
            <p:cNvSpPr/>
            <p:nvPr/>
          </p:nvSpPr>
          <p:spPr>
            <a:xfrm>
              <a:off x="1324610" y="5502759"/>
              <a:ext cx="724197" cy="31842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Cache 지원 </a:t>
              </a:r>
              <a:endParaRPr/>
            </a:p>
          </p:txBody>
        </p:sp>
        <p:sp>
          <p:nvSpPr>
            <p:cNvPr id="2562" name="Google Shape;2562;p47"/>
            <p:cNvSpPr/>
            <p:nvPr/>
          </p:nvSpPr>
          <p:spPr>
            <a:xfrm>
              <a:off x="2902107" y="5502759"/>
              <a:ext cx="724197" cy="31842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Message</a:t>
              </a:r>
              <a:endParaRPr/>
            </a:p>
            <a:p>
              <a:pPr indent="0" lvl="0" marL="0" marR="0" rtl="0" algn="ctr">
                <a:spcBef>
                  <a:spcPts val="16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관리</a:t>
              </a:r>
              <a:endParaRPr/>
            </a:p>
          </p:txBody>
        </p:sp>
        <p:sp>
          <p:nvSpPr>
            <p:cNvPr id="2563" name="Google Shape;2563;p47"/>
            <p:cNvSpPr/>
            <p:nvPr/>
          </p:nvSpPr>
          <p:spPr>
            <a:xfrm>
              <a:off x="417770" y="2023843"/>
              <a:ext cx="4122195" cy="275978"/>
            </a:xfrm>
            <a:prstGeom prst="rect">
              <a:avLst/>
            </a:prstGeom>
            <a:solidFill>
              <a:srgbClr val="3F3F3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50"/>
                <a:buFont typeface="Malgun Gothic"/>
                <a:buNone/>
              </a:pPr>
              <a:r>
                <a:rPr b="1" lang="en-US" sz="105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표준프레임워크 온라인프로그램 실행환경</a:t>
              </a:r>
              <a:endParaRPr b="1" i="0" sz="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564" name="Google Shape;2564;p47"/>
            <p:cNvSpPr/>
            <p:nvPr/>
          </p:nvSpPr>
          <p:spPr>
            <a:xfrm>
              <a:off x="2902107" y="5878514"/>
              <a:ext cx="724197" cy="31842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File Util</a:t>
              </a:r>
              <a:endParaRPr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565" name="Google Shape;2565;p47"/>
            <p:cNvSpPr/>
            <p:nvPr/>
          </p:nvSpPr>
          <p:spPr>
            <a:xfrm>
              <a:off x="3690856" y="5878514"/>
              <a:ext cx="724197" cy="31842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File Upload</a:t>
              </a:r>
              <a:endParaRPr/>
            </a:p>
            <a:p>
              <a:pPr indent="0" lvl="0" marL="0" marR="0" rtl="0" algn="ctr">
                <a:spcBef>
                  <a:spcPts val="16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/Download</a:t>
              </a:r>
              <a:endParaRPr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566" name="Google Shape;2566;p47"/>
            <p:cNvSpPr/>
            <p:nvPr/>
          </p:nvSpPr>
          <p:spPr>
            <a:xfrm>
              <a:off x="3690856" y="5502759"/>
              <a:ext cx="724197" cy="31842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암호화</a:t>
              </a:r>
              <a:endParaRPr/>
            </a:p>
          </p:txBody>
        </p:sp>
        <p:sp>
          <p:nvSpPr>
            <p:cNvPr id="2567" name="Google Shape;2567;p47"/>
            <p:cNvSpPr/>
            <p:nvPr/>
          </p:nvSpPr>
          <p:spPr>
            <a:xfrm>
              <a:off x="535860" y="5878514"/>
              <a:ext cx="724197" cy="31842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GUID 관리</a:t>
              </a:r>
              <a:endParaRPr/>
            </a:p>
          </p:txBody>
        </p:sp>
        <p:sp>
          <p:nvSpPr>
            <p:cNvPr id="2568" name="Google Shape;2568;p47"/>
            <p:cNvSpPr/>
            <p:nvPr/>
          </p:nvSpPr>
          <p:spPr>
            <a:xfrm>
              <a:off x="1324610" y="5878514"/>
              <a:ext cx="724197" cy="31842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TranID 사용</a:t>
              </a:r>
              <a:endParaRPr/>
            </a:p>
          </p:txBody>
        </p:sp>
        <p:sp>
          <p:nvSpPr>
            <p:cNvPr id="2569" name="Google Shape;2569;p47"/>
            <p:cNvSpPr/>
            <p:nvPr/>
          </p:nvSpPr>
          <p:spPr>
            <a:xfrm>
              <a:off x="2116991" y="5502759"/>
              <a:ext cx="724197" cy="31842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Common Data 관리</a:t>
              </a:r>
              <a:endParaRPr/>
            </a:p>
          </p:txBody>
        </p:sp>
        <p:sp>
          <p:nvSpPr>
            <p:cNvPr id="2570" name="Google Shape;2570;p47"/>
            <p:cNvSpPr/>
            <p:nvPr/>
          </p:nvSpPr>
          <p:spPr>
            <a:xfrm>
              <a:off x="535860" y="5502759"/>
              <a:ext cx="724197" cy="31842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예외처리</a:t>
              </a:r>
              <a:endParaRPr/>
            </a:p>
          </p:txBody>
        </p:sp>
        <p:sp>
          <p:nvSpPr>
            <p:cNvPr id="2571" name="Google Shape;2571;p47"/>
            <p:cNvSpPr/>
            <p:nvPr/>
          </p:nvSpPr>
          <p:spPr>
            <a:xfrm>
              <a:off x="2113359" y="5878514"/>
              <a:ext cx="724197" cy="31842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Utility </a:t>
              </a:r>
              <a:endParaRPr/>
            </a:p>
          </p:txBody>
        </p:sp>
        <p:sp>
          <p:nvSpPr>
            <p:cNvPr id="2572" name="Google Shape;2572;p47"/>
            <p:cNvSpPr/>
            <p:nvPr/>
          </p:nvSpPr>
          <p:spPr>
            <a:xfrm>
              <a:off x="508843" y="3970163"/>
              <a:ext cx="1908503" cy="153011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Internal Adaptor</a:t>
              </a:r>
              <a:endParaRPr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573" name="Google Shape;2573;p47"/>
            <p:cNvSpPr/>
            <p:nvPr/>
          </p:nvSpPr>
          <p:spPr>
            <a:xfrm>
              <a:off x="508843" y="4172584"/>
              <a:ext cx="1908503" cy="153011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External Adaptor</a:t>
              </a:r>
              <a:endParaRPr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574" name="Google Shape;2574;p47"/>
            <p:cNvSpPr/>
            <p:nvPr/>
          </p:nvSpPr>
          <p:spPr>
            <a:xfrm>
              <a:off x="2514137" y="3970294"/>
              <a:ext cx="1908503" cy="153011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Sync, Async 방식 지원 </a:t>
              </a:r>
              <a:endParaRPr/>
            </a:p>
          </p:txBody>
        </p:sp>
        <p:sp>
          <p:nvSpPr>
            <p:cNvPr id="2575" name="Google Shape;2575;p47"/>
            <p:cNvSpPr/>
            <p:nvPr/>
          </p:nvSpPr>
          <p:spPr>
            <a:xfrm>
              <a:off x="508843" y="4375004"/>
              <a:ext cx="1908503" cy="153011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DBIO Adaptor</a:t>
              </a:r>
              <a:endParaRPr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576" name="Google Shape;2576;p47"/>
            <p:cNvSpPr/>
            <p:nvPr/>
          </p:nvSpPr>
          <p:spPr>
            <a:xfrm>
              <a:off x="2514137" y="4172584"/>
              <a:ext cx="1908503" cy="153011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서비스간 연동</a:t>
              </a:r>
              <a:endParaRPr/>
            </a:p>
          </p:txBody>
        </p:sp>
        <p:sp>
          <p:nvSpPr>
            <p:cNvPr id="2577" name="Google Shape;2577;p47"/>
            <p:cNvSpPr/>
            <p:nvPr/>
          </p:nvSpPr>
          <p:spPr>
            <a:xfrm>
              <a:off x="508843" y="4577426"/>
              <a:ext cx="1908503" cy="153011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Rule Adaptor</a:t>
              </a:r>
              <a:endParaRPr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578" name="Google Shape;2578;p47"/>
            <p:cNvSpPr/>
            <p:nvPr/>
          </p:nvSpPr>
          <p:spPr>
            <a:xfrm>
              <a:off x="2514137" y="4373161"/>
              <a:ext cx="1908503" cy="153011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Interface Invoker</a:t>
              </a:r>
              <a:endParaRPr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2" name="Shape 2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3" name="Google Shape;2583;p48"/>
          <p:cNvSpPr txBox="1"/>
          <p:nvPr/>
        </p:nvSpPr>
        <p:spPr>
          <a:xfrm>
            <a:off x="417770" y="714190"/>
            <a:ext cx="8964356" cy="672867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아키텍처 구현 방안</a:t>
            </a:r>
            <a:endParaRPr b="1" i="0" sz="14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3.2 통합 본인인증</a:t>
            </a:r>
            <a:endParaRPr b="0" i="0" sz="11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2584" name="Google Shape;2584;p48"/>
          <p:cNvGraphicFramePr/>
          <p:nvPr/>
        </p:nvGraphicFramePr>
        <p:xfrm>
          <a:off x="417770" y="13792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{9216E51F-281C-4444-9FEC-27A87119D8F7}</a:tableStyleId>
              </a:tblPr>
              <a:tblGrid>
                <a:gridCol w="792950"/>
                <a:gridCol w="8269275"/>
              </a:tblGrid>
              <a:tr h="294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항목</a:t>
                      </a:r>
                      <a:endParaRPr/>
                    </a:p>
                  </a:txBody>
                  <a:tcPr marT="36000" marB="36000" marR="36000" marL="3600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처리흐름도</a:t>
                      </a:r>
                      <a:endParaRPr/>
                    </a:p>
                  </a:txBody>
                  <a:tcPr marT="36000" marB="36000" marR="36000" marL="3600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901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거래</a:t>
                      </a:r>
                      <a:b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유형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34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온라인</a:t>
                      </a:r>
                      <a:b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프로세스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 사용자 본인 인증 요청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 기간계 서비스에 본인 인증 검증 요청 (발행 아이디, 사용자 인증 정보 전송)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3. 검증이 끝난 사용자 정보를 통합 본인 인증 모듈에 인증 요청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4. 인증 수단 별 인증 처리 (대외 채널 인증) 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5. 인증 처리 결과 MDS DB에 적재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85" name="Google Shape;2585;p48"/>
          <p:cNvSpPr/>
          <p:nvPr/>
        </p:nvSpPr>
        <p:spPr>
          <a:xfrm>
            <a:off x="2818137" y="1844824"/>
            <a:ext cx="3425195" cy="2566364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외부망</a:t>
            </a:r>
            <a:endParaRPr b="1" sz="10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86" name="Google Shape;2586;p48"/>
          <p:cNvSpPr/>
          <p:nvPr/>
        </p:nvSpPr>
        <p:spPr>
          <a:xfrm>
            <a:off x="7451824" y="3206990"/>
            <a:ext cx="1811721" cy="1211502"/>
          </a:xfrm>
          <a:prstGeom prst="rect">
            <a:avLst/>
          </a:prstGeom>
          <a:noFill/>
          <a:ln cap="flat" cmpd="sng" w="12700">
            <a:solidFill>
              <a:srgbClr val="7070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대외 채널 인증</a:t>
            </a:r>
            <a:endParaRPr b="1" sz="9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휴대폰(NICE, SCI)</a:t>
            </a:r>
            <a:endParaRPr/>
          </a:p>
          <a:p>
            <a:pPr indent="0" lvl="0" marL="0" marR="0" rtl="0" algn="ctr"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카카오</a:t>
            </a:r>
            <a:endParaRPr sz="9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네이버</a:t>
            </a:r>
            <a:endParaRPr sz="9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587" name="Google Shape;2587;p48"/>
          <p:cNvGrpSpPr/>
          <p:nvPr/>
        </p:nvGrpSpPr>
        <p:grpSpPr>
          <a:xfrm>
            <a:off x="5063483" y="3633953"/>
            <a:ext cx="881239" cy="580719"/>
            <a:chOff x="3404226" y="3717032"/>
            <a:chExt cx="881239" cy="580719"/>
          </a:xfrm>
        </p:grpSpPr>
        <p:sp>
          <p:nvSpPr>
            <p:cNvPr id="2588" name="Google Shape;2588;p48"/>
            <p:cNvSpPr/>
            <p:nvPr/>
          </p:nvSpPr>
          <p:spPr>
            <a:xfrm>
              <a:off x="3415858" y="3717032"/>
              <a:ext cx="869607" cy="580719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70707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Noto Sans Symbols"/>
                <a:buNone/>
              </a:pPr>
              <a:r>
                <a:t/>
              </a:r>
              <a:endParaRPr b="1" sz="900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589" name="Google Shape;2589;p48"/>
            <p:cNvSpPr/>
            <p:nvPr/>
          </p:nvSpPr>
          <p:spPr>
            <a:xfrm>
              <a:off x="3463248" y="3936796"/>
              <a:ext cx="742184" cy="277876"/>
            </a:xfrm>
            <a:prstGeom prst="can">
              <a:avLst>
                <a:gd fmla="val 4115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2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700"/>
                <a:buFont typeface="Noto Sans Symbols"/>
                <a:buNone/>
              </a:pPr>
              <a:r>
                <a:rPr lang="en-US" sz="7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본인인증정보 </a:t>
              </a:r>
              <a:endParaRPr/>
            </a:p>
          </p:txBody>
        </p:sp>
        <p:sp>
          <p:nvSpPr>
            <p:cNvPr id="2590" name="Google Shape;2590;p48"/>
            <p:cNvSpPr txBox="1"/>
            <p:nvPr/>
          </p:nvSpPr>
          <p:spPr>
            <a:xfrm>
              <a:off x="3404226" y="3730298"/>
              <a:ext cx="848270" cy="230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MDS DB</a:t>
              </a:r>
              <a:endParaRPr b="1" sz="9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591" name="Google Shape;2591;p48"/>
          <p:cNvSpPr/>
          <p:nvPr/>
        </p:nvSpPr>
        <p:spPr>
          <a:xfrm>
            <a:off x="8475113" y="3722074"/>
            <a:ext cx="113546" cy="870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92" name="Google Shape;2592;p48"/>
          <p:cNvSpPr/>
          <p:nvPr/>
        </p:nvSpPr>
        <p:spPr>
          <a:xfrm>
            <a:off x="4423392" y="3748411"/>
            <a:ext cx="113546" cy="870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93" name="Google Shape;2593;p48"/>
          <p:cNvSpPr/>
          <p:nvPr/>
        </p:nvSpPr>
        <p:spPr>
          <a:xfrm>
            <a:off x="3803257" y="2615912"/>
            <a:ext cx="113546" cy="870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94" name="Google Shape;2594;p48"/>
          <p:cNvSpPr/>
          <p:nvPr/>
        </p:nvSpPr>
        <p:spPr>
          <a:xfrm>
            <a:off x="4202678" y="2534901"/>
            <a:ext cx="113546" cy="870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95" name="Google Shape;2595;p48"/>
          <p:cNvSpPr/>
          <p:nvPr/>
        </p:nvSpPr>
        <p:spPr>
          <a:xfrm>
            <a:off x="1367406" y="1838996"/>
            <a:ext cx="1139687" cy="559499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Client</a:t>
            </a:r>
            <a:endParaRPr/>
          </a:p>
        </p:txBody>
      </p:sp>
      <p:sp>
        <p:nvSpPr>
          <p:cNvPr id="2596" name="Google Shape;2596;p48"/>
          <p:cNvSpPr/>
          <p:nvPr/>
        </p:nvSpPr>
        <p:spPr>
          <a:xfrm>
            <a:off x="1721487" y="2070398"/>
            <a:ext cx="717535" cy="25080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모바일 </a:t>
            </a:r>
            <a:endParaRPr b="0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597" name="Google Shape;2597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3069" y="1984680"/>
            <a:ext cx="193111" cy="3725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98" name="Google Shape;2598;p48"/>
          <p:cNvGrpSpPr/>
          <p:nvPr/>
        </p:nvGrpSpPr>
        <p:grpSpPr>
          <a:xfrm>
            <a:off x="7451647" y="1844670"/>
            <a:ext cx="1811899" cy="1263587"/>
            <a:chOff x="8195044" y="3798790"/>
            <a:chExt cx="1811899" cy="1263587"/>
          </a:xfrm>
        </p:grpSpPr>
        <p:sp>
          <p:nvSpPr>
            <p:cNvPr id="2599" name="Google Shape;2599;p48"/>
            <p:cNvSpPr/>
            <p:nvPr/>
          </p:nvSpPr>
          <p:spPr>
            <a:xfrm>
              <a:off x="8195044" y="3798790"/>
              <a:ext cx="1811899" cy="1263587"/>
            </a:xfrm>
            <a:prstGeom prst="rect">
              <a:avLst/>
            </a:prstGeom>
            <a:solidFill>
              <a:srgbClr val="F2F2F2"/>
            </a:solidFill>
            <a:ln cap="flat" cmpd="sng" w="12700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 내부망</a:t>
              </a:r>
              <a:endParaRPr b="1" sz="10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600" name="Google Shape;2600;p48"/>
            <p:cNvSpPr/>
            <p:nvPr/>
          </p:nvSpPr>
          <p:spPr>
            <a:xfrm>
              <a:off x="8357928" y="4283674"/>
              <a:ext cx="1476700" cy="620985"/>
            </a:xfrm>
            <a:prstGeom prst="rect">
              <a:avLst/>
            </a:prstGeom>
            <a:solidFill>
              <a:srgbClr val="D8D8D8"/>
            </a:solidFill>
            <a:ln cap="flat" cmpd="sng" w="12700">
              <a:solidFill>
                <a:srgbClr val="70707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601" name="Google Shape;2601;p48"/>
            <p:cNvSpPr/>
            <p:nvPr/>
          </p:nvSpPr>
          <p:spPr>
            <a:xfrm>
              <a:off x="8495751" y="4524504"/>
              <a:ext cx="1229096" cy="28908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본인 인증 요청 검증</a:t>
              </a:r>
              <a:endParaRPr sz="9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602" name="Google Shape;2602;p48"/>
            <p:cNvSpPr txBox="1"/>
            <p:nvPr/>
          </p:nvSpPr>
          <p:spPr>
            <a:xfrm>
              <a:off x="8437286" y="4275326"/>
              <a:ext cx="1341905" cy="230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기간계 서비스</a:t>
              </a:r>
              <a:endParaRPr/>
            </a:p>
          </p:txBody>
        </p:sp>
      </p:grpSp>
      <p:grpSp>
        <p:nvGrpSpPr>
          <p:cNvPr id="2603" name="Google Shape;2603;p48"/>
          <p:cNvGrpSpPr/>
          <p:nvPr/>
        </p:nvGrpSpPr>
        <p:grpSpPr>
          <a:xfrm>
            <a:off x="3010316" y="2097729"/>
            <a:ext cx="1526622" cy="2200022"/>
            <a:chOff x="3155507" y="2058776"/>
            <a:chExt cx="1526622" cy="2200022"/>
          </a:xfrm>
        </p:grpSpPr>
        <p:sp>
          <p:nvSpPr>
            <p:cNvPr id="2604" name="Google Shape;2604;p48"/>
            <p:cNvSpPr/>
            <p:nvPr/>
          </p:nvSpPr>
          <p:spPr>
            <a:xfrm>
              <a:off x="3155507" y="2058776"/>
              <a:ext cx="1526622" cy="2200022"/>
            </a:xfrm>
            <a:prstGeom prst="rect">
              <a:avLst/>
            </a:prstGeom>
            <a:solidFill>
              <a:srgbClr val="D8D8D8"/>
            </a:solidFill>
            <a:ln cap="flat" cmpd="sng" w="12700">
              <a:solidFill>
                <a:srgbClr val="70707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605" name="Google Shape;2605;p48"/>
            <p:cNvSpPr/>
            <p:nvPr/>
          </p:nvSpPr>
          <p:spPr>
            <a:xfrm>
              <a:off x="3287822" y="2379804"/>
              <a:ext cx="1269069" cy="67235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업무 서비스 </a:t>
              </a:r>
              <a:endParaRPr/>
            </a:p>
          </p:txBody>
        </p:sp>
        <p:sp>
          <p:nvSpPr>
            <p:cNvPr id="2606" name="Google Shape;2606;p48"/>
            <p:cNvSpPr txBox="1"/>
            <p:nvPr/>
          </p:nvSpPr>
          <p:spPr>
            <a:xfrm>
              <a:off x="3254347" y="2060362"/>
              <a:ext cx="1341905" cy="230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MDS Application</a:t>
              </a:r>
              <a:endParaRPr b="1" sz="9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607" name="Google Shape;2607;p48"/>
            <p:cNvSpPr/>
            <p:nvPr/>
          </p:nvSpPr>
          <p:spPr>
            <a:xfrm>
              <a:off x="3287759" y="3168037"/>
              <a:ext cx="1269129" cy="96191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통합 본인 인증 모듈 </a:t>
              </a:r>
              <a:endParaRPr/>
            </a:p>
          </p:txBody>
        </p:sp>
      </p:grpSp>
      <p:grpSp>
        <p:nvGrpSpPr>
          <p:cNvPr id="2608" name="Google Shape;2608;p48"/>
          <p:cNvGrpSpPr/>
          <p:nvPr/>
        </p:nvGrpSpPr>
        <p:grpSpPr>
          <a:xfrm>
            <a:off x="6506235" y="1838995"/>
            <a:ext cx="682508" cy="1269263"/>
            <a:chOff x="5880517" y="1872692"/>
            <a:chExt cx="622435" cy="872756"/>
          </a:xfrm>
        </p:grpSpPr>
        <p:sp>
          <p:nvSpPr>
            <p:cNvPr id="2609" name="Google Shape;2609;p48"/>
            <p:cNvSpPr/>
            <p:nvPr/>
          </p:nvSpPr>
          <p:spPr>
            <a:xfrm>
              <a:off x="5880517" y="1872692"/>
              <a:ext cx="622435" cy="872756"/>
            </a:xfrm>
            <a:prstGeom prst="rect">
              <a:avLst/>
            </a:prstGeom>
            <a:noFill/>
            <a:ln cap="flat" cmpd="sng" w="12700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610" name="Google Shape;2610;p48"/>
            <p:cNvSpPr/>
            <p:nvPr/>
          </p:nvSpPr>
          <p:spPr>
            <a:xfrm>
              <a:off x="5963073" y="1938315"/>
              <a:ext cx="450907" cy="735806"/>
            </a:xfrm>
            <a:prstGeom prst="rect">
              <a:avLst/>
            </a:prstGeom>
            <a:solidFill>
              <a:srgbClr val="D8D8D8"/>
            </a:soli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18000">
              <a:noAutofit/>
            </a:bodyPr>
            <a:lstStyle/>
            <a:p>
              <a:pPr indent="0" lvl="1" marL="1588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대내</a:t>
              </a:r>
              <a:endParaRPr b="0" i="0" sz="9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1" marL="1588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(EAI)</a:t>
              </a:r>
              <a:endParaRPr/>
            </a:p>
          </p:txBody>
        </p:sp>
      </p:grpSp>
      <p:cxnSp>
        <p:nvCxnSpPr>
          <p:cNvPr id="2611" name="Google Shape;2611;p48"/>
          <p:cNvCxnSpPr/>
          <p:nvPr/>
        </p:nvCxnSpPr>
        <p:spPr>
          <a:xfrm rot="10800000">
            <a:off x="4534045" y="3884197"/>
            <a:ext cx="543506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2612" name="Google Shape;2612;p48"/>
          <p:cNvCxnSpPr/>
          <p:nvPr/>
        </p:nvCxnSpPr>
        <p:spPr>
          <a:xfrm>
            <a:off x="4533693" y="3986366"/>
            <a:ext cx="541775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2613" name="Google Shape;2613;p48"/>
          <p:cNvSpPr/>
          <p:nvPr/>
        </p:nvSpPr>
        <p:spPr>
          <a:xfrm>
            <a:off x="6506235" y="3203695"/>
            <a:ext cx="682508" cy="1207493"/>
          </a:xfrm>
          <a:prstGeom prst="rect">
            <a:avLst/>
          </a:prstGeom>
          <a:noFill/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대외</a:t>
            </a:r>
            <a:br>
              <a:rPr lang="en-US" sz="90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90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(FEP)</a:t>
            </a:r>
            <a:endParaRPr/>
          </a:p>
        </p:txBody>
      </p:sp>
      <p:cxnSp>
        <p:nvCxnSpPr>
          <p:cNvPr id="2614" name="Google Shape;2614;p48"/>
          <p:cNvCxnSpPr/>
          <p:nvPr/>
        </p:nvCxnSpPr>
        <p:spPr>
          <a:xfrm rot="10800000">
            <a:off x="4412631" y="3366037"/>
            <a:ext cx="2092626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2615" name="Google Shape;2615;p48"/>
          <p:cNvCxnSpPr/>
          <p:nvPr/>
        </p:nvCxnSpPr>
        <p:spPr>
          <a:xfrm>
            <a:off x="4412631" y="3468206"/>
            <a:ext cx="2092626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2616" name="Google Shape;2616;p48"/>
          <p:cNvCxnSpPr/>
          <p:nvPr/>
        </p:nvCxnSpPr>
        <p:spPr>
          <a:xfrm rot="10800000">
            <a:off x="4412631" y="2702945"/>
            <a:ext cx="2092626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2617" name="Google Shape;2617;p48"/>
          <p:cNvCxnSpPr/>
          <p:nvPr/>
        </p:nvCxnSpPr>
        <p:spPr>
          <a:xfrm>
            <a:off x="4412631" y="2805114"/>
            <a:ext cx="2092626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2618" name="Google Shape;2618;p48"/>
          <p:cNvCxnSpPr/>
          <p:nvPr/>
        </p:nvCxnSpPr>
        <p:spPr>
          <a:xfrm rot="10800000">
            <a:off x="7190815" y="2702945"/>
            <a:ext cx="26014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2619" name="Google Shape;2619;p48"/>
          <p:cNvCxnSpPr/>
          <p:nvPr/>
        </p:nvCxnSpPr>
        <p:spPr>
          <a:xfrm>
            <a:off x="7190011" y="2805114"/>
            <a:ext cx="259312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2620" name="Google Shape;2620;p48"/>
          <p:cNvCxnSpPr/>
          <p:nvPr/>
        </p:nvCxnSpPr>
        <p:spPr>
          <a:xfrm rot="10800000">
            <a:off x="3732658" y="3090773"/>
            <a:ext cx="1632" cy="115187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2621" name="Google Shape;2621;p48"/>
          <p:cNvCxnSpPr>
            <a:stCxn id="2595" idx="2"/>
            <a:endCxn id="2605" idx="1"/>
          </p:cNvCxnSpPr>
          <p:nvPr/>
        </p:nvCxnSpPr>
        <p:spPr>
          <a:xfrm flipH="1" rot="-5400000">
            <a:off x="2361750" y="1973995"/>
            <a:ext cx="356400" cy="1205400"/>
          </a:xfrm>
          <a:prstGeom prst="bentConnector2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2622" name="Google Shape;2622;p48"/>
          <p:cNvCxnSpPr/>
          <p:nvPr/>
        </p:nvCxnSpPr>
        <p:spPr>
          <a:xfrm>
            <a:off x="2046686" y="2402806"/>
            <a:ext cx="1095900" cy="259800"/>
          </a:xfrm>
          <a:prstGeom prst="bentConnector2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23" name="Google Shape;2623;p48"/>
          <p:cNvSpPr/>
          <p:nvPr/>
        </p:nvSpPr>
        <p:spPr>
          <a:xfrm>
            <a:off x="2077435" y="2405199"/>
            <a:ext cx="160152" cy="15027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24" name="Google Shape;2624;p48"/>
          <p:cNvSpPr/>
          <p:nvPr/>
        </p:nvSpPr>
        <p:spPr>
          <a:xfrm>
            <a:off x="4448451" y="2506723"/>
            <a:ext cx="160152" cy="15027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25" name="Google Shape;2625;p48"/>
          <p:cNvSpPr/>
          <p:nvPr/>
        </p:nvSpPr>
        <p:spPr>
          <a:xfrm>
            <a:off x="3480509" y="3072689"/>
            <a:ext cx="160152" cy="15027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626" name="Google Shape;2626;p48"/>
          <p:cNvCxnSpPr/>
          <p:nvPr/>
        </p:nvCxnSpPr>
        <p:spPr>
          <a:xfrm rot="10800000">
            <a:off x="3842156" y="3090773"/>
            <a:ext cx="1632" cy="115187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27" name="Google Shape;2627;p48"/>
          <p:cNvSpPr/>
          <p:nvPr/>
        </p:nvSpPr>
        <p:spPr>
          <a:xfrm>
            <a:off x="4442174" y="3198502"/>
            <a:ext cx="160152" cy="15027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28" name="Google Shape;2628;p48"/>
          <p:cNvSpPr/>
          <p:nvPr/>
        </p:nvSpPr>
        <p:spPr>
          <a:xfrm>
            <a:off x="4442174" y="3693993"/>
            <a:ext cx="160152" cy="15027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sz="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629" name="Google Shape;2629;p48"/>
          <p:cNvCxnSpPr/>
          <p:nvPr/>
        </p:nvCxnSpPr>
        <p:spPr>
          <a:xfrm rot="10800000">
            <a:off x="7190815" y="3366037"/>
            <a:ext cx="26014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2630" name="Google Shape;2630;p48"/>
          <p:cNvCxnSpPr/>
          <p:nvPr/>
        </p:nvCxnSpPr>
        <p:spPr>
          <a:xfrm>
            <a:off x="7190011" y="3468206"/>
            <a:ext cx="259312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triangle"/>
            <a:tailEnd len="sm" w="sm" type="none"/>
          </a:ln>
        </p:spPr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4" name="Shape 2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5" name="Google Shape;2635;p49"/>
          <p:cNvSpPr txBox="1"/>
          <p:nvPr/>
        </p:nvSpPr>
        <p:spPr>
          <a:xfrm>
            <a:off x="417770" y="714190"/>
            <a:ext cx="8964356" cy="9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3.2 통합 본인인증</a:t>
            </a:r>
            <a:endParaRPr b="1" i="0" sz="12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3.2.1 네이버 본인인증</a:t>
            </a:r>
            <a:endParaRPr b="0" i="0" sz="12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네이버 본인인증 연동 Sequence</a:t>
            </a:r>
            <a:endParaRPr/>
          </a:p>
        </p:txBody>
      </p:sp>
      <p:sp>
        <p:nvSpPr>
          <p:cNvPr id="2636" name="Google Shape;2636;p49"/>
          <p:cNvSpPr/>
          <p:nvPr/>
        </p:nvSpPr>
        <p:spPr>
          <a:xfrm>
            <a:off x="417770" y="1685581"/>
            <a:ext cx="994526" cy="40914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화면</a:t>
            </a:r>
            <a:endParaRPr b="0" i="0" sz="10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37" name="Google Shape;2637;p49"/>
          <p:cNvSpPr/>
          <p:nvPr/>
        </p:nvSpPr>
        <p:spPr>
          <a:xfrm>
            <a:off x="4129941" y="1685581"/>
            <a:ext cx="994526" cy="40914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MDS</a:t>
            </a:r>
            <a:endParaRPr b="0" i="0" sz="10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38" name="Google Shape;2638;p49"/>
          <p:cNvSpPr/>
          <p:nvPr/>
        </p:nvSpPr>
        <p:spPr>
          <a:xfrm>
            <a:off x="8387600" y="1685581"/>
            <a:ext cx="994526" cy="40914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NAVER</a:t>
            </a:r>
            <a:endParaRPr b="0" i="0" sz="10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639" name="Google Shape;2639;p49"/>
          <p:cNvCxnSpPr/>
          <p:nvPr/>
        </p:nvCxnSpPr>
        <p:spPr>
          <a:xfrm>
            <a:off x="911835" y="2094724"/>
            <a:ext cx="0" cy="4250515"/>
          </a:xfrm>
          <a:prstGeom prst="straightConnector1">
            <a:avLst/>
          </a:prstGeom>
          <a:solidFill>
            <a:srgbClr val="BBE0E3"/>
          </a:solidFill>
          <a:ln cap="flat" cmpd="sng" w="12700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40" name="Google Shape;2640;p49"/>
          <p:cNvSpPr txBox="1"/>
          <p:nvPr/>
        </p:nvSpPr>
        <p:spPr>
          <a:xfrm>
            <a:off x="1716742" y="2206777"/>
            <a:ext cx="21026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본인인증 요청</a:t>
            </a:r>
            <a:br>
              <a:rPr lang="en-US" sz="10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(이름, 생년월일, 휴대폰번호)</a:t>
            </a:r>
            <a:endParaRPr sz="8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641" name="Google Shape;2641;p49"/>
          <p:cNvCxnSpPr/>
          <p:nvPr/>
        </p:nvCxnSpPr>
        <p:spPr>
          <a:xfrm rot="10800000">
            <a:off x="911837" y="2573154"/>
            <a:ext cx="3715367" cy="0"/>
          </a:xfrm>
          <a:prstGeom prst="straightConnector1">
            <a:avLst/>
          </a:prstGeom>
          <a:solidFill>
            <a:srgbClr val="BBE0E3"/>
          </a:solidFill>
          <a:ln cap="flat" cmpd="sng" w="9525">
            <a:solidFill>
              <a:srgbClr val="80808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2642" name="Google Shape;2642;p49"/>
          <p:cNvCxnSpPr/>
          <p:nvPr/>
        </p:nvCxnSpPr>
        <p:spPr>
          <a:xfrm>
            <a:off x="4627204" y="2094724"/>
            <a:ext cx="0" cy="4250515"/>
          </a:xfrm>
          <a:prstGeom prst="straightConnector1">
            <a:avLst/>
          </a:prstGeom>
          <a:solidFill>
            <a:srgbClr val="BBE0E3"/>
          </a:solidFill>
          <a:ln cap="flat" cmpd="sng" w="12700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43" name="Google Shape;2643;p49"/>
          <p:cNvCxnSpPr/>
          <p:nvPr/>
        </p:nvCxnSpPr>
        <p:spPr>
          <a:xfrm rot="10800000">
            <a:off x="4627204" y="2845329"/>
            <a:ext cx="4284486" cy="0"/>
          </a:xfrm>
          <a:prstGeom prst="straightConnector1">
            <a:avLst/>
          </a:prstGeom>
          <a:solidFill>
            <a:srgbClr val="BBE0E3"/>
          </a:solidFill>
          <a:ln cap="flat" cmpd="sng" w="9525">
            <a:solidFill>
              <a:srgbClr val="808080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2644" name="Google Shape;2644;p49"/>
          <p:cNvSpPr txBox="1"/>
          <p:nvPr/>
        </p:nvSpPr>
        <p:spPr>
          <a:xfrm>
            <a:off x="5230183" y="2599108"/>
            <a:ext cx="307852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본인인증 요청 API</a:t>
            </a:r>
            <a:endParaRPr sz="10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45" name="Google Shape;2645;p49"/>
          <p:cNvSpPr txBox="1"/>
          <p:nvPr/>
        </p:nvSpPr>
        <p:spPr>
          <a:xfrm>
            <a:off x="5043791" y="3022365"/>
            <a:ext cx="33863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요청 결과</a:t>
            </a:r>
            <a:br>
              <a:rPr lang="en-US" sz="10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{ rtnMsg: ”success”,  txId: “식별값” }</a:t>
            </a:r>
            <a:endParaRPr sz="10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646" name="Google Shape;2646;p49"/>
          <p:cNvCxnSpPr>
            <a:endCxn id="2647" idx="2"/>
          </p:cNvCxnSpPr>
          <p:nvPr/>
        </p:nvCxnSpPr>
        <p:spPr>
          <a:xfrm flipH="1" rot="10800000">
            <a:off x="4627056" y="3379986"/>
            <a:ext cx="4212600" cy="16500"/>
          </a:xfrm>
          <a:prstGeom prst="straightConnector1">
            <a:avLst/>
          </a:prstGeom>
          <a:solidFill>
            <a:srgbClr val="BBE0E3"/>
          </a:solidFill>
          <a:ln cap="flat" cmpd="sng" w="9525">
            <a:solidFill>
              <a:srgbClr val="808080"/>
            </a:solidFill>
            <a:prstDash val="dash"/>
            <a:round/>
            <a:headEnd len="med" w="med" type="triangle"/>
            <a:tailEnd len="sm" w="sm" type="none"/>
          </a:ln>
        </p:spPr>
      </p:cxnSp>
      <p:cxnSp>
        <p:nvCxnSpPr>
          <p:cNvPr id="2648" name="Google Shape;2648;p49"/>
          <p:cNvCxnSpPr>
            <a:endCxn id="2649" idx="2"/>
          </p:cNvCxnSpPr>
          <p:nvPr/>
        </p:nvCxnSpPr>
        <p:spPr>
          <a:xfrm>
            <a:off x="911935" y="3577648"/>
            <a:ext cx="7933200" cy="11400"/>
          </a:xfrm>
          <a:prstGeom prst="straightConnector1">
            <a:avLst/>
          </a:prstGeom>
          <a:solidFill>
            <a:srgbClr val="BBE0E3"/>
          </a:solidFill>
          <a:ln cap="flat" cmpd="sng" w="9525">
            <a:solidFill>
              <a:srgbClr val="808080"/>
            </a:solidFill>
            <a:prstDash val="dash"/>
            <a:round/>
            <a:headEnd len="med" w="med" type="triangle"/>
            <a:tailEnd len="sm" w="sm" type="none"/>
          </a:ln>
        </p:spPr>
      </p:cxnSp>
      <p:sp>
        <p:nvSpPr>
          <p:cNvPr id="2650" name="Google Shape;2650;p49"/>
          <p:cNvSpPr txBox="1"/>
          <p:nvPr/>
        </p:nvSpPr>
        <p:spPr>
          <a:xfrm>
            <a:off x="1668418" y="3349676"/>
            <a:ext cx="210267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네이버앱 PUSH 알림</a:t>
            </a:r>
            <a:endParaRPr/>
          </a:p>
        </p:txBody>
      </p:sp>
      <p:sp>
        <p:nvSpPr>
          <p:cNvPr id="2651" name="Google Shape;2651;p49"/>
          <p:cNvSpPr txBox="1"/>
          <p:nvPr/>
        </p:nvSpPr>
        <p:spPr>
          <a:xfrm>
            <a:off x="1273837" y="3959811"/>
            <a:ext cx="107900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본인인증 진행</a:t>
            </a:r>
            <a:endParaRPr/>
          </a:p>
        </p:txBody>
      </p:sp>
      <p:sp>
        <p:nvSpPr>
          <p:cNvPr id="2652" name="Google Shape;2652;p49"/>
          <p:cNvSpPr/>
          <p:nvPr/>
        </p:nvSpPr>
        <p:spPr>
          <a:xfrm rot="5400000">
            <a:off x="959172" y="3815130"/>
            <a:ext cx="272278" cy="540374"/>
          </a:xfrm>
          <a:prstGeom prst="arc">
            <a:avLst>
              <a:gd fmla="val 7114028" name="adj1"/>
              <a:gd fmla="val 3667490" name="adj2"/>
            </a:avLst>
          </a:prstGeom>
          <a:noFill/>
          <a:ln cap="flat" cmpd="sng" w="9525">
            <a:solidFill>
              <a:srgbClr val="7F7F7F"/>
            </a:solidFill>
            <a:prstDash val="dash"/>
            <a:round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53" name="Google Shape;2653;p49"/>
          <p:cNvCxnSpPr/>
          <p:nvPr/>
        </p:nvCxnSpPr>
        <p:spPr>
          <a:xfrm>
            <a:off x="8911690" y="2094724"/>
            <a:ext cx="0" cy="4250515"/>
          </a:xfrm>
          <a:prstGeom prst="straightConnector1">
            <a:avLst/>
          </a:prstGeom>
          <a:solidFill>
            <a:srgbClr val="BBE0E3"/>
          </a:solidFill>
          <a:ln cap="flat" cmpd="sng" w="12700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54" name="Google Shape;2654;p49"/>
          <p:cNvSpPr txBox="1"/>
          <p:nvPr/>
        </p:nvSpPr>
        <p:spPr>
          <a:xfrm>
            <a:off x="5188479" y="5243720"/>
            <a:ext cx="30785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인증 결과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{ authResult:”success”,  txId: “식별값” }</a:t>
            </a:r>
            <a:endParaRPr sz="8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655" name="Google Shape;2655;p49"/>
          <p:cNvCxnSpPr>
            <a:endCxn id="2656" idx="2"/>
          </p:cNvCxnSpPr>
          <p:nvPr/>
        </p:nvCxnSpPr>
        <p:spPr>
          <a:xfrm>
            <a:off x="4627345" y="5613053"/>
            <a:ext cx="4206300" cy="0"/>
          </a:xfrm>
          <a:prstGeom prst="straightConnector1">
            <a:avLst/>
          </a:prstGeom>
          <a:solidFill>
            <a:srgbClr val="BBE0E3"/>
          </a:solidFill>
          <a:ln cap="flat" cmpd="sng" w="9525">
            <a:solidFill>
              <a:srgbClr val="808080"/>
            </a:solidFill>
            <a:prstDash val="dash"/>
            <a:round/>
            <a:headEnd len="med" w="med" type="triangle"/>
            <a:tailEnd len="sm" w="sm" type="none"/>
          </a:ln>
        </p:spPr>
      </p:cxnSp>
      <p:cxnSp>
        <p:nvCxnSpPr>
          <p:cNvPr id="2657" name="Google Shape;2657;p49"/>
          <p:cNvCxnSpPr/>
          <p:nvPr/>
        </p:nvCxnSpPr>
        <p:spPr>
          <a:xfrm>
            <a:off x="911835" y="5974951"/>
            <a:ext cx="3695916" cy="0"/>
          </a:xfrm>
          <a:prstGeom prst="straightConnector1">
            <a:avLst/>
          </a:prstGeom>
          <a:solidFill>
            <a:srgbClr val="BBE0E3"/>
          </a:solidFill>
          <a:ln cap="flat" cmpd="sng" w="9525">
            <a:solidFill>
              <a:srgbClr val="808080"/>
            </a:solidFill>
            <a:prstDash val="dash"/>
            <a:round/>
            <a:headEnd len="med" w="med" type="triangle"/>
            <a:tailEnd len="sm" w="sm" type="none"/>
          </a:ln>
        </p:spPr>
      </p:cxnSp>
      <p:sp>
        <p:nvSpPr>
          <p:cNvPr id="2658" name="Google Shape;2658;p49"/>
          <p:cNvSpPr txBox="1"/>
          <p:nvPr/>
        </p:nvSpPr>
        <p:spPr>
          <a:xfrm>
            <a:off x="1702370" y="5728730"/>
            <a:ext cx="210267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인증 완료</a:t>
            </a:r>
            <a:endParaRPr/>
          </a:p>
        </p:txBody>
      </p:sp>
      <p:cxnSp>
        <p:nvCxnSpPr>
          <p:cNvPr id="2659" name="Google Shape;2659;p49"/>
          <p:cNvCxnSpPr/>
          <p:nvPr/>
        </p:nvCxnSpPr>
        <p:spPr>
          <a:xfrm rot="10800000">
            <a:off x="4627204" y="5054024"/>
            <a:ext cx="4284486" cy="0"/>
          </a:xfrm>
          <a:prstGeom prst="straightConnector1">
            <a:avLst/>
          </a:prstGeom>
          <a:solidFill>
            <a:srgbClr val="BBE0E3"/>
          </a:solidFill>
          <a:ln cap="flat" cmpd="sng" w="9525">
            <a:solidFill>
              <a:srgbClr val="808080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2660" name="Google Shape;2660;p49"/>
          <p:cNvSpPr txBox="1"/>
          <p:nvPr/>
        </p:nvSpPr>
        <p:spPr>
          <a:xfrm>
            <a:off x="5718109" y="4821592"/>
            <a:ext cx="210267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인증 결과 조회 API</a:t>
            </a:r>
            <a:endParaRPr sz="10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61" name="Google Shape;2661;p49"/>
          <p:cNvSpPr txBox="1"/>
          <p:nvPr/>
        </p:nvSpPr>
        <p:spPr>
          <a:xfrm>
            <a:off x="1668418" y="4467427"/>
            <a:ext cx="210267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본인인증 완료 요청</a:t>
            </a:r>
            <a:endParaRPr/>
          </a:p>
        </p:txBody>
      </p:sp>
      <p:cxnSp>
        <p:nvCxnSpPr>
          <p:cNvPr id="2662" name="Google Shape;2662;p49"/>
          <p:cNvCxnSpPr/>
          <p:nvPr/>
        </p:nvCxnSpPr>
        <p:spPr>
          <a:xfrm rot="10800000">
            <a:off x="911837" y="4716244"/>
            <a:ext cx="3715367" cy="0"/>
          </a:xfrm>
          <a:prstGeom prst="straightConnector1">
            <a:avLst/>
          </a:prstGeom>
          <a:solidFill>
            <a:srgbClr val="BBE0E3"/>
          </a:solidFill>
          <a:ln cap="flat" cmpd="sng" w="9525">
            <a:solidFill>
              <a:srgbClr val="808080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2663" name="Google Shape;2663;p49"/>
          <p:cNvSpPr/>
          <p:nvPr/>
        </p:nvSpPr>
        <p:spPr>
          <a:xfrm>
            <a:off x="822244" y="2491207"/>
            <a:ext cx="160152" cy="15027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64" name="Google Shape;2664;p49"/>
          <p:cNvSpPr/>
          <p:nvPr/>
        </p:nvSpPr>
        <p:spPr>
          <a:xfrm>
            <a:off x="4527675" y="2758578"/>
            <a:ext cx="160152" cy="15027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47" name="Google Shape;2647;p49"/>
          <p:cNvSpPr/>
          <p:nvPr/>
        </p:nvSpPr>
        <p:spPr>
          <a:xfrm>
            <a:off x="8839656" y="3304847"/>
            <a:ext cx="160152" cy="15027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49" name="Google Shape;2649;p49"/>
          <p:cNvSpPr/>
          <p:nvPr/>
        </p:nvSpPr>
        <p:spPr>
          <a:xfrm>
            <a:off x="8845135" y="3513909"/>
            <a:ext cx="160152" cy="15027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65" name="Google Shape;2665;p49"/>
          <p:cNvSpPr/>
          <p:nvPr/>
        </p:nvSpPr>
        <p:spPr>
          <a:xfrm>
            <a:off x="822244" y="3931076"/>
            <a:ext cx="160152" cy="15027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sz="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66" name="Google Shape;2666;p49"/>
          <p:cNvSpPr/>
          <p:nvPr/>
        </p:nvSpPr>
        <p:spPr>
          <a:xfrm>
            <a:off x="831760" y="4640085"/>
            <a:ext cx="160152" cy="15027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sz="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67" name="Google Shape;2667;p49"/>
          <p:cNvSpPr/>
          <p:nvPr/>
        </p:nvSpPr>
        <p:spPr>
          <a:xfrm>
            <a:off x="4529458" y="4978885"/>
            <a:ext cx="160152" cy="15027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sz="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56" name="Google Shape;2656;p49"/>
          <p:cNvSpPr/>
          <p:nvPr/>
        </p:nvSpPr>
        <p:spPr>
          <a:xfrm>
            <a:off x="8833645" y="5537914"/>
            <a:ext cx="160152" cy="15027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r>
            <a:endParaRPr b="1" sz="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68" name="Google Shape;2668;p49"/>
          <p:cNvSpPr/>
          <p:nvPr/>
        </p:nvSpPr>
        <p:spPr>
          <a:xfrm>
            <a:off x="4536486" y="5910188"/>
            <a:ext cx="160152" cy="15027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endParaRPr b="1" sz="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69" name="Google Shape;2669;p49"/>
          <p:cNvSpPr/>
          <p:nvPr/>
        </p:nvSpPr>
        <p:spPr>
          <a:xfrm>
            <a:off x="1155468" y="2183220"/>
            <a:ext cx="916096" cy="452699"/>
          </a:xfrm>
          <a:prstGeom prst="roundRect">
            <a:avLst>
              <a:gd fmla="val 10054" name="adj"/>
            </a:avLst>
          </a:prstGeom>
          <a:solidFill>
            <a:srgbClr val="3F3F3F"/>
          </a:solidFill>
          <a:ln cap="flat" cmpd="sng" w="9525">
            <a:solidFill>
              <a:srgbClr val="80808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AES128</a:t>
            </a:r>
            <a:br>
              <a:rPr b="0" i="0" lang="en-US" sz="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CBC</a:t>
            </a:r>
            <a:br>
              <a:rPr b="0" i="0" lang="en-US" sz="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8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PKCS5Padding</a:t>
            </a:r>
            <a:endParaRPr b="0" i="0" sz="8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3" name="Shape 2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4" name="Google Shape;2674;p50"/>
          <p:cNvSpPr txBox="1"/>
          <p:nvPr/>
        </p:nvSpPr>
        <p:spPr>
          <a:xfrm>
            <a:off x="417770" y="714190"/>
            <a:ext cx="8964356" cy="880617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3.2 통합 본인인증</a:t>
            </a:r>
            <a:endParaRPr b="1" i="0" sz="12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3.2.2 카카오 본인인증</a:t>
            </a:r>
            <a:endParaRPr b="0" i="0" sz="12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카카오 본인인증 연동 Sequence</a:t>
            </a:r>
            <a:endParaRPr/>
          </a:p>
        </p:txBody>
      </p:sp>
      <p:sp>
        <p:nvSpPr>
          <p:cNvPr id="2675" name="Google Shape;2675;p50"/>
          <p:cNvSpPr/>
          <p:nvPr/>
        </p:nvSpPr>
        <p:spPr>
          <a:xfrm>
            <a:off x="417770" y="1685581"/>
            <a:ext cx="994526" cy="40914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화면</a:t>
            </a:r>
            <a:endParaRPr b="0" i="0" sz="10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76" name="Google Shape;2676;p50"/>
          <p:cNvSpPr/>
          <p:nvPr/>
        </p:nvSpPr>
        <p:spPr>
          <a:xfrm>
            <a:off x="4129941" y="1685581"/>
            <a:ext cx="994526" cy="40914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MDS</a:t>
            </a:r>
            <a:endParaRPr b="0" i="0" sz="10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77" name="Google Shape;2677;p50"/>
          <p:cNvSpPr/>
          <p:nvPr/>
        </p:nvSpPr>
        <p:spPr>
          <a:xfrm>
            <a:off x="8387600" y="1685581"/>
            <a:ext cx="994526" cy="40914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KAKAO</a:t>
            </a:r>
            <a:endParaRPr b="0" i="0" sz="10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678" name="Google Shape;2678;p50"/>
          <p:cNvCxnSpPr/>
          <p:nvPr/>
        </p:nvCxnSpPr>
        <p:spPr>
          <a:xfrm>
            <a:off x="911835" y="2094724"/>
            <a:ext cx="0" cy="4250515"/>
          </a:xfrm>
          <a:prstGeom prst="straightConnector1">
            <a:avLst/>
          </a:prstGeom>
          <a:solidFill>
            <a:srgbClr val="BBE0E3"/>
          </a:solidFill>
          <a:ln cap="flat" cmpd="sng" w="12700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79" name="Google Shape;2679;p50"/>
          <p:cNvSpPr txBox="1"/>
          <p:nvPr/>
        </p:nvSpPr>
        <p:spPr>
          <a:xfrm>
            <a:off x="1716742" y="2012927"/>
            <a:ext cx="21026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본인인증 요청</a:t>
            </a:r>
            <a:br>
              <a:rPr lang="en-US" sz="10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(이름, 생년월일, 휴대폰번호)</a:t>
            </a:r>
            <a:endParaRPr sz="8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680" name="Google Shape;2680;p50"/>
          <p:cNvCxnSpPr/>
          <p:nvPr/>
        </p:nvCxnSpPr>
        <p:spPr>
          <a:xfrm rot="10800000">
            <a:off x="911837" y="2379304"/>
            <a:ext cx="3715367" cy="0"/>
          </a:xfrm>
          <a:prstGeom prst="straightConnector1">
            <a:avLst/>
          </a:prstGeom>
          <a:solidFill>
            <a:srgbClr val="BBE0E3"/>
          </a:solidFill>
          <a:ln cap="flat" cmpd="sng" w="9525">
            <a:solidFill>
              <a:srgbClr val="80808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2681" name="Google Shape;2681;p50"/>
          <p:cNvCxnSpPr/>
          <p:nvPr/>
        </p:nvCxnSpPr>
        <p:spPr>
          <a:xfrm>
            <a:off x="4627204" y="2094724"/>
            <a:ext cx="0" cy="4250515"/>
          </a:xfrm>
          <a:prstGeom prst="straightConnector1">
            <a:avLst/>
          </a:prstGeom>
          <a:solidFill>
            <a:srgbClr val="BBE0E3"/>
          </a:solidFill>
          <a:ln cap="flat" cmpd="sng" w="12700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82" name="Google Shape;2682;p50"/>
          <p:cNvCxnSpPr/>
          <p:nvPr/>
        </p:nvCxnSpPr>
        <p:spPr>
          <a:xfrm rot="10800000">
            <a:off x="4627204" y="2651479"/>
            <a:ext cx="4284486" cy="0"/>
          </a:xfrm>
          <a:prstGeom prst="straightConnector1">
            <a:avLst/>
          </a:prstGeom>
          <a:solidFill>
            <a:srgbClr val="BBE0E3"/>
          </a:solidFill>
          <a:ln cap="flat" cmpd="sng" w="9525">
            <a:solidFill>
              <a:srgbClr val="808080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2683" name="Google Shape;2683;p50"/>
          <p:cNvSpPr txBox="1"/>
          <p:nvPr/>
        </p:nvSpPr>
        <p:spPr>
          <a:xfrm>
            <a:off x="5230183" y="2421745"/>
            <a:ext cx="307852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본인인증 준비 API</a:t>
            </a:r>
            <a:endParaRPr sz="10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84" name="Google Shape;2684;p50"/>
          <p:cNvSpPr txBox="1"/>
          <p:nvPr/>
        </p:nvSpPr>
        <p:spPr>
          <a:xfrm>
            <a:off x="5043791" y="2712815"/>
            <a:ext cx="33863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준비 결과</a:t>
            </a:r>
            <a:br>
              <a:rPr lang="en-US" sz="10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{ txId: “식별값” }</a:t>
            </a:r>
            <a:endParaRPr sz="10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685" name="Google Shape;2685;p50"/>
          <p:cNvCxnSpPr>
            <a:endCxn id="2686" idx="2"/>
          </p:cNvCxnSpPr>
          <p:nvPr/>
        </p:nvCxnSpPr>
        <p:spPr>
          <a:xfrm flipH="1" rot="10800000">
            <a:off x="4618667" y="3037298"/>
            <a:ext cx="4212600" cy="16500"/>
          </a:xfrm>
          <a:prstGeom prst="straightConnector1">
            <a:avLst/>
          </a:prstGeom>
          <a:solidFill>
            <a:srgbClr val="BBE0E3"/>
          </a:solidFill>
          <a:ln cap="flat" cmpd="sng" w="9525">
            <a:solidFill>
              <a:srgbClr val="808080"/>
            </a:solidFill>
            <a:prstDash val="dash"/>
            <a:round/>
            <a:headEnd len="med" w="med" type="triangle"/>
            <a:tailEnd len="sm" w="sm" type="none"/>
          </a:ln>
        </p:spPr>
      </p:cxnSp>
      <p:cxnSp>
        <p:nvCxnSpPr>
          <p:cNvPr id="2687" name="Google Shape;2687;p50"/>
          <p:cNvCxnSpPr>
            <a:endCxn id="2688" idx="2"/>
          </p:cNvCxnSpPr>
          <p:nvPr/>
        </p:nvCxnSpPr>
        <p:spPr>
          <a:xfrm>
            <a:off x="903546" y="4055061"/>
            <a:ext cx="7933200" cy="11400"/>
          </a:xfrm>
          <a:prstGeom prst="straightConnector1">
            <a:avLst/>
          </a:prstGeom>
          <a:solidFill>
            <a:srgbClr val="BBE0E3"/>
          </a:solidFill>
          <a:ln cap="flat" cmpd="sng" w="9525">
            <a:solidFill>
              <a:srgbClr val="808080"/>
            </a:solidFill>
            <a:prstDash val="dash"/>
            <a:round/>
            <a:headEnd len="med" w="med" type="triangle"/>
            <a:tailEnd len="sm" w="sm" type="none"/>
          </a:ln>
        </p:spPr>
      </p:cxnSp>
      <p:sp>
        <p:nvSpPr>
          <p:cNvPr id="2689" name="Google Shape;2689;p50"/>
          <p:cNvSpPr txBox="1"/>
          <p:nvPr/>
        </p:nvSpPr>
        <p:spPr>
          <a:xfrm>
            <a:off x="1668418" y="3827089"/>
            <a:ext cx="210267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카카오톡 전자서명 요청</a:t>
            </a:r>
            <a:endParaRPr/>
          </a:p>
        </p:txBody>
      </p:sp>
      <p:sp>
        <p:nvSpPr>
          <p:cNvPr id="2690" name="Google Shape;2690;p50"/>
          <p:cNvSpPr txBox="1"/>
          <p:nvPr/>
        </p:nvSpPr>
        <p:spPr>
          <a:xfrm>
            <a:off x="1273837" y="4324150"/>
            <a:ext cx="107900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본인인증 진행</a:t>
            </a:r>
            <a:endParaRPr/>
          </a:p>
        </p:txBody>
      </p:sp>
      <p:sp>
        <p:nvSpPr>
          <p:cNvPr id="2691" name="Google Shape;2691;p50"/>
          <p:cNvSpPr/>
          <p:nvPr/>
        </p:nvSpPr>
        <p:spPr>
          <a:xfrm rot="5400000">
            <a:off x="959172" y="4179469"/>
            <a:ext cx="272278" cy="540374"/>
          </a:xfrm>
          <a:prstGeom prst="arc">
            <a:avLst>
              <a:gd fmla="val 7114028" name="adj1"/>
              <a:gd fmla="val 3667490" name="adj2"/>
            </a:avLst>
          </a:prstGeom>
          <a:noFill/>
          <a:ln cap="flat" cmpd="sng" w="9525">
            <a:solidFill>
              <a:srgbClr val="7F7F7F"/>
            </a:solidFill>
            <a:prstDash val="dash"/>
            <a:round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92" name="Google Shape;2692;p50"/>
          <p:cNvCxnSpPr/>
          <p:nvPr/>
        </p:nvCxnSpPr>
        <p:spPr>
          <a:xfrm>
            <a:off x="8911690" y="2094724"/>
            <a:ext cx="0" cy="4250515"/>
          </a:xfrm>
          <a:prstGeom prst="straightConnector1">
            <a:avLst/>
          </a:prstGeom>
          <a:solidFill>
            <a:srgbClr val="BBE0E3"/>
          </a:solidFill>
          <a:ln cap="flat" cmpd="sng" w="12700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93" name="Google Shape;2693;p50"/>
          <p:cNvSpPr txBox="1"/>
          <p:nvPr/>
        </p:nvSpPr>
        <p:spPr>
          <a:xfrm>
            <a:off x="5188479" y="5237355"/>
            <a:ext cx="30785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인증 결과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{ authResult:”success”,  txId: “식별값” }</a:t>
            </a:r>
            <a:endParaRPr sz="8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694" name="Google Shape;2694;p50"/>
          <p:cNvCxnSpPr>
            <a:endCxn id="2695" idx="2"/>
          </p:cNvCxnSpPr>
          <p:nvPr/>
        </p:nvCxnSpPr>
        <p:spPr>
          <a:xfrm>
            <a:off x="4618956" y="5606688"/>
            <a:ext cx="4206300" cy="0"/>
          </a:xfrm>
          <a:prstGeom prst="straightConnector1">
            <a:avLst/>
          </a:prstGeom>
          <a:solidFill>
            <a:srgbClr val="BBE0E3"/>
          </a:solidFill>
          <a:ln cap="flat" cmpd="sng" w="9525">
            <a:solidFill>
              <a:srgbClr val="808080"/>
            </a:solidFill>
            <a:prstDash val="dash"/>
            <a:round/>
            <a:headEnd len="med" w="med" type="triangle"/>
            <a:tailEnd len="sm" w="sm" type="none"/>
          </a:ln>
        </p:spPr>
      </p:cxnSp>
      <p:cxnSp>
        <p:nvCxnSpPr>
          <p:cNvPr id="2696" name="Google Shape;2696;p50"/>
          <p:cNvCxnSpPr/>
          <p:nvPr/>
        </p:nvCxnSpPr>
        <p:spPr>
          <a:xfrm>
            <a:off x="911835" y="5939510"/>
            <a:ext cx="3695916" cy="0"/>
          </a:xfrm>
          <a:prstGeom prst="straightConnector1">
            <a:avLst/>
          </a:prstGeom>
          <a:solidFill>
            <a:srgbClr val="BBE0E3"/>
          </a:solidFill>
          <a:ln cap="flat" cmpd="sng" w="9525">
            <a:solidFill>
              <a:srgbClr val="808080"/>
            </a:solidFill>
            <a:prstDash val="dash"/>
            <a:round/>
            <a:headEnd len="med" w="med" type="triangle"/>
            <a:tailEnd len="sm" w="sm" type="none"/>
          </a:ln>
        </p:spPr>
      </p:cxnSp>
      <p:sp>
        <p:nvSpPr>
          <p:cNvPr id="2697" name="Google Shape;2697;p50"/>
          <p:cNvSpPr txBox="1"/>
          <p:nvPr/>
        </p:nvSpPr>
        <p:spPr>
          <a:xfrm>
            <a:off x="1702370" y="5693289"/>
            <a:ext cx="210267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인증 완료</a:t>
            </a:r>
            <a:endParaRPr/>
          </a:p>
        </p:txBody>
      </p:sp>
      <p:cxnSp>
        <p:nvCxnSpPr>
          <p:cNvPr id="2698" name="Google Shape;2698;p50"/>
          <p:cNvCxnSpPr/>
          <p:nvPr/>
        </p:nvCxnSpPr>
        <p:spPr>
          <a:xfrm rot="10800000">
            <a:off x="4627204" y="5198727"/>
            <a:ext cx="4284486" cy="0"/>
          </a:xfrm>
          <a:prstGeom prst="straightConnector1">
            <a:avLst/>
          </a:prstGeom>
          <a:solidFill>
            <a:srgbClr val="BBE0E3"/>
          </a:solidFill>
          <a:ln cap="flat" cmpd="sng" w="9525">
            <a:solidFill>
              <a:srgbClr val="808080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2699" name="Google Shape;2699;p50"/>
          <p:cNvSpPr txBox="1"/>
          <p:nvPr/>
        </p:nvSpPr>
        <p:spPr>
          <a:xfrm>
            <a:off x="5718109" y="4966295"/>
            <a:ext cx="210267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인증 결과 조회 API</a:t>
            </a:r>
            <a:endParaRPr sz="10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00" name="Google Shape;2700;p50"/>
          <p:cNvSpPr txBox="1"/>
          <p:nvPr/>
        </p:nvSpPr>
        <p:spPr>
          <a:xfrm>
            <a:off x="1668418" y="4661604"/>
            <a:ext cx="210267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본인인증 완료 요청</a:t>
            </a:r>
            <a:endParaRPr/>
          </a:p>
        </p:txBody>
      </p:sp>
      <p:cxnSp>
        <p:nvCxnSpPr>
          <p:cNvPr id="2701" name="Google Shape;2701;p50"/>
          <p:cNvCxnSpPr/>
          <p:nvPr/>
        </p:nvCxnSpPr>
        <p:spPr>
          <a:xfrm rot="10800000">
            <a:off x="911837" y="4910421"/>
            <a:ext cx="3715367" cy="0"/>
          </a:xfrm>
          <a:prstGeom prst="straightConnector1">
            <a:avLst/>
          </a:prstGeom>
          <a:solidFill>
            <a:srgbClr val="BBE0E3"/>
          </a:solidFill>
          <a:ln cap="flat" cmpd="sng" w="9525">
            <a:solidFill>
              <a:srgbClr val="808080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2702" name="Google Shape;2702;p50"/>
          <p:cNvSpPr/>
          <p:nvPr/>
        </p:nvSpPr>
        <p:spPr>
          <a:xfrm>
            <a:off x="822244" y="2297357"/>
            <a:ext cx="160152" cy="15027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03" name="Google Shape;2703;p50"/>
          <p:cNvSpPr/>
          <p:nvPr/>
        </p:nvSpPr>
        <p:spPr>
          <a:xfrm>
            <a:off x="4527675" y="2564728"/>
            <a:ext cx="160152" cy="15027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86" name="Google Shape;2686;p50"/>
          <p:cNvSpPr/>
          <p:nvPr/>
        </p:nvSpPr>
        <p:spPr>
          <a:xfrm>
            <a:off x="8831267" y="2962159"/>
            <a:ext cx="160152" cy="15027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88" name="Google Shape;2688;p50"/>
          <p:cNvSpPr/>
          <p:nvPr/>
        </p:nvSpPr>
        <p:spPr>
          <a:xfrm>
            <a:off x="8836746" y="3991322"/>
            <a:ext cx="160152" cy="15027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sz="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04" name="Google Shape;2704;p50"/>
          <p:cNvSpPr/>
          <p:nvPr/>
        </p:nvSpPr>
        <p:spPr>
          <a:xfrm>
            <a:off x="822244" y="4295415"/>
            <a:ext cx="160152" cy="15027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sz="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05" name="Google Shape;2705;p50"/>
          <p:cNvSpPr/>
          <p:nvPr/>
        </p:nvSpPr>
        <p:spPr>
          <a:xfrm>
            <a:off x="831760" y="4834262"/>
            <a:ext cx="160152" cy="15027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r>
            <a:endParaRPr b="1" sz="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06" name="Google Shape;2706;p50"/>
          <p:cNvSpPr/>
          <p:nvPr/>
        </p:nvSpPr>
        <p:spPr>
          <a:xfrm>
            <a:off x="4529458" y="5123588"/>
            <a:ext cx="160152" cy="15027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endParaRPr b="1" sz="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95" name="Google Shape;2695;p50"/>
          <p:cNvSpPr/>
          <p:nvPr/>
        </p:nvSpPr>
        <p:spPr>
          <a:xfrm>
            <a:off x="8825256" y="5531549"/>
            <a:ext cx="160152" cy="15027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  <a:endParaRPr b="1" sz="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07" name="Google Shape;2707;p50"/>
          <p:cNvSpPr/>
          <p:nvPr/>
        </p:nvSpPr>
        <p:spPr>
          <a:xfrm>
            <a:off x="4536486" y="5874747"/>
            <a:ext cx="160152" cy="15027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11</a:t>
            </a:r>
            <a:endParaRPr b="1" sz="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708" name="Google Shape;2708;p50"/>
          <p:cNvCxnSpPr/>
          <p:nvPr/>
        </p:nvCxnSpPr>
        <p:spPr>
          <a:xfrm rot="10800000">
            <a:off x="4627204" y="3439658"/>
            <a:ext cx="4284486" cy="0"/>
          </a:xfrm>
          <a:prstGeom prst="straightConnector1">
            <a:avLst/>
          </a:prstGeom>
          <a:solidFill>
            <a:srgbClr val="BBE0E3"/>
          </a:solidFill>
          <a:ln cap="flat" cmpd="sng" w="9525">
            <a:solidFill>
              <a:srgbClr val="808080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2709" name="Google Shape;2709;p50"/>
          <p:cNvSpPr txBox="1"/>
          <p:nvPr/>
        </p:nvSpPr>
        <p:spPr>
          <a:xfrm>
            <a:off x="5230183" y="3216675"/>
            <a:ext cx="307852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본인인증 요청 API</a:t>
            </a:r>
            <a:endParaRPr sz="10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10" name="Google Shape;2710;p50"/>
          <p:cNvSpPr/>
          <p:nvPr/>
        </p:nvSpPr>
        <p:spPr>
          <a:xfrm>
            <a:off x="4527675" y="3352907"/>
            <a:ext cx="160152" cy="15027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11" name="Google Shape;2711;p50"/>
          <p:cNvSpPr txBox="1"/>
          <p:nvPr/>
        </p:nvSpPr>
        <p:spPr>
          <a:xfrm>
            <a:off x="5043791" y="3561750"/>
            <a:ext cx="33863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요청 결과</a:t>
            </a:r>
            <a:br>
              <a:rPr lang="en-US" sz="10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{ result: “Y”, txId: “식별값” }</a:t>
            </a:r>
            <a:endParaRPr sz="10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712" name="Google Shape;2712;p50"/>
          <p:cNvCxnSpPr>
            <a:endCxn id="2713" idx="2"/>
          </p:cNvCxnSpPr>
          <p:nvPr/>
        </p:nvCxnSpPr>
        <p:spPr>
          <a:xfrm flipH="1" rot="10800000">
            <a:off x="4618667" y="3886233"/>
            <a:ext cx="4212600" cy="16500"/>
          </a:xfrm>
          <a:prstGeom prst="straightConnector1">
            <a:avLst/>
          </a:prstGeom>
          <a:solidFill>
            <a:srgbClr val="BBE0E3"/>
          </a:solidFill>
          <a:ln cap="flat" cmpd="sng" w="9525">
            <a:solidFill>
              <a:srgbClr val="808080"/>
            </a:solidFill>
            <a:prstDash val="dash"/>
            <a:round/>
            <a:headEnd len="med" w="med" type="triangle"/>
            <a:tailEnd len="sm" w="sm" type="none"/>
          </a:ln>
        </p:spPr>
      </p:cxnSp>
      <p:sp>
        <p:nvSpPr>
          <p:cNvPr id="2713" name="Google Shape;2713;p50"/>
          <p:cNvSpPr/>
          <p:nvPr/>
        </p:nvSpPr>
        <p:spPr>
          <a:xfrm>
            <a:off x="8831267" y="3811094"/>
            <a:ext cx="160152" cy="15027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sz="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14" name="Google Shape;2714;p50"/>
          <p:cNvSpPr/>
          <p:nvPr/>
        </p:nvSpPr>
        <p:spPr>
          <a:xfrm>
            <a:off x="1155468" y="2176012"/>
            <a:ext cx="916096" cy="209672"/>
          </a:xfrm>
          <a:prstGeom prst="roundRect">
            <a:avLst>
              <a:gd fmla="val 10054" name="adj"/>
            </a:avLst>
          </a:prstGeom>
          <a:solidFill>
            <a:srgbClr val="3F3F3F"/>
          </a:solidFill>
          <a:ln cap="flat" cmpd="sng" w="9525">
            <a:solidFill>
              <a:srgbClr val="80808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AES256</a:t>
            </a:r>
            <a:endParaRPr sz="8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8" name="Shape 2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19" name="Google Shape;2719;p51"/>
          <p:cNvGraphicFramePr/>
          <p:nvPr/>
        </p:nvGraphicFramePr>
        <p:xfrm>
          <a:off x="428048" y="380542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{F6045412-04BD-4F82-B1B7-2730D475FC39}</a:tableStyleId>
              </a:tblPr>
              <a:tblGrid>
                <a:gridCol w="1596750"/>
                <a:gridCol w="7357325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구분</a:t>
                      </a:r>
                      <a:endParaRPr/>
                    </a:p>
                  </a:txBody>
                  <a:tcPr marT="46800" marB="46800" marR="83050" marL="83050" anchor="ctr">
                    <a:lnL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상세 설명</a:t>
                      </a:r>
                      <a:endParaRPr/>
                    </a:p>
                  </a:txBody>
                  <a:tcPr marT="46800" marB="46800" marR="83050" marL="830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371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Async 서비스 호출 및</a:t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RD 서비스 호출</a:t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287925" anchor="ctr">
                    <a:lnL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93663" lvl="0" marL="93663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RD Viewer 에서 제공하는 JavaScript 공통 함수 호출(미리보기 기능 등)</a:t>
                      </a:r>
                      <a:endParaRPr/>
                    </a:p>
                    <a:p>
                      <a:pPr indent="-93663" lvl="0" marL="93663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RD 데이터 조회 서비스</a:t>
                      </a: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호출을</a:t>
                      </a: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위한 전문 String(JSON형식, UI에서 데이터 조회를 위한 전문 String)을 생성하여 RD</a:t>
                      </a: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출력</a:t>
                      </a:r>
                      <a:b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서비스 호출 시 데이터로 전달(동기(Sync)/비동기(Async)) –병렬처리 가능</a:t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-93663" lvl="0" marL="93663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Client에서 RD데이터를 전송하거나 데이터가 없는 양식 호출 서비스 제공</a:t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-93663" lvl="0" marL="93663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RD InvokerService 재시도 파라미터</a:t>
                      </a: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세팅</a:t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8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RD Async/Sync</a:t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287925" anchor="ctr">
                    <a:lnL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93663" lvl="0" marL="93663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조회 필요</a:t>
                      </a: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시, </a:t>
                      </a: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RD</a:t>
                      </a: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PreProcessor는 Client에서 전달된 조회서비스 전문(JSON)을 GateWay 서버에 HTTP 형식으로 호출</a:t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-93663" lvl="0" marL="936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바인딩 필요 전문과 불필요 전문을 구분하여 다르게 처리, 로그 및 재처리 관리</a:t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3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RD</a:t>
                      </a: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PreProcessor</a:t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287925" anchor="ctr">
                    <a:lnL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93663" lvl="0" marL="93663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요청 정보 정합성 체크</a:t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3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RD </a:t>
                      </a: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Processor</a:t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287925" anchor="ctr">
                    <a:lnL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93663" lvl="0" marL="93663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및 양식정보 바인딩</a:t>
                      </a: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및 RD Viewer에 전송</a:t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-93663" lvl="0" marL="93663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이미지(tif) 생성 및 후처리 관리</a:t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9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RD 미리보기</a:t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287925" anchor="ctr">
                    <a:lnL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93663" lvl="0" marL="93663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RD Viewer 에서 제공하는 JavaScript 공통 함수 호출(미리보기 기능 등)</a:t>
                      </a:r>
                      <a:endParaRPr/>
                    </a:p>
                    <a:p>
                      <a:pPr indent="-93663" lvl="0" marL="93663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RD 데이터 조회 서비스</a:t>
                      </a: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호출을</a:t>
                      </a: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위한 전문 String(JSON형식, UI에서 데이터 조회를 위한 전문 String)을 생성하여 RD</a:t>
                      </a: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출력</a:t>
                      </a:r>
                      <a:b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서비스 호출 시 데이터로 전달</a:t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720" name="Google Shape;2720;p51"/>
          <p:cNvSpPr/>
          <p:nvPr/>
        </p:nvSpPr>
        <p:spPr>
          <a:xfrm>
            <a:off x="486382" y="4389514"/>
            <a:ext cx="179346" cy="179345"/>
          </a:xfrm>
          <a:prstGeom prst="ellipse">
            <a:avLst/>
          </a:prstGeom>
          <a:solidFill>
            <a:srgbClr val="000000">
              <a:alpha val="98824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10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21" name="Google Shape;2721;p51"/>
          <p:cNvSpPr/>
          <p:nvPr/>
        </p:nvSpPr>
        <p:spPr>
          <a:xfrm>
            <a:off x="486382" y="4966915"/>
            <a:ext cx="179346" cy="179345"/>
          </a:xfrm>
          <a:prstGeom prst="ellipse">
            <a:avLst/>
          </a:prstGeom>
          <a:solidFill>
            <a:srgbClr val="000000">
              <a:alpha val="98824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10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22" name="Google Shape;2722;p51"/>
          <p:cNvSpPr/>
          <p:nvPr/>
        </p:nvSpPr>
        <p:spPr>
          <a:xfrm>
            <a:off x="486382" y="5282958"/>
            <a:ext cx="179346" cy="179345"/>
          </a:xfrm>
          <a:prstGeom prst="ellipse">
            <a:avLst/>
          </a:prstGeom>
          <a:solidFill>
            <a:srgbClr val="000000">
              <a:alpha val="98824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10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23" name="Google Shape;2723;p51"/>
          <p:cNvSpPr/>
          <p:nvPr/>
        </p:nvSpPr>
        <p:spPr>
          <a:xfrm>
            <a:off x="486382" y="5579451"/>
            <a:ext cx="179346" cy="179345"/>
          </a:xfrm>
          <a:prstGeom prst="ellipse">
            <a:avLst/>
          </a:prstGeom>
          <a:solidFill>
            <a:srgbClr val="000000">
              <a:alpha val="98824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10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24" name="Google Shape;2724;p51"/>
          <p:cNvSpPr/>
          <p:nvPr/>
        </p:nvSpPr>
        <p:spPr>
          <a:xfrm>
            <a:off x="486382" y="5969589"/>
            <a:ext cx="179346" cy="179345"/>
          </a:xfrm>
          <a:prstGeom prst="ellipse">
            <a:avLst/>
          </a:prstGeom>
          <a:solidFill>
            <a:srgbClr val="000000">
              <a:alpha val="98824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sz="10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25" name="Google Shape;2725;p51"/>
          <p:cNvSpPr txBox="1"/>
          <p:nvPr/>
        </p:nvSpPr>
        <p:spPr>
          <a:xfrm>
            <a:off x="417770" y="714190"/>
            <a:ext cx="8964356" cy="880617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36000">
            <a:sp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3.3 기타 연계방안</a:t>
            </a:r>
            <a:endParaRPr/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3.3.1 RD 모듈 실행 아키텍처</a:t>
            </a:r>
            <a:endParaRPr b="0"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HTML5 RD는 데이터 바인딩은 서버에서 처리됨으로, Client(Mobile Web) 및 서버간 데이터 통신을 최소화하기 위한 아키텍처로 설계</a:t>
            </a:r>
            <a:endParaRPr/>
          </a:p>
        </p:txBody>
      </p:sp>
      <p:sp>
        <p:nvSpPr>
          <p:cNvPr id="2726" name="Google Shape;2726;p51"/>
          <p:cNvSpPr/>
          <p:nvPr/>
        </p:nvSpPr>
        <p:spPr>
          <a:xfrm>
            <a:off x="416971" y="1556792"/>
            <a:ext cx="2695345" cy="887903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7F7F7F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t" bIns="46775" lIns="89975" spcFirstLastPara="1" rIns="89975" wrap="square" tIns="467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Client Tier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27" name="Google Shape;2727;p51"/>
          <p:cNvSpPr/>
          <p:nvPr/>
        </p:nvSpPr>
        <p:spPr>
          <a:xfrm>
            <a:off x="3291223" y="1569491"/>
            <a:ext cx="4692326" cy="1649684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7F7F7F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t" bIns="46775" lIns="89975" spcFirstLastPara="1" rIns="89975" wrap="square" tIns="467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RD Application Tier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(GateWay)</a:t>
            </a:r>
            <a:endParaRPr b="1" sz="10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28" name="Google Shape;2728;p51"/>
          <p:cNvSpPr/>
          <p:nvPr/>
        </p:nvSpPr>
        <p:spPr>
          <a:xfrm>
            <a:off x="416971" y="2531078"/>
            <a:ext cx="2695345" cy="1185454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7F7F7F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t" bIns="46775" lIns="89975" spcFirstLastPara="1" rIns="89975" wrap="square" tIns="467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MDS </a:t>
            </a:r>
            <a:r>
              <a:rPr b="1" lang="en-US" sz="10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Application</a:t>
            </a:r>
            <a:endParaRPr b="1" sz="105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29" name="Google Shape;2729;p51"/>
          <p:cNvSpPr/>
          <p:nvPr/>
        </p:nvSpPr>
        <p:spPr>
          <a:xfrm>
            <a:off x="8145940" y="1556792"/>
            <a:ext cx="1236186" cy="215974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7F7F7F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t" bIns="46775" lIns="89975" spcFirstLastPara="1" rIns="89975" wrap="square" tIns="467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Application Tier</a:t>
            </a:r>
            <a:endParaRPr b="1" sz="8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30" name="Google Shape;2730;p51"/>
          <p:cNvSpPr/>
          <p:nvPr/>
        </p:nvSpPr>
        <p:spPr>
          <a:xfrm>
            <a:off x="8244840" y="1935247"/>
            <a:ext cx="1038384" cy="16629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775" lIns="89975" spcFirstLastPara="1" rIns="89975" wrap="square" tIns="4677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EDMS</a:t>
            </a:r>
            <a:endParaRPr b="1" sz="8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731" name="Google Shape;2731;p51"/>
          <p:cNvGrpSpPr/>
          <p:nvPr/>
        </p:nvGrpSpPr>
        <p:grpSpPr>
          <a:xfrm>
            <a:off x="503160" y="3146508"/>
            <a:ext cx="2523665" cy="516389"/>
            <a:chOff x="1794435" y="2986145"/>
            <a:chExt cx="1666962" cy="516389"/>
          </a:xfrm>
        </p:grpSpPr>
        <p:sp>
          <p:nvSpPr>
            <p:cNvPr id="2732" name="Google Shape;2732;p51"/>
            <p:cNvSpPr/>
            <p:nvPr/>
          </p:nvSpPr>
          <p:spPr>
            <a:xfrm>
              <a:off x="2644928" y="3024788"/>
              <a:ext cx="781852" cy="436804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6775" lIns="89975" spcFirstLastPara="1" rIns="89975" wrap="square" tIns="46775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Async Servlet</a:t>
              </a:r>
              <a:endParaRPr b="1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733" name="Google Shape;2733;p51"/>
            <p:cNvSpPr/>
            <p:nvPr/>
          </p:nvSpPr>
          <p:spPr>
            <a:xfrm>
              <a:off x="1794435" y="2986145"/>
              <a:ext cx="1666962" cy="516389"/>
            </a:xfrm>
            <a:prstGeom prst="roundRect">
              <a:avLst>
                <a:gd fmla="val 6017" name="adj"/>
              </a:avLst>
            </a:prstGeom>
            <a:noFill/>
            <a:ln cap="flat" cmpd="sng" w="19050">
              <a:solidFill>
                <a:srgbClr val="FF0000"/>
              </a:solidFill>
              <a:prstDash val="dot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734" name="Google Shape;2734;p51"/>
            <p:cNvSpPr/>
            <p:nvPr/>
          </p:nvSpPr>
          <p:spPr>
            <a:xfrm>
              <a:off x="2714170" y="3249816"/>
              <a:ext cx="658862" cy="157093"/>
            </a:xfrm>
            <a:prstGeom prst="rect">
              <a:avLst/>
            </a:prstGeom>
            <a:solidFill>
              <a:srgbClr val="D8D8D8"/>
            </a:solidFill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6775" lIns="89975" spcFirstLastPara="1" rIns="89975" wrap="square" tIns="467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RD Async</a:t>
              </a:r>
              <a:endParaRPr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735" name="Google Shape;2735;p51"/>
            <p:cNvSpPr/>
            <p:nvPr/>
          </p:nvSpPr>
          <p:spPr>
            <a:xfrm>
              <a:off x="1820379" y="3024788"/>
              <a:ext cx="781852" cy="436804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6775" lIns="89975" spcFirstLastPara="1" rIns="89975" wrap="square" tIns="46775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Sync Servlet</a:t>
              </a:r>
              <a:endParaRPr b="1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736" name="Google Shape;2736;p51"/>
            <p:cNvSpPr/>
            <p:nvPr/>
          </p:nvSpPr>
          <p:spPr>
            <a:xfrm>
              <a:off x="1889621" y="3249816"/>
              <a:ext cx="658862" cy="157093"/>
            </a:xfrm>
            <a:prstGeom prst="rect">
              <a:avLst/>
            </a:prstGeom>
            <a:solidFill>
              <a:srgbClr val="D8D8D8"/>
            </a:solidFill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6775" lIns="89975" spcFirstLastPara="1" rIns="89975" wrap="square" tIns="467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RD Sync</a:t>
              </a:r>
              <a:endParaRPr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737" name="Google Shape;2737;p51"/>
          <p:cNvSpPr/>
          <p:nvPr/>
        </p:nvSpPr>
        <p:spPr>
          <a:xfrm>
            <a:off x="1052721" y="2789238"/>
            <a:ext cx="1424543" cy="19405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1" marL="1588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Dispatcher Servlet Gateway</a:t>
            </a:r>
            <a:endParaRPr b="0" i="0" sz="800" u="none" cap="none" strike="noStrik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738" name="Google Shape;2738;p51"/>
          <p:cNvGrpSpPr/>
          <p:nvPr/>
        </p:nvGrpSpPr>
        <p:grpSpPr>
          <a:xfrm>
            <a:off x="3390900" y="2067889"/>
            <a:ext cx="4457700" cy="879487"/>
            <a:chOff x="3214821" y="2312248"/>
            <a:chExt cx="3439832" cy="497503"/>
          </a:xfrm>
        </p:grpSpPr>
        <p:sp>
          <p:nvSpPr>
            <p:cNvPr id="2739" name="Google Shape;2739;p51"/>
            <p:cNvSpPr/>
            <p:nvPr/>
          </p:nvSpPr>
          <p:spPr>
            <a:xfrm>
              <a:off x="3214821" y="2312248"/>
              <a:ext cx="3439832" cy="49750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6775" lIns="89975" spcFirstLastPara="1" rIns="89975" wrap="square" tIns="46775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740" name="Google Shape;2740;p51"/>
            <p:cNvSpPr/>
            <p:nvPr/>
          </p:nvSpPr>
          <p:spPr>
            <a:xfrm>
              <a:off x="3377027" y="2359426"/>
              <a:ext cx="724749" cy="394275"/>
            </a:xfrm>
            <a:prstGeom prst="rect">
              <a:avLst/>
            </a:prstGeom>
            <a:solidFill>
              <a:srgbClr val="D8D8D8"/>
            </a:solidFill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6775" lIns="89975" spcFirstLastPara="1" rIns="89975" wrap="square" tIns="467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RD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PreProcessor</a:t>
              </a:r>
              <a:endParaRPr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741" name="Google Shape;2741;p51"/>
            <p:cNvSpPr/>
            <p:nvPr/>
          </p:nvSpPr>
          <p:spPr>
            <a:xfrm>
              <a:off x="4579901" y="2362650"/>
              <a:ext cx="724749" cy="391051"/>
            </a:xfrm>
            <a:prstGeom prst="rect">
              <a:avLst/>
            </a:prstGeom>
            <a:solidFill>
              <a:srgbClr val="D8D8D8"/>
            </a:solidFill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6775" lIns="89975" spcFirstLastPara="1" rIns="89975" wrap="square" tIns="467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RD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Processor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(Invoker)</a:t>
              </a:r>
              <a:endParaRPr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742" name="Google Shape;2742;p51"/>
            <p:cNvSpPr/>
            <p:nvPr/>
          </p:nvSpPr>
          <p:spPr>
            <a:xfrm>
              <a:off x="5782774" y="2365828"/>
              <a:ext cx="724749" cy="387873"/>
            </a:xfrm>
            <a:prstGeom prst="rect">
              <a:avLst/>
            </a:prstGeom>
            <a:solidFill>
              <a:srgbClr val="DDDDDD"/>
            </a:solidFill>
            <a:ln cap="flat" cmpd="sng" w="9525">
              <a:solidFill>
                <a:srgbClr val="A5A5A5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5975" lIns="35975" spcFirstLastPara="1" rIns="35975" wrap="square" tIns="359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Service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Endpoint</a:t>
              </a:r>
              <a:endParaRPr/>
            </a:p>
          </p:txBody>
        </p:sp>
        <p:cxnSp>
          <p:nvCxnSpPr>
            <p:cNvPr id="2743" name="Google Shape;2743;p51"/>
            <p:cNvCxnSpPr>
              <a:stCxn id="2740" idx="3"/>
              <a:endCxn id="2741" idx="1"/>
            </p:cNvCxnSpPr>
            <p:nvPr/>
          </p:nvCxnSpPr>
          <p:spPr>
            <a:xfrm>
              <a:off x="4101776" y="2556564"/>
              <a:ext cx="478200" cy="1500"/>
            </a:xfrm>
            <a:prstGeom prst="straightConnector1">
              <a:avLst/>
            </a:prstGeom>
            <a:noFill/>
            <a:ln cap="flat" cmpd="sng" w="12700">
              <a:solidFill>
                <a:srgbClr val="7F7F7F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44" name="Google Shape;2744;p51"/>
            <p:cNvCxnSpPr>
              <a:stCxn id="2741" idx="3"/>
              <a:endCxn id="2742" idx="1"/>
            </p:cNvCxnSpPr>
            <p:nvPr/>
          </p:nvCxnSpPr>
          <p:spPr>
            <a:xfrm>
              <a:off x="5304650" y="2558176"/>
              <a:ext cx="478200" cy="1500"/>
            </a:xfrm>
            <a:prstGeom prst="straightConnector1">
              <a:avLst/>
            </a:prstGeom>
            <a:noFill/>
            <a:ln cap="flat" cmpd="sng" w="12700">
              <a:solidFill>
                <a:srgbClr val="7F7F7F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2745" name="Google Shape;2745;p51"/>
          <p:cNvGrpSpPr/>
          <p:nvPr/>
        </p:nvGrpSpPr>
        <p:grpSpPr>
          <a:xfrm>
            <a:off x="493922" y="1823572"/>
            <a:ext cx="2523665" cy="535404"/>
            <a:chOff x="588477" y="2140844"/>
            <a:chExt cx="1659771" cy="657484"/>
          </a:xfrm>
        </p:grpSpPr>
        <p:sp>
          <p:nvSpPr>
            <p:cNvPr id="2746" name="Google Shape;2746;p51"/>
            <p:cNvSpPr/>
            <p:nvPr/>
          </p:nvSpPr>
          <p:spPr>
            <a:xfrm>
              <a:off x="588477" y="2140844"/>
              <a:ext cx="1659771" cy="657484"/>
            </a:xfrm>
            <a:prstGeom prst="roundRect">
              <a:avLst>
                <a:gd fmla="val 6201" name="adj"/>
              </a:avLst>
            </a:prstGeom>
            <a:noFill/>
            <a:ln cap="flat" cmpd="sng" w="19050">
              <a:solidFill>
                <a:srgbClr val="FF0000"/>
              </a:solidFill>
              <a:prstDash val="dot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747" name="Google Shape;2747;p51"/>
            <p:cNvSpPr/>
            <p:nvPr/>
          </p:nvSpPr>
          <p:spPr>
            <a:xfrm>
              <a:off x="635750" y="2195536"/>
              <a:ext cx="1579641" cy="252669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5975" lIns="35975" spcFirstLastPara="1" rIns="35975" wrap="square" tIns="35975">
              <a:noAutofit/>
            </a:bodyPr>
            <a:lstStyle/>
            <a:p>
              <a:pPr indent="0" lvl="1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RD 미리보기</a:t>
              </a:r>
              <a:endParaRPr b="0" i="0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748" name="Google Shape;2748;p51"/>
            <p:cNvSpPr/>
            <p:nvPr/>
          </p:nvSpPr>
          <p:spPr>
            <a:xfrm>
              <a:off x="635750" y="2502609"/>
              <a:ext cx="1579641" cy="24820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5975" lIns="35975" spcFirstLastPara="1" rIns="35975" wrap="square" tIns="35975">
              <a:noAutofit/>
            </a:bodyPr>
            <a:lstStyle/>
            <a:p>
              <a:pPr indent="0" lvl="1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RD 발행</a:t>
              </a:r>
              <a:endParaRPr/>
            </a:p>
          </p:txBody>
        </p:sp>
      </p:grpSp>
      <p:cxnSp>
        <p:nvCxnSpPr>
          <p:cNvPr id="2749" name="Google Shape;2749;p51"/>
          <p:cNvCxnSpPr>
            <a:stCxn id="2737" idx="0"/>
            <a:endCxn id="2748" idx="2"/>
          </p:cNvCxnSpPr>
          <p:nvPr/>
        </p:nvCxnSpPr>
        <p:spPr>
          <a:xfrm flipH="1" rot="10800000">
            <a:off x="1764993" y="2320338"/>
            <a:ext cx="1800" cy="468900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750" name="Google Shape;2750;p51"/>
          <p:cNvCxnSpPr/>
          <p:nvPr/>
        </p:nvCxnSpPr>
        <p:spPr>
          <a:xfrm>
            <a:off x="1764132" y="2977571"/>
            <a:ext cx="861" cy="185598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751" name="Google Shape;2751;p51"/>
          <p:cNvCxnSpPr/>
          <p:nvPr/>
        </p:nvCxnSpPr>
        <p:spPr>
          <a:xfrm flipH="1" rot="10800000">
            <a:off x="3029994" y="2848203"/>
            <a:ext cx="1054200" cy="556500"/>
          </a:xfrm>
          <a:prstGeom prst="bentConnector2">
            <a:avLst/>
          </a:prstGeom>
          <a:noFill/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52" name="Google Shape;2752;p51"/>
          <p:cNvCxnSpPr/>
          <p:nvPr/>
        </p:nvCxnSpPr>
        <p:spPr>
          <a:xfrm>
            <a:off x="2967229" y="1970986"/>
            <a:ext cx="1029600" cy="877200"/>
          </a:xfrm>
          <a:prstGeom prst="bentConnector4">
            <a:avLst>
              <a:gd fmla="val 22994" name="adj1"/>
              <a:gd fmla="val 153676" name="adj2"/>
            </a:avLst>
          </a:prstGeom>
          <a:noFill/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53" name="Google Shape;2753;p51"/>
          <p:cNvCxnSpPr/>
          <p:nvPr/>
        </p:nvCxnSpPr>
        <p:spPr>
          <a:xfrm>
            <a:off x="3113776" y="3501248"/>
            <a:ext cx="5029200" cy="0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54" name="Google Shape;2754;p51"/>
          <p:cNvSpPr/>
          <p:nvPr/>
        </p:nvSpPr>
        <p:spPr>
          <a:xfrm>
            <a:off x="1551230" y="2330562"/>
            <a:ext cx="179346" cy="179345"/>
          </a:xfrm>
          <a:prstGeom prst="ellipse">
            <a:avLst/>
          </a:prstGeom>
          <a:solidFill>
            <a:srgbClr val="000000">
              <a:alpha val="98824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10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55" name="Google Shape;2755;p51"/>
          <p:cNvSpPr/>
          <p:nvPr/>
        </p:nvSpPr>
        <p:spPr>
          <a:xfrm>
            <a:off x="423743" y="3027130"/>
            <a:ext cx="179346" cy="179345"/>
          </a:xfrm>
          <a:prstGeom prst="ellipse">
            <a:avLst/>
          </a:prstGeom>
          <a:solidFill>
            <a:srgbClr val="000000">
              <a:alpha val="98824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10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56" name="Google Shape;2756;p51"/>
          <p:cNvSpPr/>
          <p:nvPr/>
        </p:nvSpPr>
        <p:spPr>
          <a:xfrm>
            <a:off x="3534586" y="2081308"/>
            <a:ext cx="179346" cy="179345"/>
          </a:xfrm>
          <a:prstGeom prst="ellipse">
            <a:avLst/>
          </a:prstGeom>
          <a:solidFill>
            <a:srgbClr val="000000">
              <a:alpha val="98824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10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57" name="Google Shape;2757;p51"/>
          <p:cNvSpPr/>
          <p:nvPr/>
        </p:nvSpPr>
        <p:spPr>
          <a:xfrm>
            <a:off x="5070243" y="2095195"/>
            <a:ext cx="179346" cy="179345"/>
          </a:xfrm>
          <a:prstGeom prst="ellipse">
            <a:avLst/>
          </a:prstGeom>
          <a:solidFill>
            <a:srgbClr val="000000">
              <a:alpha val="98824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10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58" name="Google Shape;2758;p51"/>
          <p:cNvSpPr/>
          <p:nvPr/>
        </p:nvSpPr>
        <p:spPr>
          <a:xfrm>
            <a:off x="3033805" y="1776622"/>
            <a:ext cx="179346" cy="179345"/>
          </a:xfrm>
          <a:prstGeom prst="ellipse">
            <a:avLst/>
          </a:prstGeom>
          <a:solidFill>
            <a:srgbClr val="000000">
              <a:alpha val="98824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sz="10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2" name="Shape 2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3" name="Google Shape;2763;p52"/>
          <p:cNvGraphicFramePr/>
          <p:nvPr/>
        </p:nvGraphicFramePr>
        <p:xfrm>
          <a:off x="417770" y="13792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{9216E51F-281C-4444-9FEC-27A87119D8F7}</a:tableStyleId>
              </a:tblPr>
              <a:tblGrid>
                <a:gridCol w="792950"/>
                <a:gridCol w="8269275"/>
              </a:tblGrid>
              <a:tr h="294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항목</a:t>
                      </a:r>
                      <a:endParaRPr/>
                    </a:p>
                  </a:txBody>
                  <a:tcPr marT="36000" marB="36000" marR="36000" marL="3600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처리흐름도</a:t>
                      </a:r>
                      <a:endParaRPr/>
                    </a:p>
                  </a:txBody>
                  <a:tcPr marT="36000" marB="36000" marR="36000" marL="3600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901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거래</a:t>
                      </a:r>
                      <a:b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유형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34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온라인</a:t>
                      </a:r>
                      <a:b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프로세스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 사용자 화면에서 약정서 데이터와 고객인증키값을 MDS 업무서비스로 전송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 업무서비스는 RD를 통해  PDF 파일을 생성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3. 전자서명을 실행하여 고객인증 키와 현대해상의 키를 통해 SIG 파일을 생성 및  Time Stamp 서명 각각 수행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4. 서명이 끝난 공인인증파일을 MDS NAS 에 저장하고  공전소 등록 요청을 위해 공전소 메타정보에 등록 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5. Docuon *Mate Client 에서 해당 파일 공인전자문서 보관소로 전송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64" name="Google Shape;2764;p52"/>
          <p:cNvSpPr/>
          <p:nvPr/>
        </p:nvSpPr>
        <p:spPr>
          <a:xfrm>
            <a:off x="2818137" y="1844824"/>
            <a:ext cx="4751415" cy="2566364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외부망</a:t>
            </a:r>
            <a:endParaRPr b="1" sz="10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65" name="Google Shape;2765;p52"/>
          <p:cNvSpPr/>
          <p:nvPr/>
        </p:nvSpPr>
        <p:spPr>
          <a:xfrm>
            <a:off x="5387860" y="3717032"/>
            <a:ext cx="869607" cy="58071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7070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 b="1" sz="900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66" name="Google Shape;2766;p52"/>
          <p:cNvSpPr txBox="1"/>
          <p:nvPr/>
        </p:nvSpPr>
        <p:spPr>
          <a:xfrm>
            <a:off x="417770" y="714190"/>
            <a:ext cx="8964356" cy="590987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36000">
            <a:sp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3.3 기타 연계방안 </a:t>
            </a:r>
            <a:endParaRPr/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3.3.2 공전소연계방안_등록</a:t>
            </a:r>
            <a:endParaRPr b="0"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67" name="Google Shape;2767;p52"/>
          <p:cNvSpPr/>
          <p:nvPr/>
        </p:nvSpPr>
        <p:spPr>
          <a:xfrm>
            <a:off x="5447512" y="3936796"/>
            <a:ext cx="742184" cy="277876"/>
          </a:xfrm>
          <a:prstGeom prst="can">
            <a:avLst>
              <a:gd fmla="val 4115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Noto Sans Symbols"/>
              <a:buNone/>
            </a:pPr>
            <a:r>
              <a:rPr lang="en-US" sz="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공전소 메타정보 </a:t>
            </a:r>
            <a:endParaRPr/>
          </a:p>
        </p:txBody>
      </p:sp>
      <p:sp>
        <p:nvSpPr>
          <p:cNvPr id="2768" name="Google Shape;2768;p52"/>
          <p:cNvSpPr/>
          <p:nvPr/>
        </p:nvSpPr>
        <p:spPr>
          <a:xfrm>
            <a:off x="4390190" y="3717032"/>
            <a:ext cx="939680" cy="58071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7070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 b="1" sz="900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69" name="Google Shape;2769;p52"/>
          <p:cNvSpPr/>
          <p:nvPr/>
        </p:nvSpPr>
        <p:spPr>
          <a:xfrm>
            <a:off x="4590724" y="3932797"/>
            <a:ext cx="540517" cy="296091"/>
          </a:xfrm>
          <a:prstGeom prst="flowChartDocument">
            <a:avLst/>
          </a:prstGeom>
          <a:solidFill>
            <a:srgbClr val="D8D8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공인인증File</a:t>
            </a:r>
            <a:endParaRPr b="0" sz="7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70" name="Google Shape;2770;p52"/>
          <p:cNvSpPr txBox="1"/>
          <p:nvPr/>
        </p:nvSpPr>
        <p:spPr>
          <a:xfrm>
            <a:off x="4463711" y="3733313"/>
            <a:ext cx="788119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MDS NAS</a:t>
            </a:r>
            <a:endParaRPr b="1" sz="9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71" name="Google Shape;2771;p52"/>
          <p:cNvSpPr/>
          <p:nvPr/>
        </p:nvSpPr>
        <p:spPr>
          <a:xfrm>
            <a:off x="3348453" y="2058776"/>
            <a:ext cx="2909014" cy="1487335"/>
          </a:xfrm>
          <a:prstGeom prst="rect">
            <a:avLst/>
          </a:prstGeom>
          <a:solidFill>
            <a:srgbClr val="D8D8D8"/>
          </a:solidFill>
          <a:ln cap="flat" cmpd="sng" w="12700">
            <a:solidFill>
              <a:srgbClr val="7070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72" name="Google Shape;2772;p52"/>
          <p:cNvSpPr/>
          <p:nvPr/>
        </p:nvSpPr>
        <p:spPr>
          <a:xfrm>
            <a:off x="3351887" y="3717032"/>
            <a:ext cx="987088" cy="58071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7070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 b="1" sz="900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73" name="Google Shape;2773;p52"/>
          <p:cNvSpPr/>
          <p:nvPr/>
        </p:nvSpPr>
        <p:spPr>
          <a:xfrm>
            <a:off x="7970168" y="2861634"/>
            <a:ext cx="1118720" cy="1549554"/>
          </a:xfrm>
          <a:prstGeom prst="rect">
            <a:avLst/>
          </a:prstGeom>
          <a:noFill/>
          <a:ln cap="flat" cmpd="sng" w="12700">
            <a:solidFill>
              <a:srgbClr val="7070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공인전자문서보관소</a:t>
            </a:r>
            <a:endParaRPr sz="9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45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(KT-NET)</a:t>
            </a:r>
            <a:endParaRPr b="1" sz="9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74" name="Google Shape;2774;p52"/>
          <p:cNvSpPr txBox="1"/>
          <p:nvPr/>
        </p:nvSpPr>
        <p:spPr>
          <a:xfrm>
            <a:off x="3329848" y="3717032"/>
            <a:ext cx="101028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RD</a:t>
            </a:r>
            <a:endParaRPr sz="9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75" name="Google Shape;2775;p52"/>
          <p:cNvSpPr/>
          <p:nvPr/>
        </p:nvSpPr>
        <p:spPr>
          <a:xfrm>
            <a:off x="4809341" y="2294690"/>
            <a:ext cx="1229096" cy="28908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전자서명</a:t>
            </a:r>
            <a:endParaRPr sz="9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(TradeSign)</a:t>
            </a:r>
            <a:endParaRPr/>
          </a:p>
        </p:txBody>
      </p:sp>
      <p:sp>
        <p:nvSpPr>
          <p:cNvPr id="2776" name="Google Shape;2776;p52"/>
          <p:cNvSpPr/>
          <p:nvPr/>
        </p:nvSpPr>
        <p:spPr>
          <a:xfrm>
            <a:off x="3508651" y="2298533"/>
            <a:ext cx="1028287" cy="98060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업무 서비스 </a:t>
            </a:r>
            <a:endParaRPr/>
          </a:p>
        </p:txBody>
      </p:sp>
      <p:sp>
        <p:nvSpPr>
          <p:cNvPr id="2777" name="Google Shape;2777;p52"/>
          <p:cNvSpPr/>
          <p:nvPr/>
        </p:nvSpPr>
        <p:spPr>
          <a:xfrm>
            <a:off x="4809342" y="2762784"/>
            <a:ext cx="1225062" cy="51635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공전소등록</a:t>
            </a:r>
            <a:endParaRPr sz="9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 Docuon *Mate Client )</a:t>
            </a:r>
            <a:endParaRPr/>
          </a:p>
        </p:txBody>
      </p:sp>
      <p:sp>
        <p:nvSpPr>
          <p:cNvPr id="2778" name="Google Shape;2778;p52"/>
          <p:cNvSpPr/>
          <p:nvPr/>
        </p:nvSpPr>
        <p:spPr>
          <a:xfrm>
            <a:off x="3570055" y="3918895"/>
            <a:ext cx="529866" cy="309994"/>
          </a:xfrm>
          <a:prstGeom prst="flowChartDocument">
            <a:avLst/>
          </a:prstGeom>
          <a:solidFill>
            <a:srgbClr val="D8D8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원본 File</a:t>
            </a:r>
            <a:endParaRPr b="0" sz="7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79" name="Google Shape;2779;p52"/>
          <p:cNvSpPr txBox="1"/>
          <p:nvPr/>
        </p:nvSpPr>
        <p:spPr>
          <a:xfrm>
            <a:off x="5409197" y="3730298"/>
            <a:ext cx="84827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MDS DB</a:t>
            </a:r>
            <a:endParaRPr b="1" sz="9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780" name="Google Shape;2780;p52"/>
          <p:cNvCxnSpPr>
            <a:endCxn id="2775" idx="1"/>
          </p:cNvCxnSpPr>
          <p:nvPr/>
        </p:nvCxnSpPr>
        <p:spPr>
          <a:xfrm>
            <a:off x="4536941" y="2439233"/>
            <a:ext cx="2724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81" name="Google Shape;2781;p52"/>
          <p:cNvSpPr/>
          <p:nvPr/>
        </p:nvSpPr>
        <p:spPr>
          <a:xfrm>
            <a:off x="5394385" y="3722074"/>
            <a:ext cx="113546" cy="870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82" name="Google Shape;2782;p52"/>
          <p:cNvSpPr/>
          <p:nvPr/>
        </p:nvSpPr>
        <p:spPr>
          <a:xfrm>
            <a:off x="4423392" y="3748411"/>
            <a:ext cx="113546" cy="870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83" name="Google Shape;2783;p52"/>
          <p:cNvSpPr/>
          <p:nvPr/>
        </p:nvSpPr>
        <p:spPr>
          <a:xfrm>
            <a:off x="3803257" y="2615912"/>
            <a:ext cx="113546" cy="870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84" name="Google Shape;2784;p52"/>
          <p:cNvSpPr/>
          <p:nvPr/>
        </p:nvSpPr>
        <p:spPr>
          <a:xfrm>
            <a:off x="4202678" y="2534901"/>
            <a:ext cx="113546" cy="870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85" name="Google Shape;2785;p52"/>
          <p:cNvSpPr/>
          <p:nvPr/>
        </p:nvSpPr>
        <p:spPr>
          <a:xfrm>
            <a:off x="8090231" y="2863758"/>
            <a:ext cx="113546" cy="870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86" name="Google Shape;2786;p52"/>
          <p:cNvSpPr/>
          <p:nvPr/>
        </p:nvSpPr>
        <p:spPr>
          <a:xfrm>
            <a:off x="7968872" y="1838996"/>
            <a:ext cx="1110492" cy="943753"/>
          </a:xfrm>
          <a:prstGeom prst="rect">
            <a:avLst/>
          </a:prstGeom>
          <a:noFill/>
          <a:ln cap="flat" cmpd="sng" w="12700">
            <a:solidFill>
              <a:srgbClr val="70707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시점인증 서비스</a:t>
            </a:r>
            <a:br>
              <a:rPr lang="en-US" sz="9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en-US" sz="9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(KT-NET)</a:t>
            </a:r>
            <a:endParaRPr b="1" sz="9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787" name="Google Shape;2787;p52"/>
          <p:cNvGrpSpPr/>
          <p:nvPr/>
        </p:nvGrpSpPr>
        <p:grpSpPr>
          <a:xfrm>
            <a:off x="1367406" y="1838996"/>
            <a:ext cx="1139687" cy="559499"/>
            <a:chOff x="458101" y="1867684"/>
            <a:chExt cx="1017820" cy="559499"/>
          </a:xfrm>
        </p:grpSpPr>
        <p:sp>
          <p:nvSpPr>
            <p:cNvPr id="2788" name="Google Shape;2788;p52"/>
            <p:cNvSpPr/>
            <p:nvPr/>
          </p:nvSpPr>
          <p:spPr>
            <a:xfrm>
              <a:off x="458101" y="1867684"/>
              <a:ext cx="1017820" cy="559499"/>
            </a:xfrm>
            <a:prstGeom prst="rect">
              <a:avLst/>
            </a:prstGeom>
            <a:noFill/>
            <a:ln cap="flat" cmpd="sng" w="9525">
              <a:solidFill>
                <a:srgbClr val="7F7F7F"/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Client</a:t>
              </a:r>
              <a:endParaRPr/>
            </a:p>
          </p:txBody>
        </p:sp>
        <p:sp>
          <p:nvSpPr>
            <p:cNvPr id="2789" name="Google Shape;2789;p52"/>
            <p:cNvSpPr/>
            <p:nvPr/>
          </p:nvSpPr>
          <p:spPr>
            <a:xfrm>
              <a:off x="774320" y="2099086"/>
              <a:ext cx="640809" cy="25080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1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모바일 </a:t>
              </a:r>
              <a:endParaRPr b="0" i="0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2790" name="Google Shape;2790;p5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34604" y="2013368"/>
              <a:ext cx="172462" cy="37251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791" name="Google Shape;2791;p52"/>
          <p:cNvCxnSpPr>
            <a:stCxn id="2775" idx="3"/>
          </p:cNvCxnSpPr>
          <p:nvPr/>
        </p:nvCxnSpPr>
        <p:spPr>
          <a:xfrm flipH="1" rot="10800000">
            <a:off x="6038437" y="2438933"/>
            <a:ext cx="1930500" cy="3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92" name="Google Shape;2792;p52"/>
          <p:cNvCxnSpPr/>
          <p:nvPr/>
        </p:nvCxnSpPr>
        <p:spPr>
          <a:xfrm>
            <a:off x="6026784" y="3015620"/>
            <a:ext cx="1943992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93" name="Google Shape;2793;p52"/>
          <p:cNvCxnSpPr/>
          <p:nvPr/>
        </p:nvCxnSpPr>
        <p:spPr>
          <a:xfrm rot="-5400000">
            <a:off x="2963844" y="3457263"/>
            <a:ext cx="938700" cy="1569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94" name="Google Shape;2794;p52"/>
          <p:cNvCxnSpPr/>
          <p:nvPr/>
        </p:nvCxnSpPr>
        <p:spPr>
          <a:xfrm>
            <a:off x="2507093" y="2107011"/>
            <a:ext cx="1001700" cy="614100"/>
          </a:xfrm>
          <a:prstGeom prst="bentConnector3">
            <a:avLst>
              <a:gd fmla="val 56840" name="adj1"/>
            </a:avLst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95" name="Google Shape;2795;p52"/>
          <p:cNvCxnSpPr/>
          <p:nvPr/>
        </p:nvCxnSpPr>
        <p:spPr>
          <a:xfrm>
            <a:off x="3956360" y="3278417"/>
            <a:ext cx="914100" cy="4413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96" name="Google Shape;2796;p52"/>
          <p:cNvCxnSpPr/>
          <p:nvPr/>
        </p:nvCxnSpPr>
        <p:spPr>
          <a:xfrm>
            <a:off x="3957923" y="3276212"/>
            <a:ext cx="1652100" cy="4455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97" name="Google Shape;2797;p52"/>
          <p:cNvCxnSpPr/>
          <p:nvPr/>
        </p:nvCxnSpPr>
        <p:spPr>
          <a:xfrm rot="10800000">
            <a:off x="5153784" y="3282364"/>
            <a:ext cx="0" cy="428057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98" name="Google Shape;2798;p52"/>
          <p:cNvCxnSpPr/>
          <p:nvPr/>
        </p:nvCxnSpPr>
        <p:spPr>
          <a:xfrm rot="10800000">
            <a:off x="5833332" y="3282364"/>
            <a:ext cx="0" cy="428057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99" name="Google Shape;2799;p52"/>
          <p:cNvSpPr/>
          <p:nvPr/>
        </p:nvSpPr>
        <p:spPr>
          <a:xfrm>
            <a:off x="2525903" y="1920791"/>
            <a:ext cx="160152" cy="15027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00" name="Google Shape;2800;p52"/>
          <p:cNvSpPr/>
          <p:nvPr/>
        </p:nvSpPr>
        <p:spPr>
          <a:xfrm>
            <a:off x="2882295" y="3484355"/>
            <a:ext cx="160152" cy="15027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01" name="Google Shape;2801;p52"/>
          <p:cNvSpPr/>
          <p:nvPr/>
        </p:nvSpPr>
        <p:spPr>
          <a:xfrm>
            <a:off x="6060230" y="2267996"/>
            <a:ext cx="160152" cy="15027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02" name="Google Shape;2802;p52"/>
          <p:cNvSpPr/>
          <p:nvPr/>
        </p:nvSpPr>
        <p:spPr>
          <a:xfrm>
            <a:off x="3762867" y="3292006"/>
            <a:ext cx="160152" cy="15027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03" name="Google Shape;2803;p52"/>
          <p:cNvSpPr/>
          <p:nvPr/>
        </p:nvSpPr>
        <p:spPr>
          <a:xfrm>
            <a:off x="6062224" y="2844891"/>
            <a:ext cx="160152" cy="15027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sz="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04" name="Google Shape;2804;p52"/>
          <p:cNvSpPr txBox="1"/>
          <p:nvPr/>
        </p:nvSpPr>
        <p:spPr>
          <a:xfrm>
            <a:off x="3329848" y="2043584"/>
            <a:ext cx="1341905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MDS Application</a:t>
            </a:r>
            <a:endParaRPr b="1" sz="9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805" name="Google Shape;2805;p52"/>
          <p:cNvCxnSpPr/>
          <p:nvPr/>
        </p:nvCxnSpPr>
        <p:spPr>
          <a:xfrm>
            <a:off x="4536938" y="3015620"/>
            <a:ext cx="272403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9" name="Shape 2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0" name="Google Shape;2810;p53"/>
          <p:cNvSpPr txBox="1"/>
          <p:nvPr/>
        </p:nvSpPr>
        <p:spPr>
          <a:xfrm>
            <a:off x="417770" y="714190"/>
            <a:ext cx="8964356" cy="880617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36000">
            <a:sp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3.3 기타 연계방안 </a:t>
            </a:r>
            <a:endParaRPr/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3.3.3 웹 구간 암호화 (1/3)</a:t>
            </a:r>
            <a:endParaRPr b="1"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화면에서 서비스 구간까지 주민번호, 계좌번호 등 민감정보를 포함한 모든 전문에 대해 암/복호화 기능을 제공</a:t>
            </a:r>
            <a:endParaRPr b="0"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11" name="Google Shape;2811;p53"/>
          <p:cNvSpPr/>
          <p:nvPr/>
        </p:nvSpPr>
        <p:spPr>
          <a:xfrm>
            <a:off x="567608" y="1857031"/>
            <a:ext cx="4641956" cy="2960579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브라우저</a:t>
            </a:r>
            <a:endParaRPr b="1" i="0" sz="10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12" name="Google Shape;2812;p53"/>
          <p:cNvSpPr/>
          <p:nvPr/>
        </p:nvSpPr>
        <p:spPr>
          <a:xfrm>
            <a:off x="415702" y="1601039"/>
            <a:ext cx="6097336" cy="3312367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Client Tier</a:t>
            </a:r>
            <a:endParaRPr/>
          </a:p>
        </p:txBody>
      </p:sp>
      <p:sp>
        <p:nvSpPr>
          <p:cNvPr id="2813" name="Google Shape;2813;p53"/>
          <p:cNvSpPr/>
          <p:nvPr/>
        </p:nvSpPr>
        <p:spPr>
          <a:xfrm>
            <a:off x="6698211" y="1601039"/>
            <a:ext cx="2687089" cy="3312367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Application Tier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(Biz. Service)</a:t>
            </a:r>
            <a:endParaRPr b="1" sz="10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14" name="Google Shape;2814;p53"/>
          <p:cNvSpPr/>
          <p:nvPr/>
        </p:nvSpPr>
        <p:spPr>
          <a:xfrm>
            <a:off x="743742" y="2141062"/>
            <a:ext cx="2796099" cy="2521924"/>
          </a:xfrm>
          <a:prstGeom prst="rect">
            <a:avLst/>
          </a:prstGeom>
          <a:solidFill>
            <a:srgbClr val="D8D8D8"/>
          </a:solidFill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b="1" lang="en-US" sz="10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화면</a:t>
            </a:r>
            <a:endParaRPr b="1" i="0" sz="10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15" name="Google Shape;2815;p53"/>
          <p:cNvSpPr/>
          <p:nvPr/>
        </p:nvSpPr>
        <p:spPr>
          <a:xfrm>
            <a:off x="848372" y="2885497"/>
            <a:ext cx="2358706" cy="113342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HTML5 + J</a:t>
            </a:r>
            <a:r>
              <a:rPr b="1" lang="en-US" sz="12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avascript</a:t>
            </a:r>
            <a:endParaRPr b="1"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16" name="Google Shape;2816;p53"/>
          <p:cNvSpPr txBox="1"/>
          <p:nvPr/>
        </p:nvSpPr>
        <p:spPr>
          <a:xfrm>
            <a:off x="1886386" y="2378698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A5002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전문 암호화</a:t>
            </a:r>
            <a:endParaRPr/>
          </a:p>
        </p:txBody>
      </p:sp>
      <p:sp>
        <p:nvSpPr>
          <p:cNvPr id="2817" name="Google Shape;2817;p53"/>
          <p:cNvSpPr/>
          <p:nvPr/>
        </p:nvSpPr>
        <p:spPr>
          <a:xfrm>
            <a:off x="2691358" y="2984708"/>
            <a:ext cx="341824" cy="934392"/>
          </a:xfrm>
          <a:prstGeom prst="rect">
            <a:avLst/>
          </a:prstGeom>
          <a:solidFill>
            <a:srgbClr val="C00000">
              <a:alpha val="16078"/>
            </a:srgbClr>
          </a:solidFill>
          <a:ln cap="flat" cmpd="sng" w="28575">
            <a:solidFill>
              <a:srgbClr val="FF505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818" name="Google Shape;2818;p53"/>
          <p:cNvCxnSpPr>
            <a:stCxn id="2819" idx="3"/>
            <a:endCxn id="2820" idx="0"/>
          </p:cNvCxnSpPr>
          <p:nvPr/>
        </p:nvCxnSpPr>
        <p:spPr>
          <a:xfrm>
            <a:off x="1770541" y="2624920"/>
            <a:ext cx="1091700" cy="479400"/>
          </a:xfrm>
          <a:prstGeom prst="bentConnector2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821" name="Google Shape;2821;p53"/>
          <p:cNvCxnSpPr>
            <a:stCxn id="2820" idx="6"/>
          </p:cNvCxnSpPr>
          <p:nvPr/>
        </p:nvCxnSpPr>
        <p:spPr>
          <a:xfrm>
            <a:off x="2917698" y="3159850"/>
            <a:ext cx="5378100" cy="0"/>
          </a:xfrm>
          <a:prstGeom prst="straightConnector1">
            <a:avLst/>
          </a:prstGeom>
          <a:solidFill>
            <a:srgbClr val="BBE0E3"/>
          </a:solidFill>
          <a:ln cap="flat" cmpd="sng" w="12700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822" name="Google Shape;2822;p53"/>
          <p:cNvCxnSpPr/>
          <p:nvPr/>
        </p:nvCxnSpPr>
        <p:spPr>
          <a:xfrm>
            <a:off x="2910078" y="3754739"/>
            <a:ext cx="5378064" cy="0"/>
          </a:xfrm>
          <a:prstGeom prst="straightConnector1">
            <a:avLst/>
          </a:prstGeom>
          <a:solidFill>
            <a:srgbClr val="BBE0E3"/>
          </a:solidFill>
          <a:ln cap="flat" cmpd="sng" w="12700">
            <a:solidFill>
              <a:srgbClr val="000000"/>
            </a:solidFill>
            <a:prstDash val="dash"/>
            <a:round/>
            <a:headEnd len="med" w="med" type="triangle"/>
            <a:tailEnd len="sm" w="sm" type="none"/>
          </a:ln>
        </p:spPr>
      </p:cxnSp>
      <p:sp>
        <p:nvSpPr>
          <p:cNvPr id="2823" name="Google Shape;2823;p53"/>
          <p:cNvSpPr/>
          <p:nvPr/>
        </p:nvSpPr>
        <p:spPr>
          <a:xfrm>
            <a:off x="7708997" y="2976397"/>
            <a:ext cx="341824" cy="943099"/>
          </a:xfrm>
          <a:prstGeom prst="rect">
            <a:avLst/>
          </a:prstGeom>
          <a:solidFill>
            <a:srgbClr val="C00000">
              <a:alpha val="16078"/>
            </a:srgbClr>
          </a:solidFill>
          <a:ln cap="flat" cmpd="sng" w="28575">
            <a:solidFill>
              <a:srgbClr val="FF505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24" name="Google Shape;2824;p53"/>
          <p:cNvSpPr/>
          <p:nvPr/>
        </p:nvSpPr>
        <p:spPr>
          <a:xfrm>
            <a:off x="3715976" y="2725843"/>
            <a:ext cx="757740" cy="2297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rPr>
              <a:t>HTTPS 통신</a:t>
            </a:r>
            <a:endParaRPr/>
          </a:p>
        </p:txBody>
      </p:sp>
      <p:sp>
        <p:nvSpPr>
          <p:cNvPr id="2819" name="Google Shape;2819;p53"/>
          <p:cNvSpPr/>
          <p:nvPr/>
        </p:nvSpPr>
        <p:spPr>
          <a:xfrm>
            <a:off x="854069" y="2456039"/>
            <a:ext cx="916472" cy="337761"/>
          </a:xfrm>
          <a:prstGeom prst="rect">
            <a:avLst/>
          </a:prstGeom>
          <a:solidFill>
            <a:srgbClr val="A5A5A5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이지시큐어</a:t>
            </a:r>
            <a:br>
              <a:rPr b="1" i="0" lang="en-US" sz="1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en-US" sz="10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Javascript</a:t>
            </a:r>
            <a:endParaRPr b="1" i="0" sz="10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825" name="Google Shape;2825;p53"/>
          <p:cNvCxnSpPr>
            <a:stCxn id="2826" idx="3"/>
            <a:endCxn id="2827" idx="4"/>
          </p:cNvCxnSpPr>
          <p:nvPr/>
        </p:nvCxnSpPr>
        <p:spPr>
          <a:xfrm flipH="1" rot="10800000">
            <a:off x="7683585" y="3799695"/>
            <a:ext cx="195900" cy="465300"/>
          </a:xfrm>
          <a:prstGeom prst="bentConnector2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2826" name="Google Shape;2826;p53"/>
          <p:cNvSpPr/>
          <p:nvPr/>
        </p:nvSpPr>
        <p:spPr>
          <a:xfrm>
            <a:off x="6767113" y="4096114"/>
            <a:ext cx="916472" cy="337761"/>
          </a:xfrm>
          <a:prstGeom prst="rect">
            <a:avLst/>
          </a:prstGeom>
          <a:solidFill>
            <a:srgbClr val="A5A5A5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이지시큐어</a:t>
            </a:r>
            <a:br>
              <a:rPr b="1" i="0" lang="en-US" sz="1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en-US" sz="10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Java</a:t>
            </a:r>
            <a:endParaRPr b="1" i="0" sz="10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28" name="Google Shape;2828;p53"/>
          <p:cNvSpPr txBox="1"/>
          <p:nvPr/>
        </p:nvSpPr>
        <p:spPr>
          <a:xfrm>
            <a:off x="6789973" y="4416765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A5002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전문 암호화</a:t>
            </a:r>
            <a:endParaRPr/>
          </a:p>
        </p:txBody>
      </p:sp>
      <p:grpSp>
        <p:nvGrpSpPr>
          <p:cNvPr id="2829" name="Google Shape;2829;p53"/>
          <p:cNvGrpSpPr/>
          <p:nvPr/>
        </p:nvGrpSpPr>
        <p:grpSpPr>
          <a:xfrm>
            <a:off x="8288142" y="2141062"/>
            <a:ext cx="1009718" cy="2676548"/>
            <a:chOff x="8288142" y="2240832"/>
            <a:chExt cx="1009718" cy="3852464"/>
          </a:xfrm>
        </p:grpSpPr>
        <p:sp>
          <p:nvSpPr>
            <p:cNvPr id="2830" name="Google Shape;2830;p53"/>
            <p:cNvSpPr/>
            <p:nvPr/>
          </p:nvSpPr>
          <p:spPr>
            <a:xfrm>
              <a:off x="8388808" y="2420888"/>
              <a:ext cx="800305" cy="398641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Malgun Gothic"/>
                <a:buNone/>
              </a:pPr>
              <a:r>
                <a:rPr b="1" i="0" lang="en-US" sz="10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서비스</a:t>
              </a:r>
              <a:endParaRPr b="1" i="0" sz="1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831" name="Google Shape;2831;p53"/>
            <p:cNvSpPr/>
            <p:nvPr/>
          </p:nvSpPr>
          <p:spPr>
            <a:xfrm>
              <a:off x="8388808" y="2922585"/>
              <a:ext cx="800305" cy="398641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Malgun Gothic"/>
                <a:buNone/>
              </a:pPr>
              <a:r>
                <a:rPr b="1" i="0" lang="en-US" sz="10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서비스</a:t>
              </a:r>
              <a:endParaRPr b="1" i="0" sz="1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832" name="Google Shape;2832;p53"/>
            <p:cNvSpPr/>
            <p:nvPr/>
          </p:nvSpPr>
          <p:spPr>
            <a:xfrm>
              <a:off x="8388808" y="3420920"/>
              <a:ext cx="800305" cy="398641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Malgun Gothic"/>
                <a:buNone/>
              </a:pPr>
              <a:r>
                <a:rPr b="1" i="0" lang="en-US" sz="10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서비스</a:t>
              </a:r>
              <a:endParaRPr b="1" i="0" sz="1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2833" name="Google Shape;2833;p53"/>
            <p:cNvCxnSpPr/>
            <p:nvPr/>
          </p:nvCxnSpPr>
          <p:spPr>
            <a:xfrm>
              <a:off x="8788960" y="4437112"/>
              <a:ext cx="0" cy="1008112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dash"/>
              <a:round/>
              <a:headEnd len="sm" w="sm" type="none"/>
              <a:tailEnd len="sm" w="sm" type="none"/>
            </a:ln>
          </p:spPr>
        </p:cxnSp>
        <p:sp>
          <p:nvSpPr>
            <p:cNvPr id="2834" name="Google Shape;2834;p53"/>
            <p:cNvSpPr/>
            <p:nvPr/>
          </p:nvSpPr>
          <p:spPr>
            <a:xfrm>
              <a:off x="8288142" y="2240832"/>
              <a:ext cx="1009718" cy="3852464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835" name="Google Shape;2835;p53"/>
            <p:cNvSpPr/>
            <p:nvPr/>
          </p:nvSpPr>
          <p:spPr>
            <a:xfrm>
              <a:off x="8388808" y="3920926"/>
              <a:ext cx="800305" cy="398641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Malgun Gothic"/>
                <a:buNone/>
              </a:pPr>
              <a:r>
                <a:rPr b="1" i="0" lang="en-US" sz="10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서비스</a:t>
              </a:r>
              <a:endParaRPr b="1" i="0" sz="1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836" name="Google Shape;2836;p53"/>
            <p:cNvSpPr/>
            <p:nvPr/>
          </p:nvSpPr>
          <p:spPr>
            <a:xfrm>
              <a:off x="8388808" y="5545182"/>
              <a:ext cx="800305" cy="398641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Malgun Gothic"/>
                <a:buNone/>
              </a:pPr>
              <a:r>
                <a:rPr b="1" i="0" lang="en-US" sz="10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서비스</a:t>
              </a:r>
              <a:endParaRPr b="1" i="0" sz="1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837" name="Google Shape;2837;p53"/>
          <p:cNvSpPr/>
          <p:nvPr/>
        </p:nvSpPr>
        <p:spPr>
          <a:xfrm>
            <a:off x="7824121" y="3104422"/>
            <a:ext cx="110855" cy="11085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27" name="Google Shape;2827;p53"/>
          <p:cNvSpPr/>
          <p:nvPr/>
        </p:nvSpPr>
        <p:spPr>
          <a:xfrm>
            <a:off x="7824121" y="3688898"/>
            <a:ext cx="110855" cy="11085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38" name="Google Shape;2838;p53"/>
          <p:cNvSpPr/>
          <p:nvPr/>
        </p:nvSpPr>
        <p:spPr>
          <a:xfrm>
            <a:off x="6767113" y="2453928"/>
            <a:ext cx="916472" cy="337761"/>
          </a:xfrm>
          <a:prstGeom prst="rect">
            <a:avLst/>
          </a:prstGeom>
          <a:solidFill>
            <a:srgbClr val="A5A5A5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이지시큐어</a:t>
            </a:r>
            <a:br>
              <a:rPr b="1" i="0" lang="en-US" sz="1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en-US" sz="10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Java</a:t>
            </a:r>
            <a:endParaRPr b="1" i="0" sz="10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39" name="Google Shape;2839;p53"/>
          <p:cNvSpPr txBox="1"/>
          <p:nvPr/>
        </p:nvSpPr>
        <p:spPr>
          <a:xfrm>
            <a:off x="6789973" y="2207417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A5002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전문 복호화</a:t>
            </a:r>
            <a:endParaRPr b="1" sz="1000">
              <a:solidFill>
                <a:srgbClr val="A5002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840" name="Google Shape;2840;p53"/>
          <p:cNvCxnSpPr>
            <a:stCxn id="2838" idx="3"/>
            <a:endCxn id="2837" idx="0"/>
          </p:cNvCxnSpPr>
          <p:nvPr/>
        </p:nvCxnSpPr>
        <p:spPr>
          <a:xfrm>
            <a:off x="7683585" y="2622809"/>
            <a:ext cx="195900" cy="481500"/>
          </a:xfrm>
          <a:prstGeom prst="bentConnector2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2841" name="Google Shape;2841;p53"/>
          <p:cNvSpPr txBox="1"/>
          <p:nvPr/>
        </p:nvSpPr>
        <p:spPr>
          <a:xfrm>
            <a:off x="1886386" y="4251392"/>
            <a:ext cx="87075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A5002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전문 복호화</a:t>
            </a:r>
            <a:endParaRPr b="1" sz="1000">
              <a:solidFill>
                <a:srgbClr val="A5002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842" name="Google Shape;2842;p53"/>
          <p:cNvCxnSpPr>
            <a:stCxn id="2843" idx="3"/>
            <a:endCxn id="2844" idx="4"/>
          </p:cNvCxnSpPr>
          <p:nvPr/>
        </p:nvCxnSpPr>
        <p:spPr>
          <a:xfrm flipH="1" rot="10800000">
            <a:off x="1770541" y="3813023"/>
            <a:ext cx="1091700" cy="449700"/>
          </a:xfrm>
          <a:prstGeom prst="bentConnector2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2843" name="Google Shape;2843;p53"/>
          <p:cNvSpPr/>
          <p:nvPr/>
        </p:nvSpPr>
        <p:spPr>
          <a:xfrm>
            <a:off x="854069" y="4093842"/>
            <a:ext cx="916472" cy="337761"/>
          </a:xfrm>
          <a:prstGeom prst="rect">
            <a:avLst/>
          </a:prstGeom>
          <a:solidFill>
            <a:srgbClr val="A5A5A5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이지시큐어</a:t>
            </a:r>
            <a:br>
              <a:rPr b="1" i="0" lang="en-US" sz="1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en-US" sz="10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Javascript</a:t>
            </a:r>
            <a:endParaRPr b="1" i="0" sz="10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45" name="Google Shape;2845;p53"/>
          <p:cNvSpPr/>
          <p:nvPr/>
        </p:nvSpPr>
        <p:spPr>
          <a:xfrm>
            <a:off x="3026775" y="2984710"/>
            <a:ext cx="4688599" cy="934391"/>
          </a:xfrm>
          <a:prstGeom prst="rect">
            <a:avLst/>
          </a:prstGeom>
          <a:solidFill>
            <a:srgbClr val="595959">
              <a:alpha val="1686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A5002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암호화 된 전문</a:t>
            </a:r>
            <a:endParaRPr b="1" i="0" sz="1200" u="none" cap="none" strike="noStrike">
              <a:solidFill>
                <a:srgbClr val="A5002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46" name="Google Shape;2846;p53"/>
          <p:cNvSpPr txBox="1"/>
          <p:nvPr/>
        </p:nvSpPr>
        <p:spPr>
          <a:xfrm>
            <a:off x="4900157" y="3064880"/>
            <a:ext cx="1026244" cy="230832"/>
          </a:xfrm>
          <a:prstGeom prst="rect">
            <a:avLst/>
          </a:prstGeom>
          <a:solidFill>
            <a:schemeClr val="lt1">
              <a:alpha val="92157"/>
            </a:schemeClr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Request (요청)</a:t>
            </a:r>
            <a:endParaRPr sz="9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47" name="Google Shape;2847;p53"/>
          <p:cNvSpPr txBox="1"/>
          <p:nvPr/>
        </p:nvSpPr>
        <p:spPr>
          <a:xfrm>
            <a:off x="4900361" y="3628909"/>
            <a:ext cx="1026243" cy="230832"/>
          </a:xfrm>
          <a:prstGeom prst="rect">
            <a:avLst/>
          </a:prstGeom>
          <a:solidFill>
            <a:schemeClr val="lt1">
              <a:alpha val="92157"/>
            </a:schemeClr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Response (응답)</a:t>
            </a:r>
            <a:endParaRPr sz="9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20" name="Google Shape;2820;p53"/>
          <p:cNvSpPr/>
          <p:nvPr/>
        </p:nvSpPr>
        <p:spPr>
          <a:xfrm>
            <a:off x="2806843" y="3104422"/>
            <a:ext cx="110855" cy="11085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44" name="Google Shape;2844;p53"/>
          <p:cNvSpPr/>
          <p:nvPr/>
        </p:nvSpPr>
        <p:spPr>
          <a:xfrm>
            <a:off x="2806843" y="3702074"/>
            <a:ext cx="110855" cy="11085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2848" name="Google Shape;2848;p53"/>
          <p:cNvGraphicFramePr/>
          <p:nvPr/>
        </p:nvGraphicFramePr>
        <p:xfrm>
          <a:off x="428048" y="49826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{F6045412-04BD-4F82-B1B7-2730D475FC39}</a:tableStyleId>
              </a:tblPr>
              <a:tblGrid>
                <a:gridCol w="2220700"/>
                <a:gridCol w="6733375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사용된 표준 암호 알고리즘</a:t>
                      </a:r>
                      <a:endParaRPr/>
                    </a:p>
                  </a:txBody>
                  <a:tcPr marT="46800" marB="46800" marR="83050" marL="83050" anchor="ctr">
                    <a:lnL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설명</a:t>
                      </a:r>
                      <a:endParaRPr/>
                    </a:p>
                  </a:txBody>
                  <a:tcPr marT="46800" marB="46800" marR="83050" marL="830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6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AES256</a:t>
                      </a:r>
                      <a:endParaRPr/>
                    </a:p>
                  </a:txBody>
                  <a:tcPr marT="36000" marB="36000" marR="36000" marL="287925" anchor="ctr">
                    <a:lnL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데이터를 암호화하는 대칭키(비밀키) 적용</a:t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144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RSA 1024/2048 bits</a:t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287925" anchor="ctr">
                    <a:lnL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대칭키를 서버에 전달하기 위한 공개키/개인키 적용</a:t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144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SHA 256</a:t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287925" anchor="ctr">
                    <a:lnL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암호화된 메시지 인증코드로서 송수신 데이터 변조 방지 적용</a:t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144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SEED 및 문자열 난독화</a:t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287925" anchor="ctr">
                    <a:lnL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대칭키 내부 보관에 적용</a:t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144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2" name="Shape 2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3" name="Google Shape;2853;p54"/>
          <p:cNvSpPr/>
          <p:nvPr/>
        </p:nvSpPr>
        <p:spPr>
          <a:xfrm>
            <a:off x="815632" y="2150221"/>
            <a:ext cx="8529856" cy="1661535"/>
          </a:xfrm>
          <a:prstGeom prst="rect">
            <a:avLst/>
          </a:prstGeom>
          <a:solidFill>
            <a:srgbClr val="C00000">
              <a:alpha val="7843"/>
            </a:srgbClr>
          </a:solidFill>
          <a:ln cap="flat" cmpd="sng" w="28575">
            <a:solidFill>
              <a:srgbClr val="FF505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854" name="Google Shape;2854;p54"/>
          <p:cNvGrpSpPr/>
          <p:nvPr/>
        </p:nvGrpSpPr>
        <p:grpSpPr>
          <a:xfrm>
            <a:off x="361482" y="1685581"/>
            <a:ext cx="9020644" cy="4659543"/>
            <a:chOff x="361482" y="1685581"/>
            <a:chExt cx="8921971" cy="4659543"/>
          </a:xfrm>
        </p:grpSpPr>
        <p:sp>
          <p:nvSpPr>
            <p:cNvPr id="2855" name="Google Shape;2855;p54"/>
            <p:cNvSpPr/>
            <p:nvPr/>
          </p:nvSpPr>
          <p:spPr>
            <a:xfrm>
              <a:off x="803960" y="1685581"/>
              <a:ext cx="1584176" cy="409143"/>
            </a:xfrm>
            <a:prstGeom prst="rect">
              <a:avLst/>
            </a:prstGeom>
            <a:solidFill>
              <a:srgbClr val="BFBFBF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사용자 화면</a:t>
              </a:r>
              <a:endParaRPr b="0" i="0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2856" name="Google Shape;2856;p54"/>
            <p:cNvCxnSpPr>
              <a:stCxn id="2855" idx="2"/>
            </p:cNvCxnSpPr>
            <p:nvPr/>
          </p:nvCxnSpPr>
          <p:spPr>
            <a:xfrm>
              <a:off x="1596048" y="2094724"/>
              <a:ext cx="0" cy="4250400"/>
            </a:xfrm>
            <a:prstGeom prst="straightConnector1">
              <a:avLst/>
            </a:prstGeom>
            <a:solidFill>
              <a:srgbClr val="BBE0E3"/>
            </a:solidFill>
            <a:ln cap="flat" cmpd="sng" w="12700">
              <a:solidFill>
                <a:srgbClr val="C0C0C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857" name="Google Shape;2857;p54"/>
            <p:cNvSpPr/>
            <p:nvPr/>
          </p:nvSpPr>
          <p:spPr>
            <a:xfrm>
              <a:off x="2748176" y="1685581"/>
              <a:ext cx="1584176" cy="409143"/>
            </a:xfrm>
            <a:prstGeom prst="rect">
              <a:avLst/>
            </a:prstGeom>
            <a:solidFill>
              <a:srgbClr val="BFBFBF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이지시큐어</a:t>
              </a:r>
              <a:br>
                <a:rPr b="0" i="0" lang="en-US" sz="11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0" i="0" lang="en-US" sz="11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Javascript</a:t>
              </a:r>
              <a:endParaRPr b="0" i="0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2858" name="Google Shape;2858;p54"/>
            <p:cNvCxnSpPr>
              <a:stCxn id="2857" idx="2"/>
            </p:cNvCxnSpPr>
            <p:nvPr/>
          </p:nvCxnSpPr>
          <p:spPr>
            <a:xfrm>
              <a:off x="3540264" y="2094724"/>
              <a:ext cx="16500" cy="4250400"/>
            </a:xfrm>
            <a:prstGeom prst="straightConnector1">
              <a:avLst/>
            </a:prstGeom>
            <a:solidFill>
              <a:srgbClr val="BBE0E3"/>
            </a:solidFill>
            <a:ln cap="flat" cmpd="sng" w="12700">
              <a:solidFill>
                <a:srgbClr val="C0C0C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859" name="Google Shape;2859;p54"/>
            <p:cNvSpPr/>
            <p:nvPr/>
          </p:nvSpPr>
          <p:spPr>
            <a:xfrm>
              <a:off x="5484480" y="1685581"/>
              <a:ext cx="1584176" cy="409143"/>
            </a:xfrm>
            <a:prstGeom prst="rect">
              <a:avLst/>
            </a:prstGeom>
            <a:solidFill>
              <a:srgbClr val="BFBFBF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업무</a:t>
              </a:r>
              <a:br>
                <a:rPr lang="en-US" sz="11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en-US" sz="11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서비스</a:t>
              </a:r>
              <a:endParaRPr b="0" i="0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2860" name="Google Shape;2860;p54"/>
            <p:cNvCxnSpPr>
              <a:stCxn id="2859" idx="2"/>
            </p:cNvCxnSpPr>
            <p:nvPr/>
          </p:nvCxnSpPr>
          <p:spPr>
            <a:xfrm>
              <a:off x="6276568" y="2094724"/>
              <a:ext cx="0" cy="4250400"/>
            </a:xfrm>
            <a:prstGeom prst="straightConnector1">
              <a:avLst/>
            </a:prstGeom>
            <a:solidFill>
              <a:srgbClr val="BBE0E3"/>
            </a:solidFill>
            <a:ln cap="flat" cmpd="sng" w="12700">
              <a:solidFill>
                <a:srgbClr val="C0C0C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861" name="Google Shape;2861;p54"/>
            <p:cNvSpPr/>
            <p:nvPr/>
          </p:nvSpPr>
          <p:spPr>
            <a:xfrm>
              <a:off x="7356291" y="1685581"/>
              <a:ext cx="1584176" cy="409143"/>
            </a:xfrm>
            <a:prstGeom prst="rect">
              <a:avLst/>
            </a:prstGeom>
            <a:solidFill>
              <a:srgbClr val="BFBFBF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이지시큐어 </a:t>
              </a:r>
              <a:br>
                <a:rPr b="0" i="0" lang="en-US" sz="11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0" i="0" lang="en-US" sz="11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Java</a:t>
              </a:r>
              <a:endParaRPr b="0" i="0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2862" name="Google Shape;2862;p54"/>
            <p:cNvCxnSpPr>
              <a:stCxn id="2861" idx="2"/>
            </p:cNvCxnSpPr>
            <p:nvPr/>
          </p:nvCxnSpPr>
          <p:spPr>
            <a:xfrm flipH="1">
              <a:off x="8138779" y="2094724"/>
              <a:ext cx="9600" cy="4250400"/>
            </a:xfrm>
            <a:prstGeom prst="straightConnector1">
              <a:avLst/>
            </a:prstGeom>
            <a:solidFill>
              <a:srgbClr val="BBE0E3"/>
            </a:solidFill>
            <a:ln cap="flat" cmpd="sng" w="12700">
              <a:solidFill>
                <a:srgbClr val="C0C0C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863" name="Google Shape;2863;p54"/>
            <p:cNvSpPr txBox="1"/>
            <p:nvPr/>
          </p:nvSpPr>
          <p:spPr>
            <a:xfrm>
              <a:off x="1748331" y="2199565"/>
              <a:ext cx="1646034" cy="2539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키교환(Handshake) 요청</a:t>
              </a:r>
              <a:endParaRPr/>
            </a:p>
          </p:txBody>
        </p:sp>
        <p:sp>
          <p:nvSpPr>
            <p:cNvPr id="2864" name="Google Shape;2864;p54"/>
            <p:cNvSpPr txBox="1"/>
            <p:nvPr/>
          </p:nvSpPr>
          <p:spPr>
            <a:xfrm>
              <a:off x="4481443" y="2323331"/>
              <a:ext cx="1646034" cy="2539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키교환(Handshake) 요청</a:t>
              </a:r>
              <a:endParaRPr/>
            </a:p>
          </p:txBody>
        </p:sp>
        <p:cxnSp>
          <p:nvCxnSpPr>
            <p:cNvPr id="2865" name="Google Shape;2865;p54"/>
            <p:cNvCxnSpPr/>
            <p:nvPr/>
          </p:nvCxnSpPr>
          <p:spPr>
            <a:xfrm>
              <a:off x="1596048" y="2458477"/>
              <a:ext cx="1927588" cy="0"/>
            </a:xfrm>
            <a:prstGeom prst="straightConnector1">
              <a:avLst/>
            </a:prstGeom>
            <a:solidFill>
              <a:srgbClr val="BBE0E3"/>
            </a:solidFill>
            <a:ln cap="flat" cmpd="sng" w="9525">
              <a:solidFill>
                <a:srgbClr val="808080"/>
              </a:solidFill>
              <a:prstDash val="dash"/>
              <a:round/>
              <a:headEnd len="sm" w="sm" type="none"/>
              <a:tailEnd len="med" w="med" type="triangle"/>
            </a:ln>
          </p:spPr>
        </p:cxnSp>
        <p:cxnSp>
          <p:nvCxnSpPr>
            <p:cNvPr id="2866" name="Google Shape;2866;p54"/>
            <p:cNvCxnSpPr/>
            <p:nvPr/>
          </p:nvCxnSpPr>
          <p:spPr>
            <a:xfrm>
              <a:off x="3556892" y="2570862"/>
              <a:ext cx="4591487" cy="0"/>
            </a:xfrm>
            <a:prstGeom prst="straightConnector1">
              <a:avLst/>
            </a:prstGeom>
            <a:solidFill>
              <a:srgbClr val="BBE0E3"/>
            </a:solidFill>
            <a:ln cap="flat" cmpd="sng" w="9525">
              <a:solidFill>
                <a:srgbClr val="808080"/>
              </a:solidFill>
              <a:prstDash val="dash"/>
              <a:round/>
              <a:headEnd len="sm" w="sm" type="none"/>
              <a:tailEnd len="med" w="med" type="triangle"/>
            </a:ln>
          </p:spPr>
        </p:cxnSp>
        <p:sp>
          <p:nvSpPr>
            <p:cNvPr id="2867" name="Google Shape;2867;p54"/>
            <p:cNvSpPr/>
            <p:nvPr/>
          </p:nvSpPr>
          <p:spPr>
            <a:xfrm>
              <a:off x="7356291" y="2632744"/>
              <a:ext cx="1584176" cy="185627"/>
            </a:xfrm>
            <a:prstGeom prst="rect">
              <a:avLst/>
            </a:prstGeom>
            <a:solidFill>
              <a:srgbClr val="F2F2F2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05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공개키/개인키 생성</a:t>
              </a:r>
              <a:endParaRPr/>
            </a:p>
          </p:txBody>
        </p:sp>
        <p:sp>
          <p:nvSpPr>
            <p:cNvPr id="2868" name="Google Shape;2868;p54"/>
            <p:cNvSpPr txBox="1"/>
            <p:nvPr/>
          </p:nvSpPr>
          <p:spPr>
            <a:xfrm>
              <a:off x="4438023" y="2658580"/>
              <a:ext cx="896107" cy="2539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공개키 전달</a:t>
              </a:r>
              <a:endParaRPr/>
            </a:p>
          </p:txBody>
        </p:sp>
        <p:cxnSp>
          <p:nvCxnSpPr>
            <p:cNvPr id="2869" name="Google Shape;2869;p54"/>
            <p:cNvCxnSpPr/>
            <p:nvPr/>
          </p:nvCxnSpPr>
          <p:spPr>
            <a:xfrm>
              <a:off x="3556892" y="2877273"/>
              <a:ext cx="4591487" cy="0"/>
            </a:xfrm>
            <a:prstGeom prst="straightConnector1">
              <a:avLst/>
            </a:prstGeom>
            <a:solidFill>
              <a:srgbClr val="BBE0E3"/>
            </a:solidFill>
            <a:ln cap="flat" cmpd="sng" w="9525">
              <a:solidFill>
                <a:srgbClr val="808080"/>
              </a:solidFill>
              <a:prstDash val="dash"/>
              <a:round/>
              <a:headEnd len="med" w="med" type="triangle"/>
              <a:tailEnd len="sm" w="sm" type="none"/>
            </a:ln>
          </p:spPr>
        </p:cxnSp>
        <p:sp>
          <p:nvSpPr>
            <p:cNvPr id="2870" name="Google Shape;2870;p54"/>
            <p:cNvSpPr/>
            <p:nvPr/>
          </p:nvSpPr>
          <p:spPr>
            <a:xfrm>
              <a:off x="2748176" y="2942158"/>
              <a:ext cx="1584176" cy="185627"/>
            </a:xfrm>
            <a:prstGeom prst="rect">
              <a:avLst/>
            </a:prstGeom>
            <a:solidFill>
              <a:srgbClr val="F2F2F2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05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대칭키 생성 및 보관</a:t>
              </a:r>
              <a:endParaRPr/>
            </a:p>
          </p:txBody>
        </p:sp>
        <p:sp>
          <p:nvSpPr>
            <p:cNvPr id="2871" name="Google Shape;2871;p54"/>
            <p:cNvSpPr/>
            <p:nvPr/>
          </p:nvSpPr>
          <p:spPr>
            <a:xfrm>
              <a:off x="2748176" y="3189689"/>
              <a:ext cx="1584176" cy="185627"/>
            </a:xfrm>
            <a:prstGeom prst="rect">
              <a:avLst/>
            </a:prstGeom>
            <a:solidFill>
              <a:srgbClr val="F2F2F2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공개키로 대칭키 암호화</a:t>
              </a:r>
              <a:endParaRPr/>
            </a:p>
          </p:txBody>
        </p:sp>
        <p:sp>
          <p:nvSpPr>
            <p:cNvPr id="2872" name="Google Shape;2872;p54"/>
            <p:cNvSpPr txBox="1"/>
            <p:nvPr/>
          </p:nvSpPr>
          <p:spPr>
            <a:xfrm>
              <a:off x="4830207" y="3209520"/>
              <a:ext cx="762928" cy="2539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서버 전달</a:t>
              </a:r>
              <a:endParaRPr/>
            </a:p>
          </p:txBody>
        </p:sp>
        <p:cxnSp>
          <p:nvCxnSpPr>
            <p:cNvPr id="2873" name="Google Shape;2873;p54"/>
            <p:cNvCxnSpPr/>
            <p:nvPr/>
          </p:nvCxnSpPr>
          <p:spPr>
            <a:xfrm>
              <a:off x="3556892" y="3457052"/>
              <a:ext cx="4591487" cy="0"/>
            </a:xfrm>
            <a:prstGeom prst="straightConnector1">
              <a:avLst/>
            </a:prstGeom>
            <a:solidFill>
              <a:srgbClr val="BBE0E3"/>
            </a:solidFill>
            <a:ln cap="flat" cmpd="sng" w="9525">
              <a:solidFill>
                <a:srgbClr val="808080"/>
              </a:solidFill>
              <a:prstDash val="dash"/>
              <a:round/>
              <a:headEnd len="sm" w="sm" type="none"/>
              <a:tailEnd len="med" w="med" type="triangle"/>
            </a:ln>
          </p:spPr>
        </p:cxnSp>
        <p:sp>
          <p:nvSpPr>
            <p:cNvPr id="2874" name="Google Shape;2874;p54"/>
            <p:cNvSpPr/>
            <p:nvPr/>
          </p:nvSpPr>
          <p:spPr>
            <a:xfrm>
              <a:off x="7328873" y="3517749"/>
              <a:ext cx="1584176" cy="185627"/>
            </a:xfrm>
            <a:prstGeom prst="rect">
              <a:avLst/>
            </a:prstGeom>
            <a:solidFill>
              <a:srgbClr val="F2F2F2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05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세션 내 대칭키 저장</a:t>
              </a:r>
              <a:endParaRPr/>
            </a:p>
          </p:txBody>
        </p:sp>
        <p:sp>
          <p:nvSpPr>
            <p:cNvPr id="2875" name="Google Shape;2875;p54"/>
            <p:cNvSpPr txBox="1"/>
            <p:nvPr/>
          </p:nvSpPr>
          <p:spPr>
            <a:xfrm>
              <a:off x="1711978" y="4056047"/>
              <a:ext cx="1718740" cy="2539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평문 암호화 요청</a:t>
              </a:r>
              <a:endParaRPr/>
            </a:p>
          </p:txBody>
        </p:sp>
        <p:cxnSp>
          <p:nvCxnSpPr>
            <p:cNvPr id="2876" name="Google Shape;2876;p54"/>
            <p:cNvCxnSpPr/>
            <p:nvPr/>
          </p:nvCxnSpPr>
          <p:spPr>
            <a:xfrm>
              <a:off x="1596048" y="4274739"/>
              <a:ext cx="1927588" cy="0"/>
            </a:xfrm>
            <a:prstGeom prst="straightConnector1">
              <a:avLst/>
            </a:prstGeom>
            <a:solidFill>
              <a:srgbClr val="BBE0E3"/>
            </a:solidFill>
            <a:ln cap="flat" cmpd="sng" w="9525">
              <a:solidFill>
                <a:srgbClr val="808080"/>
              </a:solidFill>
              <a:prstDash val="dash"/>
              <a:round/>
              <a:headEnd len="sm" w="sm" type="none"/>
              <a:tailEnd len="med" w="med" type="triangle"/>
            </a:ln>
          </p:spPr>
        </p:cxnSp>
        <p:sp>
          <p:nvSpPr>
            <p:cNvPr id="2877" name="Google Shape;2877;p54"/>
            <p:cNvSpPr/>
            <p:nvPr/>
          </p:nvSpPr>
          <p:spPr>
            <a:xfrm>
              <a:off x="2748176" y="4329413"/>
              <a:ext cx="1584176" cy="185627"/>
            </a:xfrm>
            <a:prstGeom prst="rect">
              <a:avLst/>
            </a:prstGeom>
            <a:solidFill>
              <a:srgbClr val="F2F2F2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05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대칭키 조회, 암호화</a:t>
              </a:r>
              <a:endParaRPr/>
            </a:p>
          </p:txBody>
        </p:sp>
        <p:cxnSp>
          <p:nvCxnSpPr>
            <p:cNvPr id="2878" name="Google Shape;2878;p54"/>
            <p:cNvCxnSpPr/>
            <p:nvPr/>
          </p:nvCxnSpPr>
          <p:spPr>
            <a:xfrm>
              <a:off x="1612676" y="4569734"/>
              <a:ext cx="1927588" cy="0"/>
            </a:xfrm>
            <a:prstGeom prst="straightConnector1">
              <a:avLst/>
            </a:prstGeom>
            <a:solidFill>
              <a:srgbClr val="BBE0E3"/>
            </a:solidFill>
            <a:ln cap="flat" cmpd="sng" w="9525">
              <a:solidFill>
                <a:srgbClr val="808080"/>
              </a:solidFill>
              <a:prstDash val="dash"/>
              <a:round/>
              <a:headEnd len="med" w="med" type="triangle"/>
              <a:tailEnd len="sm" w="sm" type="none"/>
            </a:ln>
          </p:spPr>
        </p:cxnSp>
        <p:sp>
          <p:nvSpPr>
            <p:cNvPr id="2879" name="Google Shape;2879;p54"/>
            <p:cNvSpPr/>
            <p:nvPr/>
          </p:nvSpPr>
          <p:spPr>
            <a:xfrm>
              <a:off x="803960" y="4650243"/>
              <a:ext cx="1584176" cy="185627"/>
            </a:xfrm>
            <a:prstGeom prst="rect">
              <a:avLst/>
            </a:prstGeom>
            <a:solidFill>
              <a:srgbClr val="F2F2F2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05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암호화 데이터 </a:t>
              </a:r>
              <a:endParaRPr/>
            </a:p>
          </p:txBody>
        </p:sp>
        <p:sp>
          <p:nvSpPr>
            <p:cNvPr id="2880" name="Google Shape;2880;p54"/>
            <p:cNvSpPr txBox="1"/>
            <p:nvPr/>
          </p:nvSpPr>
          <p:spPr>
            <a:xfrm>
              <a:off x="3658535" y="4658511"/>
              <a:ext cx="896107" cy="2539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서비스 호출</a:t>
              </a:r>
              <a:endParaRPr/>
            </a:p>
          </p:txBody>
        </p:sp>
        <p:cxnSp>
          <p:nvCxnSpPr>
            <p:cNvPr id="2881" name="Google Shape;2881;p54"/>
            <p:cNvCxnSpPr/>
            <p:nvPr/>
          </p:nvCxnSpPr>
          <p:spPr>
            <a:xfrm>
              <a:off x="1612826" y="4916401"/>
              <a:ext cx="4644000" cy="0"/>
            </a:xfrm>
            <a:prstGeom prst="straightConnector1">
              <a:avLst/>
            </a:prstGeom>
            <a:solidFill>
              <a:srgbClr val="BBE0E3"/>
            </a:solidFill>
            <a:ln cap="flat" cmpd="sng" w="9525">
              <a:solidFill>
                <a:srgbClr val="808080"/>
              </a:solidFill>
              <a:prstDash val="dash"/>
              <a:round/>
              <a:headEnd len="sm" w="sm" type="none"/>
              <a:tailEnd len="med" w="med" type="triangle"/>
            </a:ln>
          </p:spPr>
        </p:cxnSp>
        <p:cxnSp>
          <p:nvCxnSpPr>
            <p:cNvPr id="2882" name="Google Shape;2882;p54"/>
            <p:cNvCxnSpPr/>
            <p:nvPr/>
          </p:nvCxnSpPr>
          <p:spPr>
            <a:xfrm>
              <a:off x="6276568" y="4978283"/>
              <a:ext cx="1836000" cy="0"/>
            </a:xfrm>
            <a:prstGeom prst="straightConnector1">
              <a:avLst/>
            </a:prstGeom>
            <a:solidFill>
              <a:srgbClr val="BBE0E3"/>
            </a:solidFill>
            <a:ln cap="flat" cmpd="sng" w="9525">
              <a:solidFill>
                <a:srgbClr val="808080"/>
              </a:solidFill>
              <a:prstDash val="dash"/>
              <a:round/>
              <a:headEnd len="med" w="med" type="triangle"/>
              <a:tailEnd len="med" w="med" type="triangle"/>
            </a:ln>
          </p:spPr>
        </p:cxnSp>
        <p:sp>
          <p:nvSpPr>
            <p:cNvPr id="2883" name="Google Shape;2883;p54"/>
            <p:cNvSpPr txBox="1"/>
            <p:nvPr/>
          </p:nvSpPr>
          <p:spPr>
            <a:xfrm>
              <a:off x="7208141" y="4756075"/>
              <a:ext cx="582185" cy="2539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복호화</a:t>
              </a:r>
              <a:endParaRPr sz="105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884" name="Google Shape;2884;p54"/>
            <p:cNvSpPr/>
            <p:nvPr/>
          </p:nvSpPr>
          <p:spPr>
            <a:xfrm>
              <a:off x="5484330" y="5040166"/>
              <a:ext cx="1584176" cy="185627"/>
            </a:xfrm>
            <a:prstGeom prst="rect">
              <a:avLst/>
            </a:prstGeom>
            <a:solidFill>
              <a:srgbClr val="F2F2F2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05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서비스 수행 </a:t>
              </a:r>
              <a:endParaRPr/>
            </a:p>
          </p:txBody>
        </p:sp>
        <p:cxnSp>
          <p:nvCxnSpPr>
            <p:cNvPr id="2885" name="Google Shape;2885;p54"/>
            <p:cNvCxnSpPr/>
            <p:nvPr/>
          </p:nvCxnSpPr>
          <p:spPr>
            <a:xfrm>
              <a:off x="6284961" y="5295420"/>
              <a:ext cx="1836000" cy="0"/>
            </a:xfrm>
            <a:prstGeom prst="straightConnector1">
              <a:avLst/>
            </a:prstGeom>
            <a:solidFill>
              <a:srgbClr val="BBE0E3"/>
            </a:solidFill>
            <a:ln cap="flat" cmpd="sng" w="9525">
              <a:solidFill>
                <a:srgbClr val="808080"/>
              </a:solidFill>
              <a:prstDash val="dash"/>
              <a:round/>
              <a:headEnd len="med" w="med" type="triangle"/>
              <a:tailEnd len="med" w="med" type="triangle"/>
            </a:ln>
          </p:spPr>
        </p:cxnSp>
        <p:sp>
          <p:nvSpPr>
            <p:cNvPr id="2886" name="Google Shape;2886;p54"/>
            <p:cNvSpPr txBox="1"/>
            <p:nvPr/>
          </p:nvSpPr>
          <p:spPr>
            <a:xfrm>
              <a:off x="7208140" y="5073211"/>
              <a:ext cx="582185" cy="2539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암호화</a:t>
              </a:r>
              <a:endParaRPr/>
            </a:p>
          </p:txBody>
        </p:sp>
        <p:cxnSp>
          <p:nvCxnSpPr>
            <p:cNvPr id="2887" name="Google Shape;2887;p54"/>
            <p:cNvCxnSpPr/>
            <p:nvPr/>
          </p:nvCxnSpPr>
          <p:spPr>
            <a:xfrm>
              <a:off x="1640961" y="5371356"/>
              <a:ext cx="4644000" cy="0"/>
            </a:xfrm>
            <a:prstGeom prst="straightConnector1">
              <a:avLst/>
            </a:prstGeom>
            <a:solidFill>
              <a:srgbClr val="BBE0E3"/>
            </a:solidFill>
            <a:ln cap="flat" cmpd="sng" w="9525">
              <a:solidFill>
                <a:srgbClr val="808080"/>
              </a:solidFill>
              <a:prstDash val="dash"/>
              <a:round/>
              <a:headEnd len="med" w="med" type="triangle"/>
              <a:tailEnd len="sm" w="sm" type="none"/>
            </a:ln>
          </p:spPr>
        </p:cxnSp>
        <p:sp>
          <p:nvSpPr>
            <p:cNvPr id="2888" name="Google Shape;2888;p54"/>
            <p:cNvSpPr txBox="1"/>
            <p:nvPr/>
          </p:nvSpPr>
          <p:spPr>
            <a:xfrm>
              <a:off x="3648700" y="5113466"/>
              <a:ext cx="896107" cy="2539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서비스 응답</a:t>
              </a:r>
              <a:endParaRPr/>
            </a:p>
          </p:txBody>
        </p:sp>
        <p:sp>
          <p:nvSpPr>
            <p:cNvPr id="2889" name="Google Shape;2889;p54"/>
            <p:cNvSpPr txBox="1"/>
            <p:nvPr/>
          </p:nvSpPr>
          <p:spPr>
            <a:xfrm>
              <a:off x="1703680" y="5420346"/>
              <a:ext cx="1718740" cy="2539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데이터 복호화 요청</a:t>
              </a:r>
              <a:endParaRPr/>
            </a:p>
          </p:txBody>
        </p:sp>
        <p:cxnSp>
          <p:nvCxnSpPr>
            <p:cNvPr id="2890" name="Google Shape;2890;p54"/>
            <p:cNvCxnSpPr/>
            <p:nvPr/>
          </p:nvCxnSpPr>
          <p:spPr>
            <a:xfrm>
              <a:off x="1587750" y="5667877"/>
              <a:ext cx="1927588" cy="0"/>
            </a:xfrm>
            <a:prstGeom prst="straightConnector1">
              <a:avLst/>
            </a:prstGeom>
            <a:solidFill>
              <a:srgbClr val="BBE0E3"/>
            </a:solidFill>
            <a:ln cap="flat" cmpd="sng" w="9525">
              <a:solidFill>
                <a:srgbClr val="808080"/>
              </a:solidFill>
              <a:prstDash val="dash"/>
              <a:round/>
              <a:headEnd len="sm" w="sm" type="none"/>
              <a:tailEnd len="med" w="med" type="triangle"/>
            </a:ln>
          </p:spPr>
        </p:cxnSp>
        <p:sp>
          <p:nvSpPr>
            <p:cNvPr id="2891" name="Google Shape;2891;p54"/>
            <p:cNvSpPr/>
            <p:nvPr/>
          </p:nvSpPr>
          <p:spPr>
            <a:xfrm>
              <a:off x="2739878" y="5729760"/>
              <a:ext cx="1584176" cy="185627"/>
            </a:xfrm>
            <a:prstGeom prst="rect">
              <a:avLst/>
            </a:prstGeom>
            <a:solidFill>
              <a:srgbClr val="F2F2F2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05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대칭키 조회, 복호화</a:t>
              </a:r>
              <a:endParaRPr b="0" i="0" sz="105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2892" name="Google Shape;2892;p54"/>
            <p:cNvCxnSpPr/>
            <p:nvPr/>
          </p:nvCxnSpPr>
          <p:spPr>
            <a:xfrm>
              <a:off x="1604378" y="5974288"/>
              <a:ext cx="1927588" cy="0"/>
            </a:xfrm>
            <a:prstGeom prst="straightConnector1">
              <a:avLst/>
            </a:prstGeom>
            <a:solidFill>
              <a:srgbClr val="BBE0E3"/>
            </a:solidFill>
            <a:ln cap="flat" cmpd="sng" w="9525">
              <a:solidFill>
                <a:srgbClr val="808080"/>
              </a:solidFill>
              <a:prstDash val="dash"/>
              <a:round/>
              <a:headEnd len="med" w="med" type="triangle"/>
              <a:tailEnd len="sm" w="sm" type="none"/>
            </a:ln>
          </p:spPr>
        </p:cxnSp>
        <p:sp>
          <p:nvSpPr>
            <p:cNvPr id="2893" name="Google Shape;2893;p54"/>
            <p:cNvSpPr/>
            <p:nvPr/>
          </p:nvSpPr>
          <p:spPr>
            <a:xfrm>
              <a:off x="803960" y="6050575"/>
              <a:ext cx="1584176" cy="185627"/>
            </a:xfrm>
            <a:prstGeom prst="rect">
              <a:avLst/>
            </a:prstGeom>
            <a:solidFill>
              <a:srgbClr val="F2F2F2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05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평문 데이터 </a:t>
              </a:r>
              <a:endParaRPr/>
            </a:p>
          </p:txBody>
        </p:sp>
        <p:sp>
          <p:nvSpPr>
            <p:cNvPr id="2894" name="Google Shape;2894;p54"/>
            <p:cNvSpPr/>
            <p:nvPr/>
          </p:nvSpPr>
          <p:spPr>
            <a:xfrm>
              <a:off x="8329076" y="2384891"/>
              <a:ext cx="954377" cy="219693"/>
            </a:xfrm>
            <a:prstGeom prst="roundRect">
              <a:avLst>
                <a:gd fmla="val 16667" name="adj"/>
              </a:avLst>
            </a:prstGeom>
            <a:solidFill>
              <a:srgbClr val="262626"/>
            </a:solidFill>
            <a:ln cap="flat" cmpd="sng" w="9525">
              <a:solidFill>
                <a:srgbClr val="80808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RSA1024</a:t>
              </a:r>
              <a:endParaRPr b="0" i="0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895" name="Google Shape;2895;p54"/>
            <p:cNvSpPr/>
            <p:nvPr/>
          </p:nvSpPr>
          <p:spPr>
            <a:xfrm>
              <a:off x="1736397" y="2889158"/>
              <a:ext cx="954377" cy="507459"/>
            </a:xfrm>
            <a:prstGeom prst="roundRect">
              <a:avLst>
                <a:gd fmla="val 16667" name="adj"/>
              </a:avLst>
            </a:prstGeom>
            <a:solidFill>
              <a:srgbClr val="262626"/>
            </a:solidFill>
            <a:ln cap="flat" cmpd="sng" w="9525">
              <a:solidFill>
                <a:srgbClr val="80808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AES256</a:t>
              </a:r>
              <a:br>
                <a:rPr b="0" i="0" lang="en-US" sz="1000" u="none" cap="none" strike="noStrik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0" i="0" lang="en-US" sz="1000" u="none" cap="none" strike="noStrik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SHA256</a:t>
              </a:r>
              <a:br>
                <a:rPr b="0" i="0" lang="en-US" sz="1000" u="none" cap="none" strike="noStrik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0" i="0" lang="en-US" sz="1000" u="none" cap="none" strike="noStrik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SEED</a:t>
              </a:r>
              <a:endParaRPr b="0" i="0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896" name="Google Shape;2896;p54"/>
            <p:cNvSpPr/>
            <p:nvPr/>
          </p:nvSpPr>
          <p:spPr>
            <a:xfrm>
              <a:off x="803960" y="3867255"/>
              <a:ext cx="1584176" cy="185627"/>
            </a:xfrm>
            <a:prstGeom prst="rect">
              <a:avLst/>
            </a:prstGeom>
            <a:solidFill>
              <a:srgbClr val="F2F2F2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05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평문 데이터 </a:t>
              </a:r>
              <a:endParaRPr/>
            </a:p>
          </p:txBody>
        </p:sp>
        <p:sp>
          <p:nvSpPr>
            <p:cNvPr id="2897" name="Google Shape;2897;p54"/>
            <p:cNvSpPr/>
            <p:nvPr/>
          </p:nvSpPr>
          <p:spPr>
            <a:xfrm>
              <a:off x="361482" y="2180314"/>
              <a:ext cx="954377" cy="219693"/>
            </a:xfrm>
            <a:prstGeom prst="roundRect">
              <a:avLst>
                <a:gd fmla="val 16667" name="adj"/>
              </a:avLst>
            </a:prstGeom>
            <a:solidFill>
              <a:srgbClr val="FF5050"/>
            </a:solidFill>
            <a:ln cap="flat" cmpd="sng" w="9525">
              <a:solidFill>
                <a:srgbClr val="80808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Handshake</a:t>
              </a:r>
              <a:endParaRPr sz="10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898" name="Google Shape;2898;p54"/>
          <p:cNvSpPr txBox="1"/>
          <p:nvPr/>
        </p:nvSpPr>
        <p:spPr>
          <a:xfrm>
            <a:off x="417770" y="714190"/>
            <a:ext cx="8964356" cy="880617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36000">
            <a:sp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3.3 기타 연계방안 </a:t>
            </a:r>
            <a:endParaRPr/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3.3.3 웹 구간 암호화 (2/3)</a:t>
            </a:r>
            <a:endParaRPr b="1"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SSL과 유사한 방식으로 키교환(Handshake) 후, 오고 가는 전문을 암/복호화 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2" name="Shape 2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3" name="Google Shape;2903;p55"/>
          <p:cNvSpPr txBox="1"/>
          <p:nvPr/>
        </p:nvSpPr>
        <p:spPr>
          <a:xfrm>
            <a:off x="417770" y="714190"/>
            <a:ext cx="8964356" cy="880617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36000">
            <a:sp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3.3 기타 연계방안 </a:t>
            </a:r>
            <a:endParaRPr/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3.3.3 웹 구간 암호화 (3/3)</a:t>
            </a:r>
            <a:endParaRPr b="1"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전문 암/복호화 이지시큐어의 서블릿 및 필터 설정</a:t>
            </a:r>
            <a:endParaRPr/>
          </a:p>
        </p:txBody>
      </p:sp>
      <p:sp>
        <p:nvSpPr>
          <p:cNvPr id="2904" name="Google Shape;2904;p55"/>
          <p:cNvSpPr txBox="1"/>
          <p:nvPr/>
        </p:nvSpPr>
        <p:spPr>
          <a:xfrm>
            <a:off x="480260" y="1594807"/>
            <a:ext cx="8901866" cy="317385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HandshakeServlet</a:t>
            </a:r>
            <a:endParaRPr b="1"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2905" name="Google Shape;2905;p55"/>
          <p:cNvGraphicFramePr/>
          <p:nvPr/>
        </p:nvGraphicFramePr>
        <p:xfrm>
          <a:off x="485804" y="19409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{F6045412-04BD-4F82-B1B7-2730D475FC39}</a:tableStyleId>
              </a:tblPr>
              <a:tblGrid>
                <a:gridCol w="1802900"/>
                <a:gridCol w="5184575"/>
                <a:gridCol w="1914400"/>
              </a:tblGrid>
              <a:tr h="284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파라미터명</a:t>
                      </a:r>
                      <a:endParaRPr sz="9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설명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기본값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284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response-plain</a:t>
                      </a:r>
                      <a:endParaRPr b="0"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요청 전문 암호화시 응답 전문 암호화 여부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false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4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rsa-key-size</a:t>
                      </a:r>
                      <a:endParaRPr b="0"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RSA KEY SIZE (1024, 2048)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1024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4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enable-hmac</a:t>
                      </a:r>
                      <a:endParaRPr b="0"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HMAC SHA256 적용 여부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true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4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enable-pkcs7padding</a:t>
                      </a:r>
                      <a:endParaRPr b="0"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PKCS7Padding 지원 여부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true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4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query-key</a:t>
                      </a:r>
                      <a:endParaRPr b="0"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Get방식 일때 파라미터명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q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4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post-key</a:t>
                      </a:r>
                      <a:endParaRPr b="0"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Post방식 일때 파라미터명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906" name="Google Shape;2906;p55"/>
          <p:cNvSpPr txBox="1"/>
          <p:nvPr/>
        </p:nvSpPr>
        <p:spPr>
          <a:xfrm>
            <a:off x="480260" y="4077072"/>
            <a:ext cx="9032453" cy="317385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SecureFilter</a:t>
            </a:r>
            <a:endParaRPr b="1"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2907" name="Google Shape;2907;p55"/>
          <p:cNvGraphicFramePr/>
          <p:nvPr/>
        </p:nvGraphicFramePr>
        <p:xfrm>
          <a:off x="480260" y="44371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{F6045412-04BD-4F82-B1B7-2730D475FC39}</a:tableStyleId>
              </a:tblPr>
              <a:tblGrid>
                <a:gridCol w="1808450"/>
                <a:gridCol w="5213800"/>
                <a:gridCol w="1879625"/>
              </a:tblGrid>
              <a:tr h="298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파라미터명</a:t>
                      </a:r>
                      <a:endParaRPr sz="9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설명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기본값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751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error-page</a:t>
                      </a:r>
                      <a:endParaRPr b="0"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세션 만료 및 저장된 키 뭉치가 불일치시,</a:t>
                      </a: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SecureSessionNotFoundException 발생에 대한 포워드 페이지 정의가 되지 않으면 기본적으로 Exception과 함께 서버 설정에 따라</a:t>
                      </a: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500 에러 발생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null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51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error-statuscode</a:t>
                      </a:r>
                      <a:endParaRPr b="0"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정의되었다면, SecureSessionNotFoundException 발생시 정의된</a:t>
                      </a: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HTTP 응답코드(401)과 함께 반환</a:t>
                      </a:r>
                      <a:b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  예) 401(UNAUTHORIZED), 500(INTERNAL_SERVER_ERROR) 등</a:t>
                      </a:r>
                      <a:endParaRPr/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null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1" name="Shape 2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2" name="Google Shape;2912;p56"/>
          <p:cNvSpPr txBox="1"/>
          <p:nvPr/>
        </p:nvSpPr>
        <p:spPr>
          <a:xfrm>
            <a:off x="417770" y="714190"/>
            <a:ext cx="8964356" cy="880617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36000">
            <a:sp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3.3 기타 연계방안 </a:t>
            </a:r>
            <a:endParaRPr/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3.3.4 관리자 페이지</a:t>
            </a:r>
            <a:endParaRPr b="1"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MDS시스템을 관리하는 페이지가 구성된 하이포탈+ 시스템과의 연계 방안</a:t>
            </a:r>
            <a:endParaRPr/>
          </a:p>
        </p:txBody>
      </p:sp>
      <p:sp>
        <p:nvSpPr>
          <p:cNvPr id="2913" name="Google Shape;2913;p56"/>
          <p:cNvSpPr/>
          <p:nvPr/>
        </p:nvSpPr>
        <p:spPr>
          <a:xfrm>
            <a:off x="4829857" y="1941073"/>
            <a:ext cx="3409576" cy="2184897"/>
          </a:xfrm>
          <a:prstGeom prst="rect">
            <a:avLst/>
          </a:prstGeom>
          <a:solidFill>
            <a:srgbClr val="EAEAEA"/>
          </a:solidFill>
          <a:ln cap="flat" cmpd="sng" w="9525">
            <a:solidFill>
              <a:srgbClr val="D8D8D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Application Framework (MDS WAS)</a:t>
            </a:r>
            <a:endParaRPr/>
          </a:p>
        </p:txBody>
      </p:sp>
      <p:sp>
        <p:nvSpPr>
          <p:cNvPr id="2914" name="Google Shape;2914;p56"/>
          <p:cNvSpPr/>
          <p:nvPr/>
        </p:nvSpPr>
        <p:spPr>
          <a:xfrm>
            <a:off x="417770" y="1664055"/>
            <a:ext cx="9071734" cy="2566229"/>
          </a:xfrm>
          <a:prstGeom prst="rect">
            <a:avLst/>
          </a:prstGeom>
          <a:noFill/>
          <a:ln cap="flat" cmpd="sng" w="25400">
            <a:solidFill>
              <a:srgbClr val="B2B2B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2915" name="Google Shape;2915;p56"/>
          <p:cNvGraphicFramePr/>
          <p:nvPr/>
        </p:nvGraphicFramePr>
        <p:xfrm>
          <a:off x="417770" y="42930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{9216E51F-281C-4444-9FEC-27A87119D8F7}</a:tableStyleId>
              </a:tblPr>
              <a:tblGrid>
                <a:gridCol w="755975"/>
                <a:gridCol w="8315750"/>
              </a:tblGrid>
              <a:tr h="242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순번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설명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59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b="1" i="0"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 anchorCtr="1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하이포탈+ 시스템의 관리자 화면에서 EAI로 요청전문 전송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9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b="1" i="0"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 anchorCtr="1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EAI에서 MDS 서버로 요청전문 전송(표준전문 : 헤더부  + 데이타부) 후, EAI에서 응답 수신 대기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9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b="1" i="0"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 anchorCtr="1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Framework의 서비스 컨트롤러에서 해당 전문 parsing, 전문헤더부 데이터 context 조립 후 업무 서비스 호출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9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b="1" i="0"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 anchorCtr="1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업무 서비스에서 Biz Logic을 처리, DB관련 로직은 Framework의 </a:t>
                      </a:r>
                      <a:r>
                        <a:rPr lang="en-US" sz="1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Hi2 DBIO</a:t>
                      </a: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를 이용하여 DB 서버에 접속하여 SQL을 처리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9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b="1" i="0"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 anchorCtr="1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출력전문(표준전문 : 헤더부 + 데이터부) 조립 후 EAI로 전송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9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b="1" i="0"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 anchorCtr="1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EAI에서 하이포탈+ 시스템으로 결과 전송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16" name="Google Shape;2916;p56"/>
          <p:cNvSpPr/>
          <p:nvPr/>
        </p:nvSpPr>
        <p:spPr>
          <a:xfrm>
            <a:off x="426924" y="1667837"/>
            <a:ext cx="1141659" cy="272382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EAI 🡪 MDS시스템</a:t>
            </a:r>
            <a:endParaRPr sz="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17" name="Google Shape;2917;p56"/>
          <p:cNvSpPr/>
          <p:nvPr/>
        </p:nvSpPr>
        <p:spPr>
          <a:xfrm>
            <a:off x="4259030" y="1709813"/>
            <a:ext cx="5109180" cy="2463726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MDS 시스템</a:t>
            </a:r>
            <a:endParaRPr b="1" sz="10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18" name="Google Shape;2918;p56"/>
          <p:cNvSpPr/>
          <p:nvPr/>
        </p:nvSpPr>
        <p:spPr>
          <a:xfrm>
            <a:off x="3285002" y="1785735"/>
            <a:ext cx="742073" cy="2315955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18000">
            <a:noAutofit/>
          </a:bodyPr>
          <a:lstStyle/>
          <a:p>
            <a:pPr indent="0" lvl="1" marL="1588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대내</a:t>
            </a:r>
            <a:endParaRPr b="0" i="0" sz="800" u="none" cap="none" strike="noStrik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1" marL="1588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(EAI)</a:t>
            </a:r>
            <a:endParaRPr/>
          </a:p>
        </p:txBody>
      </p:sp>
      <p:sp>
        <p:nvSpPr>
          <p:cNvPr id="2919" name="Google Shape;2919;p56"/>
          <p:cNvSpPr/>
          <p:nvPr/>
        </p:nvSpPr>
        <p:spPr>
          <a:xfrm>
            <a:off x="3636872" y="2555378"/>
            <a:ext cx="97059" cy="170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20" name="Google Shape;2920;p56"/>
          <p:cNvSpPr/>
          <p:nvPr/>
        </p:nvSpPr>
        <p:spPr>
          <a:xfrm>
            <a:off x="3564545" y="3103841"/>
            <a:ext cx="97059" cy="170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21" name="Google Shape;2921;p56"/>
          <p:cNvSpPr/>
          <p:nvPr/>
        </p:nvSpPr>
        <p:spPr>
          <a:xfrm>
            <a:off x="3216878" y="1709813"/>
            <a:ext cx="881112" cy="2463726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39725" lvl="0" marL="339725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922" name="Google Shape;2922;p56"/>
          <p:cNvGrpSpPr/>
          <p:nvPr/>
        </p:nvGrpSpPr>
        <p:grpSpPr>
          <a:xfrm>
            <a:off x="4987524" y="2157889"/>
            <a:ext cx="3135534" cy="322786"/>
            <a:chOff x="4660876" y="2212967"/>
            <a:chExt cx="3135534" cy="322786"/>
          </a:xfrm>
        </p:grpSpPr>
        <p:sp>
          <p:nvSpPr>
            <p:cNvPr id="2923" name="Google Shape;2923;p56"/>
            <p:cNvSpPr/>
            <p:nvPr/>
          </p:nvSpPr>
          <p:spPr>
            <a:xfrm>
              <a:off x="4660876" y="2212967"/>
              <a:ext cx="3135534" cy="32278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1" marL="1588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 Dispatcher Servlet Gateway</a:t>
              </a:r>
              <a:endParaRPr b="0" i="0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924" name="Google Shape;2924;p56"/>
            <p:cNvSpPr txBox="1"/>
            <p:nvPr/>
          </p:nvSpPr>
          <p:spPr>
            <a:xfrm>
              <a:off x="6223127" y="2253480"/>
              <a:ext cx="1512022" cy="24610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전문 전송 시 Session 정보전송</a:t>
              </a:r>
              <a:endParaRPr/>
            </a:p>
          </p:txBody>
        </p:sp>
      </p:grpSp>
      <p:sp>
        <p:nvSpPr>
          <p:cNvPr id="2925" name="Google Shape;2925;p56"/>
          <p:cNvSpPr/>
          <p:nvPr/>
        </p:nvSpPr>
        <p:spPr>
          <a:xfrm>
            <a:off x="4923745" y="2820288"/>
            <a:ext cx="3208277" cy="1187832"/>
          </a:xfrm>
          <a:prstGeom prst="rect">
            <a:avLst/>
          </a:prstGeom>
          <a:solidFill>
            <a:srgbClr val="D8D8D8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  <a:effectLst>
            <a:outerShdw blurRad="25400" rotWithShape="0" algn="tl" dir="1980000" dist="127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9595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26" name="Google Shape;2926;p56"/>
          <p:cNvSpPr/>
          <p:nvPr/>
        </p:nvSpPr>
        <p:spPr>
          <a:xfrm rot="5400000">
            <a:off x="4662059" y="3206837"/>
            <a:ext cx="1091882" cy="42692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1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Service Endpoint</a:t>
            </a:r>
            <a:endParaRPr b="0" i="0" sz="800" u="none" cap="none" strike="noStrik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27" name="Google Shape;2927;p56"/>
          <p:cNvSpPr/>
          <p:nvPr/>
        </p:nvSpPr>
        <p:spPr>
          <a:xfrm rot="5400000">
            <a:off x="5324442" y="3206837"/>
            <a:ext cx="1091882" cy="42692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1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Service Executor</a:t>
            </a:r>
            <a:endParaRPr/>
          </a:p>
        </p:txBody>
      </p:sp>
      <p:sp>
        <p:nvSpPr>
          <p:cNvPr id="2928" name="Google Shape;2928;p56"/>
          <p:cNvSpPr/>
          <p:nvPr/>
        </p:nvSpPr>
        <p:spPr>
          <a:xfrm rot="5400000">
            <a:off x="5986824" y="3206837"/>
            <a:ext cx="1091882" cy="42692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1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Main Service</a:t>
            </a:r>
            <a:endParaRPr/>
          </a:p>
        </p:txBody>
      </p:sp>
      <p:sp>
        <p:nvSpPr>
          <p:cNvPr id="2929" name="Google Shape;2929;p56"/>
          <p:cNvSpPr/>
          <p:nvPr/>
        </p:nvSpPr>
        <p:spPr>
          <a:xfrm rot="5400000">
            <a:off x="6649207" y="3206837"/>
            <a:ext cx="1091882" cy="42692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1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Sub Service</a:t>
            </a:r>
            <a:endParaRPr/>
          </a:p>
        </p:txBody>
      </p:sp>
      <p:sp>
        <p:nvSpPr>
          <p:cNvPr id="2930" name="Google Shape;2930;p56"/>
          <p:cNvSpPr txBox="1"/>
          <p:nvPr/>
        </p:nvSpPr>
        <p:spPr>
          <a:xfrm>
            <a:off x="5449832" y="3145040"/>
            <a:ext cx="170993" cy="117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VO</a:t>
            </a:r>
            <a:endParaRPr sz="7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31" name="Google Shape;2931;p56"/>
          <p:cNvSpPr txBox="1"/>
          <p:nvPr/>
        </p:nvSpPr>
        <p:spPr>
          <a:xfrm>
            <a:off x="5280285" y="2597886"/>
            <a:ext cx="1092773" cy="128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Biz. Logic 처리 전문</a:t>
            </a:r>
            <a:endParaRPr/>
          </a:p>
        </p:txBody>
      </p:sp>
      <p:cxnSp>
        <p:nvCxnSpPr>
          <p:cNvPr id="2932" name="Google Shape;2932;p56"/>
          <p:cNvCxnSpPr>
            <a:stCxn id="2926" idx="3"/>
            <a:endCxn id="2927" idx="1"/>
          </p:cNvCxnSpPr>
          <p:nvPr/>
        </p:nvCxnSpPr>
        <p:spPr>
          <a:xfrm flipH="1" rot="10800000">
            <a:off x="5208000" y="2874241"/>
            <a:ext cx="662400" cy="1092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933" name="Google Shape;2933;p56"/>
          <p:cNvSpPr txBox="1"/>
          <p:nvPr/>
        </p:nvSpPr>
        <p:spPr>
          <a:xfrm>
            <a:off x="6114637" y="3145039"/>
            <a:ext cx="170993" cy="117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VO</a:t>
            </a:r>
            <a:endParaRPr sz="7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934" name="Google Shape;2934;p56"/>
          <p:cNvCxnSpPr>
            <a:stCxn id="2927" idx="3"/>
            <a:endCxn id="2928" idx="1"/>
          </p:cNvCxnSpPr>
          <p:nvPr/>
        </p:nvCxnSpPr>
        <p:spPr>
          <a:xfrm flipH="1" rot="10800000">
            <a:off x="5870383" y="2874241"/>
            <a:ext cx="662400" cy="1092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935" name="Google Shape;2935;p56"/>
          <p:cNvCxnSpPr>
            <a:stCxn id="2928" idx="3"/>
            <a:endCxn id="2929" idx="1"/>
          </p:cNvCxnSpPr>
          <p:nvPr/>
        </p:nvCxnSpPr>
        <p:spPr>
          <a:xfrm flipH="1" rot="10800000">
            <a:off x="6532766" y="2874241"/>
            <a:ext cx="662400" cy="10920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936" name="Google Shape;2936;p56"/>
          <p:cNvSpPr txBox="1"/>
          <p:nvPr/>
        </p:nvSpPr>
        <p:spPr>
          <a:xfrm>
            <a:off x="6779512" y="3152876"/>
            <a:ext cx="170993" cy="117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VO</a:t>
            </a:r>
            <a:endParaRPr sz="7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37" name="Google Shape;2937;p56"/>
          <p:cNvSpPr/>
          <p:nvPr/>
        </p:nvSpPr>
        <p:spPr>
          <a:xfrm rot="5400000">
            <a:off x="7302393" y="3206837"/>
            <a:ext cx="1091882" cy="42692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1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Hi2 DBIO</a:t>
            </a:r>
            <a:endParaRPr/>
          </a:p>
        </p:txBody>
      </p:sp>
      <p:cxnSp>
        <p:nvCxnSpPr>
          <p:cNvPr id="2938" name="Google Shape;2938;p56"/>
          <p:cNvCxnSpPr>
            <a:endCxn id="2937" idx="1"/>
          </p:cNvCxnSpPr>
          <p:nvPr/>
        </p:nvCxnSpPr>
        <p:spPr>
          <a:xfrm>
            <a:off x="7612834" y="2874359"/>
            <a:ext cx="2355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939" name="Google Shape;2939;p56"/>
          <p:cNvSpPr txBox="1"/>
          <p:nvPr/>
        </p:nvSpPr>
        <p:spPr>
          <a:xfrm>
            <a:off x="7432698" y="3152876"/>
            <a:ext cx="170993" cy="117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VO</a:t>
            </a:r>
            <a:endParaRPr sz="7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940" name="Google Shape;2940;p56"/>
          <p:cNvGrpSpPr/>
          <p:nvPr/>
        </p:nvGrpSpPr>
        <p:grpSpPr>
          <a:xfrm>
            <a:off x="8481089" y="3013096"/>
            <a:ext cx="702177" cy="805414"/>
            <a:chOff x="8137188" y="2520485"/>
            <a:chExt cx="978531" cy="805414"/>
          </a:xfrm>
        </p:grpSpPr>
        <p:sp>
          <p:nvSpPr>
            <p:cNvPr id="2941" name="Google Shape;2941;p56"/>
            <p:cNvSpPr/>
            <p:nvPr/>
          </p:nvSpPr>
          <p:spPr>
            <a:xfrm>
              <a:off x="8137188" y="3003729"/>
              <a:ext cx="978531" cy="322170"/>
            </a:xfrm>
            <a:prstGeom prst="flowChartMagneticDisk">
              <a:avLst/>
            </a:prstGeom>
            <a:solidFill>
              <a:srgbClr val="F2F2F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942" name="Google Shape;2942;p56"/>
            <p:cNvSpPr/>
            <p:nvPr/>
          </p:nvSpPr>
          <p:spPr>
            <a:xfrm>
              <a:off x="8137188" y="2766951"/>
              <a:ext cx="978531" cy="322170"/>
            </a:xfrm>
            <a:prstGeom prst="flowChartMagneticDisk">
              <a:avLst/>
            </a:prstGeom>
            <a:solidFill>
              <a:srgbClr val="F2F2F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MDS DB</a:t>
              </a:r>
              <a:endParaRPr sz="9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943" name="Google Shape;2943;p56"/>
            <p:cNvSpPr/>
            <p:nvPr/>
          </p:nvSpPr>
          <p:spPr>
            <a:xfrm>
              <a:off x="8137188" y="2520485"/>
              <a:ext cx="978531" cy="322170"/>
            </a:xfrm>
            <a:prstGeom prst="flowChartMagneticDisk">
              <a:avLst/>
            </a:prstGeom>
            <a:solidFill>
              <a:srgbClr val="F2F2F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2944" name="Google Shape;2944;p56"/>
          <p:cNvCxnSpPr>
            <a:stCxn id="2937" idx="3"/>
            <a:endCxn id="2942" idx="2"/>
          </p:cNvCxnSpPr>
          <p:nvPr/>
        </p:nvCxnSpPr>
        <p:spPr>
          <a:xfrm flipH="1" rot="10800000">
            <a:off x="7848334" y="3420541"/>
            <a:ext cx="632700" cy="5457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45" name="Google Shape;2945;p56"/>
          <p:cNvCxnSpPr/>
          <p:nvPr/>
        </p:nvCxnSpPr>
        <p:spPr>
          <a:xfrm>
            <a:off x="1956936" y="3085026"/>
            <a:ext cx="1250974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2946" name="Google Shape;2946;p56"/>
          <p:cNvSpPr txBox="1"/>
          <p:nvPr/>
        </p:nvSpPr>
        <p:spPr>
          <a:xfrm>
            <a:off x="2288946" y="2942149"/>
            <a:ext cx="601295" cy="99761"/>
          </a:xfrm>
          <a:prstGeom prst="rect">
            <a:avLst/>
          </a:prstGeom>
          <a:solidFill>
            <a:schemeClr val="lt1">
              <a:alpha val="61176"/>
            </a:scheme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http (JSON)</a:t>
            </a:r>
            <a:endParaRPr sz="800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47" name="Google Shape;2947;p56"/>
          <p:cNvSpPr/>
          <p:nvPr/>
        </p:nvSpPr>
        <p:spPr>
          <a:xfrm>
            <a:off x="4007552" y="2754167"/>
            <a:ext cx="160152" cy="15027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48" name="Google Shape;2948;p56"/>
          <p:cNvSpPr/>
          <p:nvPr/>
        </p:nvSpPr>
        <p:spPr>
          <a:xfrm>
            <a:off x="5025008" y="2590071"/>
            <a:ext cx="160152" cy="15027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49" name="Google Shape;2949;p56"/>
          <p:cNvSpPr/>
          <p:nvPr/>
        </p:nvSpPr>
        <p:spPr>
          <a:xfrm>
            <a:off x="4814125" y="2460343"/>
            <a:ext cx="160152" cy="15027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sz="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50" name="Google Shape;2950;p56"/>
          <p:cNvSpPr/>
          <p:nvPr/>
        </p:nvSpPr>
        <p:spPr>
          <a:xfrm>
            <a:off x="6930394" y="2855043"/>
            <a:ext cx="160152" cy="15027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51" name="Google Shape;2951;p56"/>
          <p:cNvSpPr/>
          <p:nvPr/>
        </p:nvSpPr>
        <p:spPr>
          <a:xfrm>
            <a:off x="3038331" y="3082890"/>
            <a:ext cx="160152" cy="15027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sz="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52" name="Google Shape;2952;p56"/>
          <p:cNvSpPr/>
          <p:nvPr/>
        </p:nvSpPr>
        <p:spPr>
          <a:xfrm>
            <a:off x="1981501" y="2799220"/>
            <a:ext cx="160152" cy="15027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953" name="Google Shape;2953;p56"/>
          <p:cNvCxnSpPr/>
          <p:nvPr/>
        </p:nvCxnSpPr>
        <p:spPr>
          <a:xfrm flipH="1">
            <a:off x="4101133" y="2415513"/>
            <a:ext cx="883800" cy="675300"/>
          </a:xfrm>
          <a:prstGeom prst="bentConnector3">
            <a:avLst>
              <a:gd fmla="val 43018" name="adj1"/>
            </a:avLst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54" name="Google Shape;2954;p56"/>
          <p:cNvSpPr txBox="1"/>
          <p:nvPr/>
        </p:nvSpPr>
        <p:spPr>
          <a:xfrm rot="5400000">
            <a:off x="4203142" y="2653201"/>
            <a:ext cx="601295" cy="99761"/>
          </a:xfrm>
          <a:prstGeom prst="rect">
            <a:avLst/>
          </a:prstGeom>
          <a:solidFill>
            <a:schemeClr val="lt1">
              <a:alpha val="61176"/>
            </a:scheme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http (JSON)</a:t>
            </a:r>
            <a:endParaRPr sz="800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955" name="Google Shape;2955;p56"/>
          <p:cNvCxnSpPr/>
          <p:nvPr/>
        </p:nvCxnSpPr>
        <p:spPr>
          <a:xfrm>
            <a:off x="1952321" y="2893367"/>
            <a:ext cx="1264557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56" name="Google Shape;2956;p56"/>
          <p:cNvCxnSpPr/>
          <p:nvPr/>
        </p:nvCxnSpPr>
        <p:spPr>
          <a:xfrm flipH="1">
            <a:off x="4101133" y="2249034"/>
            <a:ext cx="883800" cy="655200"/>
          </a:xfrm>
          <a:prstGeom prst="bentConnector3">
            <a:avLst>
              <a:gd fmla="val 65708" name="adj1"/>
            </a:avLst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2957" name="Google Shape;2957;p56"/>
          <p:cNvCxnSpPr/>
          <p:nvPr/>
        </p:nvCxnSpPr>
        <p:spPr>
          <a:xfrm>
            <a:off x="5207640" y="2469056"/>
            <a:ext cx="0" cy="398673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2958" name="Google Shape;2958;p56"/>
          <p:cNvGrpSpPr/>
          <p:nvPr/>
        </p:nvGrpSpPr>
        <p:grpSpPr>
          <a:xfrm>
            <a:off x="666095" y="2288410"/>
            <a:ext cx="1275331" cy="1283541"/>
            <a:chOff x="780452" y="2187910"/>
            <a:chExt cx="1275331" cy="1283541"/>
          </a:xfrm>
        </p:grpSpPr>
        <p:sp>
          <p:nvSpPr>
            <p:cNvPr id="2959" name="Google Shape;2959;p56"/>
            <p:cNvSpPr/>
            <p:nvPr/>
          </p:nvSpPr>
          <p:spPr>
            <a:xfrm>
              <a:off x="780452" y="2187910"/>
              <a:ext cx="1275331" cy="1283541"/>
            </a:xfrm>
            <a:prstGeom prst="rect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하이포탈+ 시스템</a:t>
              </a:r>
              <a:endParaRPr b="1" sz="100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2960" name="Google Shape;2960;p56"/>
            <p:cNvGrpSpPr/>
            <p:nvPr/>
          </p:nvGrpSpPr>
          <p:grpSpPr>
            <a:xfrm>
              <a:off x="1061397" y="2677875"/>
              <a:ext cx="716088" cy="620012"/>
              <a:chOff x="778766" y="2360564"/>
              <a:chExt cx="889014" cy="762775"/>
            </a:xfrm>
          </p:grpSpPr>
          <p:sp>
            <p:nvSpPr>
              <p:cNvPr id="2961" name="Google Shape;2961;p56"/>
              <p:cNvSpPr txBox="1"/>
              <p:nvPr/>
            </p:nvSpPr>
            <p:spPr>
              <a:xfrm>
                <a:off x="778766" y="2839356"/>
                <a:ext cx="889014" cy="2839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48975" spcFirstLastPara="1" rIns="4897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관리자 화면</a:t>
                </a:r>
                <a:endParaRPr sz="900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grpSp>
            <p:nvGrpSpPr>
              <p:cNvPr id="2962" name="Google Shape;2962;p56"/>
              <p:cNvGrpSpPr/>
              <p:nvPr/>
            </p:nvGrpSpPr>
            <p:grpSpPr>
              <a:xfrm>
                <a:off x="911981" y="2360564"/>
                <a:ext cx="639187" cy="488547"/>
                <a:chOff x="1152511" y="2360930"/>
                <a:chExt cx="639187" cy="488547"/>
              </a:xfrm>
            </p:grpSpPr>
            <p:pic>
              <p:nvPicPr>
                <p:cNvPr id="2963" name="Google Shape;2963;p5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1152511" y="2360930"/>
                  <a:ext cx="429294" cy="48854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964" name="Google Shape;2964;p5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1456931" y="2629550"/>
                  <a:ext cx="334767" cy="21992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8" name="Shape 2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" name="Google Shape;2969;p57"/>
          <p:cNvSpPr txBox="1"/>
          <p:nvPr/>
        </p:nvSpPr>
        <p:spPr>
          <a:xfrm>
            <a:off x="417770" y="714190"/>
            <a:ext cx="8964356" cy="880617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36000">
            <a:sp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3.3 기타 연계방안 </a:t>
            </a:r>
            <a:endParaRPr/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3.3.5 로컬 캐시 사용</a:t>
            </a:r>
            <a:endParaRPr b="1"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MDS시스템에서 사용하는 가필 및 시스템 정보 캐싱 처리 방안</a:t>
            </a:r>
            <a:endParaRPr/>
          </a:p>
        </p:txBody>
      </p:sp>
      <p:sp>
        <p:nvSpPr>
          <p:cNvPr id="2970" name="Google Shape;2970;p57"/>
          <p:cNvSpPr/>
          <p:nvPr/>
        </p:nvSpPr>
        <p:spPr>
          <a:xfrm>
            <a:off x="417770" y="1664055"/>
            <a:ext cx="9071734" cy="2566229"/>
          </a:xfrm>
          <a:prstGeom prst="rect">
            <a:avLst/>
          </a:prstGeom>
          <a:noFill/>
          <a:ln cap="flat" cmpd="sng" w="25400">
            <a:solidFill>
              <a:srgbClr val="B2B2B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2971" name="Google Shape;2971;p57"/>
          <p:cNvGraphicFramePr/>
          <p:nvPr/>
        </p:nvGraphicFramePr>
        <p:xfrm>
          <a:off x="417770" y="42930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{9216E51F-281C-4444-9FEC-27A87119D8F7}</a:tableStyleId>
              </a:tblPr>
              <a:tblGrid>
                <a:gridCol w="755975"/>
                <a:gridCol w="8315750"/>
              </a:tblGrid>
              <a:tr h="242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특징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59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b="1" i="0"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 anchorCtr="1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최초 조회 시 데이터를 DB에서 조회하고 서비스 캐시에 적재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9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b="1" i="0"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 anchorCtr="1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반복되는 데이터 조회 요청 시 캐시에 저장 된 데이터를 반환 (성능 향상)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9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b="1" i="0"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 anchorCtr="1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캐시 최대 사이즈 및 만료 정책 사용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9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b="1" i="0"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 anchorCtr="1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최적의 적중률을 제공하는 Window TinyLfu 제거 정책 사용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9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b="1" i="0"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 anchorCtr="1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자주 사용되는 데이터(LFU)은 Protected 영역에 들어가며 LRU에 의해 제거되지 않음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9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b="1" i="0" sz="11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 anchorCtr="1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자주 호출되고 최근에 생성된 데이터들은 가능한 캐시에 유지 시킬 수 있음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72" name="Google Shape;2972;p57"/>
          <p:cNvSpPr/>
          <p:nvPr/>
        </p:nvSpPr>
        <p:spPr>
          <a:xfrm>
            <a:off x="426924" y="1667837"/>
            <a:ext cx="782587" cy="272382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MDS시스템</a:t>
            </a:r>
            <a:endParaRPr sz="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73" name="Google Shape;2973;p57"/>
          <p:cNvSpPr/>
          <p:nvPr/>
        </p:nvSpPr>
        <p:spPr>
          <a:xfrm>
            <a:off x="3636872" y="2555378"/>
            <a:ext cx="97059" cy="170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74" name="Google Shape;2974;p57"/>
          <p:cNvSpPr/>
          <p:nvPr/>
        </p:nvSpPr>
        <p:spPr>
          <a:xfrm>
            <a:off x="3564545" y="3103841"/>
            <a:ext cx="97059" cy="170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75" name="Google Shape;2975;p57"/>
          <p:cNvSpPr/>
          <p:nvPr/>
        </p:nvSpPr>
        <p:spPr>
          <a:xfrm>
            <a:off x="6229311" y="1994514"/>
            <a:ext cx="1001977" cy="484295"/>
          </a:xfrm>
          <a:prstGeom prst="roundRect">
            <a:avLst>
              <a:gd fmla="val 8024" name="adj"/>
            </a:avLst>
          </a:prstGeom>
          <a:solidFill>
            <a:schemeClr val="lt1"/>
          </a:solidFill>
          <a:ln cap="flat" cmpd="sng" w="127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Hi2 DBIO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76" name="Google Shape;2976;p57"/>
          <p:cNvGrpSpPr/>
          <p:nvPr/>
        </p:nvGrpSpPr>
        <p:grpSpPr>
          <a:xfrm>
            <a:off x="661345" y="2003031"/>
            <a:ext cx="675075" cy="441737"/>
            <a:chOff x="964345" y="4059070"/>
            <a:chExt cx="588629" cy="404484"/>
          </a:xfrm>
        </p:grpSpPr>
        <p:pic>
          <p:nvPicPr>
            <p:cNvPr descr="Picture2" id="2977" name="Google Shape;2977;p5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34515" y="4059070"/>
              <a:ext cx="418459" cy="4044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:\Users\Uxxxxxxx\Pictures\Icon-user (1).png" id="2978" name="Google Shape;2978;p5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64345" y="4100876"/>
              <a:ext cx="362678" cy="3626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79" name="Google Shape;2979;p57"/>
          <p:cNvGrpSpPr/>
          <p:nvPr/>
        </p:nvGrpSpPr>
        <p:grpSpPr>
          <a:xfrm>
            <a:off x="2658512" y="1960792"/>
            <a:ext cx="1656184" cy="518017"/>
            <a:chOff x="2624956" y="2002737"/>
            <a:chExt cx="1656184" cy="518017"/>
          </a:xfrm>
        </p:grpSpPr>
        <p:sp>
          <p:nvSpPr>
            <p:cNvPr id="2980" name="Google Shape;2980;p57"/>
            <p:cNvSpPr/>
            <p:nvPr/>
          </p:nvSpPr>
          <p:spPr>
            <a:xfrm>
              <a:off x="2624956" y="2002737"/>
              <a:ext cx="1656184" cy="518017"/>
            </a:xfrm>
            <a:prstGeom prst="roundRect">
              <a:avLst>
                <a:gd fmla="val 8024" name="adj"/>
              </a:avLst>
            </a:prstGeom>
            <a:solidFill>
              <a:schemeClr val="lt1"/>
            </a:solidFill>
            <a:ln cap="flat" cmpd="sng" w="25400">
              <a:solidFill>
                <a:srgbClr val="4D5E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Arial"/>
                <a:buNone/>
              </a:pPr>
              <a:r>
                <a:t/>
              </a:r>
              <a:endParaRPr b="0" i="0" sz="2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981" name="Google Shape;2981;p57"/>
            <p:cNvSpPr txBox="1"/>
            <p:nvPr/>
          </p:nvSpPr>
          <p:spPr>
            <a:xfrm>
              <a:off x="2781911" y="2090948"/>
              <a:ext cx="133793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CacheManager</a:t>
              </a:r>
              <a:endPara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982" name="Google Shape;2982;p57"/>
          <p:cNvCxnSpPr/>
          <p:nvPr/>
        </p:nvCxnSpPr>
        <p:spPr>
          <a:xfrm>
            <a:off x="1375995" y="2223899"/>
            <a:ext cx="1209385" cy="0"/>
          </a:xfrm>
          <a:prstGeom prst="straightConnector1">
            <a:avLst/>
          </a:prstGeom>
          <a:noFill/>
          <a:ln cap="flat" cmpd="sng" w="19050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83" name="Google Shape;2983;p57"/>
          <p:cNvCxnSpPr/>
          <p:nvPr/>
        </p:nvCxnSpPr>
        <p:spPr>
          <a:xfrm>
            <a:off x="4425392" y="2238338"/>
            <a:ext cx="1692000" cy="0"/>
          </a:xfrm>
          <a:prstGeom prst="straightConnector1">
            <a:avLst/>
          </a:prstGeom>
          <a:noFill/>
          <a:ln cap="flat" cmpd="sng" w="19050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84" name="Google Shape;2984;p57"/>
          <p:cNvCxnSpPr/>
          <p:nvPr/>
        </p:nvCxnSpPr>
        <p:spPr>
          <a:xfrm>
            <a:off x="7306789" y="2241684"/>
            <a:ext cx="724222" cy="0"/>
          </a:xfrm>
          <a:prstGeom prst="straightConnector1">
            <a:avLst/>
          </a:prstGeom>
          <a:noFill/>
          <a:ln cap="flat" cmpd="sng" w="19050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2985" name="Google Shape;2985;p57"/>
          <p:cNvGrpSpPr/>
          <p:nvPr/>
        </p:nvGrpSpPr>
        <p:grpSpPr>
          <a:xfrm>
            <a:off x="8097507" y="1946953"/>
            <a:ext cx="869607" cy="580719"/>
            <a:chOff x="7720002" y="2114733"/>
            <a:chExt cx="869607" cy="580719"/>
          </a:xfrm>
        </p:grpSpPr>
        <p:sp>
          <p:nvSpPr>
            <p:cNvPr id="2986" name="Google Shape;2986;p57"/>
            <p:cNvSpPr/>
            <p:nvPr/>
          </p:nvSpPr>
          <p:spPr>
            <a:xfrm>
              <a:off x="7720002" y="2114733"/>
              <a:ext cx="869607" cy="580719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70707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Noto Sans Symbols"/>
                <a:buNone/>
              </a:pPr>
              <a:r>
                <a:t/>
              </a:r>
              <a:endParaRPr b="1" sz="900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987" name="Google Shape;2987;p57"/>
            <p:cNvSpPr/>
            <p:nvPr/>
          </p:nvSpPr>
          <p:spPr>
            <a:xfrm>
              <a:off x="7762876" y="2334497"/>
              <a:ext cx="742184" cy="277876"/>
            </a:xfrm>
            <a:prstGeom prst="can">
              <a:avLst>
                <a:gd fmla="val 4115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2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700"/>
                <a:buFont typeface="Noto Sans Symbols"/>
                <a:buNone/>
              </a:pPr>
              <a:r>
                <a:rPr lang="en-US" sz="7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가필 정보 </a:t>
              </a:r>
              <a:endParaRPr/>
            </a:p>
          </p:txBody>
        </p:sp>
        <p:sp>
          <p:nvSpPr>
            <p:cNvPr id="2988" name="Google Shape;2988;p57"/>
            <p:cNvSpPr txBox="1"/>
            <p:nvPr/>
          </p:nvSpPr>
          <p:spPr>
            <a:xfrm>
              <a:off x="7724561" y="2127999"/>
              <a:ext cx="848270" cy="230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MDS DB</a:t>
              </a:r>
              <a:endParaRPr b="1" sz="9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989" name="Google Shape;2989;p57"/>
          <p:cNvSpPr txBox="1"/>
          <p:nvPr/>
        </p:nvSpPr>
        <p:spPr>
          <a:xfrm>
            <a:off x="4390355" y="1799448"/>
            <a:ext cx="165333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87313" lvl="0" marL="873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1"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Service</a:t>
            </a: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Cache에 Hit 되지</a:t>
            </a:r>
            <a:b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않을 경우 DB </a:t>
            </a: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정보 조회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0" name="Google Shape;2990;p57"/>
          <p:cNvSpPr txBox="1"/>
          <p:nvPr/>
        </p:nvSpPr>
        <p:spPr>
          <a:xfrm>
            <a:off x="4387828" y="2245050"/>
            <a:ext cx="166295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87313" lvl="0" marL="873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1"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조회 결과 정보를 Cache에</a:t>
            </a:r>
            <a:endParaRPr b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저장</a:t>
            </a:r>
            <a:endParaRPr/>
          </a:p>
        </p:txBody>
      </p:sp>
      <p:sp>
        <p:nvSpPr>
          <p:cNvPr id="2991" name="Google Shape;2991;p57"/>
          <p:cNvSpPr/>
          <p:nvPr/>
        </p:nvSpPr>
        <p:spPr>
          <a:xfrm>
            <a:off x="488505" y="2791016"/>
            <a:ext cx="8893622" cy="1378313"/>
          </a:xfrm>
          <a:prstGeom prst="roundRect">
            <a:avLst>
              <a:gd fmla="val 2054" name="adj"/>
            </a:avLst>
          </a:prstGeom>
          <a:noFill/>
          <a:ln cap="flat" cmpd="sng" w="19050">
            <a:solidFill>
              <a:srgbClr val="4D5EFF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92" name="Google Shape;2992;p57"/>
          <p:cNvSpPr txBox="1"/>
          <p:nvPr/>
        </p:nvSpPr>
        <p:spPr>
          <a:xfrm>
            <a:off x="488505" y="2836347"/>
            <a:ext cx="26993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&lt;Service Cache 상세 호출 구조&gt;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3" name="Google Shape;2993;p57"/>
          <p:cNvSpPr/>
          <p:nvPr/>
        </p:nvSpPr>
        <p:spPr>
          <a:xfrm>
            <a:off x="3219511" y="2592848"/>
            <a:ext cx="509353" cy="363805"/>
          </a:xfrm>
          <a:prstGeom prst="down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94" name="Google Shape;2994;p57"/>
          <p:cNvSpPr/>
          <p:nvPr/>
        </p:nvSpPr>
        <p:spPr>
          <a:xfrm>
            <a:off x="1169305" y="3183890"/>
            <a:ext cx="1001977" cy="484295"/>
          </a:xfrm>
          <a:prstGeom prst="roundRect">
            <a:avLst>
              <a:gd fmla="val 8024" name="adj"/>
            </a:avLst>
          </a:prstGeom>
          <a:solidFill>
            <a:schemeClr val="lt1"/>
          </a:solidFill>
          <a:ln cap="flat" cmpd="sng" w="127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SubService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95" name="Google Shape;2995;p57"/>
          <p:cNvGrpSpPr/>
          <p:nvPr/>
        </p:nvGrpSpPr>
        <p:grpSpPr>
          <a:xfrm>
            <a:off x="5923804" y="2985783"/>
            <a:ext cx="1659084" cy="988778"/>
            <a:chOff x="4736976" y="3701644"/>
            <a:chExt cx="1659084" cy="988778"/>
          </a:xfrm>
        </p:grpSpPr>
        <p:sp>
          <p:nvSpPr>
            <p:cNvPr id="2996" name="Google Shape;2996;p57"/>
            <p:cNvSpPr/>
            <p:nvPr/>
          </p:nvSpPr>
          <p:spPr>
            <a:xfrm>
              <a:off x="4736976" y="3701644"/>
              <a:ext cx="1659084" cy="988778"/>
            </a:xfrm>
            <a:prstGeom prst="flowChartDocument">
              <a:avLst/>
            </a:prstGeom>
            <a:solidFill>
              <a:schemeClr val="lt1"/>
            </a:solidFill>
            <a:ln cap="flat" cmpd="sng" w="19050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997" name="Google Shape;2997;p57"/>
            <p:cNvSpPr txBox="1"/>
            <p:nvPr/>
          </p:nvSpPr>
          <p:spPr>
            <a:xfrm>
              <a:off x="4987003" y="3716904"/>
              <a:ext cx="1184941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lang="en-US" sz="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Cache</a:t>
              </a:r>
              <a:r>
                <a:rPr b="1" i="0" lang="en-US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설정 정보</a:t>
              </a:r>
              <a:br>
                <a:rPr b="1" i="0" lang="en-US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i="0" lang="en-US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&lt;</a:t>
              </a:r>
              <a:r>
                <a:rPr b="1" lang="en-US" sz="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CacheConfig.java</a:t>
              </a:r>
              <a:r>
                <a:rPr b="1" i="0" lang="en-US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&gt;</a:t>
              </a:r>
              <a:endParaRPr b="1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8" name="Google Shape;2998;p57"/>
            <p:cNvSpPr txBox="1"/>
            <p:nvPr/>
          </p:nvSpPr>
          <p:spPr>
            <a:xfrm>
              <a:off x="4772979" y="4051361"/>
              <a:ext cx="1548171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177800" lvl="0" marL="17780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Noto Sans Symbols"/>
                <a:buChar char="▪"/>
              </a:pPr>
              <a:r>
                <a:rPr lang="en-US" sz="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Cache 엔트리 갯 수</a:t>
              </a:r>
              <a:endPara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7800" lvl="0" marL="1778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Noto Sans Symbols"/>
                <a:buChar char="▪"/>
              </a:pPr>
              <a:r>
                <a:rPr lang="en-US" sz="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Cache 제거  정책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7800" lvl="0" marL="1778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Noto Sans Symbols"/>
                <a:buChar char="▪"/>
              </a:pPr>
              <a:r>
                <a:rPr b="0" i="0" lang="en-US" sz="9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Cache 갱신 주기</a:t>
              </a:r>
              <a:endParaRPr/>
            </a:p>
          </p:txBody>
        </p:sp>
      </p:grpSp>
      <p:grpSp>
        <p:nvGrpSpPr>
          <p:cNvPr id="2999" name="Google Shape;2999;p57"/>
          <p:cNvGrpSpPr/>
          <p:nvPr/>
        </p:nvGrpSpPr>
        <p:grpSpPr>
          <a:xfrm>
            <a:off x="7663103" y="2985085"/>
            <a:ext cx="1659084" cy="988778"/>
            <a:chOff x="4736976" y="3701644"/>
            <a:chExt cx="1659084" cy="988778"/>
          </a:xfrm>
        </p:grpSpPr>
        <p:sp>
          <p:nvSpPr>
            <p:cNvPr id="3000" name="Google Shape;3000;p57"/>
            <p:cNvSpPr/>
            <p:nvPr/>
          </p:nvSpPr>
          <p:spPr>
            <a:xfrm>
              <a:off x="4736976" y="3701644"/>
              <a:ext cx="1659084" cy="988778"/>
            </a:xfrm>
            <a:prstGeom prst="flowChartDocument">
              <a:avLst/>
            </a:prstGeom>
            <a:solidFill>
              <a:schemeClr val="lt1"/>
            </a:solidFill>
            <a:ln cap="flat" cmpd="sng" w="19050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01" name="Google Shape;3001;p57"/>
            <p:cNvSpPr txBox="1"/>
            <p:nvPr/>
          </p:nvSpPr>
          <p:spPr>
            <a:xfrm>
              <a:off x="5023071" y="3716904"/>
              <a:ext cx="111280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lang="en-US" sz="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Cache</a:t>
              </a:r>
              <a:r>
                <a:rPr b="1" i="0" lang="en-US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lang="en-US" sz="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Type</a:t>
              </a:r>
              <a:r>
                <a:rPr b="1" i="0" lang="en-US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정보</a:t>
              </a:r>
              <a:br>
                <a:rPr b="1" i="0" lang="en-US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i="0" lang="en-US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&lt;</a:t>
              </a:r>
              <a:r>
                <a:rPr b="1" lang="en-US" sz="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CacheType.java</a:t>
              </a:r>
              <a:r>
                <a:rPr b="1" i="0" lang="en-US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&gt;</a:t>
              </a:r>
              <a:endParaRPr b="1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2" name="Google Shape;3002;p57"/>
            <p:cNvSpPr txBox="1"/>
            <p:nvPr/>
          </p:nvSpPr>
          <p:spPr>
            <a:xfrm>
              <a:off x="4772979" y="4051361"/>
              <a:ext cx="1548171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177800" lvl="0" marL="1778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Noto Sans Symbols"/>
                <a:buChar char="▪"/>
              </a:pPr>
              <a:r>
                <a:rPr lang="en-US" sz="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캐시 유형 정보 &lt;ENUM&gt;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7800" lvl="0" marL="1778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Noto Sans Symbols"/>
                <a:buChar char="▪"/>
              </a:pPr>
              <a:r>
                <a:rPr lang="en-US" sz="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이름, 최대 사이즈, 만료시간</a:t>
              </a:r>
              <a:endParaRPr b="0" i="0" sz="9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3003" name="Google Shape;3003;p57"/>
          <p:cNvSpPr/>
          <p:nvPr/>
        </p:nvSpPr>
        <p:spPr>
          <a:xfrm>
            <a:off x="2629375" y="3095494"/>
            <a:ext cx="1728191" cy="642827"/>
          </a:xfrm>
          <a:prstGeom prst="roundRect">
            <a:avLst>
              <a:gd fmla="val 8024" name="adj"/>
            </a:avLst>
          </a:prstGeom>
          <a:solidFill>
            <a:schemeClr val="lt1"/>
          </a:solidFill>
          <a:ln cap="flat" cmpd="sng" w="25400">
            <a:solidFill>
              <a:srgbClr val="2116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@Cacheable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@CachePut</a:t>
            </a:r>
            <a:br>
              <a:rPr b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@CacheEvict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4" name="Google Shape;3004;p57"/>
          <p:cNvSpPr/>
          <p:nvPr/>
        </p:nvSpPr>
        <p:spPr>
          <a:xfrm>
            <a:off x="4829126" y="3200667"/>
            <a:ext cx="1001977" cy="484295"/>
          </a:xfrm>
          <a:prstGeom prst="roundRect">
            <a:avLst>
              <a:gd fmla="val 8024" name="adj"/>
            </a:avLst>
          </a:prstGeom>
          <a:solidFill>
            <a:schemeClr val="lt1"/>
          </a:solidFill>
          <a:ln cap="flat" cmpd="sng" w="127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Hi2 DBIO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05" name="Google Shape;3005;p57"/>
          <p:cNvCxnSpPr/>
          <p:nvPr/>
        </p:nvCxnSpPr>
        <p:spPr>
          <a:xfrm flipH="1" rot="10800000">
            <a:off x="2217458" y="3430928"/>
            <a:ext cx="366176" cy="1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06" name="Google Shape;3006;p57"/>
          <p:cNvCxnSpPr/>
          <p:nvPr/>
        </p:nvCxnSpPr>
        <p:spPr>
          <a:xfrm flipH="1" rot="10800000">
            <a:off x="4418290" y="3436730"/>
            <a:ext cx="366176" cy="1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07" name="Google Shape;3007;p57"/>
          <p:cNvCxnSpPr>
            <a:stCxn id="3003" idx="2"/>
            <a:endCxn id="2996" idx="2"/>
          </p:cNvCxnSpPr>
          <p:nvPr/>
        </p:nvCxnSpPr>
        <p:spPr>
          <a:xfrm flipH="1" rot="-5400000">
            <a:off x="5037871" y="2193921"/>
            <a:ext cx="171000" cy="3259800"/>
          </a:xfrm>
          <a:prstGeom prst="bentConnector3">
            <a:avLst>
              <a:gd fmla="val 188436" name="adj1"/>
            </a:avLst>
          </a:prstGeom>
          <a:noFill/>
          <a:ln cap="flat" cmpd="sng" w="9525">
            <a:solidFill>
              <a:srgbClr val="7F7F7F"/>
            </a:solidFill>
            <a:prstDash val="dash"/>
            <a:round/>
            <a:headEnd len="med" w="med" type="triangle"/>
            <a:tailEnd len="sm" w="sm" type="none"/>
          </a:ln>
        </p:spPr>
      </p:cxnSp>
      <p:cxnSp>
        <p:nvCxnSpPr>
          <p:cNvPr id="3008" name="Google Shape;3008;p57"/>
          <p:cNvCxnSpPr>
            <a:endCxn id="3000" idx="2"/>
          </p:cNvCxnSpPr>
          <p:nvPr/>
        </p:nvCxnSpPr>
        <p:spPr>
          <a:xfrm flipH="1" rot="10800000">
            <a:off x="6766445" y="3908494"/>
            <a:ext cx="1726200" cy="164400"/>
          </a:xfrm>
          <a:prstGeom prst="bentConnector2">
            <a:avLst/>
          </a:prstGeom>
          <a:noFill/>
          <a:ln cap="flat" cmpd="sng" w="9525">
            <a:solidFill>
              <a:srgbClr val="7F7F7F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2" name="Shape 3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3" name="Google Shape;3013;p58"/>
          <p:cNvSpPr txBox="1"/>
          <p:nvPr/>
        </p:nvSpPr>
        <p:spPr>
          <a:xfrm>
            <a:off x="417770" y="714190"/>
            <a:ext cx="8964356" cy="570916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36000">
            <a:spAutoFit/>
          </a:bodyPr>
          <a:lstStyle/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3.4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운영계 배포 방안</a:t>
            </a:r>
            <a:r>
              <a:rPr b="1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/>
          </a:p>
          <a:p>
            <a:pPr indent="0" lvl="4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운영계 배포는 아래 PMS 형상구성 및 배포구조를 통하여 기존 프로세스를 준수하여 배포</a:t>
            </a:r>
            <a:endParaRPr/>
          </a:p>
        </p:txBody>
      </p:sp>
      <p:sp>
        <p:nvSpPr>
          <p:cNvPr id="3014" name="Google Shape;3014;p58"/>
          <p:cNvSpPr/>
          <p:nvPr/>
        </p:nvSpPr>
        <p:spPr>
          <a:xfrm>
            <a:off x="357611" y="1839858"/>
            <a:ext cx="2002220" cy="105485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•SI시스템 구조 정립을 위한 회의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•참여대상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- 프로젝트 수행사</a:t>
            </a:r>
            <a:endParaRPr sz="9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- 현업담당자/BA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- SM본부운영팀장/SM담당자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- 품질관리팀장/QA</a:t>
            </a:r>
            <a:endParaRPr sz="9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15" name="Google Shape;3015;p58"/>
          <p:cNvSpPr/>
          <p:nvPr/>
        </p:nvSpPr>
        <p:spPr>
          <a:xfrm>
            <a:off x="357611" y="1412776"/>
            <a:ext cx="2002220" cy="242131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2F2F2"/>
                </a:solidFill>
                <a:latin typeface="Malgun Gothic"/>
                <a:ea typeface="Malgun Gothic"/>
                <a:cs typeface="Malgun Gothic"/>
                <a:sym typeface="Malgun Gothic"/>
              </a:rPr>
              <a:t>형상구성 가이드</a:t>
            </a:r>
            <a:endParaRPr b="1" sz="1100">
              <a:solidFill>
                <a:srgbClr val="F2F2F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16" name="Google Shape;3016;p58"/>
          <p:cNvSpPr/>
          <p:nvPr/>
        </p:nvSpPr>
        <p:spPr>
          <a:xfrm>
            <a:off x="357611" y="1670516"/>
            <a:ext cx="2002220" cy="1693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현업PM/담당BA</a:t>
            </a:r>
            <a:endParaRPr b="1" sz="9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17" name="Google Shape;3017;p58"/>
          <p:cNvSpPr/>
          <p:nvPr/>
        </p:nvSpPr>
        <p:spPr>
          <a:xfrm>
            <a:off x="2637890" y="1833562"/>
            <a:ext cx="2064586" cy="106115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•PMS &gt; 자원 &gt; 신청서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[시스템형상관리신청서]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[형상서버접근권한신청서]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신규시스템 PMS등록 및 배포구조</a:t>
            </a:r>
            <a:endParaRPr sz="9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생성, 시스템 형상권한 부여</a:t>
            </a:r>
            <a:endParaRPr sz="9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18" name="Google Shape;3018;p58"/>
          <p:cNvSpPr/>
          <p:nvPr/>
        </p:nvSpPr>
        <p:spPr>
          <a:xfrm>
            <a:off x="2632948" y="1413707"/>
            <a:ext cx="2036642" cy="2412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2F2F2"/>
                </a:solidFill>
                <a:latin typeface="Malgun Gothic"/>
                <a:ea typeface="Malgun Gothic"/>
                <a:cs typeface="Malgun Gothic"/>
                <a:sym typeface="Malgun Gothic"/>
              </a:rPr>
              <a:t>형상구성  신청</a:t>
            </a:r>
            <a:endParaRPr/>
          </a:p>
        </p:txBody>
      </p:sp>
      <p:sp>
        <p:nvSpPr>
          <p:cNvPr id="3019" name="Google Shape;3019;p58"/>
          <p:cNvSpPr/>
          <p:nvPr/>
        </p:nvSpPr>
        <p:spPr>
          <a:xfrm>
            <a:off x="2696008" y="1678458"/>
            <a:ext cx="1973808" cy="1556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SM담당자</a:t>
            </a:r>
            <a:endParaRPr/>
          </a:p>
        </p:txBody>
      </p:sp>
      <p:sp>
        <p:nvSpPr>
          <p:cNvPr id="3020" name="Google Shape;3020;p58"/>
          <p:cNvSpPr/>
          <p:nvPr/>
        </p:nvSpPr>
        <p:spPr>
          <a:xfrm>
            <a:off x="4991923" y="1831722"/>
            <a:ext cx="2065818" cy="66746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•신청서 접수 및 신규시스템</a:t>
            </a:r>
            <a:endParaRPr sz="9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등록(QA)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•배포구조 생성 및 PMS 배포구조</a:t>
            </a:r>
            <a:endParaRPr sz="9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등록(형상담당자)</a:t>
            </a:r>
            <a:endParaRPr/>
          </a:p>
        </p:txBody>
      </p:sp>
      <p:sp>
        <p:nvSpPr>
          <p:cNvPr id="3021" name="Google Shape;3021;p58"/>
          <p:cNvSpPr/>
          <p:nvPr/>
        </p:nvSpPr>
        <p:spPr>
          <a:xfrm>
            <a:off x="4988181" y="1672578"/>
            <a:ext cx="2067037" cy="1550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QA/형상담당자</a:t>
            </a:r>
            <a:endParaRPr b="1" sz="9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22" name="Google Shape;3022;p58"/>
          <p:cNvSpPr/>
          <p:nvPr/>
        </p:nvSpPr>
        <p:spPr>
          <a:xfrm>
            <a:off x="4989379" y="3814084"/>
            <a:ext cx="2065818" cy="77414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자원의 확장자 파악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프로그램설명서 대상자원 선별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자원별 프로그램설명서 양식 맵핑</a:t>
            </a:r>
            <a:endParaRPr sz="9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1차 대량자원 등록</a:t>
            </a:r>
            <a:endParaRPr sz="9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자원리스트 QA에게 </a:t>
            </a:r>
            <a:r>
              <a:rPr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전달</a:t>
            </a:r>
            <a:endParaRPr sz="9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23" name="Google Shape;3023;p58"/>
          <p:cNvSpPr/>
          <p:nvPr/>
        </p:nvSpPr>
        <p:spPr>
          <a:xfrm>
            <a:off x="4989379" y="3337835"/>
            <a:ext cx="2065818" cy="2412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2F2F2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대량자원등록 1차</a:t>
            </a:r>
            <a:endParaRPr/>
          </a:p>
        </p:txBody>
      </p:sp>
      <p:sp>
        <p:nvSpPr>
          <p:cNvPr id="3024" name="Google Shape;3024;p58"/>
          <p:cNvSpPr/>
          <p:nvPr/>
        </p:nvSpPr>
        <p:spPr>
          <a:xfrm>
            <a:off x="4989379" y="3652160"/>
            <a:ext cx="2065818" cy="1714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SM담당자</a:t>
            </a:r>
            <a:endParaRPr/>
          </a:p>
        </p:txBody>
      </p:sp>
      <p:sp>
        <p:nvSpPr>
          <p:cNvPr id="3025" name="Google Shape;3025;p58"/>
          <p:cNvSpPr/>
          <p:nvPr/>
        </p:nvSpPr>
        <p:spPr>
          <a:xfrm>
            <a:off x="4985789" y="5198077"/>
            <a:ext cx="2055949" cy="49671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•배포테스트</a:t>
            </a:r>
            <a:endParaRPr sz="9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- SI작업의뢰 생성/자원등록 후</a:t>
            </a:r>
            <a:endParaRPr sz="9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체크인 및 검증계컴파일 수행</a:t>
            </a:r>
            <a:endParaRPr sz="9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26" name="Google Shape;3026;p58"/>
          <p:cNvSpPr/>
          <p:nvPr/>
        </p:nvSpPr>
        <p:spPr>
          <a:xfrm>
            <a:off x="359460" y="5936588"/>
            <a:ext cx="1993552" cy="40405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신규시스템 형상관리 신청을 위한</a:t>
            </a:r>
            <a:endParaRPr sz="9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SI프로젝트 생성</a:t>
            </a:r>
            <a:endParaRPr/>
          </a:p>
        </p:txBody>
      </p:sp>
      <p:sp>
        <p:nvSpPr>
          <p:cNvPr id="3027" name="Google Shape;3027;p58"/>
          <p:cNvSpPr/>
          <p:nvPr/>
        </p:nvSpPr>
        <p:spPr>
          <a:xfrm>
            <a:off x="359460" y="5460338"/>
            <a:ext cx="1993552" cy="2412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2F2F2"/>
                </a:solidFill>
                <a:latin typeface="Malgun Gothic"/>
                <a:ea typeface="Malgun Gothic"/>
                <a:cs typeface="Malgun Gothic"/>
                <a:sym typeface="Malgun Gothic"/>
              </a:rPr>
              <a:t>SI 작업의뢰 생성</a:t>
            </a:r>
            <a:endParaRPr/>
          </a:p>
        </p:txBody>
      </p:sp>
      <p:sp>
        <p:nvSpPr>
          <p:cNvPr id="3028" name="Google Shape;3028;p58"/>
          <p:cNvSpPr/>
          <p:nvPr/>
        </p:nvSpPr>
        <p:spPr>
          <a:xfrm>
            <a:off x="7358733" y="4051806"/>
            <a:ext cx="2137358" cy="8035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이행자원 및 프로그램설명서 등록</a:t>
            </a:r>
            <a:endParaRPr sz="9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및 이행의뢰 요청</a:t>
            </a:r>
            <a:endParaRPr sz="9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- SM팀장/제3자승인담당자</a:t>
            </a:r>
            <a:r>
              <a:rPr lang="en-US" sz="9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/책임자</a:t>
            </a:r>
            <a:endParaRPr sz="9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승인(부서장) 확인 및 승인</a:t>
            </a:r>
            <a:endParaRPr sz="9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29" name="Google Shape;3029;p58"/>
          <p:cNvSpPr/>
          <p:nvPr/>
        </p:nvSpPr>
        <p:spPr>
          <a:xfrm>
            <a:off x="7358733" y="3647505"/>
            <a:ext cx="2137358" cy="2412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2F2F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이행의뢰 요청</a:t>
            </a:r>
            <a:endParaRPr/>
          </a:p>
        </p:txBody>
      </p:sp>
      <p:sp>
        <p:nvSpPr>
          <p:cNvPr id="3030" name="Google Shape;3030;p58"/>
          <p:cNvSpPr/>
          <p:nvPr/>
        </p:nvSpPr>
        <p:spPr>
          <a:xfrm>
            <a:off x="359460" y="5765137"/>
            <a:ext cx="2011788" cy="17145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현업PM/수행PM</a:t>
            </a:r>
            <a:endParaRPr b="1" sz="9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31" name="Google Shape;3031;p58"/>
          <p:cNvSpPr/>
          <p:nvPr/>
        </p:nvSpPr>
        <p:spPr>
          <a:xfrm>
            <a:off x="7358733" y="3899404"/>
            <a:ext cx="2137358" cy="17145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수행사개발자</a:t>
            </a:r>
            <a:endParaRPr/>
          </a:p>
        </p:txBody>
      </p:sp>
      <p:sp>
        <p:nvSpPr>
          <p:cNvPr id="3032" name="Google Shape;3032;p58"/>
          <p:cNvSpPr/>
          <p:nvPr/>
        </p:nvSpPr>
        <p:spPr>
          <a:xfrm>
            <a:off x="5032987" y="2516130"/>
            <a:ext cx="2021434" cy="16192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SM담당자</a:t>
            </a:r>
            <a:endParaRPr/>
          </a:p>
        </p:txBody>
      </p:sp>
      <p:sp>
        <p:nvSpPr>
          <p:cNvPr id="3033" name="Google Shape;3033;p58"/>
          <p:cNvSpPr/>
          <p:nvPr/>
        </p:nvSpPr>
        <p:spPr>
          <a:xfrm>
            <a:off x="4967593" y="5030990"/>
            <a:ext cx="2067037" cy="1550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SM담당자/형상담당자</a:t>
            </a:r>
            <a:endParaRPr b="1" sz="9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34" name="Google Shape;3034;p58"/>
          <p:cNvSpPr/>
          <p:nvPr/>
        </p:nvSpPr>
        <p:spPr>
          <a:xfrm>
            <a:off x="4979342" y="1413707"/>
            <a:ext cx="2084714" cy="2412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2F2F2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배포구조 생성</a:t>
            </a:r>
            <a:endParaRPr/>
          </a:p>
        </p:txBody>
      </p:sp>
      <p:sp>
        <p:nvSpPr>
          <p:cNvPr id="3035" name="Google Shape;3035;p58"/>
          <p:cNvSpPr/>
          <p:nvPr/>
        </p:nvSpPr>
        <p:spPr>
          <a:xfrm>
            <a:off x="5000968" y="2672929"/>
            <a:ext cx="2055949" cy="52750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•배포구조 확인</a:t>
            </a:r>
            <a:endParaRPr sz="9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- 배포구조 변경사항 발생 시 </a:t>
            </a:r>
            <a:endParaRPr sz="9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형상담당자에게 구조 변경 요청</a:t>
            </a:r>
            <a:endParaRPr sz="9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36" name="Google Shape;3036;p58"/>
          <p:cNvSpPr/>
          <p:nvPr/>
        </p:nvSpPr>
        <p:spPr>
          <a:xfrm>
            <a:off x="7367564" y="1844212"/>
            <a:ext cx="2137358" cy="77414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자원의 확장자 파악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프로그램설명서 대상자원 선별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자원별 프로그램설명서 양식 맵핑</a:t>
            </a:r>
            <a:endParaRPr sz="9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2차 대량자원 등록</a:t>
            </a:r>
            <a:endParaRPr sz="9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자원리스트 QA에게 </a:t>
            </a:r>
            <a:r>
              <a:rPr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전달</a:t>
            </a:r>
            <a:endParaRPr sz="9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37" name="Google Shape;3037;p58"/>
          <p:cNvSpPr/>
          <p:nvPr/>
        </p:nvSpPr>
        <p:spPr>
          <a:xfrm>
            <a:off x="7358733" y="1413707"/>
            <a:ext cx="2137358" cy="2412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2F2F2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대량자원등록 2차</a:t>
            </a:r>
            <a:endParaRPr/>
          </a:p>
        </p:txBody>
      </p:sp>
      <p:sp>
        <p:nvSpPr>
          <p:cNvPr id="3038" name="Google Shape;3038;p58"/>
          <p:cNvSpPr/>
          <p:nvPr/>
        </p:nvSpPr>
        <p:spPr>
          <a:xfrm>
            <a:off x="7367564" y="1682288"/>
            <a:ext cx="2137358" cy="1714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SM담당자</a:t>
            </a:r>
            <a:endParaRPr/>
          </a:p>
        </p:txBody>
      </p:sp>
      <p:sp>
        <p:nvSpPr>
          <p:cNvPr id="3039" name="Google Shape;3039;p58"/>
          <p:cNvSpPr/>
          <p:nvPr/>
        </p:nvSpPr>
        <p:spPr>
          <a:xfrm>
            <a:off x="7364702" y="5387115"/>
            <a:ext cx="2137358" cy="98884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이행대상자원에 대한 체크인 및</a:t>
            </a:r>
            <a:endParaRPr sz="9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운영계컴파일 수행 후 이행승인요청</a:t>
            </a:r>
            <a:endParaRPr sz="9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변경관리위원회 승인여부 확인</a:t>
            </a:r>
            <a:endParaRPr sz="9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- 이행일 및 시간</a:t>
            </a:r>
            <a:endParaRPr sz="9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- 안정화기간</a:t>
            </a:r>
            <a:endParaRPr sz="9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40" name="Google Shape;3040;p58"/>
          <p:cNvSpPr/>
          <p:nvPr/>
        </p:nvSpPr>
        <p:spPr>
          <a:xfrm>
            <a:off x="7364702" y="4979089"/>
            <a:ext cx="2137358" cy="2412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2F2F2"/>
                </a:solidFill>
                <a:latin typeface="Malgun Gothic"/>
                <a:ea typeface="Malgun Gothic"/>
                <a:cs typeface="Malgun Gothic"/>
                <a:sym typeface="Malgun Gothic"/>
              </a:rPr>
              <a:t>운영계컴파일 및 이행승인요청</a:t>
            </a:r>
            <a:endParaRPr/>
          </a:p>
        </p:txBody>
      </p:sp>
      <p:sp>
        <p:nvSpPr>
          <p:cNvPr id="3041" name="Google Shape;3041;p58"/>
          <p:cNvSpPr/>
          <p:nvPr/>
        </p:nvSpPr>
        <p:spPr>
          <a:xfrm>
            <a:off x="7374940" y="5215665"/>
            <a:ext cx="2116189" cy="1714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SM담당자</a:t>
            </a:r>
            <a:endParaRPr/>
          </a:p>
        </p:txBody>
      </p:sp>
      <p:cxnSp>
        <p:nvCxnSpPr>
          <p:cNvPr id="3042" name="Google Shape;3042;p58"/>
          <p:cNvCxnSpPr/>
          <p:nvPr/>
        </p:nvCxnSpPr>
        <p:spPr>
          <a:xfrm>
            <a:off x="2468668" y="1363608"/>
            <a:ext cx="0" cy="5012348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solid"/>
            <a:round/>
            <a:headEnd len="med" w="med" type="none"/>
            <a:tailEnd len="sm" w="sm" type="none"/>
          </a:ln>
        </p:spPr>
      </p:cxnSp>
      <p:cxnSp>
        <p:nvCxnSpPr>
          <p:cNvPr id="3043" name="Google Shape;3043;p58"/>
          <p:cNvCxnSpPr/>
          <p:nvPr/>
        </p:nvCxnSpPr>
        <p:spPr>
          <a:xfrm>
            <a:off x="4844932" y="1363439"/>
            <a:ext cx="0" cy="5017889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solid"/>
            <a:round/>
            <a:headEnd len="med" w="med" type="none"/>
            <a:tailEnd len="sm" w="sm" type="none"/>
          </a:ln>
        </p:spPr>
      </p:cxnSp>
      <p:cxnSp>
        <p:nvCxnSpPr>
          <p:cNvPr id="3044" name="Google Shape;3044;p58"/>
          <p:cNvCxnSpPr/>
          <p:nvPr/>
        </p:nvCxnSpPr>
        <p:spPr>
          <a:xfrm>
            <a:off x="7221196" y="1363439"/>
            <a:ext cx="0" cy="5017889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solid"/>
            <a:round/>
            <a:headEnd len="med" w="med" type="none"/>
            <a:tailEnd len="sm" w="sm" type="none"/>
          </a:ln>
        </p:spPr>
      </p:cxnSp>
      <p:sp>
        <p:nvSpPr>
          <p:cNvPr id="3045" name="Google Shape;3045;p58"/>
          <p:cNvSpPr/>
          <p:nvPr/>
        </p:nvSpPr>
        <p:spPr>
          <a:xfrm>
            <a:off x="4986713" y="4740006"/>
            <a:ext cx="2065818" cy="2412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2F2F2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배포 테스트</a:t>
            </a:r>
            <a:endParaRPr/>
          </a:p>
        </p:txBody>
      </p:sp>
      <p:sp>
        <p:nvSpPr>
          <p:cNvPr id="3046" name="Google Shape;3046;p58"/>
          <p:cNvSpPr/>
          <p:nvPr/>
        </p:nvSpPr>
        <p:spPr>
          <a:xfrm>
            <a:off x="7344514" y="3168033"/>
            <a:ext cx="2137358" cy="3589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대량자원 이행을 위한 SI프로젝트</a:t>
            </a:r>
            <a:endParaRPr sz="9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생성 </a:t>
            </a:r>
            <a:r>
              <a:rPr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및 담당자 지정</a:t>
            </a:r>
            <a:endParaRPr sz="9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47" name="Google Shape;3047;p58"/>
          <p:cNvSpPr/>
          <p:nvPr/>
        </p:nvSpPr>
        <p:spPr>
          <a:xfrm>
            <a:off x="7344514" y="2744682"/>
            <a:ext cx="2137358" cy="2412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2F2F2"/>
                </a:solidFill>
                <a:latin typeface="Malgun Gothic"/>
                <a:ea typeface="Malgun Gothic"/>
                <a:cs typeface="Malgun Gothic"/>
                <a:sym typeface="Malgun Gothic"/>
              </a:rPr>
              <a:t>SI 작업의뢰 생성</a:t>
            </a:r>
            <a:endParaRPr/>
          </a:p>
        </p:txBody>
      </p:sp>
      <p:sp>
        <p:nvSpPr>
          <p:cNvPr id="3048" name="Google Shape;3048;p58"/>
          <p:cNvSpPr/>
          <p:nvPr/>
        </p:nvSpPr>
        <p:spPr>
          <a:xfrm>
            <a:off x="7343857" y="2996582"/>
            <a:ext cx="2156909" cy="17145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현업PM/수행PM</a:t>
            </a:r>
            <a:endParaRPr b="1" sz="9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49" name="Google Shape;3049;p58"/>
          <p:cNvSpPr/>
          <p:nvPr/>
        </p:nvSpPr>
        <p:spPr>
          <a:xfrm>
            <a:off x="7077012" y="3355866"/>
            <a:ext cx="310128" cy="483458"/>
          </a:xfrm>
          <a:prstGeom prst="homePlate">
            <a:avLst>
              <a:gd fmla="val 61803" name="adj"/>
            </a:avLst>
          </a:prstGeom>
          <a:solidFill>
            <a:srgbClr val="BFBFBF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50" name="Google Shape;3050;p58"/>
          <p:cNvSpPr/>
          <p:nvPr/>
        </p:nvSpPr>
        <p:spPr>
          <a:xfrm>
            <a:off x="4722859" y="3355866"/>
            <a:ext cx="310128" cy="483458"/>
          </a:xfrm>
          <a:prstGeom prst="homePlate">
            <a:avLst>
              <a:gd fmla="val 61803" name="adj"/>
            </a:avLst>
          </a:prstGeom>
          <a:solidFill>
            <a:srgbClr val="BFBFBF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51" name="Google Shape;3051;p58"/>
          <p:cNvSpPr/>
          <p:nvPr/>
        </p:nvSpPr>
        <p:spPr>
          <a:xfrm>
            <a:off x="2353012" y="3355866"/>
            <a:ext cx="310128" cy="483458"/>
          </a:xfrm>
          <a:prstGeom prst="homePlate">
            <a:avLst>
              <a:gd fmla="val 61803" name="adj"/>
            </a:avLst>
          </a:prstGeom>
          <a:solidFill>
            <a:srgbClr val="BFBFBF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52" name="Google Shape;3052;p58"/>
          <p:cNvSpPr/>
          <p:nvPr/>
        </p:nvSpPr>
        <p:spPr>
          <a:xfrm>
            <a:off x="363897" y="1368772"/>
            <a:ext cx="2002220" cy="242131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2F2F2"/>
                </a:solidFill>
                <a:latin typeface="Malgun Gothic"/>
                <a:ea typeface="Malgun Gothic"/>
                <a:cs typeface="Malgun Gothic"/>
                <a:sym typeface="Malgun Gothic"/>
              </a:rPr>
              <a:t>형상구성 가이드</a:t>
            </a:r>
            <a:endParaRPr/>
          </a:p>
        </p:txBody>
      </p:sp>
      <p:sp>
        <p:nvSpPr>
          <p:cNvPr id="3053" name="Google Shape;3053;p58"/>
          <p:cNvSpPr/>
          <p:nvPr/>
        </p:nvSpPr>
        <p:spPr>
          <a:xfrm>
            <a:off x="2639234" y="1369703"/>
            <a:ext cx="2036642" cy="2412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2F2F2"/>
                </a:solidFill>
                <a:latin typeface="Malgun Gothic"/>
                <a:ea typeface="Malgun Gothic"/>
                <a:cs typeface="Malgun Gothic"/>
                <a:sym typeface="Malgun Gothic"/>
              </a:rPr>
              <a:t>형상구성  신청</a:t>
            </a:r>
            <a:endParaRPr/>
          </a:p>
        </p:txBody>
      </p:sp>
      <p:sp>
        <p:nvSpPr>
          <p:cNvPr id="3054" name="Google Shape;3054;p58"/>
          <p:cNvSpPr/>
          <p:nvPr/>
        </p:nvSpPr>
        <p:spPr>
          <a:xfrm>
            <a:off x="4995665" y="3293831"/>
            <a:ext cx="2065818" cy="2412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2F2F2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대량자원등록 1차</a:t>
            </a:r>
            <a:endParaRPr/>
          </a:p>
        </p:txBody>
      </p:sp>
      <p:sp>
        <p:nvSpPr>
          <p:cNvPr id="3055" name="Google Shape;3055;p58"/>
          <p:cNvSpPr/>
          <p:nvPr/>
        </p:nvSpPr>
        <p:spPr>
          <a:xfrm>
            <a:off x="365746" y="5416334"/>
            <a:ext cx="1993552" cy="2412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2F2F2"/>
                </a:solidFill>
                <a:latin typeface="Malgun Gothic"/>
                <a:ea typeface="Malgun Gothic"/>
                <a:cs typeface="Malgun Gothic"/>
                <a:sym typeface="Malgun Gothic"/>
              </a:rPr>
              <a:t>SI 작업의뢰 생성</a:t>
            </a:r>
            <a:endParaRPr/>
          </a:p>
        </p:txBody>
      </p:sp>
      <p:sp>
        <p:nvSpPr>
          <p:cNvPr id="3056" name="Google Shape;3056;p58"/>
          <p:cNvSpPr/>
          <p:nvPr/>
        </p:nvSpPr>
        <p:spPr>
          <a:xfrm>
            <a:off x="4992999" y="4696002"/>
            <a:ext cx="2065818" cy="2412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2F2F2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배포 테스트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60" name="Shape 3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61" name="Google Shape;3061;p59"/>
          <p:cNvCxnSpPr/>
          <p:nvPr/>
        </p:nvCxnSpPr>
        <p:spPr>
          <a:xfrm>
            <a:off x="1856656" y="629832"/>
            <a:ext cx="8028000" cy="11400"/>
          </a:xfrm>
          <a:prstGeom prst="straightConnector1">
            <a:avLst/>
          </a:prstGeom>
          <a:noFill/>
          <a:ln cap="flat" cmpd="sng" w="4127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62" name="Google Shape;3062;p59"/>
          <p:cNvCxnSpPr/>
          <p:nvPr/>
        </p:nvCxnSpPr>
        <p:spPr>
          <a:xfrm>
            <a:off x="1" y="629832"/>
            <a:ext cx="2648700" cy="0"/>
          </a:xfrm>
          <a:prstGeom prst="straightConnector1">
            <a:avLst/>
          </a:prstGeom>
          <a:noFill/>
          <a:ln cap="flat" cmpd="sng" w="4127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063" name="Google Shape;3063;p59"/>
          <p:cNvGrpSpPr/>
          <p:nvPr/>
        </p:nvGrpSpPr>
        <p:grpSpPr>
          <a:xfrm>
            <a:off x="-1905000" y="-952500"/>
            <a:ext cx="12858750" cy="9525000"/>
            <a:chOff x="-1905000" y="-952500"/>
            <a:chExt cx="12858750" cy="9525000"/>
          </a:xfrm>
        </p:grpSpPr>
        <p:sp>
          <p:nvSpPr>
            <p:cNvPr id="3064" name="Google Shape;3064;p59"/>
            <p:cNvSpPr/>
            <p:nvPr/>
          </p:nvSpPr>
          <p:spPr>
            <a:xfrm>
              <a:off x="6191250" y="-952500"/>
              <a:ext cx="4762500" cy="4762500"/>
            </a:xfrm>
            <a:prstGeom prst="ellipse">
              <a:avLst/>
            </a:prstGeom>
            <a:solidFill>
              <a:srgbClr val="1C2541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5" name="Google Shape;3065;p59"/>
            <p:cNvSpPr/>
            <p:nvPr/>
          </p:nvSpPr>
          <p:spPr>
            <a:xfrm>
              <a:off x="-1905000" y="2857500"/>
              <a:ext cx="5715000" cy="5715000"/>
            </a:xfrm>
            <a:prstGeom prst="ellipse">
              <a:avLst/>
            </a:prstGeom>
            <a:solidFill>
              <a:srgbClr val="1C2541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66" name="Google Shape;3066;p59"/>
          <p:cNvSpPr txBox="1"/>
          <p:nvPr/>
        </p:nvSpPr>
        <p:spPr>
          <a:xfrm>
            <a:off x="762000" y="952500"/>
            <a:ext cx="83820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아키텍처 정의서 고도화 보완안</a:t>
            </a:r>
            <a:endParaRPr b="0" sz="3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기존 58개 장표는 유지하고, 감리 · IDC 협의 · AA 의사결정을 강화하는 보완 슬라이드</a:t>
            </a:r>
            <a:endParaRPr b="0" sz="1400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67" name="Google Shape;3067;p59"/>
          <p:cNvGrpSpPr/>
          <p:nvPr/>
        </p:nvGrpSpPr>
        <p:grpSpPr>
          <a:xfrm>
            <a:off x="762000" y="3048000"/>
            <a:ext cx="8382000" cy="2476500"/>
            <a:chOff x="0" y="0"/>
            <a:chExt cx="8382000" cy="2476500"/>
          </a:xfrm>
        </p:grpSpPr>
        <p:sp>
          <p:nvSpPr>
            <p:cNvPr id="3068" name="Google Shape;3068;p59"/>
            <p:cNvSpPr/>
            <p:nvPr/>
          </p:nvSpPr>
          <p:spPr>
            <a:xfrm>
              <a:off x="0" y="0"/>
              <a:ext cx="8382000" cy="2476500"/>
            </a:xfrm>
            <a:prstGeom prst="roundRect">
              <a:avLst>
                <a:gd fmla="val 6153" name="adj"/>
              </a:avLst>
            </a:prstGeom>
            <a:solidFill>
              <a:srgbClr val="1C2541">
                <a:alpha val="40000"/>
              </a:srgbClr>
            </a:solidFill>
            <a:ln cap="flat" cmpd="sng" w="9525">
              <a:solidFill>
                <a:srgbClr val="3A50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9" name="Google Shape;3069;p59"/>
            <p:cNvSpPr txBox="1"/>
            <p:nvPr/>
          </p:nvSpPr>
          <p:spPr>
            <a:xfrm>
              <a:off x="285750" y="238125"/>
              <a:ext cx="7810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5BC0BE"/>
                  </a:solidFill>
                  <a:latin typeface="Arial"/>
                  <a:ea typeface="Arial"/>
                  <a:cs typeface="Arial"/>
                  <a:sym typeface="Arial"/>
                </a:rPr>
                <a:t>ARCHITECTURE LEVELS</a:t>
              </a:r>
              <a:endParaRPr b="1" sz="1100">
                <a:solidFill>
                  <a:srgbClr val="5BC0B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70" name="Google Shape;3070;p59"/>
            <p:cNvGrpSpPr/>
            <p:nvPr/>
          </p:nvGrpSpPr>
          <p:grpSpPr>
            <a:xfrm>
              <a:off x="285750" y="666750"/>
              <a:ext cx="7810500" cy="1333500"/>
              <a:chOff x="0" y="0"/>
              <a:chExt cx="7810500" cy="1333500"/>
            </a:xfrm>
          </p:grpSpPr>
          <p:grpSp>
            <p:nvGrpSpPr>
              <p:cNvPr id="3071" name="Google Shape;3071;p59"/>
              <p:cNvGrpSpPr/>
              <p:nvPr/>
            </p:nvGrpSpPr>
            <p:grpSpPr>
              <a:xfrm>
                <a:off x="0" y="0"/>
                <a:ext cx="1143000" cy="1333500"/>
                <a:chOff x="0" y="0"/>
                <a:chExt cx="1143000" cy="1333500"/>
              </a:xfrm>
            </p:grpSpPr>
            <p:sp>
              <p:nvSpPr>
                <p:cNvPr id="3072" name="Google Shape;3072;p59"/>
                <p:cNvSpPr/>
                <p:nvPr/>
              </p:nvSpPr>
              <p:spPr>
                <a:xfrm>
                  <a:off x="0" y="0"/>
                  <a:ext cx="1143000" cy="1333500"/>
                </a:xfrm>
                <a:prstGeom prst="roundRect">
                  <a:avLst>
                    <a:gd fmla="val 10000" name="adj"/>
                  </a:avLst>
                </a:prstGeom>
                <a:solidFill>
                  <a:srgbClr val="0B132B"/>
                </a:solidFill>
                <a:ln cap="flat" cmpd="sng" w="14300">
                  <a:solidFill>
                    <a:srgbClr val="5BC0BE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73" name="Google Shape;3073;p59"/>
                <p:cNvSpPr txBox="1"/>
                <p:nvPr/>
              </p:nvSpPr>
              <p:spPr>
                <a:xfrm>
                  <a:off x="0" y="0"/>
                  <a:ext cx="1143000" cy="1333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5250" lIns="95250" spcFirstLastPara="1" rIns="95250" wrap="square" tIns="9525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1600">
                      <a:solidFill>
                        <a:srgbClr val="5BC0B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L0</a:t>
                  </a:r>
                  <a:r>
                    <a:rPr b="1" lang="en-US" sz="110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Concept</a:t>
                  </a:r>
                  <a:endParaRPr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074" name="Google Shape;3074;p59"/>
              <p:cNvSpPr/>
              <p:nvPr/>
            </p:nvSpPr>
            <p:spPr>
              <a:xfrm>
                <a:off x="1190625" y="581025"/>
                <a:ext cx="95400" cy="76200"/>
              </a:xfrm>
              <a:custGeom>
                <a:rect b="b" l="l" r="r" t="t"/>
                <a:pathLst>
                  <a:path extrusionOk="0" h="120000" w="120000">
                    <a:moveTo>
                      <a:pt x="0" y="60000"/>
                    </a:moveTo>
                    <a:lnTo>
                      <a:pt x="120000" y="60000"/>
                    </a:lnTo>
                    <a:moveTo>
                      <a:pt x="72000" y="0"/>
                    </a:moveTo>
                    <a:lnTo>
                      <a:pt x="120000" y="60000"/>
                    </a:lnTo>
                    <a:lnTo>
                      <a:pt x="72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3A506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075" name="Google Shape;3075;p59"/>
              <p:cNvGrpSpPr/>
              <p:nvPr/>
            </p:nvGrpSpPr>
            <p:grpSpPr>
              <a:xfrm>
                <a:off x="1333500" y="0"/>
                <a:ext cx="1143000" cy="1333500"/>
                <a:chOff x="0" y="0"/>
                <a:chExt cx="1143000" cy="1333500"/>
              </a:xfrm>
            </p:grpSpPr>
            <p:sp>
              <p:nvSpPr>
                <p:cNvPr id="3076" name="Google Shape;3076;p59"/>
                <p:cNvSpPr/>
                <p:nvPr/>
              </p:nvSpPr>
              <p:spPr>
                <a:xfrm>
                  <a:off x="0" y="0"/>
                  <a:ext cx="1143000" cy="1333500"/>
                </a:xfrm>
                <a:prstGeom prst="roundRect">
                  <a:avLst>
                    <a:gd fmla="val 10000" name="adj"/>
                  </a:avLst>
                </a:prstGeom>
                <a:solidFill>
                  <a:srgbClr val="0B132B"/>
                </a:solidFill>
                <a:ln cap="flat" cmpd="sng" w="9525">
                  <a:solidFill>
                    <a:srgbClr val="3A506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77" name="Google Shape;3077;p59"/>
                <p:cNvSpPr txBox="1"/>
                <p:nvPr/>
              </p:nvSpPr>
              <p:spPr>
                <a:xfrm>
                  <a:off x="0" y="0"/>
                  <a:ext cx="1143000" cy="1333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5250" lIns="95250" spcFirstLastPara="1" rIns="95250" wrap="square" tIns="9525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1600">
                      <a:solidFill>
                        <a:srgbClr val="94A3B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L1</a:t>
                  </a:r>
                  <a:r>
                    <a:rPr b="1" lang="en-US" sz="110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Context</a:t>
                  </a:r>
                  <a:endParaRPr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078" name="Google Shape;3078;p59"/>
              <p:cNvSpPr/>
              <p:nvPr/>
            </p:nvSpPr>
            <p:spPr>
              <a:xfrm>
                <a:off x="2524125" y="581025"/>
                <a:ext cx="95400" cy="76200"/>
              </a:xfrm>
              <a:custGeom>
                <a:rect b="b" l="l" r="r" t="t"/>
                <a:pathLst>
                  <a:path extrusionOk="0" h="120000" w="120000">
                    <a:moveTo>
                      <a:pt x="0" y="60000"/>
                    </a:moveTo>
                    <a:lnTo>
                      <a:pt x="120000" y="60000"/>
                    </a:lnTo>
                    <a:moveTo>
                      <a:pt x="72000" y="0"/>
                    </a:moveTo>
                    <a:lnTo>
                      <a:pt x="120000" y="60000"/>
                    </a:lnTo>
                    <a:lnTo>
                      <a:pt x="72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3A506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079" name="Google Shape;3079;p59"/>
              <p:cNvGrpSpPr/>
              <p:nvPr/>
            </p:nvGrpSpPr>
            <p:grpSpPr>
              <a:xfrm>
                <a:off x="2667000" y="0"/>
                <a:ext cx="1143000" cy="1333500"/>
                <a:chOff x="0" y="0"/>
                <a:chExt cx="1143000" cy="1333500"/>
              </a:xfrm>
            </p:grpSpPr>
            <p:sp>
              <p:nvSpPr>
                <p:cNvPr id="3080" name="Google Shape;3080;p59"/>
                <p:cNvSpPr/>
                <p:nvPr/>
              </p:nvSpPr>
              <p:spPr>
                <a:xfrm>
                  <a:off x="0" y="0"/>
                  <a:ext cx="1143000" cy="1333500"/>
                </a:xfrm>
                <a:prstGeom prst="roundRect">
                  <a:avLst>
                    <a:gd fmla="val 10000" name="adj"/>
                  </a:avLst>
                </a:prstGeom>
                <a:solidFill>
                  <a:srgbClr val="0B132B"/>
                </a:solidFill>
                <a:ln cap="flat" cmpd="sng" w="9525">
                  <a:solidFill>
                    <a:srgbClr val="3A506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81" name="Google Shape;3081;p59"/>
                <p:cNvSpPr txBox="1"/>
                <p:nvPr/>
              </p:nvSpPr>
              <p:spPr>
                <a:xfrm>
                  <a:off x="0" y="0"/>
                  <a:ext cx="1143000" cy="1333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5250" lIns="95250" spcFirstLastPara="1" rIns="95250" wrap="square" tIns="9525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1600">
                      <a:solidFill>
                        <a:srgbClr val="94A3B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L2</a:t>
                  </a:r>
                  <a:r>
                    <a:rPr b="1" lang="en-US" sz="110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Logical</a:t>
                  </a:r>
                  <a:endParaRPr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082" name="Google Shape;3082;p59"/>
              <p:cNvSpPr/>
              <p:nvPr/>
            </p:nvSpPr>
            <p:spPr>
              <a:xfrm>
                <a:off x="3857625" y="581025"/>
                <a:ext cx="95400" cy="76200"/>
              </a:xfrm>
              <a:custGeom>
                <a:rect b="b" l="l" r="r" t="t"/>
                <a:pathLst>
                  <a:path extrusionOk="0" h="120000" w="120000">
                    <a:moveTo>
                      <a:pt x="0" y="60000"/>
                    </a:moveTo>
                    <a:lnTo>
                      <a:pt x="120000" y="60000"/>
                    </a:lnTo>
                    <a:moveTo>
                      <a:pt x="72000" y="0"/>
                    </a:moveTo>
                    <a:lnTo>
                      <a:pt x="120000" y="60000"/>
                    </a:lnTo>
                    <a:lnTo>
                      <a:pt x="72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3A506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083" name="Google Shape;3083;p59"/>
              <p:cNvGrpSpPr/>
              <p:nvPr/>
            </p:nvGrpSpPr>
            <p:grpSpPr>
              <a:xfrm>
                <a:off x="4000500" y="0"/>
                <a:ext cx="1143000" cy="1333500"/>
                <a:chOff x="0" y="0"/>
                <a:chExt cx="1143000" cy="1333500"/>
              </a:xfrm>
            </p:grpSpPr>
            <p:sp>
              <p:nvSpPr>
                <p:cNvPr id="3084" name="Google Shape;3084;p59"/>
                <p:cNvSpPr/>
                <p:nvPr/>
              </p:nvSpPr>
              <p:spPr>
                <a:xfrm>
                  <a:off x="0" y="0"/>
                  <a:ext cx="1143000" cy="1333500"/>
                </a:xfrm>
                <a:prstGeom prst="roundRect">
                  <a:avLst>
                    <a:gd fmla="val 10000" name="adj"/>
                  </a:avLst>
                </a:prstGeom>
                <a:solidFill>
                  <a:srgbClr val="0B132B"/>
                </a:solidFill>
                <a:ln cap="flat" cmpd="sng" w="9525">
                  <a:solidFill>
                    <a:srgbClr val="3A506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85" name="Google Shape;3085;p59"/>
                <p:cNvSpPr txBox="1"/>
                <p:nvPr/>
              </p:nvSpPr>
              <p:spPr>
                <a:xfrm>
                  <a:off x="0" y="0"/>
                  <a:ext cx="1143000" cy="1333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5250" lIns="95250" spcFirstLastPara="1" rIns="95250" wrap="square" tIns="9525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1600">
                      <a:solidFill>
                        <a:srgbClr val="94A3B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L3</a:t>
                  </a:r>
                  <a:r>
                    <a:rPr b="1" lang="en-US" sz="100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Component</a:t>
                  </a:r>
                  <a:endParaRPr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086" name="Google Shape;3086;p59"/>
              <p:cNvSpPr/>
              <p:nvPr/>
            </p:nvSpPr>
            <p:spPr>
              <a:xfrm>
                <a:off x="5191125" y="581025"/>
                <a:ext cx="95400" cy="76200"/>
              </a:xfrm>
              <a:custGeom>
                <a:rect b="b" l="l" r="r" t="t"/>
                <a:pathLst>
                  <a:path extrusionOk="0" h="120000" w="120000">
                    <a:moveTo>
                      <a:pt x="0" y="60000"/>
                    </a:moveTo>
                    <a:lnTo>
                      <a:pt x="120000" y="60000"/>
                    </a:lnTo>
                    <a:moveTo>
                      <a:pt x="72000" y="0"/>
                    </a:moveTo>
                    <a:lnTo>
                      <a:pt x="120000" y="60000"/>
                    </a:lnTo>
                    <a:lnTo>
                      <a:pt x="72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3A506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087" name="Google Shape;3087;p59"/>
              <p:cNvGrpSpPr/>
              <p:nvPr/>
            </p:nvGrpSpPr>
            <p:grpSpPr>
              <a:xfrm>
                <a:off x="5334000" y="0"/>
                <a:ext cx="1143000" cy="1333500"/>
                <a:chOff x="0" y="0"/>
                <a:chExt cx="1143000" cy="1333500"/>
              </a:xfrm>
            </p:grpSpPr>
            <p:sp>
              <p:nvSpPr>
                <p:cNvPr id="3088" name="Google Shape;3088;p59"/>
                <p:cNvSpPr/>
                <p:nvPr/>
              </p:nvSpPr>
              <p:spPr>
                <a:xfrm>
                  <a:off x="0" y="0"/>
                  <a:ext cx="1143000" cy="1333500"/>
                </a:xfrm>
                <a:prstGeom prst="roundRect">
                  <a:avLst>
                    <a:gd fmla="val 10000" name="adj"/>
                  </a:avLst>
                </a:prstGeom>
                <a:solidFill>
                  <a:srgbClr val="0B132B"/>
                </a:solidFill>
                <a:ln cap="flat" cmpd="sng" w="9525">
                  <a:solidFill>
                    <a:srgbClr val="3A506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89" name="Google Shape;3089;p59"/>
                <p:cNvSpPr txBox="1"/>
                <p:nvPr/>
              </p:nvSpPr>
              <p:spPr>
                <a:xfrm>
                  <a:off x="0" y="0"/>
                  <a:ext cx="1143000" cy="1333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5250" lIns="95250" spcFirstLastPara="1" rIns="95250" wrap="square" tIns="9525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1600">
                      <a:solidFill>
                        <a:srgbClr val="94A3B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L4</a:t>
                  </a:r>
                  <a:r>
                    <a:rPr b="1" lang="en-US" sz="110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Flow</a:t>
                  </a:r>
                  <a:endParaRPr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090" name="Google Shape;3090;p59"/>
              <p:cNvSpPr/>
              <p:nvPr/>
            </p:nvSpPr>
            <p:spPr>
              <a:xfrm>
                <a:off x="6524625" y="581025"/>
                <a:ext cx="95400" cy="76200"/>
              </a:xfrm>
              <a:custGeom>
                <a:rect b="b" l="l" r="r" t="t"/>
                <a:pathLst>
                  <a:path extrusionOk="0" h="120000" w="120000">
                    <a:moveTo>
                      <a:pt x="0" y="60000"/>
                    </a:moveTo>
                    <a:lnTo>
                      <a:pt x="120000" y="60000"/>
                    </a:lnTo>
                    <a:moveTo>
                      <a:pt x="72000" y="0"/>
                    </a:moveTo>
                    <a:lnTo>
                      <a:pt x="120000" y="60000"/>
                    </a:lnTo>
                    <a:lnTo>
                      <a:pt x="72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3A506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091" name="Google Shape;3091;p59"/>
              <p:cNvGrpSpPr/>
              <p:nvPr/>
            </p:nvGrpSpPr>
            <p:grpSpPr>
              <a:xfrm>
                <a:off x="6667500" y="0"/>
                <a:ext cx="1143000" cy="1333500"/>
                <a:chOff x="0" y="0"/>
                <a:chExt cx="1143000" cy="1333500"/>
              </a:xfrm>
            </p:grpSpPr>
            <p:sp>
              <p:nvSpPr>
                <p:cNvPr id="3092" name="Google Shape;3092;p59"/>
                <p:cNvSpPr/>
                <p:nvPr/>
              </p:nvSpPr>
              <p:spPr>
                <a:xfrm>
                  <a:off x="0" y="0"/>
                  <a:ext cx="1143000" cy="1333500"/>
                </a:xfrm>
                <a:prstGeom prst="roundRect">
                  <a:avLst>
                    <a:gd fmla="val 10000" name="adj"/>
                  </a:avLst>
                </a:prstGeom>
                <a:solidFill>
                  <a:srgbClr val="0B132B"/>
                </a:solidFill>
                <a:ln cap="flat" cmpd="sng" w="9525">
                  <a:solidFill>
                    <a:srgbClr val="3A506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93" name="Google Shape;3093;p59"/>
                <p:cNvSpPr txBox="1"/>
                <p:nvPr/>
              </p:nvSpPr>
              <p:spPr>
                <a:xfrm>
                  <a:off x="0" y="0"/>
                  <a:ext cx="1143000" cy="1333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5250" lIns="95250" spcFirstLastPara="1" rIns="95250" wrap="square" tIns="9525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1480">
                      <a:solidFill>
                        <a:srgbClr val="94A3B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L5</a:t>
                  </a:r>
                  <a:r>
                    <a:rPr b="1" lang="en-US" sz="925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Deployment</a:t>
                  </a:r>
                  <a:endParaRPr sz="1295"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7" name="Shape 3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8" name="Google Shape;3098;p60"/>
          <p:cNvSpPr/>
          <p:nvPr/>
        </p:nvSpPr>
        <p:spPr>
          <a:xfrm>
            <a:off x="0" y="0"/>
            <a:ext cx="9906000" cy="502800"/>
          </a:xfrm>
          <a:prstGeom prst="rect">
            <a:avLst/>
          </a:prstGeom>
          <a:solidFill>
            <a:srgbClr val="1A395B"/>
          </a:solidFill>
          <a:ln cap="flat" cmpd="sng" w="9525">
            <a:solidFill>
              <a:srgbClr val="1A39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9" name="Google Shape;3099;p60"/>
          <p:cNvSpPr txBox="1"/>
          <p:nvPr/>
        </p:nvSpPr>
        <p:spPr>
          <a:xfrm>
            <a:off x="320040" y="64008"/>
            <a:ext cx="2926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아키텍처 고도화 보완</a:t>
            </a:r>
            <a:endParaRPr/>
          </a:p>
        </p:txBody>
      </p:sp>
      <p:sp>
        <p:nvSpPr>
          <p:cNvPr id="3100" name="Google Shape;3100;p60"/>
          <p:cNvSpPr txBox="1"/>
          <p:nvPr/>
        </p:nvSpPr>
        <p:spPr>
          <a:xfrm>
            <a:off x="411480" y="658368"/>
            <a:ext cx="10972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1A395B"/>
                </a:solidFill>
                <a:latin typeface="Malgun Gothic"/>
                <a:ea typeface="Malgun Gothic"/>
                <a:cs typeface="Malgun Gothic"/>
                <a:sym typeface="Malgun Gothic"/>
              </a:rPr>
              <a:t>4.1 보완 목적 및 문서 활용 구조</a:t>
            </a:r>
            <a:endParaRPr/>
          </a:p>
        </p:txBody>
      </p:sp>
      <p:sp>
        <p:nvSpPr>
          <p:cNvPr id="3101" name="Google Shape;3101;p60"/>
          <p:cNvSpPr txBox="1"/>
          <p:nvPr/>
        </p:nvSpPr>
        <p:spPr>
          <a:xfrm>
            <a:off x="429768" y="1143000"/>
            <a:ext cx="10972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46E78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상세 장표를 폐기하지 않고, 앞단에 공통 기준·계층·추적성을 추가하여 문서 해석성을 높임</a:t>
            </a:r>
            <a:endParaRPr/>
          </a:p>
        </p:txBody>
      </p:sp>
      <p:sp>
        <p:nvSpPr>
          <p:cNvPr id="3102" name="Google Shape;3102;p60"/>
          <p:cNvSpPr txBox="1"/>
          <p:nvPr/>
        </p:nvSpPr>
        <p:spPr>
          <a:xfrm>
            <a:off x="10698480" y="6446520"/>
            <a:ext cx="1005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646E78"/>
                </a:solidFill>
                <a:latin typeface="Malgun Gothic"/>
                <a:ea typeface="Malgun Gothic"/>
                <a:cs typeface="Malgun Gothic"/>
                <a:sym typeface="Malgun Gothic"/>
              </a:rPr>
              <a:t>AA 보완안</a:t>
            </a:r>
            <a:endParaRPr/>
          </a:p>
        </p:txBody>
      </p:sp>
      <p:grpSp>
        <p:nvGrpSpPr>
          <p:cNvPr id="3103" name="Google Shape;3103;p60"/>
          <p:cNvGrpSpPr/>
          <p:nvPr/>
        </p:nvGrpSpPr>
        <p:grpSpPr>
          <a:xfrm>
            <a:off x="476250" y="1714500"/>
            <a:ext cx="8953500" cy="3238500"/>
            <a:chOff x="476250" y="1714500"/>
            <a:chExt cx="8953500" cy="3238500"/>
          </a:xfrm>
        </p:grpSpPr>
        <p:sp>
          <p:nvSpPr>
            <p:cNvPr id="3104" name="Google Shape;3104;p60"/>
            <p:cNvSpPr/>
            <p:nvPr/>
          </p:nvSpPr>
          <p:spPr>
            <a:xfrm>
              <a:off x="476250" y="1714500"/>
              <a:ext cx="2667000" cy="3238500"/>
            </a:xfrm>
            <a:prstGeom prst="roundRect">
              <a:avLst>
                <a:gd fmla="val 5714" name="adj"/>
              </a:avLst>
            </a:prstGeom>
            <a:solidFill>
              <a:srgbClr val="F4F7FA"/>
            </a:solidFill>
            <a:ln cap="flat" cmpd="sng" w="14300">
              <a:solidFill>
                <a:srgbClr val="E1E4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5" name="Google Shape;3105;p60"/>
            <p:cNvSpPr txBox="1"/>
            <p:nvPr/>
          </p:nvSpPr>
          <p:spPr>
            <a:xfrm>
              <a:off x="476250" y="1714500"/>
              <a:ext cx="2667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5750" lIns="228600" spcFirstLastPara="1" rIns="22860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646E78"/>
                  </a:solidFill>
                  <a:latin typeface="Arial"/>
                  <a:ea typeface="Arial"/>
                  <a:cs typeface="Arial"/>
                  <a:sym typeface="Arial"/>
                </a:rPr>
                <a:t>STRENGTH</a:t>
              </a:r>
              <a:endParaRPr b="1" sz="1100">
                <a:solidFill>
                  <a:srgbClr val="646E7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rPr>
                <a:t>기존 문서 강점</a:t>
              </a:r>
              <a:endParaRPr b="1" sz="18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250">
                  <a:solidFill>
                    <a:srgbClr val="23282D"/>
                  </a:solidFill>
                  <a:latin typeface="Arial"/>
                  <a:ea typeface="Arial"/>
                  <a:cs typeface="Arial"/>
                  <a:sym typeface="Arial"/>
                </a:rPr>
                <a:t>OZ / EDMS / FAX / MCMS / NAS / 배포 등 상세 기술정보와 기존 구성도가 충분히 축적되어 있음</a:t>
              </a:r>
              <a:endParaRPr b="0" sz="1250">
                <a:solidFill>
                  <a:srgbClr val="23282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6" name="Google Shape;3106;p60"/>
            <p:cNvSpPr/>
            <p:nvPr/>
          </p:nvSpPr>
          <p:spPr>
            <a:xfrm>
              <a:off x="3619500" y="1714500"/>
              <a:ext cx="2667000" cy="3238500"/>
            </a:xfrm>
            <a:prstGeom prst="roundRect">
              <a:avLst>
                <a:gd fmla="val 5714" name="adj"/>
              </a:avLst>
            </a:prstGeom>
            <a:solidFill>
              <a:srgbClr val="E0EBF7"/>
            </a:solidFill>
            <a:ln cap="flat" cmpd="sng" w="14300">
              <a:solidFill>
                <a:srgbClr val="B0C8E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7" name="Google Shape;3107;p60"/>
            <p:cNvSpPr txBox="1"/>
            <p:nvPr/>
          </p:nvSpPr>
          <p:spPr>
            <a:xfrm>
              <a:off x="3619500" y="1714500"/>
              <a:ext cx="2667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5750" lIns="228600" spcFirstLastPara="1" rIns="22860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C5B8C"/>
                  </a:solidFill>
                  <a:latin typeface="Arial"/>
                  <a:ea typeface="Arial"/>
                  <a:cs typeface="Arial"/>
                  <a:sym typeface="Arial"/>
                </a:rPr>
                <a:t>PAIN POINT</a:t>
              </a:r>
              <a:endParaRPr b="1" sz="1100">
                <a:solidFill>
                  <a:srgbClr val="2C5B8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rPr>
                <a:t>현재 보완 포인트</a:t>
              </a:r>
              <a:endParaRPr b="1" sz="18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250">
                  <a:solidFill>
                    <a:srgbClr val="23282D"/>
                  </a:solidFill>
                  <a:latin typeface="Arial"/>
                  <a:ea typeface="Arial"/>
                  <a:cs typeface="Arial"/>
                  <a:sym typeface="Arial"/>
                </a:rPr>
                <a:t>시스템 · 컴포넌트 · 처리흐름 · 배포정보가 동일 레벨에서 제시되어 전체 구조를 빠르게 파악하기 어려움</a:t>
              </a:r>
              <a:endParaRPr b="0" sz="1250">
                <a:solidFill>
                  <a:srgbClr val="23282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8" name="Google Shape;3108;p60"/>
            <p:cNvSpPr/>
            <p:nvPr/>
          </p:nvSpPr>
          <p:spPr>
            <a:xfrm>
              <a:off x="6762750" y="1714500"/>
              <a:ext cx="2667000" cy="3238500"/>
            </a:xfrm>
            <a:prstGeom prst="roundRect">
              <a:avLst>
                <a:gd fmla="val 5714" name="adj"/>
              </a:avLst>
            </a:prstGeom>
            <a:solidFill>
              <a:srgbClr val="1A395B"/>
            </a:solidFill>
            <a:ln cap="flat" cmpd="sng" w="14300">
              <a:solidFill>
                <a:srgbClr val="1A395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9" name="Google Shape;3109;p60"/>
            <p:cNvSpPr txBox="1"/>
            <p:nvPr/>
          </p:nvSpPr>
          <p:spPr>
            <a:xfrm>
              <a:off x="6762750" y="1714500"/>
              <a:ext cx="2667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5750" lIns="228600" spcFirstLastPara="1" rIns="22860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90CDF4"/>
                  </a:solidFill>
                  <a:latin typeface="Arial"/>
                  <a:ea typeface="Arial"/>
                  <a:cs typeface="Arial"/>
                  <a:sym typeface="Arial"/>
                </a:rPr>
                <a:t>PRINCIPLE</a:t>
              </a:r>
              <a:endParaRPr b="1" sz="1100">
                <a:solidFill>
                  <a:srgbClr val="90CDF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보완 원칙</a:t>
              </a:r>
              <a:endParaRPr b="1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250">
                  <a:solidFill>
                    <a:srgbClr val="E2E8F0"/>
                  </a:solidFill>
                  <a:latin typeface="Arial"/>
                  <a:ea typeface="Arial"/>
                  <a:cs typeface="Arial"/>
                  <a:sym typeface="Arial"/>
                </a:rPr>
                <a:t>기존 장표 유지</a:t>
              </a:r>
              <a:br>
                <a:rPr b="0" lang="en-US" sz="1250">
                  <a:solidFill>
                    <a:srgbClr val="E2E8F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lang="en-US" sz="1250">
                  <a:solidFill>
                    <a:srgbClr val="E2E8F0"/>
                  </a:solidFill>
                  <a:latin typeface="Arial"/>
                  <a:ea typeface="Arial"/>
                  <a:cs typeface="Arial"/>
                  <a:sym typeface="Arial"/>
                </a:rPr>
                <a:t>+ 공통 Logical Architecture</a:t>
              </a:r>
              <a:br>
                <a:rPr b="0" lang="en-US" sz="1250">
                  <a:solidFill>
                    <a:srgbClr val="E2E8F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lang="en-US" sz="1250">
                  <a:solidFill>
                    <a:srgbClr val="E2E8F0"/>
                  </a:solidFill>
                  <a:latin typeface="Arial"/>
                  <a:ea typeface="Arial"/>
                  <a:cs typeface="Arial"/>
                  <a:sym typeface="Arial"/>
                </a:rPr>
                <a:t>+ 기능별 Flow</a:t>
              </a:r>
              <a:br>
                <a:rPr b="0" lang="en-US" sz="1250">
                  <a:solidFill>
                    <a:srgbClr val="E2E8F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lang="en-US" sz="1250">
                  <a:solidFill>
                    <a:srgbClr val="E2E8F0"/>
                  </a:solidFill>
                  <a:latin typeface="Arial"/>
                  <a:ea typeface="Arial"/>
                  <a:cs typeface="Arial"/>
                  <a:sym typeface="Arial"/>
                </a:rPr>
                <a:t>+ 요구사항 / ADR / 리스크 연결</a:t>
              </a:r>
              <a:endParaRPr b="0" sz="1250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10" name="Google Shape;3110;p60"/>
          <p:cNvGrpSpPr/>
          <p:nvPr/>
        </p:nvGrpSpPr>
        <p:grpSpPr>
          <a:xfrm>
            <a:off x="476250" y="5334000"/>
            <a:ext cx="8953500" cy="666900"/>
            <a:chOff x="476250" y="5334000"/>
            <a:chExt cx="8953500" cy="666900"/>
          </a:xfrm>
        </p:grpSpPr>
        <p:sp>
          <p:nvSpPr>
            <p:cNvPr id="3111" name="Google Shape;3111;p60"/>
            <p:cNvSpPr/>
            <p:nvPr/>
          </p:nvSpPr>
          <p:spPr>
            <a:xfrm>
              <a:off x="476250" y="5334000"/>
              <a:ext cx="8953500" cy="666900"/>
            </a:xfrm>
            <a:prstGeom prst="roundRect">
              <a:avLst>
                <a:gd fmla="val 17142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2" name="Google Shape;3112;p60"/>
            <p:cNvSpPr txBox="1"/>
            <p:nvPr/>
          </p:nvSpPr>
          <p:spPr>
            <a:xfrm>
              <a:off x="476250" y="5334000"/>
              <a:ext cx="8953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228600" spcFirstLastPara="1" rIns="22860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A395B"/>
                  </a:solidFill>
                  <a:highlight>
                    <a:srgbClr val="E0EBF7"/>
                  </a:highlight>
                  <a:latin typeface="Arial"/>
                  <a:ea typeface="Arial"/>
                  <a:cs typeface="Arial"/>
                  <a:sym typeface="Arial"/>
                </a:rPr>
                <a:t>핵심 가치</a:t>
              </a:r>
              <a:r>
                <a:rPr b="1" lang="en-US" sz="14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rPr>
                <a:t>'새로 작성'이 아니라 '기존 상세자료를 상위 구조에서 읽히게 만드는 것'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6" name="Shape 3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7" name="Google Shape;3117;p61"/>
          <p:cNvSpPr/>
          <p:nvPr/>
        </p:nvSpPr>
        <p:spPr>
          <a:xfrm>
            <a:off x="0" y="0"/>
            <a:ext cx="9906000" cy="502800"/>
          </a:xfrm>
          <a:prstGeom prst="rect">
            <a:avLst/>
          </a:prstGeom>
          <a:solidFill>
            <a:srgbClr val="1A395B"/>
          </a:solidFill>
          <a:ln cap="flat" cmpd="sng" w="9525">
            <a:solidFill>
              <a:srgbClr val="1A39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8" name="Google Shape;3118;p61"/>
          <p:cNvSpPr txBox="1"/>
          <p:nvPr/>
        </p:nvSpPr>
        <p:spPr>
          <a:xfrm>
            <a:off x="320040" y="64008"/>
            <a:ext cx="2926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아키텍처 고도화 보완</a:t>
            </a:r>
            <a:endParaRPr/>
          </a:p>
        </p:txBody>
      </p:sp>
      <p:sp>
        <p:nvSpPr>
          <p:cNvPr id="3119" name="Google Shape;3119;p61"/>
          <p:cNvSpPr txBox="1"/>
          <p:nvPr/>
        </p:nvSpPr>
        <p:spPr>
          <a:xfrm>
            <a:off x="411480" y="658368"/>
            <a:ext cx="10972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1A395B"/>
                </a:solidFill>
                <a:latin typeface="Malgun Gothic"/>
                <a:ea typeface="Malgun Gothic"/>
                <a:cs typeface="Malgun Gothic"/>
                <a:sym typeface="Malgun Gothic"/>
              </a:rPr>
              <a:t>4.2 아키텍처 표현 계층 모델</a:t>
            </a:r>
            <a:endParaRPr/>
          </a:p>
        </p:txBody>
      </p:sp>
      <p:sp>
        <p:nvSpPr>
          <p:cNvPr id="3120" name="Google Shape;3120;p61"/>
          <p:cNvSpPr txBox="1"/>
          <p:nvPr/>
        </p:nvSpPr>
        <p:spPr>
          <a:xfrm>
            <a:off x="429768" y="1143000"/>
            <a:ext cx="10972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46E78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장표가 무엇을 설명하는지 레벨을 고정하여 IDC·TA·개발·감리 간 관점 차이를 줄임</a:t>
            </a:r>
            <a:endParaRPr/>
          </a:p>
        </p:txBody>
      </p:sp>
      <p:sp>
        <p:nvSpPr>
          <p:cNvPr id="3121" name="Google Shape;3121;p61"/>
          <p:cNvSpPr txBox="1"/>
          <p:nvPr/>
        </p:nvSpPr>
        <p:spPr>
          <a:xfrm>
            <a:off x="10698480" y="6446520"/>
            <a:ext cx="1005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646E78"/>
                </a:solidFill>
                <a:latin typeface="Malgun Gothic"/>
                <a:ea typeface="Malgun Gothic"/>
                <a:cs typeface="Malgun Gothic"/>
                <a:sym typeface="Malgun Gothic"/>
              </a:rPr>
              <a:t>AA 보완안</a:t>
            </a:r>
            <a:endParaRPr/>
          </a:p>
        </p:txBody>
      </p:sp>
      <p:pic>
        <p:nvPicPr>
          <p:cNvPr id="3122" name="Google Shape;3122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7713" y="1714500"/>
            <a:ext cx="28500" cy="3390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23" name="Google Shape;3123;p61"/>
          <p:cNvGrpSpPr/>
          <p:nvPr/>
        </p:nvGrpSpPr>
        <p:grpSpPr>
          <a:xfrm>
            <a:off x="552450" y="1619250"/>
            <a:ext cx="8877300" cy="590700"/>
            <a:chOff x="552450" y="1619250"/>
            <a:chExt cx="8877300" cy="590700"/>
          </a:xfrm>
        </p:grpSpPr>
        <p:sp>
          <p:nvSpPr>
            <p:cNvPr id="3124" name="Google Shape;3124;p61"/>
            <p:cNvSpPr/>
            <p:nvPr/>
          </p:nvSpPr>
          <p:spPr>
            <a:xfrm>
              <a:off x="552450" y="1704975"/>
              <a:ext cx="419100" cy="419100"/>
            </a:xfrm>
            <a:prstGeom prst="ellipse">
              <a:avLst/>
            </a:prstGeom>
            <a:solidFill>
              <a:srgbClr val="1A395B"/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5" name="Google Shape;3125;p61"/>
            <p:cNvSpPr txBox="1"/>
            <p:nvPr/>
          </p:nvSpPr>
          <p:spPr>
            <a:xfrm>
              <a:off x="552450" y="1704975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L0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6" name="Google Shape;3126;p61"/>
            <p:cNvSpPr/>
            <p:nvPr/>
          </p:nvSpPr>
          <p:spPr>
            <a:xfrm>
              <a:off x="1238250" y="1619250"/>
              <a:ext cx="8191500" cy="590700"/>
            </a:xfrm>
            <a:prstGeom prst="roundRect">
              <a:avLst>
                <a:gd fmla="val 12903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7" name="Google Shape;3127;p61"/>
            <p:cNvSpPr/>
            <p:nvPr/>
          </p:nvSpPr>
          <p:spPr>
            <a:xfrm>
              <a:off x="1238250" y="1619250"/>
              <a:ext cx="47700" cy="590700"/>
            </a:xfrm>
            <a:prstGeom prst="roundRect">
              <a:avLst>
                <a:gd fmla="val 50000" name="adj"/>
              </a:avLst>
            </a:prstGeom>
            <a:solidFill>
              <a:srgbClr val="1A39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8" name="Google Shape;3128;p61"/>
            <p:cNvSpPr txBox="1"/>
            <p:nvPr/>
          </p:nvSpPr>
          <p:spPr>
            <a:xfrm>
              <a:off x="1476375" y="1619250"/>
              <a:ext cx="20955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rPr>
                <a:t>Concept</a:t>
              </a:r>
              <a:endParaRPr b="1" sz="13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29" name="Google Shape;3129;p61"/>
            <p:cNvCxnSpPr/>
            <p:nvPr/>
          </p:nvCxnSpPr>
          <p:spPr>
            <a:xfrm>
              <a:off x="3714750" y="1771650"/>
              <a:ext cx="0" cy="2859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130" name="Google Shape;3130;p61"/>
            <p:cNvSpPr txBox="1"/>
            <p:nvPr/>
          </p:nvSpPr>
          <p:spPr>
            <a:xfrm>
              <a:off x="3952875" y="1619250"/>
              <a:ext cx="53340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차세대 통합발행의 목표·범위</a:t>
              </a:r>
              <a:endParaRPr b="0" sz="12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31" name="Google Shape;3131;p61"/>
          <p:cNvGrpSpPr/>
          <p:nvPr/>
        </p:nvGrpSpPr>
        <p:grpSpPr>
          <a:xfrm>
            <a:off x="552450" y="2324100"/>
            <a:ext cx="8877300" cy="590700"/>
            <a:chOff x="552450" y="2324100"/>
            <a:chExt cx="8877300" cy="590700"/>
          </a:xfrm>
        </p:grpSpPr>
        <p:sp>
          <p:nvSpPr>
            <p:cNvPr id="3132" name="Google Shape;3132;p61"/>
            <p:cNvSpPr/>
            <p:nvPr/>
          </p:nvSpPr>
          <p:spPr>
            <a:xfrm>
              <a:off x="552450" y="2409825"/>
              <a:ext cx="419100" cy="419100"/>
            </a:xfrm>
            <a:prstGeom prst="ellipse">
              <a:avLst/>
            </a:prstGeom>
            <a:solidFill>
              <a:srgbClr val="1A395B"/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3" name="Google Shape;3133;p61"/>
            <p:cNvSpPr txBox="1"/>
            <p:nvPr/>
          </p:nvSpPr>
          <p:spPr>
            <a:xfrm>
              <a:off x="552450" y="2409825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L1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4" name="Google Shape;3134;p61"/>
            <p:cNvSpPr/>
            <p:nvPr/>
          </p:nvSpPr>
          <p:spPr>
            <a:xfrm>
              <a:off x="1238250" y="2324100"/>
              <a:ext cx="8191500" cy="590700"/>
            </a:xfrm>
            <a:prstGeom prst="roundRect">
              <a:avLst>
                <a:gd fmla="val 12903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5" name="Google Shape;3135;p61"/>
            <p:cNvSpPr/>
            <p:nvPr/>
          </p:nvSpPr>
          <p:spPr>
            <a:xfrm>
              <a:off x="1238250" y="2324100"/>
              <a:ext cx="47700" cy="590700"/>
            </a:xfrm>
            <a:prstGeom prst="roundRect">
              <a:avLst>
                <a:gd fmla="val 50000" name="adj"/>
              </a:avLst>
            </a:prstGeom>
            <a:solidFill>
              <a:srgbClr val="1A39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6" name="Google Shape;3136;p61"/>
            <p:cNvSpPr txBox="1"/>
            <p:nvPr/>
          </p:nvSpPr>
          <p:spPr>
            <a:xfrm>
              <a:off x="1476375" y="2324100"/>
              <a:ext cx="20955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rPr>
                <a:t>System Context</a:t>
              </a:r>
              <a:endParaRPr b="1" sz="13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37" name="Google Shape;3137;p61"/>
            <p:cNvCxnSpPr/>
            <p:nvPr/>
          </p:nvCxnSpPr>
          <p:spPr>
            <a:xfrm>
              <a:off x="3714750" y="2476500"/>
              <a:ext cx="0" cy="2859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138" name="Google Shape;3138;p61"/>
            <p:cNvSpPr txBox="1"/>
            <p:nvPr/>
          </p:nvSpPr>
          <p:spPr>
            <a:xfrm>
              <a:off x="3952875" y="2324100"/>
              <a:ext cx="53340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채널/CIS ↔ 통합발행 ↔ 외부시스템</a:t>
              </a:r>
              <a:endParaRPr b="0" sz="12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39" name="Google Shape;3139;p61"/>
          <p:cNvGrpSpPr/>
          <p:nvPr/>
        </p:nvGrpSpPr>
        <p:grpSpPr>
          <a:xfrm>
            <a:off x="552450" y="3028950"/>
            <a:ext cx="8877300" cy="590700"/>
            <a:chOff x="552450" y="3028950"/>
            <a:chExt cx="8877300" cy="590700"/>
          </a:xfrm>
        </p:grpSpPr>
        <p:sp>
          <p:nvSpPr>
            <p:cNvPr id="3140" name="Google Shape;3140;p61"/>
            <p:cNvSpPr/>
            <p:nvPr/>
          </p:nvSpPr>
          <p:spPr>
            <a:xfrm>
              <a:off x="552450" y="3114675"/>
              <a:ext cx="419100" cy="419100"/>
            </a:xfrm>
            <a:prstGeom prst="ellipse">
              <a:avLst/>
            </a:prstGeom>
            <a:solidFill>
              <a:srgbClr val="1A395B"/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1" name="Google Shape;3141;p61"/>
            <p:cNvSpPr txBox="1"/>
            <p:nvPr/>
          </p:nvSpPr>
          <p:spPr>
            <a:xfrm>
              <a:off x="552450" y="3114675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L2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2" name="Google Shape;3142;p61"/>
            <p:cNvSpPr/>
            <p:nvPr/>
          </p:nvSpPr>
          <p:spPr>
            <a:xfrm>
              <a:off x="1238250" y="3028950"/>
              <a:ext cx="8191500" cy="590700"/>
            </a:xfrm>
            <a:prstGeom prst="roundRect">
              <a:avLst>
                <a:gd fmla="val 12903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3" name="Google Shape;3143;p61"/>
            <p:cNvSpPr/>
            <p:nvPr/>
          </p:nvSpPr>
          <p:spPr>
            <a:xfrm>
              <a:off x="1238250" y="3028950"/>
              <a:ext cx="47700" cy="590700"/>
            </a:xfrm>
            <a:prstGeom prst="roundRect">
              <a:avLst>
                <a:gd fmla="val 50000" name="adj"/>
              </a:avLst>
            </a:prstGeom>
            <a:solidFill>
              <a:srgbClr val="1A39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4" name="Google Shape;3144;p61"/>
            <p:cNvSpPr txBox="1"/>
            <p:nvPr/>
          </p:nvSpPr>
          <p:spPr>
            <a:xfrm>
              <a:off x="1476375" y="3028950"/>
              <a:ext cx="20955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rPr>
                <a:t>Logical Architecture</a:t>
              </a:r>
              <a:endParaRPr b="1" sz="13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45" name="Google Shape;3145;p61"/>
            <p:cNvCxnSpPr/>
            <p:nvPr/>
          </p:nvCxnSpPr>
          <p:spPr>
            <a:xfrm>
              <a:off x="3714750" y="3181350"/>
              <a:ext cx="0" cy="2859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146" name="Google Shape;3146;p61"/>
            <p:cNvSpPr txBox="1"/>
            <p:nvPr/>
          </p:nvSpPr>
          <p:spPr>
            <a:xfrm>
              <a:off x="3952875" y="3028950"/>
              <a:ext cx="53340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OZ 중심 논리 구성과 주요 역할</a:t>
              </a:r>
              <a:endParaRPr b="0" sz="12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47" name="Google Shape;3147;p61"/>
          <p:cNvGrpSpPr/>
          <p:nvPr/>
        </p:nvGrpSpPr>
        <p:grpSpPr>
          <a:xfrm>
            <a:off x="552450" y="3733800"/>
            <a:ext cx="8877300" cy="590700"/>
            <a:chOff x="552450" y="3733800"/>
            <a:chExt cx="8877300" cy="590700"/>
          </a:xfrm>
        </p:grpSpPr>
        <p:sp>
          <p:nvSpPr>
            <p:cNvPr id="3148" name="Google Shape;3148;p61"/>
            <p:cNvSpPr/>
            <p:nvPr/>
          </p:nvSpPr>
          <p:spPr>
            <a:xfrm>
              <a:off x="552450" y="3819525"/>
              <a:ext cx="419100" cy="419100"/>
            </a:xfrm>
            <a:prstGeom prst="ellipse">
              <a:avLst/>
            </a:prstGeom>
            <a:solidFill>
              <a:srgbClr val="1A395B"/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9" name="Google Shape;3149;p61"/>
            <p:cNvSpPr txBox="1"/>
            <p:nvPr/>
          </p:nvSpPr>
          <p:spPr>
            <a:xfrm>
              <a:off x="552450" y="3819525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L3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0" name="Google Shape;3150;p61"/>
            <p:cNvSpPr/>
            <p:nvPr/>
          </p:nvSpPr>
          <p:spPr>
            <a:xfrm>
              <a:off x="1238250" y="3733800"/>
              <a:ext cx="8191500" cy="590700"/>
            </a:xfrm>
            <a:prstGeom prst="roundRect">
              <a:avLst>
                <a:gd fmla="val 12903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1" name="Google Shape;3151;p61"/>
            <p:cNvSpPr/>
            <p:nvPr/>
          </p:nvSpPr>
          <p:spPr>
            <a:xfrm>
              <a:off x="1238250" y="3733800"/>
              <a:ext cx="47700" cy="590700"/>
            </a:xfrm>
            <a:prstGeom prst="roundRect">
              <a:avLst>
                <a:gd fmla="val 50000" name="adj"/>
              </a:avLst>
            </a:prstGeom>
            <a:solidFill>
              <a:srgbClr val="1A39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2" name="Google Shape;3152;p61"/>
            <p:cNvSpPr txBox="1"/>
            <p:nvPr/>
          </p:nvSpPr>
          <p:spPr>
            <a:xfrm>
              <a:off x="1476375" y="3733800"/>
              <a:ext cx="20955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rPr>
                <a:t>Component</a:t>
              </a:r>
              <a:endParaRPr b="1" sz="13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53" name="Google Shape;3153;p61"/>
            <p:cNvCxnSpPr/>
            <p:nvPr/>
          </p:nvCxnSpPr>
          <p:spPr>
            <a:xfrm>
              <a:off x="3714750" y="3886200"/>
              <a:ext cx="0" cy="2859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154" name="Google Shape;3154;p61"/>
            <p:cNvSpPr txBox="1"/>
            <p:nvPr/>
          </p:nvSpPr>
          <p:spPr>
            <a:xfrm>
              <a:off x="3952875" y="3733800"/>
              <a:ext cx="53340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Viewer / eForm / Scheduler / Async / 후처리</a:t>
              </a:r>
              <a:endParaRPr b="0" sz="12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55" name="Google Shape;3155;p61"/>
          <p:cNvGrpSpPr/>
          <p:nvPr/>
        </p:nvGrpSpPr>
        <p:grpSpPr>
          <a:xfrm>
            <a:off x="552450" y="4524375"/>
            <a:ext cx="8877300" cy="714525"/>
            <a:chOff x="552450" y="4524375"/>
            <a:chExt cx="8877300" cy="714525"/>
          </a:xfrm>
        </p:grpSpPr>
        <p:sp>
          <p:nvSpPr>
            <p:cNvPr id="3156" name="Google Shape;3156;p61"/>
            <p:cNvSpPr/>
            <p:nvPr/>
          </p:nvSpPr>
          <p:spPr>
            <a:xfrm>
              <a:off x="552450" y="4524375"/>
              <a:ext cx="419100" cy="419100"/>
            </a:xfrm>
            <a:prstGeom prst="ellipse">
              <a:avLst/>
            </a:prstGeom>
            <a:solidFill>
              <a:srgbClr val="1A395B"/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7" name="Google Shape;3157;p61"/>
            <p:cNvSpPr txBox="1"/>
            <p:nvPr/>
          </p:nvSpPr>
          <p:spPr>
            <a:xfrm>
              <a:off x="552450" y="4524375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L4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8" name="Google Shape;3158;p61"/>
            <p:cNvSpPr/>
            <p:nvPr/>
          </p:nvSpPr>
          <p:spPr>
            <a:xfrm>
              <a:off x="1238250" y="4648200"/>
              <a:ext cx="8191500" cy="590700"/>
            </a:xfrm>
            <a:prstGeom prst="roundRect">
              <a:avLst>
                <a:gd fmla="val 12903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9" name="Google Shape;3159;p61"/>
            <p:cNvSpPr/>
            <p:nvPr/>
          </p:nvSpPr>
          <p:spPr>
            <a:xfrm>
              <a:off x="1238250" y="4648200"/>
              <a:ext cx="47700" cy="590700"/>
            </a:xfrm>
            <a:prstGeom prst="roundRect">
              <a:avLst>
                <a:gd fmla="val 50000" name="adj"/>
              </a:avLst>
            </a:prstGeom>
            <a:solidFill>
              <a:srgbClr val="1A39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0" name="Google Shape;3160;p61"/>
            <p:cNvSpPr txBox="1"/>
            <p:nvPr/>
          </p:nvSpPr>
          <p:spPr>
            <a:xfrm>
              <a:off x="1476375" y="4648200"/>
              <a:ext cx="20955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rPr>
                <a:t>Processing Flow</a:t>
              </a:r>
              <a:endParaRPr b="1" sz="13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61" name="Google Shape;3161;p61"/>
            <p:cNvCxnSpPr/>
            <p:nvPr/>
          </p:nvCxnSpPr>
          <p:spPr>
            <a:xfrm>
              <a:off x="3714750" y="4800600"/>
              <a:ext cx="0" cy="2859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162" name="Google Shape;3162;p61"/>
            <p:cNvSpPr txBox="1"/>
            <p:nvPr/>
          </p:nvSpPr>
          <p:spPr>
            <a:xfrm>
              <a:off x="3952875" y="4648200"/>
              <a:ext cx="53340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미리보기·발행·FAX·EDMS·비동기 상세 흐름</a:t>
              </a:r>
              <a:endParaRPr b="0" sz="12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63" name="Google Shape;3163;p61"/>
          <p:cNvGrpSpPr/>
          <p:nvPr/>
        </p:nvGrpSpPr>
        <p:grpSpPr>
          <a:xfrm>
            <a:off x="552450" y="5229225"/>
            <a:ext cx="8877300" cy="714525"/>
            <a:chOff x="552450" y="5229225"/>
            <a:chExt cx="8877300" cy="714525"/>
          </a:xfrm>
        </p:grpSpPr>
        <p:sp>
          <p:nvSpPr>
            <p:cNvPr id="3164" name="Google Shape;3164;p61"/>
            <p:cNvSpPr/>
            <p:nvPr/>
          </p:nvSpPr>
          <p:spPr>
            <a:xfrm>
              <a:off x="552450" y="5229225"/>
              <a:ext cx="419100" cy="419100"/>
            </a:xfrm>
            <a:prstGeom prst="ellipse">
              <a:avLst/>
            </a:prstGeom>
            <a:solidFill>
              <a:srgbClr val="1A395B"/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5" name="Google Shape;3165;p61"/>
            <p:cNvSpPr txBox="1"/>
            <p:nvPr/>
          </p:nvSpPr>
          <p:spPr>
            <a:xfrm>
              <a:off x="552450" y="5229225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L5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6" name="Google Shape;3166;p61"/>
            <p:cNvSpPr/>
            <p:nvPr/>
          </p:nvSpPr>
          <p:spPr>
            <a:xfrm>
              <a:off x="1238250" y="5353050"/>
              <a:ext cx="8191500" cy="590700"/>
            </a:xfrm>
            <a:prstGeom prst="roundRect">
              <a:avLst>
                <a:gd fmla="val 12903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7" name="Google Shape;3167;p61"/>
            <p:cNvSpPr/>
            <p:nvPr/>
          </p:nvSpPr>
          <p:spPr>
            <a:xfrm>
              <a:off x="1238250" y="5353050"/>
              <a:ext cx="47700" cy="590700"/>
            </a:xfrm>
            <a:prstGeom prst="roundRect">
              <a:avLst>
                <a:gd fmla="val 50000" name="adj"/>
              </a:avLst>
            </a:prstGeom>
            <a:solidFill>
              <a:srgbClr val="1A39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8" name="Google Shape;3168;p61"/>
            <p:cNvSpPr txBox="1"/>
            <p:nvPr/>
          </p:nvSpPr>
          <p:spPr>
            <a:xfrm>
              <a:off x="1476375" y="5353050"/>
              <a:ext cx="20955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rPr>
                <a:t>Deployment</a:t>
              </a:r>
              <a:endParaRPr b="1" sz="13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69" name="Google Shape;3169;p61"/>
            <p:cNvCxnSpPr/>
            <p:nvPr/>
          </p:nvCxnSpPr>
          <p:spPr>
            <a:xfrm>
              <a:off x="3714750" y="5505450"/>
              <a:ext cx="0" cy="2859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170" name="Google Shape;3170;p61"/>
            <p:cNvSpPr txBox="1"/>
            <p:nvPr/>
          </p:nvSpPr>
          <p:spPr>
            <a:xfrm>
              <a:off x="3952875" y="5353050"/>
              <a:ext cx="53340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WEB/WAS/L4/VIP/NAS/노드/배포</a:t>
              </a:r>
              <a:endParaRPr b="0" sz="12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71" name="Google Shape;3171;p61"/>
          <p:cNvSpPr txBox="1"/>
          <p:nvPr/>
        </p:nvSpPr>
        <p:spPr>
          <a:xfrm>
            <a:off x="6048375" y="6019800"/>
            <a:ext cx="3383400" cy="14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646E78"/>
                </a:solidFill>
                <a:latin typeface="Arial"/>
                <a:ea typeface="Arial"/>
                <a:cs typeface="Arial"/>
                <a:sym typeface="Arial"/>
              </a:rPr>
              <a:t>※ 기존 상세장표는 L3~L5 자산으로 재사용</a:t>
            </a:r>
            <a:endParaRPr b="1" sz="950">
              <a:solidFill>
                <a:srgbClr val="646E7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5" name="Shape 3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6" name="Google Shape;3176;p62"/>
          <p:cNvSpPr/>
          <p:nvPr/>
        </p:nvSpPr>
        <p:spPr>
          <a:xfrm>
            <a:off x="0" y="0"/>
            <a:ext cx="9906000" cy="502800"/>
          </a:xfrm>
          <a:prstGeom prst="rect">
            <a:avLst/>
          </a:prstGeom>
          <a:solidFill>
            <a:srgbClr val="1A395B"/>
          </a:solidFill>
          <a:ln cap="flat" cmpd="sng" w="9525">
            <a:solidFill>
              <a:srgbClr val="1A39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7" name="Google Shape;3177;p62"/>
          <p:cNvSpPr txBox="1"/>
          <p:nvPr/>
        </p:nvSpPr>
        <p:spPr>
          <a:xfrm>
            <a:off x="320040" y="64008"/>
            <a:ext cx="2926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아키텍처 고도화 보완</a:t>
            </a:r>
            <a:endParaRPr/>
          </a:p>
        </p:txBody>
      </p:sp>
      <p:sp>
        <p:nvSpPr>
          <p:cNvPr id="3178" name="Google Shape;3178;p62"/>
          <p:cNvSpPr txBox="1"/>
          <p:nvPr/>
        </p:nvSpPr>
        <p:spPr>
          <a:xfrm>
            <a:off x="411480" y="658368"/>
            <a:ext cx="10972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1A395B"/>
                </a:solidFill>
                <a:latin typeface="Malgun Gothic"/>
                <a:ea typeface="Malgun Gothic"/>
                <a:cs typeface="Malgun Gothic"/>
                <a:sym typeface="Malgun Gothic"/>
              </a:rPr>
              <a:t>4.3 차세대 통합발행 System Context</a:t>
            </a:r>
            <a:endParaRPr/>
          </a:p>
        </p:txBody>
      </p:sp>
      <p:sp>
        <p:nvSpPr>
          <p:cNvPr id="3179" name="Google Shape;3179;p62"/>
          <p:cNvSpPr txBox="1"/>
          <p:nvPr/>
        </p:nvSpPr>
        <p:spPr>
          <a:xfrm>
            <a:off x="429768" y="1143000"/>
            <a:ext cx="10972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46E78"/>
                </a:solidFill>
                <a:latin typeface="Malgun Gothic"/>
                <a:ea typeface="Malgun Gothic"/>
                <a:cs typeface="Malgun Gothic"/>
                <a:sym typeface="Malgun Gothic"/>
              </a:rPr>
              <a:t>26개 대상 시스템을 개별 상세도로 반복하지 않고 공통 발행영역을 중심으로 관계를 표현</a:t>
            </a:r>
            <a:endParaRPr/>
          </a:p>
        </p:txBody>
      </p:sp>
      <p:sp>
        <p:nvSpPr>
          <p:cNvPr id="3180" name="Google Shape;3180;p62"/>
          <p:cNvSpPr txBox="1"/>
          <p:nvPr/>
        </p:nvSpPr>
        <p:spPr>
          <a:xfrm>
            <a:off x="10698480" y="6446520"/>
            <a:ext cx="1005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646E78"/>
                </a:solidFill>
                <a:latin typeface="Malgun Gothic"/>
                <a:ea typeface="Malgun Gothic"/>
                <a:cs typeface="Malgun Gothic"/>
                <a:sym typeface="Malgun Gothic"/>
              </a:rPr>
              <a:t>AA 보완안</a:t>
            </a:r>
            <a:endParaRPr/>
          </a:p>
        </p:txBody>
      </p:sp>
      <p:grpSp>
        <p:nvGrpSpPr>
          <p:cNvPr id="3181" name="Google Shape;3181;p62"/>
          <p:cNvGrpSpPr/>
          <p:nvPr/>
        </p:nvGrpSpPr>
        <p:grpSpPr>
          <a:xfrm>
            <a:off x="381000" y="1524000"/>
            <a:ext cx="9144150" cy="4133850"/>
            <a:chOff x="381000" y="1524000"/>
            <a:chExt cx="9144150" cy="4133850"/>
          </a:xfrm>
        </p:grpSpPr>
        <p:pic>
          <p:nvPicPr>
            <p:cNvPr id="3182" name="Google Shape;3182;p6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562225" y="2043113"/>
              <a:ext cx="685800" cy="2486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83" name="Google Shape;3183;p6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657975" y="1947863"/>
              <a:ext cx="685800" cy="272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84" name="Google Shape;3184;p62"/>
            <p:cNvSpPr/>
            <p:nvPr/>
          </p:nvSpPr>
          <p:spPr>
            <a:xfrm>
              <a:off x="381000" y="1524000"/>
              <a:ext cx="2190900" cy="1047900"/>
            </a:xfrm>
            <a:prstGeom prst="roundRect">
              <a:avLst>
                <a:gd fmla="val 9090" name="adj"/>
              </a:avLst>
            </a:prstGeom>
            <a:solidFill>
              <a:srgbClr val="F4F7FA"/>
            </a:solidFill>
            <a:ln cap="flat" cmpd="sng" w="9525">
              <a:solidFill>
                <a:srgbClr val="E1E4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5" name="Google Shape;3185;p62"/>
            <p:cNvSpPr txBox="1"/>
            <p:nvPr/>
          </p:nvSpPr>
          <p:spPr>
            <a:xfrm>
              <a:off x="381000" y="1524000"/>
              <a:ext cx="2190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rPr>
                <a:t>내부 채널 / CIS</a:t>
              </a:r>
              <a:endParaRPr b="1" sz="12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하이포탈+ · 보상포탈</a:t>
              </a:r>
              <a:br>
                <a:rPr lang="en-US" sz="95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95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손사포탈 · 영업포탈 · MDS</a:t>
              </a:r>
              <a:endParaRPr sz="95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6" name="Google Shape;3186;p62"/>
            <p:cNvSpPr/>
            <p:nvPr/>
          </p:nvSpPr>
          <p:spPr>
            <a:xfrm>
              <a:off x="381000" y="2762250"/>
              <a:ext cx="2190900" cy="1047900"/>
            </a:xfrm>
            <a:prstGeom prst="roundRect">
              <a:avLst>
                <a:gd fmla="val 9090" name="adj"/>
              </a:avLst>
            </a:prstGeom>
            <a:solidFill>
              <a:srgbClr val="F4F7FA"/>
            </a:solidFill>
            <a:ln cap="flat" cmpd="sng" w="9525">
              <a:solidFill>
                <a:srgbClr val="E1E4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7" name="Google Shape;3187;p62"/>
            <p:cNvSpPr txBox="1"/>
            <p:nvPr/>
          </p:nvSpPr>
          <p:spPr>
            <a:xfrm>
              <a:off x="381000" y="2762250"/>
              <a:ext cx="2190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rPr>
                <a:t>외부 채널</a:t>
              </a:r>
              <a:endParaRPr b="1" sz="12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홈페이지 · 다이렉트</a:t>
              </a:r>
              <a:br>
                <a:rPr lang="en-US" sz="95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95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디지털창구 · B2B 등</a:t>
              </a:r>
              <a:endParaRPr sz="95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8" name="Google Shape;3188;p62"/>
            <p:cNvSpPr/>
            <p:nvPr/>
          </p:nvSpPr>
          <p:spPr>
            <a:xfrm>
              <a:off x="381000" y="4000500"/>
              <a:ext cx="2190900" cy="1047900"/>
            </a:xfrm>
            <a:prstGeom prst="roundRect">
              <a:avLst>
                <a:gd fmla="val 9090" name="adj"/>
              </a:avLst>
            </a:prstGeom>
            <a:solidFill>
              <a:srgbClr val="F4F7FA"/>
            </a:solidFill>
            <a:ln cap="flat" cmpd="sng" w="9525">
              <a:solidFill>
                <a:srgbClr val="E1E4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9" name="Google Shape;3189;p62"/>
            <p:cNvSpPr txBox="1"/>
            <p:nvPr/>
          </p:nvSpPr>
          <p:spPr>
            <a:xfrm>
              <a:off x="381000" y="4000500"/>
              <a:ext cx="2190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rPr>
                <a:t>특수 / 연계 채널</a:t>
              </a:r>
              <a:endParaRPr b="1" sz="12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원격발행 · 대량메일</a:t>
              </a:r>
              <a:br>
                <a:rPr lang="en-US" sz="95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95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콜센터 · 기타 시스템</a:t>
              </a:r>
              <a:endParaRPr sz="95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0" name="Google Shape;3190;p62"/>
            <p:cNvSpPr/>
            <p:nvPr/>
          </p:nvSpPr>
          <p:spPr>
            <a:xfrm>
              <a:off x="3238500" y="1524000"/>
              <a:ext cx="3429000" cy="3714900"/>
            </a:xfrm>
            <a:prstGeom prst="roundRect">
              <a:avLst>
                <a:gd fmla="val 4444" name="adj"/>
              </a:avLst>
            </a:prstGeom>
            <a:solidFill>
              <a:srgbClr val="E0EBF7"/>
            </a:solidFill>
            <a:ln cap="flat" cmpd="sng" w="14300">
              <a:solidFill>
                <a:srgbClr val="2C5B8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1" name="Google Shape;3191;p62"/>
            <p:cNvSpPr txBox="1"/>
            <p:nvPr/>
          </p:nvSpPr>
          <p:spPr>
            <a:xfrm>
              <a:off x="3238500" y="1666875"/>
              <a:ext cx="3429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rPr>
                <a:t>차세대 통합 발행물 영역</a:t>
              </a:r>
              <a:endParaRPr b="1" sz="14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92" name="Google Shape;3192;p62"/>
            <p:cNvGrpSpPr/>
            <p:nvPr/>
          </p:nvGrpSpPr>
          <p:grpSpPr>
            <a:xfrm>
              <a:off x="3429000" y="2095500"/>
              <a:ext cx="3048000" cy="476400"/>
              <a:chOff x="0" y="0"/>
              <a:chExt cx="3048000" cy="476400"/>
            </a:xfrm>
          </p:grpSpPr>
          <p:sp>
            <p:nvSpPr>
              <p:cNvPr id="3193" name="Google Shape;3193;p62"/>
              <p:cNvSpPr/>
              <p:nvPr/>
            </p:nvSpPr>
            <p:spPr>
              <a:xfrm>
                <a:off x="0" y="0"/>
                <a:ext cx="3048000" cy="476400"/>
              </a:xfrm>
              <a:prstGeom prst="roundRect">
                <a:avLst>
                  <a:gd fmla="val 12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4" name="Google Shape;3194;p62"/>
              <p:cNvSpPr txBox="1"/>
              <p:nvPr/>
            </p:nvSpPr>
            <p:spPr>
              <a:xfrm>
                <a:off x="0" y="0"/>
                <a:ext cx="3048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">
                    <a:solidFill>
                      <a:srgbClr val="1A395B"/>
                    </a:solidFill>
                    <a:latin typeface="Arial"/>
                    <a:ea typeface="Arial"/>
                    <a:cs typeface="Arial"/>
                    <a:sym typeface="Arial"/>
                  </a:rPr>
                  <a:t>OZ Viewer / Preview</a:t>
                </a:r>
                <a:endParaRPr b="1" sz="115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95" name="Google Shape;3195;p62"/>
            <p:cNvGrpSpPr/>
            <p:nvPr/>
          </p:nvGrpSpPr>
          <p:grpSpPr>
            <a:xfrm>
              <a:off x="3429000" y="2714625"/>
              <a:ext cx="3048000" cy="476400"/>
              <a:chOff x="0" y="0"/>
              <a:chExt cx="3048000" cy="476400"/>
            </a:xfrm>
          </p:grpSpPr>
          <p:sp>
            <p:nvSpPr>
              <p:cNvPr id="3196" name="Google Shape;3196;p62"/>
              <p:cNvSpPr/>
              <p:nvPr/>
            </p:nvSpPr>
            <p:spPr>
              <a:xfrm>
                <a:off x="0" y="0"/>
                <a:ext cx="3048000" cy="476400"/>
              </a:xfrm>
              <a:prstGeom prst="roundRect">
                <a:avLst>
                  <a:gd fmla="val 12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7" name="Google Shape;3197;p62"/>
              <p:cNvSpPr txBox="1"/>
              <p:nvPr/>
            </p:nvSpPr>
            <p:spPr>
              <a:xfrm>
                <a:off x="0" y="0"/>
                <a:ext cx="3048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">
                    <a:solidFill>
                      <a:srgbClr val="1A395B"/>
                    </a:solidFill>
                    <a:latin typeface="Arial"/>
                    <a:ea typeface="Arial"/>
                    <a:cs typeface="Arial"/>
                    <a:sym typeface="Arial"/>
                  </a:rPr>
                  <a:t>OZ eForm Server</a:t>
                </a:r>
                <a:endParaRPr b="1" sz="115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98" name="Google Shape;3198;p62"/>
            <p:cNvGrpSpPr/>
            <p:nvPr/>
          </p:nvGrpSpPr>
          <p:grpSpPr>
            <a:xfrm>
              <a:off x="3429000" y="3333750"/>
              <a:ext cx="3048000" cy="476400"/>
              <a:chOff x="0" y="0"/>
              <a:chExt cx="3048000" cy="476400"/>
            </a:xfrm>
          </p:grpSpPr>
          <p:sp>
            <p:nvSpPr>
              <p:cNvPr id="3199" name="Google Shape;3199;p62"/>
              <p:cNvSpPr/>
              <p:nvPr/>
            </p:nvSpPr>
            <p:spPr>
              <a:xfrm>
                <a:off x="0" y="0"/>
                <a:ext cx="3048000" cy="476400"/>
              </a:xfrm>
              <a:prstGeom prst="roundRect">
                <a:avLst>
                  <a:gd fmla="val 12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0" name="Google Shape;3200;p62"/>
              <p:cNvSpPr txBox="1"/>
              <p:nvPr/>
            </p:nvSpPr>
            <p:spPr>
              <a:xfrm>
                <a:off x="0" y="0"/>
                <a:ext cx="3048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">
                    <a:solidFill>
                      <a:srgbClr val="1A395B"/>
                    </a:solidFill>
                    <a:latin typeface="Arial"/>
                    <a:ea typeface="Arial"/>
                    <a:cs typeface="Arial"/>
                    <a:sym typeface="Arial"/>
                  </a:rPr>
                  <a:t>OZ Scheduler Pool</a:t>
                </a:r>
                <a:endParaRPr b="1" sz="115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01" name="Google Shape;3201;p62"/>
            <p:cNvGrpSpPr/>
            <p:nvPr/>
          </p:nvGrpSpPr>
          <p:grpSpPr>
            <a:xfrm>
              <a:off x="3429000" y="3952875"/>
              <a:ext cx="3048000" cy="476400"/>
              <a:chOff x="0" y="0"/>
              <a:chExt cx="3048000" cy="476400"/>
            </a:xfrm>
          </p:grpSpPr>
          <p:sp>
            <p:nvSpPr>
              <p:cNvPr id="3202" name="Google Shape;3202;p62"/>
              <p:cNvSpPr/>
              <p:nvPr/>
            </p:nvSpPr>
            <p:spPr>
              <a:xfrm>
                <a:off x="0" y="0"/>
                <a:ext cx="3048000" cy="476400"/>
              </a:xfrm>
              <a:prstGeom prst="roundRect">
                <a:avLst>
                  <a:gd fmla="val 12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3" name="Google Shape;3203;p62"/>
              <p:cNvSpPr txBox="1"/>
              <p:nvPr/>
            </p:nvSpPr>
            <p:spPr>
              <a:xfrm>
                <a:off x="0" y="0"/>
                <a:ext cx="3048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">
                    <a:solidFill>
                      <a:srgbClr val="1A395B"/>
                    </a:solidFill>
                    <a:latin typeface="Arial"/>
                    <a:ea typeface="Arial"/>
                    <a:cs typeface="Arial"/>
                    <a:sym typeface="Arial"/>
                  </a:rPr>
                  <a:t>Async / Post Processing</a:t>
                </a:r>
                <a:endParaRPr b="1" sz="115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04" name="Google Shape;3204;p62"/>
            <p:cNvSpPr/>
            <p:nvPr/>
          </p:nvSpPr>
          <p:spPr>
            <a:xfrm>
              <a:off x="7334250" y="1524000"/>
              <a:ext cx="2190900" cy="762000"/>
            </a:xfrm>
            <a:prstGeom prst="roundRect">
              <a:avLst>
                <a:gd fmla="val 12500" name="adj"/>
              </a:avLst>
            </a:prstGeom>
            <a:solidFill>
              <a:srgbClr val="F4F7FA"/>
            </a:solidFill>
            <a:ln cap="flat" cmpd="sng" w="9525">
              <a:solidFill>
                <a:srgbClr val="E1E4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5" name="Google Shape;3205;p62"/>
            <p:cNvSpPr txBox="1"/>
            <p:nvPr/>
          </p:nvSpPr>
          <p:spPr>
            <a:xfrm>
              <a:off x="7334250" y="1524000"/>
              <a:ext cx="2190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rPr>
                <a:t>FAX</a:t>
              </a:r>
              <a:endParaRPr b="1" sz="12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발송 요청 / 결과</a:t>
              </a:r>
              <a:endParaRPr sz="95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6" name="Google Shape;3206;p62"/>
            <p:cNvSpPr/>
            <p:nvPr/>
          </p:nvSpPr>
          <p:spPr>
            <a:xfrm>
              <a:off x="7334250" y="2428875"/>
              <a:ext cx="2190900" cy="762000"/>
            </a:xfrm>
            <a:prstGeom prst="roundRect">
              <a:avLst>
                <a:gd fmla="val 12500" name="adj"/>
              </a:avLst>
            </a:prstGeom>
            <a:solidFill>
              <a:srgbClr val="F4F7FA"/>
            </a:solidFill>
            <a:ln cap="flat" cmpd="sng" w="9525">
              <a:solidFill>
                <a:srgbClr val="E1E4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7" name="Google Shape;3207;p62"/>
            <p:cNvSpPr txBox="1"/>
            <p:nvPr/>
          </p:nvSpPr>
          <p:spPr>
            <a:xfrm>
              <a:off x="7334250" y="2428875"/>
              <a:ext cx="2190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rPr>
                <a:t>EDMS</a:t>
              </a:r>
              <a:endParaRPr b="1" sz="12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문서·이미지 등록/조회</a:t>
              </a:r>
              <a:endParaRPr sz="95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8" name="Google Shape;3208;p62"/>
            <p:cNvSpPr/>
            <p:nvPr/>
          </p:nvSpPr>
          <p:spPr>
            <a:xfrm>
              <a:off x="7334250" y="3333750"/>
              <a:ext cx="2190900" cy="762000"/>
            </a:xfrm>
            <a:prstGeom prst="roundRect">
              <a:avLst>
                <a:gd fmla="val 12500" name="adj"/>
              </a:avLst>
            </a:prstGeom>
            <a:solidFill>
              <a:srgbClr val="F4F7FA"/>
            </a:solidFill>
            <a:ln cap="flat" cmpd="sng" w="9525">
              <a:solidFill>
                <a:srgbClr val="E1E4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9" name="Google Shape;3209;p62"/>
            <p:cNvSpPr txBox="1"/>
            <p:nvPr/>
          </p:nvSpPr>
          <p:spPr>
            <a:xfrm>
              <a:off x="7334250" y="3333750"/>
              <a:ext cx="2190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rPr>
                <a:t>Image / MCMS</a:t>
              </a:r>
              <a:endParaRPr b="1" sz="12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이미지 변환 · 동영상</a:t>
              </a:r>
              <a:endParaRPr sz="95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0" name="Google Shape;3210;p62"/>
            <p:cNvSpPr/>
            <p:nvPr/>
          </p:nvSpPr>
          <p:spPr>
            <a:xfrm>
              <a:off x="7334250" y="4238625"/>
              <a:ext cx="2190900" cy="762000"/>
            </a:xfrm>
            <a:prstGeom prst="roundRect">
              <a:avLst>
                <a:gd fmla="val 12500" name="adj"/>
              </a:avLst>
            </a:prstGeom>
            <a:solidFill>
              <a:srgbClr val="F4F7FA"/>
            </a:solidFill>
            <a:ln cap="flat" cmpd="sng" w="9525">
              <a:solidFill>
                <a:srgbClr val="E1E4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1" name="Google Shape;3211;p62"/>
            <p:cNvSpPr txBox="1"/>
            <p:nvPr/>
          </p:nvSpPr>
          <p:spPr>
            <a:xfrm>
              <a:off x="7334250" y="4238625"/>
              <a:ext cx="2190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rPr>
                <a:t>Remote / EMS</a:t>
              </a:r>
              <a:endParaRPr b="1" sz="12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원격발행 · 대량메일</a:t>
              </a:r>
              <a:endParaRPr sz="95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12" name="Google Shape;3212;p62"/>
            <p:cNvGrpSpPr/>
            <p:nvPr/>
          </p:nvGrpSpPr>
          <p:grpSpPr>
            <a:xfrm>
              <a:off x="3238500" y="5381625"/>
              <a:ext cx="762000" cy="247800"/>
              <a:chOff x="0" y="0"/>
              <a:chExt cx="762000" cy="247800"/>
            </a:xfrm>
          </p:grpSpPr>
          <p:sp>
            <p:nvSpPr>
              <p:cNvPr id="3213" name="Google Shape;3213;p62"/>
              <p:cNvSpPr/>
              <p:nvPr/>
            </p:nvSpPr>
            <p:spPr>
              <a:xfrm>
                <a:off x="0" y="0"/>
                <a:ext cx="762000" cy="247800"/>
              </a:xfrm>
              <a:prstGeom prst="roundRect">
                <a:avLst>
                  <a:gd fmla="val 15384" name="adj"/>
                </a:avLst>
              </a:prstGeom>
              <a:solidFill>
                <a:srgbClr val="E0EBF7"/>
              </a:solidFill>
              <a:ln cap="flat" cmpd="sng" w="9525">
                <a:solidFill>
                  <a:srgbClr val="B0C8E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4" name="Google Shape;3214;p62"/>
              <p:cNvSpPr txBox="1"/>
              <p:nvPr/>
            </p:nvSpPr>
            <p:spPr>
              <a:xfrm>
                <a:off x="0" y="0"/>
                <a:ext cx="7620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850">
                    <a:solidFill>
                      <a:srgbClr val="1A395B"/>
                    </a:solidFill>
                    <a:latin typeface="Arial"/>
                    <a:ea typeface="Arial"/>
                    <a:cs typeface="Arial"/>
                    <a:sym typeface="Arial"/>
                  </a:rPr>
                  <a:t>COMMON</a:t>
                </a:r>
                <a:endParaRPr b="1" sz="85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15" name="Google Shape;3215;p62"/>
            <p:cNvSpPr txBox="1"/>
            <p:nvPr/>
          </p:nvSpPr>
          <p:spPr>
            <a:xfrm>
              <a:off x="4143375" y="5353050"/>
              <a:ext cx="53817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646E78"/>
                  </a:solidFill>
                  <a:latin typeface="Arial"/>
                  <a:ea typeface="Arial"/>
                  <a:cs typeface="Arial"/>
                  <a:sym typeface="Arial"/>
                </a:rPr>
                <a:t>보상포탈/MCMS 등 차이가 큰 시스템만 별도 상세 장표로 분리</a:t>
              </a:r>
              <a:endParaRPr sz="1000">
                <a:solidFill>
                  <a:srgbClr val="646E7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19" name="Shape 3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0" name="Google Shape;3220;p63"/>
          <p:cNvSpPr/>
          <p:nvPr/>
        </p:nvSpPr>
        <p:spPr>
          <a:xfrm>
            <a:off x="0" y="0"/>
            <a:ext cx="9906000" cy="502800"/>
          </a:xfrm>
          <a:prstGeom prst="rect">
            <a:avLst/>
          </a:prstGeom>
          <a:solidFill>
            <a:srgbClr val="1A395B"/>
          </a:solidFill>
          <a:ln cap="flat" cmpd="sng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1" name="Google Shape;3221;p63"/>
          <p:cNvSpPr txBox="1"/>
          <p:nvPr/>
        </p:nvSpPr>
        <p:spPr>
          <a:xfrm>
            <a:off x="381000" y="95250"/>
            <a:ext cx="38100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 아키텍처 고도화 보완</a:t>
            </a:r>
            <a:endParaRPr b="1"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2" name="Google Shape;3222;p63"/>
          <p:cNvSpPr txBox="1"/>
          <p:nvPr/>
        </p:nvSpPr>
        <p:spPr>
          <a:xfrm>
            <a:off x="381000" y="619125"/>
            <a:ext cx="9144000" cy="33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rPr>
              <a:t>4.4 공통 아키텍처와 시스템별 예외 분리</a:t>
            </a:r>
            <a:endParaRPr b="1" sz="2200">
              <a:solidFill>
                <a:srgbClr val="1A39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3" name="Google Shape;3223;p63"/>
          <p:cNvSpPr txBox="1"/>
          <p:nvPr/>
        </p:nvSpPr>
        <p:spPr>
          <a:xfrm>
            <a:off x="381000" y="1047750"/>
            <a:ext cx="91440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646E78"/>
                </a:solidFill>
                <a:latin typeface="Arial"/>
                <a:ea typeface="Arial"/>
                <a:cs typeface="Arial"/>
                <a:sym typeface="Arial"/>
              </a:rPr>
              <a:t>공통 구조는 1회 정의하고, 대상 시스템별 차이는 Capability Matrix로 관리</a:t>
            </a:r>
            <a:endParaRPr b="0" sz="1100">
              <a:solidFill>
                <a:srgbClr val="646E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4" name="Google Shape;3224;p63"/>
          <p:cNvSpPr/>
          <p:nvPr/>
        </p:nvSpPr>
        <p:spPr>
          <a:xfrm>
            <a:off x="381000" y="1428750"/>
            <a:ext cx="1381200" cy="952500"/>
          </a:xfrm>
          <a:prstGeom prst="roundRect">
            <a:avLst>
              <a:gd fmla="val 10000" name="adj"/>
            </a:avLst>
          </a:prstGeom>
          <a:solidFill>
            <a:srgbClr val="F0F6FC"/>
          </a:solidFill>
          <a:ln cap="flat" cmpd="sng" w="9525">
            <a:solidFill>
              <a:srgbClr val="D1E2F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5" name="Google Shape;3225;p63"/>
          <p:cNvSpPr txBox="1"/>
          <p:nvPr/>
        </p:nvSpPr>
        <p:spPr>
          <a:xfrm>
            <a:off x="381000" y="1476375"/>
            <a:ext cx="1381200" cy="13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B5B8C"/>
                </a:solidFill>
                <a:latin typeface="Arial"/>
                <a:ea typeface="Arial"/>
                <a:cs typeface="Arial"/>
                <a:sym typeface="Arial"/>
              </a:rPr>
              <a:t>Type A</a:t>
            </a:r>
            <a:endParaRPr b="1" sz="900">
              <a:solidFill>
                <a:srgbClr val="2B5B8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6" name="Google Shape;3226;p63"/>
          <p:cNvSpPr txBox="1"/>
          <p:nvPr/>
        </p:nvSpPr>
        <p:spPr>
          <a:xfrm>
            <a:off x="381000" y="1666875"/>
            <a:ext cx="13812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rPr>
              <a:t>Standard OZ</a:t>
            </a:r>
            <a:endParaRPr b="1" sz="1200">
              <a:solidFill>
                <a:srgbClr val="1A39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7" name="Google Shape;3227;p63"/>
          <p:cNvSpPr txBox="1"/>
          <p:nvPr/>
        </p:nvSpPr>
        <p:spPr>
          <a:xfrm>
            <a:off x="381000" y="1952625"/>
            <a:ext cx="1381200" cy="1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Viewer / 일반 발행</a:t>
            </a:r>
            <a:endParaRPr b="0" sz="850">
              <a:solidFill>
                <a:srgbClr val="4A55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8" name="Google Shape;3228;p63"/>
          <p:cNvSpPr/>
          <p:nvPr/>
        </p:nvSpPr>
        <p:spPr>
          <a:xfrm>
            <a:off x="1933575" y="1428750"/>
            <a:ext cx="1381200" cy="952500"/>
          </a:xfrm>
          <a:prstGeom prst="roundRect">
            <a:avLst>
              <a:gd fmla="val 10000" name="adj"/>
            </a:avLst>
          </a:prstGeom>
          <a:solidFill>
            <a:srgbClr val="F0F6FC"/>
          </a:solidFill>
          <a:ln cap="flat" cmpd="sng" w="9525">
            <a:solidFill>
              <a:srgbClr val="D1E2F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9" name="Google Shape;3229;p63"/>
          <p:cNvSpPr txBox="1"/>
          <p:nvPr/>
        </p:nvSpPr>
        <p:spPr>
          <a:xfrm>
            <a:off x="1933575" y="1476375"/>
            <a:ext cx="1381200" cy="13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B5B8C"/>
                </a:solidFill>
                <a:latin typeface="Arial"/>
                <a:ea typeface="Arial"/>
                <a:cs typeface="Arial"/>
                <a:sym typeface="Arial"/>
              </a:rPr>
              <a:t>Type B</a:t>
            </a:r>
            <a:endParaRPr b="1" sz="900">
              <a:solidFill>
                <a:srgbClr val="2B5B8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0" name="Google Shape;3230;p63"/>
          <p:cNvSpPr txBox="1"/>
          <p:nvPr/>
        </p:nvSpPr>
        <p:spPr>
          <a:xfrm>
            <a:off x="1933575" y="1666875"/>
            <a:ext cx="13812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rPr>
              <a:t>Async</a:t>
            </a:r>
            <a:endParaRPr b="1" sz="1200">
              <a:solidFill>
                <a:srgbClr val="1A39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1" name="Google Shape;3231;p63"/>
          <p:cNvSpPr txBox="1"/>
          <p:nvPr/>
        </p:nvSpPr>
        <p:spPr>
          <a:xfrm>
            <a:off x="1933575" y="1952625"/>
            <a:ext cx="1381200" cy="1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비동기 발행</a:t>
            </a:r>
            <a:endParaRPr b="0" sz="850">
              <a:solidFill>
                <a:srgbClr val="4A55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2" name="Google Shape;3232;p63"/>
          <p:cNvSpPr/>
          <p:nvPr/>
        </p:nvSpPr>
        <p:spPr>
          <a:xfrm>
            <a:off x="3486150" y="1428750"/>
            <a:ext cx="1381200" cy="952500"/>
          </a:xfrm>
          <a:prstGeom prst="roundRect">
            <a:avLst>
              <a:gd fmla="val 10000" name="adj"/>
            </a:avLst>
          </a:prstGeom>
          <a:solidFill>
            <a:srgbClr val="F0F6FC"/>
          </a:solidFill>
          <a:ln cap="flat" cmpd="sng" w="9525">
            <a:solidFill>
              <a:srgbClr val="D1E2F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3" name="Google Shape;3233;p63"/>
          <p:cNvSpPr txBox="1"/>
          <p:nvPr/>
        </p:nvSpPr>
        <p:spPr>
          <a:xfrm>
            <a:off x="3486150" y="1476375"/>
            <a:ext cx="1381200" cy="13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B5B8C"/>
                </a:solidFill>
                <a:latin typeface="Arial"/>
                <a:ea typeface="Arial"/>
                <a:cs typeface="Arial"/>
                <a:sym typeface="Arial"/>
              </a:rPr>
              <a:t>Type C</a:t>
            </a:r>
            <a:endParaRPr b="1" sz="900">
              <a:solidFill>
                <a:srgbClr val="2B5B8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4" name="Google Shape;3234;p63"/>
          <p:cNvSpPr txBox="1"/>
          <p:nvPr/>
        </p:nvSpPr>
        <p:spPr>
          <a:xfrm>
            <a:off x="3486150" y="1666875"/>
            <a:ext cx="13812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rPr>
              <a:t>FAX</a:t>
            </a:r>
            <a:endParaRPr b="1" sz="1200">
              <a:solidFill>
                <a:srgbClr val="1A39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5" name="Google Shape;3235;p63"/>
          <p:cNvSpPr txBox="1"/>
          <p:nvPr/>
        </p:nvSpPr>
        <p:spPr>
          <a:xfrm>
            <a:off x="3486150" y="1952625"/>
            <a:ext cx="1381200" cy="1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FAX 후처리</a:t>
            </a:r>
            <a:endParaRPr b="0" sz="850">
              <a:solidFill>
                <a:srgbClr val="4A55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6" name="Google Shape;3236;p63"/>
          <p:cNvSpPr/>
          <p:nvPr/>
        </p:nvSpPr>
        <p:spPr>
          <a:xfrm>
            <a:off x="5038725" y="1428750"/>
            <a:ext cx="1381200" cy="952500"/>
          </a:xfrm>
          <a:prstGeom prst="roundRect">
            <a:avLst>
              <a:gd fmla="val 10000" name="adj"/>
            </a:avLst>
          </a:prstGeom>
          <a:solidFill>
            <a:srgbClr val="F0F6FC"/>
          </a:solidFill>
          <a:ln cap="flat" cmpd="sng" w="9525">
            <a:solidFill>
              <a:srgbClr val="D1E2F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7" name="Google Shape;3237;p63"/>
          <p:cNvSpPr txBox="1"/>
          <p:nvPr/>
        </p:nvSpPr>
        <p:spPr>
          <a:xfrm>
            <a:off x="5038725" y="1476375"/>
            <a:ext cx="1381200" cy="13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B5B8C"/>
                </a:solidFill>
                <a:latin typeface="Arial"/>
                <a:ea typeface="Arial"/>
                <a:cs typeface="Arial"/>
                <a:sym typeface="Arial"/>
              </a:rPr>
              <a:t>Type D</a:t>
            </a:r>
            <a:endParaRPr b="1" sz="900">
              <a:solidFill>
                <a:srgbClr val="2B5B8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8" name="Google Shape;3238;p63"/>
          <p:cNvSpPr txBox="1"/>
          <p:nvPr/>
        </p:nvSpPr>
        <p:spPr>
          <a:xfrm>
            <a:off x="5038725" y="1666875"/>
            <a:ext cx="13812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rPr>
              <a:t>Image / EDMS</a:t>
            </a:r>
            <a:endParaRPr b="1" sz="1200">
              <a:solidFill>
                <a:srgbClr val="1A39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9" name="Google Shape;3239;p63"/>
          <p:cNvSpPr txBox="1"/>
          <p:nvPr/>
        </p:nvSpPr>
        <p:spPr>
          <a:xfrm>
            <a:off x="5038725" y="1952625"/>
            <a:ext cx="1381200" cy="1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이미지 변환·EDMS</a:t>
            </a:r>
            <a:endParaRPr b="0" sz="850">
              <a:solidFill>
                <a:srgbClr val="4A55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0" name="Google Shape;3240;p63"/>
          <p:cNvSpPr/>
          <p:nvPr/>
        </p:nvSpPr>
        <p:spPr>
          <a:xfrm>
            <a:off x="6591300" y="1428750"/>
            <a:ext cx="1381200" cy="952500"/>
          </a:xfrm>
          <a:prstGeom prst="roundRect">
            <a:avLst>
              <a:gd fmla="val 10000" name="adj"/>
            </a:avLst>
          </a:prstGeom>
          <a:solidFill>
            <a:srgbClr val="F0F6FC"/>
          </a:solidFill>
          <a:ln cap="flat" cmpd="sng" w="9525">
            <a:solidFill>
              <a:srgbClr val="D1E2F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1" name="Google Shape;3241;p63"/>
          <p:cNvSpPr txBox="1"/>
          <p:nvPr/>
        </p:nvSpPr>
        <p:spPr>
          <a:xfrm>
            <a:off x="6591300" y="1476375"/>
            <a:ext cx="1381200" cy="13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B5B8C"/>
                </a:solidFill>
                <a:latin typeface="Arial"/>
                <a:ea typeface="Arial"/>
                <a:cs typeface="Arial"/>
                <a:sym typeface="Arial"/>
              </a:rPr>
              <a:t>Type E</a:t>
            </a:r>
            <a:endParaRPr b="1" sz="900">
              <a:solidFill>
                <a:srgbClr val="2B5B8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2" name="Google Shape;3242;p63"/>
          <p:cNvSpPr txBox="1"/>
          <p:nvPr/>
        </p:nvSpPr>
        <p:spPr>
          <a:xfrm>
            <a:off x="6591300" y="1666875"/>
            <a:ext cx="13812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rPr>
              <a:t>Remote</a:t>
            </a:r>
            <a:endParaRPr b="1" sz="1200">
              <a:solidFill>
                <a:srgbClr val="1A39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3" name="Google Shape;3243;p63"/>
          <p:cNvSpPr txBox="1"/>
          <p:nvPr/>
        </p:nvSpPr>
        <p:spPr>
          <a:xfrm>
            <a:off x="6591300" y="1952625"/>
            <a:ext cx="1381200" cy="1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원격 발행</a:t>
            </a:r>
            <a:endParaRPr b="0" sz="850">
              <a:solidFill>
                <a:srgbClr val="4A55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4" name="Google Shape;3244;p63"/>
          <p:cNvSpPr/>
          <p:nvPr/>
        </p:nvSpPr>
        <p:spPr>
          <a:xfrm>
            <a:off x="8143875" y="1428750"/>
            <a:ext cx="1381200" cy="952500"/>
          </a:xfrm>
          <a:prstGeom prst="roundRect">
            <a:avLst>
              <a:gd fmla="val 100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5" name="Google Shape;3245;p63"/>
          <p:cNvSpPr txBox="1"/>
          <p:nvPr/>
        </p:nvSpPr>
        <p:spPr>
          <a:xfrm>
            <a:off x="8143875" y="1476375"/>
            <a:ext cx="1381200" cy="13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46E78"/>
                </a:solidFill>
                <a:latin typeface="Arial"/>
                <a:ea typeface="Arial"/>
                <a:cs typeface="Arial"/>
                <a:sym typeface="Arial"/>
              </a:rPr>
              <a:t>Type F</a:t>
            </a:r>
            <a:endParaRPr b="1" sz="900">
              <a:solidFill>
                <a:srgbClr val="646E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6" name="Google Shape;3246;p63"/>
          <p:cNvSpPr txBox="1"/>
          <p:nvPr/>
        </p:nvSpPr>
        <p:spPr>
          <a:xfrm>
            <a:off x="8143875" y="1666875"/>
            <a:ext cx="13812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rPr>
              <a:t>Special</a:t>
            </a:r>
            <a:endParaRPr b="1" sz="1200">
              <a:solidFill>
                <a:srgbClr val="1A39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7" name="Google Shape;3247;p63"/>
          <p:cNvSpPr txBox="1"/>
          <p:nvPr/>
        </p:nvSpPr>
        <p:spPr>
          <a:xfrm>
            <a:off x="8143875" y="1952625"/>
            <a:ext cx="1381200" cy="1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MCMS·특수 Viewer</a:t>
            </a:r>
            <a:endParaRPr b="0" sz="850">
              <a:solidFill>
                <a:srgbClr val="4A55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8" name="Google Shape;3248;p63"/>
          <p:cNvSpPr/>
          <p:nvPr/>
        </p:nvSpPr>
        <p:spPr>
          <a:xfrm>
            <a:off x="381000" y="2667000"/>
            <a:ext cx="1905000" cy="381000"/>
          </a:xfrm>
          <a:prstGeom prst="rect">
            <a:avLst/>
          </a:prstGeom>
          <a:solidFill>
            <a:srgbClr val="1A39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9" name="Google Shape;3249;p63"/>
          <p:cNvSpPr txBox="1"/>
          <p:nvPr/>
        </p:nvSpPr>
        <p:spPr>
          <a:xfrm>
            <a:off x="381000" y="2667000"/>
            <a:ext cx="1905000" cy="14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시스템</a:t>
            </a:r>
            <a:endParaRPr b="1" sz="95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0" name="Google Shape;3250;p63"/>
          <p:cNvSpPr/>
          <p:nvPr/>
        </p:nvSpPr>
        <p:spPr>
          <a:xfrm>
            <a:off x="2286000" y="2667000"/>
            <a:ext cx="762000" cy="381000"/>
          </a:xfrm>
          <a:prstGeom prst="rect">
            <a:avLst/>
          </a:prstGeom>
          <a:solidFill>
            <a:srgbClr val="1A39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1" name="Google Shape;3251;p63"/>
          <p:cNvSpPr txBox="1"/>
          <p:nvPr/>
        </p:nvSpPr>
        <p:spPr>
          <a:xfrm>
            <a:off x="2286000" y="2667000"/>
            <a:ext cx="762000" cy="14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Viewer</a:t>
            </a:r>
            <a:endParaRPr b="1" sz="95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2" name="Google Shape;3252;p63"/>
          <p:cNvSpPr/>
          <p:nvPr/>
        </p:nvSpPr>
        <p:spPr>
          <a:xfrm>
            <a:off x="3048000" y="2667000"/>
            <a:ext cx="762000" cy="381000"/>
          </a:xfrm>
          <a:prstGeom prst="rect">
            <a:avLst/>
          </a:prstGeom>
          <a:solidFill>
            <a:srgbClr val="1A39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3" name="Google Shape;3253;p63"/>
          <p:cNvSpPr txBox="1"/>
          <p:nvPr/>
        </p:nvSpPr>
        <p:spPr>
          <a:xfrm>
            <a:off x="3048000" y="2667000"/>
            <a:ext cx="762000" cy="14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발행</a:t>
            </a:r>
            <a:endParaRPr b="1" sz="95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4" name="Google Shape;3254;p63"/>
          <p:cNvSpPr/>
          <p:nvPr/>
        </p:nvSpPr>
        <p:spPr>
          <a:xfrm>
            <a:off x="3810000" y="2667000"/>
            <a:ext cx="762000" cy="381000"/>
          </a:xfrm>
          <a:prstGeom prst="rect">
            <a:avLst/>
          </a:prstGeom>
          <a:solidFill>
            <a:srgbClr val="1A39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5" name="Google Shape;3255;p63"/>
          <p:cNvSpPr txBox="1"/>
          <p:nvPr/>
        </p:nvSpPr>
        <p:spPr>
          <a:xfrm>
            <a:off x="3810000" y="2667000"/>
            <a:ext cx="762000" cy="14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FAX</a:t>
            </a:r>
            <a:endParaRPr b="1" sz="95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6" name="Google Shape;3256;p63"/>
          <p:cNvSpPr/>
          <p:nvPr/>
        </p:nvSpPr>
        <p:spPr>
          <a:xfrm>
            <a:off x="4572000" y="2667000"/>
            <a:ext cx="762000" cy="381000"/>
          </a:xfrm>
          <a:prstGeom prst="rect">
            <a:avLst/>
          </a:prstGeom>
          <a:solidFill>
            <a:srgbClr val="1A39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7" name="Google Shape;3257;p63"/>
          <p:cNvSpPr txBox="1"/>
          <p:nvPr/>
        </p:nvSpPr>
        <p:spPr>
          <a:xfrm>
            <a:off x="4572000" y="2667000"/>
            <a:ext cx="762000" cy="14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Async</a:t>
            </a:r>
            <a:endParaRPr b="1" sz="95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8" name="Google Shape;3258;p63"/>
          <p:cNvSpPr/>
          <p:nvPr/>
        </p:nvSpPr>
        <p:spPr>
          <a:xfrm>
            <a:off x="5334000" y="2667000"/>
            <a:ext cx="762000" cy="381000"/>
          </a:xfrm>
          <a:prstGeom prst="rect">
            <a:avLst/>
          </a:prstGeom>
          <a:solidFill>
            <a:srgbClr val="1A39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9" name="Google Shape;3259;p63"/>
          <p:cNvSpPr txBox="1"/>
          <p:nvPr/>
        </p:nvSpPr>
        <p:spPr>
          <a:xfrm>
            <a:off x="5334000" y="2667000"/>
            <a:ext cx="762000" cy="14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Image</a:t>
            </a:r>
            <a:endParaRPr b="1" sz="95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0" name="Google Shape;3260;p63"/>
          <p:cNvSpPr/>
          <p:nvPr/>
        </p:nvSpPr>
        <p:spPr>
          <a:xfrm>
            <a:off x="6096000" y="2667000"/>
            <a:ext cx="762000" cy="381000"/>
          </a:xfrm>
          <a:prstGeom prst="rect">
            <a:avLst/>
          </a:prstGeom>
          <a:solidFill>
            <a:srgbClr val="1A39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1" name="Google Shape;3261;p63"/>
          <p:cNvSpPr txBox="1"/>
          <p:nvPr/>
        </p:nvSpPr>
        <p:spPr>
          <a:xfrm>
            <a:off x="6096000" y="2667000"/>
            <a:ext cx="762000" cy="14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EDMS</a:t>
            </a:r>
            <a:endParaRPr b="1" sz="95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2" name="Google Shape;3262;p63"/>
          <p:cNvSpPr/>
          <p:nvPr/>
        </p:nvSpPr>
        <p:spPr>
          <a:xfrm>
            <a:off x="6858000" y="2667000"/>
            <a:ext cx="762000" cy="381000"/>
          </a:xfrm>
          <a:prstGeom prst="rect">
            <a:avLst/>
          </a:prstGeom>
          <a:solidFill>
            <a:srgbClr val="1A39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3" name="Google Shape;3263;p63"/>
          <p:cNvSpPr txBox="1"/>
          <p:nvPr/>
        </p:nvSpPr>
        <p:spPr>
          <a:xfrm>
            <a:off x="6858000" y="2667000"/>
            <a:ext cx="762000" cy="14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Remote</a:t>
            </a:r>
            <a:endParaRPr b="1" sz="95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4" name="Google Shape;3264;p63"/>
          <p:cNvSpPr/>
          <p:nvPr/>
        </p:nvSpPr>
        <p:spPr>
          <a:xfrm>
            <a:off x="7620000" y="2667000"/>
            <a:ext cx="1905000" cy="381000"/>
          </a:xfrm>
          <a:prstGeom prst="rect">
            <a:avLst/>
          </a:prstGeom>
          <a:solidFill>
            <a:srgbClr val="1A39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5" name="Google Shape;3265;p63"/>
          <p:cNvSpPr txBox="1"/>
          <p:nvPr/>
        </p:nvSpPr>
        <p:spPr>
          <a:xfrm>
            <a:off x="7620000" y="2667000"/>
            <a:ext cx="1905000" cy="14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특이사항</a:t>
            </a:r>
            <a:endParaRPr b="1" sz="95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6" name="Google Shape;3266;p63"/>
          <p:cNvSpPr/>
          <p:nvPr/>
        </p:nvSpPr>
        <p:spPr>
          <a:xfrm>
            <a:off x="381000" y="3057525"/>
            <a:ext cx="1905000" cy="428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7" name="Google Shape;3267;p63"/>
          <p:cNvSpPr txBox="1"/>
          <p:nvPr/>
        </p:nvSpPr>
        <p:spPr>
          <a:xfrm>
            <a:off x="381000" y="3057525"/>
            <a:ext cx="1905000" cy="14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rPr>
              <a:t>하이포탈+</a:t>
            </a:r>
            <a:endParaRPr b="1" sz="950">
              <a:solidFill>
                <a:srgbClr val="1A39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8" name="Google Shape;3268;p63"/>
          <p:cNvSpPr/>
          <p:nvPr/>
        </p:nvSpPr>
        <p:spPr>
          <a:xfrm>
            <a:off x="2286000" y="3057525"/>
            <a:ext cx="762000" cy="428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9" name="Google Shape;3269;p63"/>
          <p:cNvSpPr txBox="1"/>
          <p:nvPr/>
        </p:nvSpPr>
        <p:spPr>
          <a:xfrm>
            <a:off x="2286000" y="3057525"/>
            <a:ext cx="7620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 sz="1100">
              <a:solidFill>
                <a:srgbClr val="1A39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0" name="Google Shape;3270;p63"/>
          <p:cNvSpPr/>
          <p:nvPr/>
        </p:nvSpPr>
        <p:spPr>
          <a:xfrm>
            <a:off x="3048000" y="3057525"/>
            <a:ext cx="762000" cy="428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1" name="Google Shape;3271;p63"/>
          <p:cNvSpPr txBox="1"/>
          <p:nvPr/>
        </p:nvSpPr>
        <p:spPr>
          <a:xfrm>
            <a:off x="3048000" y="3057525"/>
            <a:ext cx="7620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 sz="1100">
              <a:solidFill>
                <a:srgbClr val="1A39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2" name="Google Shape;3272;p63"/>
          <p:cNvSpPr/>
          <p:nvPr/>
        </p:nvSpPr>
        <p:spPr>
          <a:xfrm>
            <a:off x="3810000" y="3057525"/>
            <a:ext cx="762000" cy="428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3" name="Google Shape;3273;p63"/>
          <p:cNvSpPr txBox="1"/>
          <p:nvPr/>
        </p:nvSpPr>
        <p:spPr>
          <a:xfrm>
            <a:off x="3810000" y="3057525"/>
            <a:ext cx="7620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△</a:t>
            </a:r>
            <a:endParaRPr sz="1100">
              <a:solidFill>
                <a:srgbClr val="A0AE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4" name="Google Shape;3274;p63"/>
          <p:cNvSpPr/>
          <p:nvPr/>
        </p:nvSpPr>
        <p:spPr>
          <a:xfrm>
            <a:off x="4572000" y="3057525"/>
            <a:ext cx="762000" cy="428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5" name="Google Shape;3275;p63"/>
          <p:cNvSpPr txBox="1"/>
          <p:nvPr/>
        </p:nvSpPr>
        <p:spPr>
          <a:xfrm>
            <a:off x="4572000" y="3057525"/>
            <a:ext cx="7620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△</a:t>
            </a:r>
            <a:endParaRPr sz="1100">
              <a:solidFill>
                <a:srgbClr val="A0AE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6" name="Google Shape;3276;p63"/>
          <p:cNvSpPr/>
          <p:nvPr/>
        </p:nvSpPr>
        <p:spPr>
          <a:xfrm>
            <a:off x="5334000" y="3057525"/>
            <a:ext cx="762000" cy="428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7" name="Google Shape;3277;p63"/>
          <p:cNvSpPr txBox="1"/>
          <p:nvPr/>
        </p:nvSpPr>
        <p:spPr>
          <a:xfrm>
            <a:off x="5334000" y="3057525"/>
            <a:ext cx="7620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△</a:t>
            </a:r>
            <a:endParaRPr sz="1100">
              <a:solidFill>
                <a:srgbClr val="A0AE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8" name="Google Shape;3278;p63"/>
          <p:cNvSpPr/>
          <p:nvPr/>
        </p:nvSpPr>
        <p:spPr>
          <a:xfrm>
            <a:off x="6096000" y="3057525"/>
            <a:ext cx="762000" cy="428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9" name="Google Shape;3279;p63"/>
          <p:cNvSpPr txBox="1"/>
          <p:nvPr/>
        </p:nvSpPr>
        <p:spPr>
          <a:xfrm>
            <a:off x="6096000" y="3057525"/>
            <a:ext cx="7620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△</a:t>
            </a:r>
            <a:endParaRPr sz="1100">
              <a:solidFill>
                <a:srgbClr val="A0AE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0" name="Google Shape;3280;p63"/>
          <p:cNvSpPr/>
          <p:nvPr/>
        </p:nvSpPr>
        <p:spPr>
          <a:xfrm>
            <a:off x="6858000" y="3057525"/>
            <a:ext cx="762000" cy="428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1" name="Google Shape;3281;p63"/>
          <p:cNvSpPr txBox="1"/>
          <p:nvPr/>
        </p:nvSpPr>
        <p:spPr>
          <a:xfrm>
            <a:off x="6858000" y="3057525"/>
            <a:ext cx="762000" cy="14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 sz="950">
              <a:solidFill>
                <a:srgbClr val="A0AE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2" name="Google Shape;3282;p63"/>
          <p:cNvSpPr/>
          <p:nvPr/>
        </p:nvSpPr>
        <p:spPr>
          <a:xfrm>
            <a:off x="7620000" y="3057525"/>
            <a:ext cx="1905000" cy="428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3" name="Google Shape;3283;p63"/>
          <p:cNvSpPr txBox="1"/>
          <p:nvPr/>
        </p:nvSpPr>
        <p:spPr>
          <a:xfrm>
            <a:off x="7620000" y="3057525"/>
            <a:ext cx="1905000" cy="14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상세 확인</a:t>
            </a:r>
            <a:endParaRPr sz="950">
              <a:solidFill>
                <a:srgbClr val="4A55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4" name="Google Shape;3284;p63"/>
          <p:cNvSpPr/>
          <p:nvPr/>
        </p:nvSpPr>
        <p:spPr>
          <a:xfrm>
            <a:off x="381000" y="3495675"/>
            <a:ext cx="1905000" cy="4287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5" name="Google Shape;3285;p63"/>
          <p:cNvSpPr txBox="1"/>
          <p:nvPr/>
        </p:nvSpPr>
        <p:spPr>
          <a:xfrm>
            <a:off x="381000" y="3495675"/>
            <a:ext cx="1905000" cy="14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rPr>
              <a:t>보상포탈</a:t>
            </a:r>
            <a:endParaRPr b="1" sz="950">
              <a:solidFill>
                <a:srgbClr val="1A39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6" name="Google Shape;3286;p63"/>
          <p:cNvSpPr/>
          <p:nvPr/>
        </p:nvSpPr>
        <p:spPr>
          <a:xfrm>
            <a:off x="2286000" y="3495675"/>
            <a:ext cx="762000" cy="4287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7" name="Google Shape;3287;p63"/>
          <p:cNvSpPr txBox="1"/>
          <p:nvPr/>
        </p:nvSpPr>
        <p:spPr>
          <a:xfrm>
            <a:off x="2286000" y="3495675"/>
            <a:ext cx="7620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 sz="1100">
              <a:solidFill>
                <a:srgbClr val="1A39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8" name="Google Shape;3288;p63"/>
          <p:cNvSpPr/>
          <p:nvPr/>
        </p:nvSpPr>
        <p:spPr>
          <a:xfrm>
            <a:off x="3048000" y="3495675"/>
            <a:ext cx="762000" cy="4287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9" name="Google Shape;3289;p63"/>
          <p:cNvSpPr txBox="1"/>
          <p:nvPr/>
        </p:nvSpPr>
        <p:spPr>
          <a:xfrm>
            <a:off x="3048000" y="3495675"/>
            <a:ext cx="7620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 sz="1100">
              <a:solidFill>
                <a:srgbClr val="1A39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0" name="Google Shape;3290;p63"/>
          <p:cNvSpPr/>
          <p:nvPr/>
        </p:nvSpPr>
        <p:spPr>
          <a:xfrm>
            <a:off x="3810000" y="3495675"/>
            <a:ext cx="762000" cy="4287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1" name="Google Shape;3291;p63"/>
          <p:cNvSpPr txBox="1"/>
          <p:nvPr/>
        </p:nvSpPr>
        <p:spPr>
          <a:xfrm>
            <a:off x="3810000" y="3495675"/>
            <a:ext cx="7620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 sz="1100">
              <a:solidFill>
                <a:srgbClr val="1A39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2" name="Google Shape;3292;p63"/>
          <p:cNvSpPr/>
          <p:nvPr/>
        </p:nvSpPr>
        <p:spPr>
          <a:xfrm>
            <a:off x="4572000" y="3495675"/>
            <a:ext cx="762000" cy="4287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3" name="Google Shape;3293;p63"/>
          <p:cNvSpPr txBox="1"/>
          <p:nvPr/>
        </p:nvSpPr>
        <p:spPr>
          <a:xfrm>
            <a:off x="4572000" y="3495675"/>
            <a:ext cx="7620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 sz="1100">
              <a:solidFill>
                <a:srgbClr val="1A39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4" name="Google Shape;3294;p63"/>
          <p:cNvSpPr/>
          <p:nvPr/>
        </p:nvSpPr>
        <p:spPr>
          <a:xfrm>
            <a:off x="5334000" y="3495675"/>
            <a:ext cx="762000" cy="4287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5" name="Google Shape;3295;p63"/>
          <p:cNvSpPr txBox="1"/>
          <p:nvPr/>
        </p:nvSpPr>
        <p:spPr>
          <a:xfrm>
            <a:off x="5334000" y="3495675"/>
            <a:ext cx="7620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 sz="1100">
              <a:solidFill>
                <a:srgbClr val="1A39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6" name="Google Shape;3296;p63"/>
          <p:cNvSpPr/>
          <p:nvPr/>
        </p:nvSpPr>
        <p:spPr>
          <a:xfrm>
            <a:off x="6096000" y="3495675"/>
            <a:ext cx="762000" cy="4287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7" name="Google Shape;3297;p63"/>
          <p:cNvSpPr txBox="1"/>
          <p:nvPr/>
        </p:nvSpPr>
        <p:spPr>
          <a:xfrm>
            <a:off x="6096000" y="3495675"/>
            <a:ext cx="7620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 sz="1100">
              <a:solidFill>
                <a:srgbClr val="1A39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8" name="Google Shape;3298;p63"/>
          <p:cNvSpPr/>
          <p:nvPr/>
        </p:nvSpPr>
        <p:spPr>
          <a:xfrm>
            <a:off x="6858000" y="3495675"/>
            <a:ext cx="762000" cy="4287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9" name="Google Shape;3299;p63"/>
          <p:cNvSpPr txBox="1"/>
          <p:nvPr/>
        </p:nvSpPr>
        <p:spPr>
          <a:xfrm>
            <a:off x="6858000" y="3495675"/>
            <a:ext cx="762000" cy="14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 sz="950">
              <a:solidFill>
                <a:srgbClr val="A0AE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0" name="Google Shape;3300;p63"/>
          <p:cNvSpPr/>
          <p:nvPr/>
        </p:nvSpPr>
        <p:spPr>
          <a:xfrm>
            <a:off x="7620000" y="3495675"/>
            <a:ext cx="1905000" cy="4287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1" name="Google Shape;3301;p63"/>
          <p:cNvSpPr txBox="1"/>
          <p:nvPr/>
        </p:nvSpPr>
        <p:spPr>
          <a:xfrm>
            <a:off x="7620000" y="3495675"/>
            <a:ext cx="1905000" cy="14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MCMS/이미지·동영상</a:t>
            </a:r>
            <a:endParaRPr sz="950">
              <a:solidFill>
                <a:srgbClr val="4A55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2" name="Google Shape;3302;p63"/>
          <p:cNvSpPr/>
          <p:nvPr/>
        </p:nvSpPr>
        <p:spPr>
          <a:xfrm>
            <a:off x="381000" y="3933825"/>
            <a:ext cx="1905000" cy="428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3" name="Google Shape;3303;p63"/>
          <p:cNvSpPr txBox="1"/>
          <p:nvPr/>
        </p:nvSpPr>
        <p:spPr>
          <a:xfrm>
            <a:off x="381000" y="3933825"/>
            <a:ext cx="1905000" cy="14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rPr>
              <a:t>보상원격발행</a:t>
            </a:r>
            <a:endParaRPr b="1" sz="950">
              <a:solidFill>
                <a:srgbClr val="1A39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4" name="Google Shape;3304;p63"/>
          <p:cNvSpPr/>
          <p:nvPr/>
        </p:nvSpPr>
        <p:spPr>
          <a:xfrm>
            <a:off x="2286000" y="3933825"/>
            <a:ext cx="762000" cy="428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5" name="Google Shape;3305;p63"/>
          <p:cNvSpPr txBox="1"/>
          <p:nvPr/>
        </p:nvSpPr>
        <p:spPr>
          <a:xfrm>
            <a:off x="2286000" y="3933825"/>
            <a:ext cx="762000" cy="14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 sz="950">
              <a:solidFill>
                <a:srgbClr val="A0AE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6" name="Google Shape;3306;p63"/>
          <p:cNvSpPr/>
          <p:nvPr/>
        </p:nvSpPr>
        <p:spPr>
          <a:xfrm>
            <a:off x="3048000" y="3933825"/>
            <a:ext cx="762000" cy="428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7" name="Google Shape;3307;p63"/>
          <p:cNvSpPr txBox="1"/>
          <p:nvPr/>
        </p:nvSpPr>
        <p:spPr>
          <a:xfrm>
            <a:off x="3048000" y="3933825"/>
            <a:ext cx="7620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 sz="1100">
              <a:solidFill>
                <a:srgbClr val="1A39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8" name="Google Shape;3308;p63"/>
          <p:cNvSpPr/>
          <p:nvPr/>
        </p:nvSpPr>
        <p:spPr>
          <a:xfrm>
            <a:off x="3810000" y="3933825"/>
            <a:ext cx="762000" cy="428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9" name="Google Shape;3309;p63"/>
          <p:cNvSpPr txBox="1"/>
          <p:nvPr/>
        </p:nvSpPr>
        <p:spPr>
          <a:xfrm>
            <a:off x="3810000" y="3933825"/>
            <a:ext cx="762000" cy="14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 sz="950">
              <a:solidFill>
                <a:srgbClr val="A0AE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0" name="Google Shape;3310;p63"/>
          <p:cNvSpPr/>
          <p:nvPr/>
        </p:nvSpPr>
        <p:spPr>
          <a:xfrm>
            <a:off x="4572000" y="3933825"/>
            <a:ext cx="762000" cy="428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1" name="Google Shape;3311;p63"/>
          <p:cNvSpPr txBox="1"/>
          <p:nvPr/>
        </p:nvSpPr>
        <p:spPr>
          <a:xfrm>
            <a:off x="4572000" y="3933825"/>
            <a:ext cx="762000" cy="14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 sz="950">
              <a:solidFill>
                <a:srgbClr val="A0AE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2" name="Google Shape;3312;p63"/>
          <p:cNvSpPr/>
          <p:nvPr/>
        </p:nvSpPr>
        <p:spPr>
          <a:xfrm>
            <a:off x="5334000" y="3933825"/>
            <a:ext cx="762000" cy="428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3" name="Google Shape;3313;p63"/>
          <p:cNvSpPr txBox="1"/>
          <p:nvPr/>
        </p:nvSpPr>
        <p:spPr>
          <a:xfrm>
            <a:off x="5334000" y="3933825"/>
            <a:ext cx="762000" cy="14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 sz="950">
              <a:solidFill>
                <a:srgbClr val="A0AE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4" name="Google Shape;3314;p63"/>
          <p:cNvSpPr/>
          <p:nvPr/>
        </p:nvSpPr>
        <p:spPr>
          <a:xfrm>
            <a:off x="6096000" y="3933825"/>
            <a:ext cx="762000" cy="428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5" name="Google Shape;3315;p63"/>
          <p:cNvSpPr txBox="1"/>
          <p:nvPr/>
        </p:nvSpPr>
        <p:spPr>
          <a:xfrm>
            <a:off x="6096000" y="3933825"/>
            <a:ext cx="762000" cy="14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 sz="950">
              <a:solidFill>
                <a:srgbClr val="A0AE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6" name="Google Shape;3316;p63"/>
          <p:cNvSpPr/>
          <p:nvPr/>
        </p:nvSpPr>
        <p:spPr>
          <a:xfrm>
            <a:off x="6858000" y="3933825"/>
            <a:ext cx="762000" cy="428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7" name="Google Shape;3317;p63"/>
          <p:cNvSpPr txBox="1"/>
          <p:nvPr/>
        </p:nvSpPr>
        <p:spPr>
          <a:xfrm>
            <a:off x="6858000" y="3933825"/>
            <a:ext cx="7620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 sz="1100">
              <a:solidFill>
                <a:srgbClr val="1A39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8" name="Google Shape;3318;p63"/>
          <p:cNvSpPr/>
          <p:nvPr/>
        </p:nvSpPr>
        <p:spPr>
          <a:xfrm>
            <a:off x="7620000" y="3933825"/>
            <a:ext cx="1905000" cy="428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9" name="Google Shape;3319;p63"/>
          <p:cNvSpPr txBox="1"/>
          <p:nvPr/>
        </p:nvSpPr>
        <p:spPr>
          <a:xfrm>
            <a:off x="7620000" y="3933825"/>
            <a:ext cx="1905000" cy="14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별도 흐름</a:t>
            </a:r>
            <a:endParaRPr sz="950">
              <a:solidFill>
                <a:srgbClr val="4A55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0" name="Google Shape;3320;p63"/>
          <p:cNvSpPr/>
          <p:nvPr/>
        </p:nvSpPr>
        <p:spPr>
          <a:xfrm>
            <a:off x="381000" y="4371975"/>
            <a:ext cx="1905000" cy="4287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1" name="Google Shape;3321;p63"/>
          <p:cNvSpPr txBox="1"/>
          <p:nvPr/>
        </p:nvSpPr>
        <p:spPr>
          <a:xfrm>
            <a:off x="381000" y="4371975"/>
            <a:ext cx="1905000" cy="14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rPr>
              <a:t>대표홈페이지</a:t>
            </a:r>
            <a:endParaRPr b="1" sz="950">
              <a:solidFill>
                <a:srgbClr val="1A39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2" name="Google Shape;3322;p63"/>
          <p:cNvSpPr/>
          <p:nvPr/>
        </p:nvSpPr>
        <p:spPr>
          <a:xfrm>
            <a:off x="2286000" y="4371975"/>
            <a:ext cx="762000" cy="4287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3" name="Google Shape;3323;p63"/>
          <p:cNvSpPr txBox="1"/>
          <p:nvPr/>
        </p:nvSpPr>
        <p:spPr>
          <a:xfrm>
            <a:off x="2286000" y="4371975"/>
            <a:ext cx="7620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 sz="1100">
              <a:solidFill>
                <a:srgbClr val="1A39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4" name="Google Shape;3324;p63"/>
          <p:cNvSpPr/>
          <p:nvPr/>
        </p:nvSpPr>
        <p:spPr>
          <a:xfrm>
            <a:off x="3048000" y="4371975"/>
            <a:ext cx="762000" cy="4287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5" name="Google Shape;3325;p63"/>
          <p:cNvSpPr txBox="1"/>
          <p:nvPr/>
        </p:nvSpPr>
        <p:spPr>
          <a:xfrm>
            <a:off x="3048000" y="4371975"/>
            <a:ext cx="7620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 sz="1100">
              <a:solidFill>
                <a:srgbClr val="1A39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6" name="Google Shape;3326;p63"/>
          <p:cNvSpPr/>
          <p:nvPr/>
        </p:nvSpPr>
        <p:spPr>
          <a:xfrm>
            <a:off x="3810000" y="4371975"/>
            <a:ext cx="762000" cy="4287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7" name="Google Shape;3327;p63"/>
          <p:cNvSpPr txBox="1"/>
          <p:nvPr/>
        </p:nvSpPr>
        <p:spPr>
          <a:xfrm>
            <a:off x="3810000" y="4371975"/>
            <a:ext cx="762000" cy="14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 sz="950">
              <a:solidFill>
                <a:srgbClr val="A0AE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8" name="Google Shape;3328;p63"/>
          <p:cNvSpPr/>
          <p:nvPr/>
        </p:nvSpPr>
        <p:spPr>
          <a:xfrm>
            <a:off x="4572000" y="4371975"/>
            <a:ext cx="762000" cy="4287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9" name="Google Shape;3329;p63"/>
          <p:cNvSpPr txBox="1"/>
          <p:nvPr/>
        </p:nvSpPr>
        <p:spPr>
          <a:xfrm>
            <a:off x="4572000" y="4371975"/>
            <a:ext cx="762000" cy="14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 sz="950">
              <a:solidFill>
                <a:srgbClr val="A0AE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0" name="Google Shape;3330;p63"/>
          <p:cNvSpPr/>
          <p:nvPr/>
        </p:nvSpPr>
        <p:spPr>
          <a:xfrm>
            <a:off x="5334000" y="4371975"/>
            <a:ext cx="762000" cy="4287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1" name="Google Shape;3331;p63"/>
          <p:cNvSpPr txBox="1"/>
          <p:nvPr/>
        </p:nvSpPr>
        <p:spPr>
          <a:xfrm>
            <a:off x="5334000" y="4371975"/>
            <a:ext cx="762000" cy="14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 sz="950">
              <a:solidFill>
                <a:srgbClr val="A0AE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2" name="Google Shape;3332;p63"/>
          <p:cNvSpPr/>
          <p:nvPr/>
        </p:nvSpPr>
        <p:spPr>
          <a:xfrm>
            <a:off x="6096005" y="4371986"/>
            <a:ext cx="762000" cy="4287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3" name="Google Shape;3333;p63"/>
          <p:cNvSpPr txBox="1"/>
          <p:nvPr/>
        </p:nvSpPr>
        <p:spPr>
          <a:xfrm>
            <a:off x="6096000" y="4371975"/>
            <a:ext cx="762000" cy="14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 sz="950">
              <a:solidFill>
                <a:srgbClr val="A0AE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4" name="Google Shape;3334;p63"/>
          <p:cNvSpPr/>
          <p:nvPr/>
        </p:nvSpPr>
        <p:spPr>
          <a:xfrm>
            <a:off x="6858000" y="4371975"/>
            <a:ext cx="762000" cy="4287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5" name="Google Shape;3335;p63"/>
          <p:cNvSpPr txBox="1"/>
          <p:nvPr/>
        </p:nvSpPr>
        <p:spPr>
          <a:xfrm>
            <a:off x="6858000" y="4371975"/>
            <a:ext cx="762000" cy="14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 sz="950">
              <a:solidFill>
                <a:srgbClr val="A0AE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6" name="Google Shape;3336;p63"/>
          <p:cNvSpPr/>
          <p:nvPr/>
        </p:nvSpPr>
        <p:spPr>
          <a:xfrm>
            <a:off x="7620000" y="4371975"/>
            <a:ext cx="1905000" cy="4287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7" name="Google Shape;3337;p63"/>
          <p:cNvSpPr txBox="1"/>
          <p:nvPr/>
        </p:nvSpPr>
        <p:spPr>
          <a:xfrm>
            <a:off x="7620000" y="4371975"/>
            <a:ext cx="1905000" cy="14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외부 채널</a:t>
            </a:r>
            <a:endParaRPr sz="950">
              <a:solidFill>
                <a:srgbClr val="4A55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8" name="Google Shape;3338;p63"/>
          <p:cNvSpPr txBox="1"/>
          <p:nvPr/>
        </p:nvSpPr>
        <p:spPr>
          <a:xfrm>
            <a:off x="381000" y="4953000"/>
            <a:ext cx="9144000" cy="14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A03E3E"/>
                </a:solidFill>
                <a:latin typeface="Arial"/>
                <a:ea typeface="Arial"/>
                <a:cs typeface="Arial"/>
                <a:sym typeface="Arial"/>
              </a:rPr>
              <a:t>※ 표의 ●/△는 '구조 관리 방식' 예시이며, 실제 적용 여부는 시스템별 분석 결과로 확정</a:t>
            </a:r>
            <a:endParaRPr b="0" sz="950">
              <a:solidFill>
                <a:srgbClr val="A03E3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2" name="Shape 3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3" name="Google Shape;3343;p64"/>
          <p:cNvSpPr/>
          <p:nvPr/>
        </p:nvSpPr>
        <p:spPr>
          <a:xfrm>
            <a:off x="0" y="0"/>
            <a:ext cx="9906000" cy="502800"/>
          </a:xfrm>
          <a:prstGeom prst="rect">
            <a:avLst/>
          </a:prstGeom>
          <a:solidFill>
            <a:srgbClr val="1A395B"/>
          </a:solidFill>
          <a:ln cap="flat" cmpd="sng" w="9525">
            <a:solidFill>
              <a:srgbClr val="1A39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4" name="Google Shape;3344;p64"/>
          <p:cNvSpPr txBox="1"/>
          <p:nvPr/>
        </p:nvSpPr>
        <p:spPr>
          <a:xfrm>
            <a:off x="320040" y="64008"/>
            <a:ext cx="2926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아키텍처 고도화 보완</a:t>
            </a:r>
            <a:endParaRPr/>
          </a:p>
        </p:txBody>
      </p:sp>
      <p:sp>
        <p:nvSpPr>
          <p:cNvPr id="3345" name="Google Shape;3345;p64"/>
          <p:cNvSpPr txBox="1"/>
          <p:nvPr/>
        </p:nvSpPr>
        <p:spPr>
          <a:xfrm>
            <a:off x="411480" y="658368"/>
            <a:ext cx="10972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1A395B"/>
                </a:solidFill>
                <a:latin typeface="Malgun Gothic"/>
                <a:ea typeface="Malgun Gothic"/>
                <a:cs typeface="Malgun Gothic"/>
                <a:sym typeface="Malgun Gothic"/>
              </a:rPr>
              <a:t>4.5 OZ Viewer / Preview 전환 관점</a:t>
            </a:r>
            <a:endParaRPr/>
          </a:p>
        </p:txBody>
      </p:sp>
      <p:sp>
        <p:nvSpPr>
          <p:cNvPr id="3346" name="Google Shape;3346;p64"/>
          <p:cNvSpPr txBox="1"/>
          <p:nvPr/>
        </p:nvSpPr>
        <p:spPr>
          <a:xfrm>
            <a:off x="429768" y="1143000"/>
            <a:ext cx="10972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46E78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Viewer 처리와 To-Be HTML5 OZ Viewer의 차이를 별도 장표로 명확화</a:t>
            </a:r>
            <a:endParaRPr/>
          </a:p>
        </p:txBody>
      </p:sp>
      <p:sp>
        <p:nvSpPr>
          <p:cNvPr id="3347" name="Google Shape;3347;p64"/>
          <p:cNvSpPr txBox="1"/>
          <p:nvPr/>
        </p:nvSpPr>
        <p:spPr>
          <a:xfrm>
            <a:off x="10698480" y="6446520"/>
            <a:ext cx="1005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646E78"/>
                </a:solidFill>
                <a:latin typeface="Malgun Gothic"/>
                <a:ea typeface="Malgun Gothic"/>
                <a:cs typeface="Malgun Gothic"/>
                <a:sym typeface="Malgun Gothic"/>
              </a:rPr>
              <a:t>AA 보완안</a:t>
            </a:r>
            <a:endParaRPr/>
          </a:p>
        </p:txBody>
      </p:sp>
      <p:grpSp>
        <p:nvGrpSpPr>
          <p:cNvPr id="3348" name="Google Shape;3348;p64"/>
          <p:cNvGrpSpPr/>
          <p:nvPr/>
        </p:nvGrpSpPr>
        <p:grpSpPr>
          <a:xfrm>
            <a:off x="428625" y="1619250"/>
            <a:ext cx="8953500" cy="3619500"/>
            <a:chOff x="428625" y="1619250"/>
            <a:chExt cx="8953500" cy="3619500"/>
          </a:xfrm>
        </p:grpSpPr>
        <p:sp>
          <p:nvSpPr>
            <p:cNvPr id="3349" name="Google Shape;3349;p64"/>
            <p:cNvSpPr/>
            <p:nvPr/>
          </p:nvSpPr>
          <p:spPr>
            <a:xfrm>
              <a:off x="428625" y="1619250"/>
              <a:ext cx="4191000" cy="3619500"/>
            </a:xfrm>
            <a:prstGeom prst="roundRect">
              <a:avLst>
                <a:gd fmla="val 3157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0" name="Google Shape;3350;p64"/>
            <p:cNvSpPr txBox="1"/>
            <p:nvPr/>
          </p:nvSpPr>
          <p:spPr>
            <a:xfrm>
              <a:off x="619125" y="1762125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646E78"/>
                  </a:solidFill>
                  <a:latin typeface="Arial"/>
                  <a:ea typeface="Arial"/>
                  <a:cs typeface="Arial"/>
                  <a:sym typeface="Arial"/>
                </a:rPr>
                <a:t>AS-IS 관점</a:t>
              </a:r>
              <a:endParaRPr b="1" sz="1500">
                <a:solidFill>
                  <a:srgbClr val="646E7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51" name="Google Shape;3351;p64"/>
            <p:cNvGrpSpPr/>
            <p:nvPr/>
          </p:nvGrpSpPr>
          <p:grpSpPr>
            <a:xfrm>
              <a:off x="809625" y="2190750"/>
              <a:ext cx="3429000" cy="400200"/>
              <a:chOff x="0" y="0"/>
              <a:chExt cx="3429000" cy="400200"/>
            </a:xfrm>
          </p:grpSpPr>
          <p:sp>
            <p:nvSpPr>
              <p:cNvPr id="3352" name="Google Shape;3352;p64"/>
              <p:cNvSpPr/>
              <p:nvPr/>
            </p:nvSpPr>
            <p:spPr>
              <a:xfrm>
                <a:off x="0" y="0"/>
                <a:ext cx="3429000" cy="400200"/>
              </a:xfrm>
              <a:prstGeom prst="roundRect">
                <a:avLst>
                  <a:gd fmla="val 14285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3" name="Google Shape;3353;p64"/>
              <p:cNvSpPr txBox="1"/>
              <p:nvPr/>
            </p:nvSpPr>
            <p:spPr>
              <a:xfrm>
                <a:off x="0" y="0"/>
                <a:ext cx="34290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23282D"/>
                    </a:solidFill>
                    <a:latin typeface="Arial"/>
                    <a:ea typeface="Arial"/>
                    <a:cs typeface="Arial"/>
                    <a:sym typeface="Arial"/>
                  </a:rPr>
                  <a:t>업무 화면</a:t>
                </a:r>
                <a:endParaRPr b="1" sz="1100">
                  <a:solidFill>
                    <a:srgbClr val="23282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354" name="Google Shape;3354;p6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514600" y="2590800"/>
              <a:ext cx="19200" cy="1428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355" name="Google Shape;3355;p64"/>
            <p:cNvGrpSpPr/>
            <p:nvPr/>
          </p:nvGrpSpPr>
          <p:grpSpPr>
            <a:xfrm>
              <a:off x="809625" y="2762250"/>
              <a:ext cx="3429000" cy="400200"/>
              <a:chOff x="0" y="0"/>
              <a:chExt cx="3429000" cy="400200"/>
            </a:xfrm>
          </p:grpSpPr>
          <p:sp>
            <p:nvSpPr>
              <p:cNvPr id="3356" name="Google Shape;3356;p64"/>
              <p:cNvSpPr/>
              <p:nvPr/>
            </p:nvSpPr>
            <p:spPr>
              <a:xfrm>
                <a:off x="0" y="0"/>
                <a:ext cx="3429000" cy="400200"/>
              </a:xfrm>
              <a:prstGeom prst="roundRect">
                <a:avLst>
                  <a:gd fmla="val 14285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7" name="Google Shape;3357;p64"/>
              <p:cNvSpPr txBox="1"/>
              <p:nvPr/>
            </p:nvSpPr>
            <p:spPr>
              <a:xfrm>
                <a:off x="0" y="0"/>
                <a:ext cx="34290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23282D"/>
                    </a:solidFill>
                    <a:latin typeface="Arial"/>
                    <a:ea typeface="Arial"/>
                    <a:cs typeface="Arial"/>
                    <a:sym typeface="Arial"/>
                  </a:rPr>
                  <a:t>RD 호출</a:t>
                </a:r>
                <a:endParaRPr b="1" sz="1100">
                  <a:solidFill>
                    <a:srgbClr val="23282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358" name="Google Shape;3358;p6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514600" y="3162300"/>
              <a:ext cx="19200" cy="1428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359" name="Google Shape;3359;p64"/>
            <p:cNvGrpSpPr/>
            <p:nvPr/>
          </p:nvGrpSpPr>
          <p:grpSpPr>
            <a:xfrm>
              <a:off x="809625" y="3333750"/>
              <a:ext cx="3429000" cy="400200"/>
              <a:chOff x="0" y="0"/>
              <a:chExt cx="3429000" cy="400200"/>
            </a:xfrm>
          </p:grpSpPr>
          <p:sp>
            <p:nvSpPr>
              <p:cNvPr id="3360" name="Google Shape;3360;p64"/>
              <p:cNvSpPr/>
              <p:nvPr/>
            </p:nvSpPr>
            <p:spPr>
              <a:xfrm>
                <a:off x="0" y="0"/>
                <a:ext cx="3429000" cy="400200"/>
              </a:xfrm>
              <a:prstGeom prst="roundRect">
                <a:avLst>
                  <a:gd fmla="val 14285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1" name="Google Shape;3361;p64"/>
              <p:cNvSpPr txBox="1"/>
              <p:nvPr/>
            </p:nvSpPr>
            <p:spPr>
              <a:xfrm>
                <a:off x="0" y="0"/>
                <a:ext cx="34290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23282D"/>
                    </a:solidFill>
                    <a:latin typeface="Arial"/>
                    <a:ea typeface="Arial"/>
                    <a:cs typeface="Arial"/>
                    <a:sym typeface="Arial"/>
                  </a:rPr>
                  <a:t>PDF/Binary 처리</a:t>
                </a:r>
                <a:endParaRPr b="1" sz="1100">
                  <a:solidFill>
                    <a:srgbClr val="23282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362" name="Google Shape;3362;p6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514600" y="3733800"/>
              <a:ext cx="19200" cy="1428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363" name="Google Shape;3363;p64"/>
            <p:cNvGrpSpPr/>
            <p:nvPr/>
          </p:nvGrpSpPr>
          <p:grpSpPr>
            <a:xfrm>
              <a:off x="809625" y="3905250"/>
              <a:ext cx="3429000" cy="400200"/>
              <a:chOff x="0" y="0"/>
              <a:chExt cx="3429000" cy="400200"/>
            </a:xfrm>
          </p:grpSpPr>
          <p:sp>
            <p:nvSpPr>
              <p:cNvPr id="3364" name="Google Shape;3364;p64"/>
              <p:cNvSpPr/>
              <p:nvPr/>
            </p:nvSpPr>
            <p:spPr>
              <a:xfrm>
                <a:off x="0" y="0"/>
                <a:ext cx="3429000" cy="400200"/>
              </a:xfrm>
              <a:prstGeom prst="roundRect">
                <a:avLst>
                  <a:gd fmla="val 14285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5" name="Google Shape;3365;p64"/>
              <p:cNvSpPr txBox="1"/>
              <p:nvPr/>
            </p:nvSpPr>
            <p:spPr>
              <a:xfrm>
                <a:off x="0" y="0"/>
                <a:ext cx="34290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23282D"/>
                    </a:solidFill>
                    <a:latin typeface="Arial"/>
                    <a:ea typeface="Arial"/>
                    <a:cs typeface="Arial"/>
                    <a:sym typeface="Arial"/>
                  </a:rPr>
                  <a:t>Base64 / Client 전달</a:t>
                </a:r>
                <a:endParaRPr b="1" sz="1100">
                  <a:solidFill>
                    <a:srgbClr val="23282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366" name="Google Shape;3366;p6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514600" y="4305300"/>
              <a:ext cx="19200" cy="1428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367" name="Google Shape;3367;p64"/>
            <p:cNvGrpSpPr/>
            <p:nvPr/>
          </p:nvGrpSpPr>
          <p:grpSpPr>
            <a:xfrm>
              <a:off x="809625" y="4476750"/>
              <a:ext cx="3429000" cy="400200"/>
              <a:chOff x="0" y="0"/>
              <a:chExt cx="3429000" cy="400200"/>
            </a:xfrm>
          </p:grpSpPr>
          <p:sp>
            <p:nvSpPr>
              <p:cNvPr id="3368" name="Google Shape;3368;p64"/>
              <p:cNvSpPr/>
              <p:nvPr/>
            </p:nvSpPr>
            <p:spPr>
              <a:xfrm>
                <a:off x="0" y="0"/>
                <a:ext cx="3429000" cy="400200"/>
              </a:xfrm>
              <a:prstGeom prst="roundRect">
                <a:avLst>
                  <a:gd fmla="val 14285" name="adj"/>
                </a:avLst>
              </a:prstGeom>
              <a:solidFill>
                <a:srgbClr val="F1F5F9"/>
              </a:solidFill>
              <a:ln cap="flat" cmpd="sng" w="14300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9" name="Google Shape;3369;p64"/>
              <p:cNvSpPr txBox="1"/>
              <p:nvPr/>
            </p:nvSpPr>
            <p:spPr>
              <a:xfrm>
                <a:off x="0" y="0"/>
                <a:ext cx="34290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기존 Viewer</a:t>
                </a:r>
                <a:endParaRPr b="1" sz="11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70" name="Google Shape;3370;p64"/>
            <p:cNvSpPr/>
            <p:nvPr/>
          </p:nvSpPr>
          <p:spPr>
            <a:xfrm>
              <a:off x="5191125" y="1619250"/>
              <a:ext cx="4191000" cy="3619500"/>
            </a:xfrm>
            <a:prstGeom prst="roundRect">
              <a:avLst>
                <a:gd fmla="val 3157" name="adj"/>
              </a:avLst>
            </a:prstGeom>
            <a:solidFill>
              <a:srgbClr val="EBF3FC"/>
            </a:solidFill>
            <a:ln cap="flat" cmpd="sng" w="14300">
              <a:solidFill>
                <a:srgbClr val="BDD7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1" name="Google Shape;3371;p64"/>
            <p:cNvSpPr txBox="1"/>
            <p:nvPr/>
          </p:nvSpPr>
          <p:spPr>
            <a:xfrm>
              <a:off x="5381625" y="1762125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rPr>
                <a:t>TO-BE 관점</a:t>
              </a:r>
              <a:endParaRPr b="1" sz="15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72" name="Google Shape;3372;p64"/>
            <p:cNvGrpSpPr/>
            <p:nvPr/>
          </p:nvGrpSpPr>
          <p:grpSpPr>
            <a:xfrm>
              <a:off x="5572125" y="2190750"/>
              <a:ext cx="3429000" cy="400200"/>
              <a:chOff x="0" y="0"/>
              <a:chExt cx="3429000" cy="400200"/>
            </a:xfrm>
          </p:grpSpPr>
          <p:sp>
            <p:nvSpPr>
              <p:cNvPr id="3373" name="Google Shape;3373;p64"/>
              <p:cNvSpPr/>
              <p:nvPr/>
            </p:nvSpPr>
            <p:spPr>
              <a:xfrm>
                <a:off x="0" y="0"/>
                <a:ext cx="3429000" cy="400200"/>
              </a:xfrm>
              <a:prstGeom prst="roundRect">
                <a:avLst>
                  <a:gd fmla="val 14285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D1E2F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4" name="Google Shape;3374;p64"/>
              <p:cNvSpPr txBox="1"/>
              <p:nvPr/>
            </p:nvSpPr>
            <p:spPr>
              <a:xfrm>
                <a:off x="0" y="0"/>
                <a:ext cx="34290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1A395B"/>
                    </a:solidFill>
                    <a:latin typeface="Arial"/>
                    <a:ea typeface="Arial"/>
                    <a:cs typeface="Arial"/>
                    <a:sym typeface="Arial"/>
                  </a:rPr>
                  <a:t>업무 화면</a:t>
                </a:r>
                <a:endParaRPr b="1" sz="11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3375" name="Google Shape;3375;p64"/>
            <p:cNvCxnSpPr/>
            <p:nvPr/>
          </p:nvCxnSpPr>
          <p:spPr>
            <a:xfrm>
              <a:off x="7286625" y="2590800"/>
              <a:ext cx="0" cy="1716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2C5B8C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3376" name="Google Shape;3376;p64"/>
            <p:cNvGrpSpPr/>
            <p:nvPr/>
          </p:nvGrpSpPr>
          <p:grpSpPr>
            <a:xfrm>
              <a:off x="5572125" y="2762250"/>
              <a:ext cx="3429000" cy="400200"/>
              <a:chOff x="0" y="0"/>
              <a:chExt cx="3429000" cy="400200"/>
            </a:xfrm>
          </p:grpSpPr>
          <p:sp>
            <p:nvSpPr>
              <p:cNvPr id="3377" name="Google Shape;3377;p64"/>
              <p:cNvSpPr/>
              <p:nvPr/>
            </p:nvSpPr>
            <p:spPr>
              <a:xfrm>
                <a:off x="0" y="0"/>
                <a:ext cx="3429000" cy="400200"/>
              </a:xfrm>
              <a:prstGeom prst="roundRect">
                <a:avLst>
                  <a:gd fmla="val 14285" name="adj"/>
                </a:avLst>
              </a:prstGeom>
              <a:solidFill>
                <a:srgbClr val="E0EBF7"/>
              </a:solidFill>
              <a:ln cap="flat" cmpd="sng" w="9525">
                <a:solidFill>
                  <a:srgbClr val="9DC3E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8" name="Google Shape;3378;p64"/>
              <p:cNvSpPr txBox="1"/>
              <p:nvPr/>
            </p:nvSpPr>
            <p:spPr>
              <a:xfrm>
                <a:off x="0" y="0"/>
                <a:ext cx="34290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1A395B"/>
                    </a:solidFill>
                    <a:latin typeface="Arial"/>
                    <a:ea typeface="Arial"/>
                    <a:cs typeface="Arial"/>
                    <a:sym typeface="Arial"/>
                  </a:rPr>
                  <a:t>OZ Viewer 요청</a:t>
                </a:r>
                <a:endParaRPr b="1" sz="11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3379" name="Google Shape;3379;p64"/>
            <p:cNvCxnSpPr/>
            <p:nvPr/>
          </p:nvCxnSpPr>
          <p:spPr>
            <a:xfrm>
              <a:off x="7286625" y="3162300"/>
              <a:ext cx="0" cy="1716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2C5B8C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3380" name="Google Shape;3380;p64"/>
            <p:cNvGrpSpPr/>
            <p:nvPr/>
          </p:nvGrpSpPr>
          <p:grpSpPr>
            <a:xfrm>
              <a:off x="5572125" y="3333750"/>
              <a:ext cx="3429000" cy="400200"/>
              <a:chOff x="0" y="0"/>
              <a:chExt cx="3429000" cy="400200"/>
            </a:xfrm>
          </p:grpSpPr>
          <p:sp>
            <p:nvSpPr>
              <p:cNvPr id="3381" name="Google Shape;3381;p64"/>
              <p:cNvSpPr/>
              <p:nvPr/>
            </p:nvSpPr>
            <p:spPr>
              <a:xfrm>
                <a:off x="0" y="0"/>
                <a:ext cx="3429000" cy="400200"/>
              </a:xfrm>
              <a:prstGeom prst="roundRect">
                <a:avLst>
                  <a:gd fmla="val 14285" name="adj"/>
                </a:avLst>
              </a:prstGeom>
              <a:solidFill>
                <a:srgbClr val="E0EBF7"/>
              </a:solidFill>
              <a:ln cap="flat" cmpd="sng" w="9525">
                <a:solidFill>
                  <a:srgbClr val="9DC3E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2" name="Google Shape;3382;p64"/>
              <p:cNvSpPr txBox="1"/>
              <p:nvPr/>
            </p:nvSpPr>
            <p:spPr>
              <a:xfrm>
                <a:off x="0" y="0"/>
                <a:ext cx="34290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1A395B"/>
                    </a:solidFill>
                    <a:latin typeface="Arial"/>
                    <a:ea typeface="Arial"/>
                    <a:cs typeface="Arial"/>
                    <a:sym typeface="Arial"/>
                  </a:rPr>
                  <a:t>OZ eForm Server</a:t>
                </a:r>
                <a:endParaRPr b="1" sz="11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3383" name="Google Shape;3383;p64"/>
            <p:cNvCxnSpPr/>
            <p:nvPr/>
          </p:nvCxnSpPr>
          <p:spPr>
            <a:xfrm>
              <a:off x="7286625" y="3733800"/>
              <a:ext cx="0" cy="1716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2C5B8C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3384" name="Google Shape;3384;p64"/>
            <p:cNvGrpSpPr/>
            <p:nvPr/>
          </p:nvGrpSpPr>
          <p:grpSpPr>
            <a:xfrm>
              <a:off x="5572125" y="3905250"/>
              <a:ext cx="3429000" cy="400200"/>
              <a:chOff x="0" y="0"/>
              <a:chExt cx="3429000" cy="400200"/>
            </a:xfrm>
          </p:grpSpPr>
          <p:sp>
            <p:nvSpPr>
              <p:cNvPr id="3385" name="Google Shape;3385;p64"/>
              <p:cNvSpPr/>
              <p:nvPr/>
            </p:nvSpPr>
            <p:spPr>
              <a:xfrm>
                <a:off x="0" y="0"/>
                <a:ext cx="3429000" cy="400200"/>
              </a:xfrm>
              <a:prstGeom prst="roundRect">
                <a:avLst>
                  <a:gd fmla="val 14285" name="adj"/>
                </a:avLst>
              </a:prstGeom>
              <a:solidFill>
                <a:srgbClr val="E0EBF7"/>
              </a:solidFill>
              <a:ln cap="flat" cmpd="sng" w="9525">
                <a:solidFill>
                  <a:srgbClr val="9DC3E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6" name="Google Shape;3386;p64"/>
              <p:cNvSpPr txBox="1"/>
              <p:nvPr/>
            </p:nvSpPr>
            <p:spPr>
              <a:xfrm>
                <a:off x="0" y="0"/>
                <a:ext cx="34290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1A395B"/>
                    </a:solidFill>
                    <a:latin typeface="Arial"/>
                    <a:ea typeface="Arial"/>
                    <a:cs typeface="Arial"/>
                    <a:sym typeface="Arial"/>
                  </a:rPr>
                  <a:t>서버측 Data Binding</a:t>
                </a:r>
                <a:endParaRPr b="1" sz="11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3387" name="Google Shape;3387;p64"/>
            <p:cNvCxnSpPr/>
            <p:nvPr/>
          </p:nvCxnSpPr>
          <p:spPr>
            <a:xfrm>
              <a:off x="7286625" y="4305300"/>
              <a:ext cx="0" cy="1716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2C5B8C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3388" name="Google Shape;3388;p64"/>
            <p:cNvGrpSpPr/>
            <p:nvPr/>
          </p:nvGrpSpPr>
          <p:grpSpPr>
            <a:xfrm>
              <a:off x="5572125" y="4476750"/>
              <a:ext cx="3429000" cy="400200"/>
              <a:chOff x="0" y="0"/>
              <a:chExt cx="3429000" cy="400200"/>
            </a:xfrm>
          </p:grpSpPr>
          <p:sp>
            <p:nvSpPr>
              <p:cNvPr id="3389" name="Google Shape;3389;p64"/>
              <p:cNvSpPr/>
              <p:nvPr/>
            </p:nvSpPr>
            <p:spPr>
              <a:xfrm>
                <a:off x="0" y="0"/>
                <a:ext cx="3429000" cy="400200"/>
              </a:xfrm>
              <a:prstGeom prst="roundRect">
                <a:avLst>
                  <a:gd fmla="val 14285" name="adj"/>
                </a:avLst>
              </a:prstGeom>
              <a:solidFill>
                <a:srgbClr val="2C5B8C"/>
              </a:solidFill>
              <a:ln cap="flat" cmpd="sng" w="14300">
                <a:solidFill>
                  <a:srgbClr val="1A395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0" name="Google Shape;3390;p64"/>
              <p:cNvSpPr txBox="1"/>
              <p:nvPr/>
            </p:nvSpPr>
            <p:spPr>
              <a:xfrm>
                <a:off x="0" y="0"/>
                <a:ext cx="34290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HTML5 Viewer Rendering</a:t>
                </a:r>
                <a:endParaRPr b="1" sz="11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391" name="Google Shape;3391;p64"/>
          <p:cNvGrpSpPr/>
          <p:nvPr/>
        </p:nvGrpSpPr>
        <p:grpSpPr>
          <a:xfrm>
            <a:off x="428625" y="5429250"/>
            <a:ext cx="8953500" cy="495300"/>
            <a:chOff x="0" y="0"/>
            <a:chExt cx="8953500" cy="495300"/>
          </a:xfrm>
        </p:grpSpPr>
        <p:sp>
          <p:nvSpPr>
            <p:cNvPr id="3392" name="Google Shape;3392;p64"/>
            <p:cNvSpPr/>
            <p:nvPr/>
          </p:nvSpPr>
          <p:spPr>
            <a:xfrm>
              <a:off x="0" y="0"/>
              <a:ext cx="8953500" cy="495300"/>
            </a:xfrm>
            <a:prstGeom prst="roundRect">
              <a:avLst>
                <a:gd fmla="val 15384" name="adj"/>
              </a:avLst>
            </a:prstGeom>
            <a:solidFill>
              <a:srgbClr val="FFF8F2"/>
            </a:solidFill>
            <a:ln cap="flat" cmpd="sng" w="14300">
              <a:solidFill>
                <a:srgbClr val="F3D9C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3" name="Google Shape;3393;p64"/>
            <p:cNvSpPr txBox="1"/>
            <p:nvPr/>
          </p:nvSpPr>
          <p:spPr>
            <a:xfrm>
              <a:off x="142875" y="0"/>
              <a:ext cx="86679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B77025"/>
                  </a:solidFill>
                  <a:latin typeface="Arial"/>
                  <a:ea typeface="Arial"/>
                  <a:cs typeface="Arial"/>
                  <a:sym typeface="Arial"/>
                </a:rPr>
                <a:t>💡</a:t>
              </a:r>
              <a:r>
                <a:rPr b="1" lang="en-US" sz="1100">
                  <a:solidFill>
                    <a:srgbClr val="B77025"/>
                  </a:solidFill>
                  <a:latin typeface="Arial"/>
                  <a:ea typeface="Arial"/>
                  <a:cs typeface="Arial"/>
                  <a:sym typeface="Arial"/>
                </a:rPr>
                <a:t>확정 필요 : 기존 Base64/PDF 경로의 실제 사용처, Viewer 요청 파라미터, 데이터 조회 시 F/W 전문 연계 방식</a:t>
              </a:r>
              <a:endParaRPr b="1" sz="1100">
                <a:solidFill>
                  <a:srgbClr val="B770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7" name="Shape 3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8" name="Google Shape;3398;p65"/>
          <p:cNvSpPr/>
          <p:nvPr/>
        </p:nvSpPr>
        <p:spPr>
          <a:xfrm>
            <a:off x="0" y="0"/>
            <a:ext cx="9906000" cy="502800"/>
          </a:xfrm>
          <a:prstGeom prst="rect">
            <a:avLst/>
          </a:prstGeom>
          <a:solidFill>
            <a:srgbClr val="1A395B"/>
          </a:solidFill>
          <a:ln cap="flat" cmpd="sng" w="9525">
            <a:solidFill>
              <a:srgbClr val="1A39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9" name="Google Shape;3399;p65"/>
          <p:cNvSpPr txBox="1"/>
          <p:nvPr/>
        </p:nvSpPr>
        <p:spPr>
          <a:xfrm>
            <a:off x="320040" y="64008"/>
            <a:ext cx="2926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아키텍처 고도화 보완</a:t>
            </a:r>
            <a:endParaRPr/>
          </a:p>
        </p:txBody>
      </p:sp>
      <p:sp>
        <p:nvSpPr>
          <p:cNvPr id="3400" name="Google Shape;3400;p65"/>
          <p:cNvSpPr txBox="1"/>
          <p:nvPr/>
        </p:nvSpPr>
        <p:spPr>
          <a:xfrm>
            <a:off x="411480" y="658368"/>
            <a:ext cx="10972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1A395B"/>
                </a:solidFill>
                <a:latin typeface="Malgun Gothic"/>
                <a:ea typeface="Malgun Gothic"/>
                <a:cs typeface="Malgun Gothic"/>
                <a:sym typeface="Malgun Gothic"/>
              </a:rPr>
              <a:t>4.6 발행 / Scheduler 논리 구조</a:t>
            </a:r>
            <a:endParaRPr/>
          </a:p>
        </p:txBody>
      </p:sp>
      <p:sp>
        <p:nvSpPr>
          <p:cNvPr id="3401" name="Google Shape;3401;p65"/>
          <p:cNvSpPr txBox="1"/>
          <p:nvPr/>
        </p:nvSpPr>
        <p:spPr>
          <a:xfrm>
            <a:off x="429768" y="1143000"/>
            <a:ext cx="10972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46E78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동일 WAS 내 Scheduler 직접호출이 아닌 L4(VIP) 기반 Scheduler Pool 분산 구조를 핵심 설계로 분리</a:t>
            </a:r>
            <a:endParaRPr/>
          </a:p>
        </p:txBody>
      </p:sp>
      <p:sp>
        <p:nvSpPr>
          <p:cNvPr id="3402" name="Google Shape;3402;p65"/>
          <p:cNvSpPr txBox="1"/>
          <p:nvPr/>
        </p:nvSpPr>
        <p:spPr>
          <a:xfrm>
            <a:off x="10698480" y="6446520"/>
            <a:ext cx="1005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646E78"/>
                </a:solidFill>
                <a:latin typeface="Malgun Gothic"/>
                <a:ea typeface="Malgun Gothic"/>
                <a:cs typeface="Malgun Gothic"/>
                <a:sym typeface="Malgun Gothic"/>
              </a:rPr>
              <a:t>AA 보완안</a:t>
            </a:r>
            <a:endParaRPr/>
          </a:p>
        </p:txBody>
      </p:sp>
      <p:grpSp>
        <p:nvGrpSpPr>
          <p:cNvPr id="3403" name="Google Shape;3403;p65"/>
          <p:cNvGrpSpPr/>
          <p:nvPr/>
        </p:nvGrpSpPr>
        <p:grpSpPr>
          <a:xfrm>
            <a:off x="381000" y="1714500"/>
            <a:ext cx="9144000" cy="1143000"/>
            <a:chOff x="381000" y="1714500"/>
            <a:chExt cx="9144000" cy="1143000"/>
          </a:xfrm>
        </p:grpSpPr>
        <p:sp>
          <p:nvSpPr>
            <p:cNvPr id="3404" name="Google Shape;3404;p65"/>
            <p:cNvSpPr/>
            <p:nvPr/>
          </p:nvSpPr>
          <p:spPr>
            <a:xfrm>
              <a:off x="381000" y="1714500"/>
              <a:ext cx="1333500" cy="1143000"/>
            </a:xfrm>
            <a:prstGeom prst="roundRect">
              <a:avLst>
                <a:gd fmla="val 10000" name="adj"/>
              </a:avLst>
            </a:prstGeom>
            <a:solidFill>
              <a:srgbClr val="F4F7FA"/>
            </a:solidFill>
            <a:ln cap="flat" cmpd="sng" w="9525">
              <a:solidFill>
                <a:srgbClr val="E1E4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5" name="Google Shape;3405;p65"/>
            <p:cNvSpPr txBox="1"/>
            <p:nvPr/>
          </p:nvSpPr>
          <p:spPr>
            <a:xfrm>
              <a:off x="381000" y="1714500"/>
              <a:ext cx="1333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rPr>
                <a:t>업무/CIS</a:t>
              </a:r>
              <a:endParaRPr b="1" sz="12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646E78"/>
                  </a:solidFill>
                  <a:latin typeface="Arial"/>
                  <a:ea typeface="Arial"/>
                  <a:cs typeface="Arial"/>
                  <a:sym typeface="Arial"/>
                </a:rPr>
                <a:t>발행 요청</a:t>
              </a:r>
              <a:endParaRPr sz="950">
                <a:solidFill>
                  <a:srgbClr val="646E7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06" name="Google Shape;3406;p65"/>
            <p:cNvCxnSpPr/>
            <p:nvPr/>
          </p:nvCxnSpPr>
          <p:spPr>
            <a:xfrm>
              <a:off x="1714500" y="2286000"/>
              <a:ext cx="2286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2C5B8C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407" name="Google Shape;3407;p65"/>
            <p:cNvSpPr/>
            <p:nvPr/>
          </p:nvSpPr>
          <p:spPr>
            <a:xfrm>
              <a:off x="1943100" y="1714500"/>
              <a:ext cx="1333500" cy="1143000"/>
            </a:xfrm>
            <a:prstGeom prst="roundRect">
              <a:avLst>
                <a:gd fmla="val 10000" name="adj"/>
              </a:avLst>
            </a:prstGeom>
            <a:solidFill>
              <a:srgbClr val="F4F7FA"/>
            </a:solidFill>
            <a:ln cap="flat" cmpd="sng" w="9525">
              <a:solidFill>
                <a:srgbClr val="E1E4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8" name="Google Shape;3408;p65"/>
            <p:cNvSpPr txBox="1"/>
            <p:nvPr/>
          </p:nvSpPr>
          <p:spPr>
            <a:xfrm>
              <a:off x="1943100" y="1714500"/>
              <a:ext cx="1333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rPr>
                <a:t>Application WAS</a:t>
              </a:r>
              <a:endParaRPr b="1" sz="11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646E78"/>
                  </a:solidFill>
                  <a:latin typeface="Arial"/>
                  <a:ea typeface="Arial"/>
                  <a:cs typeface="Arial"/>
                  <a:sym typeface="Arial"/>
                </a:rPr>
                <a:t>요청 접수·검증</a:t>
              </a:r>
              <a:endParaRPr sz="950">
                <a:solidFill>
                  <a:srgbClr val="646E7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09" name="Google Shape;3409;p65"/>
            <p:cNvCxnSpPr/>
            <p:nvPr/>
          </p:nvCxnSpPr>
          <p:spPr>
            <a:xfrm>
              <a:off x="3276600" y="2286000"/>
              <a:ext cx="2286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2C5B8C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410" name="Google Shape;3410;p65"/>
            <p:cNvSpPr/>
            <p:nvPr/>
          </p:nvSpPr>
          <p:spPr>
            <a:xfrm>
              <a:off x="3505200" y="1714500"/>
              <a:ext cx="1333500" cy="1143000"/>
            </a:xfrm>
            <a:prstGeom prst="roundRect">
              <a:avLst>
                <a:gd fmla="val 10000" name="adj"/>
              </a:avLst>
            </a:prstGeom>
            <a:solidFill>
              <a:srgbClr val="E0EBF7"/>
            </a:solidFill>
            <a:ln cap="flat" cmpd="sng" w="9525">
              <a:solidFill>
                <a:srgbClr val="B3CDE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1" name="Google Shape;3411;p65"/>
            <p:cNvSpPr txBox="1"/>
            <p:nvPr/>
          </p:nvSpPr>
          <p:spPr>
            <a:xfrm>
              <a:off x="3505200" y="1714500"/>
              <a:ext cx="1333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rPr>
                <a:t>L4 / VIP</a:t>
              </a:r>
              <a:endParaRPr b="1" sz="12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2C5B8C"/>
                  </a:solidFill>
                  <a:latin typeface="Arial"/>
                  <a:ea typeface="Arial"/>
                  <a:cs typeface="Arial"/>
                  <a:sym typeface="Arial"/>
                </a:rPr>
                <a:t>Scheduler Routing</a:t>
              </a:r>
              <a:endParaRPr b="1" sz="950">
                <a:solidFill>
                  <a:srgbClr val="2C5B8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12" name="Google Shape;3412;p65"/>
            <p:cNvCxnSpPr/>
            <p:nvPr/>
          </p:nvCxnSpPr>
          <p:spPr>
            <a:xfrm>
              <a:off x="4838700" y="2286000"/>
              <a:ext cx="2286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2C5B8C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413" name="Google Shape;3413;p65"/>
            <p:cNvSpPr/>
            <p:nvPr/>
          </p:nvSpPr>
          <p:spPr>
            <a:xfrm>
              <a:off x="5067300" y="1714500"/>
              <a:ext cx="1333500" cy="1143000"/>
            </a:xfrm>
            <a:prstGeom prst="roundRect">
              <a:avLst>
                <a:gd fmla="val 10000" name="adj"/>
              </a:avLst>
            </a:prstGeom>
            <a:solidFill>
              <a:srgbClr val="E0EBF7"/>
            </a:solidFill>
            <a:ln cap="flat" cmpd="sng" w="9525">
              <a:solidFill>
                <a:srgbClr val="B3CDE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4" name="Google Shape;3414;p65"/>
            <p:cNvSpPr txBox="1"/>
            <p:nvPr/>
          </p:nvSpPr>
          <p:spPr>
            <a:xfrm>
              <a:off x="5067300" y="1714500"/>
              <a:ext cx="1333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rPr>
                <a:t>OZ Scheduler Pool</a:t>
              </a:r>
              <a:endParaRPr b="1" sz="115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2C5B8C"/>
                  </a:solidFill>
                  <a:latin typeface="Arial"/>
                  <a:ea typeface="Arial"/>
                  <a:cs typeface="Arial"/>
                  <a:sym typeface="Arial"/>
                </a:rPr>
                <a:t>가용 Scheduler 선택</a:t>
              </a:r>
              <a:endParaRPr b="1" sz="950">
                <a:solidFill>
                  <a:srgbClr val="2C5B8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15" name="Google Shape;3415;p65"/>
            <p:cNvCxnSpPr/>
            <p:nvPr/>
          </p:nvCxnSpPr>
          <p:spPr>
            <a:xfrm>
              <a:off x="6400800" y="2286000"/>
              <a:ext cx="2286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2C5B8C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416" name="Google Shape;3416;p65"/>
            <p:cNvSpPr/>
            <p:nvPr/>
          </p:nvSpPr>
          <p:spPr>
            <a:xfrm>
              <a:off x="6629400" y="1714500"/>
              <a:ext cx="1333500" cy="1143000"/>
            </a:xfrm>
            <a:prstGeom prst="roundRect">
              <a:avLst>
                <a:gd fmla="val 10000" name="adj"/>
              </a:avLst>
            </a:prstGeom>
            <a:solidFill>
              <a:srgbClr val="E0EBF7"/>
            </a:solidFill>
            <a:ln cap="flat" cmpd="sng" w="9525">
              <a:solidFill>
                <a:srgbClr val="B3CDE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7" name="Google Shape;3417;p65"/>
            <p:cNvSpPr txBox="1"/>
            <p:nvPr/>
          </p:nvSpPr>
          <p:spPr>
            <a:xfrm>
              <a:off x="6629400" y="1714500"/>
              <a:ext cx="1333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rPr>
                <a:t>OZ eForm Server</a:t>
              </a:r>
              <a:endParaRPr b="1" sz="115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2C5B8C"/>
                  </a:solidFill>
                  <a:latin typeface="Arial"/>
                  <a:ea typeface="Arial"/>
                  <a:cs typeface="Arial"/>
                  <a:sym typeface="Arial"/>
                </a:rPr>
                <a:t>발행 처리</a:t>
              </a:r>
              <a:endParaRPr b="1" sz="950">
                <a:solidFill>
                  <a:srgbClr val="2C5B8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18" name="Google Shape;3418;p65"/>
            <p:cNvCxnSpPr/>
            <p:nvPr/>
          </p:nvCxnSpPr>
          <p:spPr>
            <a:xfrm>
              <a:off x="7962900" y="2286000"/>
              <a:ext cx="2286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2C5B8C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419" name="Google Shape;3419;p65"/>
            <p:cNvSpPr/>
            <p:nvPr/>
          </p:nvSpPr>
          <p:spPr>
            <a:xfrm>
              <a:off x="8191500" y="1714500"/>
              <a:ext cx="1333500" cy="1143000"/>
            </a:xfrm>
            <a:prstGeom prst="roundRect">
              <a:avLst>
                <a:gd fmla="val 10000" name="adj"/>
              </a:avLst>
            </a:prstGeom>
            <a:solidFill>
              <a:srgbClr val="F4F7FA"/>
            </a:solidFill>
            <a:ln cap="flat" cmpd="sng" w="9525">
              <a:solidFill>
                <a:srgbClr val="E1E4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0" name="Google Shape;3420;p65"/>
            <p:cNvSpPr txBox="1"/>
            <p:nvPr/>
          </p:nvSpPr>
          <p:spPr>
            <a:xfrm>
              <a:off x="8191500" y="1714500"/>
              <a:ext cx="1333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rPr>
                <a:t>결과/후처리</a:t>
              </a:r>
              <a:endParaRPr b="1" sz="12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646E78"/>
                  </a:solidFill>
                  <a:latin typeface="Arial"/>
                  <a:ea typeface="Arial"/>
                  <a:cs typeface="Arial"/>
                  <a:sym typeface="Arial"/>
                </a:rPr>
                <a:t>상태·파일·연계</a:t>
              </a:r>
              <a:endParaRPr sz="950">
                <a:solidFill>
                  <a:srgbClr val="646E7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21" name="Google Shape;3421;p65"/>
          <p:cNvGrpSpPr/>
          <p:nvPr/>
        </p:nvGrpSpPr>
        <p:grpSpPr>
          <a:xfrm>
            <a:off x="381000" y="3190875"/>
            <a:ext cx="9144000" cy="1238400"/>
            <a:chOff x="381000" y="3190875"/>
            <a:chExt cx="9144000" cy="1238400"/>
          </a:xfrm>
        </p:grpSpPr>
        <p:sp>
          <p:nvSpPr>
            <p:cNvPr id="3422" name="Google Shape;3422;p65"/>
            <p:cNvSpPr/>
            <p:nvPr/>
          </p:nvSpPr>
          <p:spPr>
            <a:xfrm>
              <a:off x="381000" y="3190875"/>
              <a:ext cx="2857500" cy="1238400"/>
            </a:xfrm>
            <a:prstGeom prst="roundRect">
              <a:avLst>
                <a:gd fmla="val 12307" name="adj"/>
              </a:avLst>
            </a:prstGeom>
            <a:solidFill>
              <a:srgbClr val="FFFFFF"/>
            </a:solidFill>
            <a:ln cap="flat" cmpd="sng" w="14300">
              <a:solidFill>
                <a:srgbClr val="E1E4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3" name="Google Shape;3423;p65"/>
            <p:cNvSpPr txBox="1"/>
            <p:nvPr/>
          </p:nvSpPr>
          <p:spPr>
            <a:xfrm>
              <a:off x="381000" y="3190875"/>
              <a:ext cx="2857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rPr>
                <a:t>가용성</a:t>
              </a:r>
              <a:endParaRPr b="1" sz="13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Health Check / 분산 / 장애 시 Routing</a:t>
              </a:r>
              <a:endParaRPr sz="105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4" name="Google Shape;3424;p65"/>
            <p:cNvSpPr/>
            <p:nvPr/>
          </p:nvSpPr>
          <p:spPr>
            <a:xfrm>
              <a:off x="3524250" y="3190875"/>
              <a:ext cx="2857500" cy="1238400"/>
            </a:xfrm>
            <a:prstGeom prst="roundRect">
              <a:avLst>
                <a:gd fmla="val 12307" name="adj"/>
              </a:avLst>
            </a:prstGeom>
            <a:solidFill>
              <a:srgbClr val="FFFFFF"/>
            </a:solidFill>
            <a:ln cap="flat" cmpd="sng" w="14300">
              <a:solidFill>
                <a:srgbClr val="E1E4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5" name="Google Shape;3425;p65"/>
            <p:cNvSpPr txBox="1"/>
            <p:nvPr/>
          </p:nvSpPr>
          <p:spPr>
            <a:xfrm>
              <a:off x="3524250" y="3190875"/>
              <a:ext cx="2857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rPr>
                <a:t>성능</a:t>
              </a:r>
              <a:endParaRPr b="1" sz="13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동시 처리량 / Timeout / 대용량 보고서</a:t>
              </a:r>
              <a:endParaRPr sz="105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6" name="Google Shape;3426;p65"/>
            <p:cNvSpPr/>
            <p:nvPr/>
          </p:nvSpPr>
          <p:spPr>
            <a:xfrm>
              <a:off x="6667500" y="3190875"/>
              <a:ext cx="2857500" cy="1238400"/>
            </a:xfrm>
            <a:prstGeom prst="roundRect">
              <a:avLst>
                <a:gd fmla="val 12307" name="adj"/>
              </a:avLst>
            </a:prstGeom>
            <a:solidFill>
              <a:srgbClr val="FFFFFF"/>
            </a:solidFill>
            <a:ln cap="flat" cmpd="sng" w="14300">
              <a:solidFill>
                <a:srgbClr val="E1E4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7" name="Google Shape;3427;p65"/>
            <p:cNvSpPr txBox="1"/>
            <p:nvPr/>
          </p:nvSpPr>
          <p:spPr>
            <a:xfrm>
              <a:off x="6667500" y="3190875"/>
              <a:ext cx="2857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rPr>
                <a:t>운영</a:t>
              </a:r>
              <a:endParaRPr b="1" sz="13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Scheduler 상태 / 실패 이력 / 모니터링</a:t>
              </a:r>
              <a:endParaRPr sz="105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28" name="Google Shape;3428;p65"/>
          <p:cNvGrpSpPr/>
          <p:nvPr/>
        </p:nvGrpSpPr>
        <p:grpSpPr>
          <a:xfrm>
            <a:off x="381000" y="4714875"/>
            <a:ext cx="9144000" cy="533400"/>
            <a:chOff x="381000" y="4714875"/>
            <a:chExt cx="9144000" cy="533400"/>
          </a:xfrm>
        </p:grpSpPr>
        <p:sp>
          <p:nvSpPr>
            <p:cNvPr id="3429" name="Google Shape;3429;p65"/>
            <p:cNvSpPr/>
            <p:nvPr/>
          </p:nvSpPr>
          <p:spPr>
            <a:xfrm>
              <a:off x="381000" y="4714875"/>
              <a:ext cx="9144000" cy="533400"/>
            </a:xfrm>
            <a:prstGeom prst="roundRect">
              <a:avLst>
                <a:gd fmla="val 14285" name="adj"/>
              </a:avLst>
            </a:prstGeom>
            <a:solidFill>
              <a:srgbClr val="FFF8F2"/>
            </a:solidFill>
            <a:ln cap="flat" cmpd="sng" w="14300">
              <a:solidFill>
                <a:srgbClr val="F3D9C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0" name="Google Shape;3430;p65"/>
            <p:cNvSpPr txBox="1"/>
            <p:nvPr/>
          </p:nvSpPr>
          <p:spPr>
            <a:xfrm>
              <a:off x="381000" y="4714875"/>
              <a:ext cx="91440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B77025"/>
                  </a:solidFill>
                  <a:latin typeface="Arial"/>
                  <a:ea typeface="Arial"/>
                  <a:cs typeface="Arial"/>
                  <a:sym typeface="Arial"/>
                </a:rPr>
                <a:t>💡 IDC 협의 핵심: 노드 수 · VIP · Health Check · Storage · Timeout/Retry · 운영 모니터링</a:t>
              </a:r>
              <a:endParaRPr b="1" sz="1150">
                <a:solidFill>
                  <a:srgbClr val="B770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4" name="Shape 3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5" name="Google Shape;3435;p66"/>
          <p:cNvSpPr/>
          <p:nvPr/>
        </p:nvSpPr>
        <p:spPr>
          <a:xfrm>
            <a:off x="0" y="0"/>
            <a:ext cx="9906000" cy="502800"/>
          </a:xfrm>
          <a:prstGeom prst="rect">
            <a:avLst/>
          </a:prstGeom>
          <a:solidFill>
            <a:srgbClr val="1A395B"/>
          </a:solidFill>
          <a:ln cap="flat" cmpd="sng" w="9525">
            <a:solidFill>
              <a:srgbClr val="1A39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6" name="Google Shape;3436;p66"/>
          <p:cNvSpPr txBox="1"/>
          <p:nvPr/>
        </p:nvSpPr>
        <p:spPr>
          <a:xfrm>
            <a:off x="320040" y="64008"/>
            <a:ext cx="2926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아키텍처 고도화 보완</a:t>
            </a:r>
            <a:endParaRPr/>
          </a:p>
        </p:txBody>
      </p:sp>
      <p:sp>
        <p:nvSpPr>
          <p:cNvPr id="3437" name="Google Shape;3437;p66"/>
          <p:cNvSpPr txBox="1"/>
          <p:nvPr/>
        </p:nvSpPr>
        <p:spPr>
          <a:xfrm>
            <a:off x="411480" y="658368"/>
            <a:ext cx="10972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1A395B"/>
                </a:solidFill>
                <a:latin typeface="Malgun Gothic"/>
                <a:ea typeface="Malgun Gothic"/>
                <a:cs typeface="Malgun Gothic"/>
                <a:sym typeface="Malgun Gothic"/>
              </a:rPr>
              <a:t>4.7 후처리 / 비동기 통합 관점</a:t>
            </a:r>
            <a:endParaRPr/>
          </a:p>
        </p:txBody>
      </p:sp>
      <p:sp>
        <p:nvSpPr>
          <p:cNvPr id="3438" name="Google Shape;3438;p66"/>
          <p:cNvSpPr txBox="1"/>
          <p:nvPr/>
        </p:nvSpPr>
        <p:spPr>
          <a:xfrm>
            <a:off x="429768" y="1143000"/>
            <a:ext cx="10972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46E78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발행 성공 이후 FAX·EDMS·이미지변환 등 후처리 실패를 별도 상태로 관리할 수 있도록 설계 관점을 분리</a:t>
            </a:r>
            <a:endParaRPr/>
          </a:p>
        </p:txBody>
      </p:sp>
      <p:sp>
        <p:nvSpPr>
          <p:cNvPr id="3439" name="Google Shape;3439;p66"/>
          <p:cNvSpPr txBox="1"/>
          <p:nvPr/>
        </p:nvSpPr>
        <p:spPr>
          <a:xfrm>
            <a:off x="10698480" y="6446520"/>
            <a:ext cx="1005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646E78"/>
                </a:solidFill>
                <a:latin typeface="Malgun Gothic"/>
                <a:ea typeface="Malgun Gothic"/>
                <a:cs typeface="Malgun Gothic"/>
                <a:sym typeface="Malgun Gothic"/>
              </a:rPr>
              <a:t>AA 보완안</a:t>
            </a:r>
            <a:endParaRPr/>
          </a:p>
        </p:txBody>
      </p:sp>
      <p:grpSp>
        <p:nvGrpSpPr>
          <p:cNvPr id="3440" name="Google Shape;3440;p66"/>
          <p:cNvGrpSpPr/>
          <p:nvPr/>
        </p:nvGrpSpPr>
        <p:grpSpPr>
          <a:xfrm>
            <a:off x="381000" y="1428750"/>
            <a:ext cx="9144150" cy="3724275"/>
            <a:chOff x="381000" y="1428750"/>
            <a:chExt cx="9144150" cy="3724275"/>
          </a:xfrm>
        </p:grpSpPr>
        <p:sp>
          <p:nvSpPr>
            <p:cNvPr id="3441" name="Google Shape;3441;p66"/>
            <p:cNvSpPr/>
            <p:nvPr/>
          </p:nvSpPr>
          <p:spPr>
            <a:xfrm>
              <a:off x="381000" y="2333625"/>
              <a:ext cx="1714500" cy="857400"/>
            </a:xfrm>
            <a:prstGeom prst="roundRect">
              <a:avLst>
                <a:gd fmla="val 11111" name="adj"/>
              </a:avLst>
            </a:prstGeom>
            <a:solidFill>
              <a:srgbClr val="E0EBF7"/>
            </a:solidFill>
            <a:ln cap="flat" cmpd="sng" w="14300">
              <a:solidFill>
                <a:srgbClr val="2C5B8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2" name="Google Shape;3442;p66"/>
            <p:cNvSpPr txBox="1"/>
            <p:nvPr/>
          </p:nvSpPr>
          <p:spPr>
            <a:xfrm>
              <a:off x="381000" y="2333625"/>
              <a:ext cx="1714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rPr>
                <a:t>OZ 발행 완료</a:t>
              </a:r>
              <a:endParaRPr b="1" sz="125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43" name="Google Shape;3443;p66"/>
            <p:cNvCxnSpPr/>
            <p:nvPr/>
          </p:nvCxnSpPr>
          <p:spPr>
            <a:xfrm>
              <a:off x="2095500" y="2762250"/>
              <a:ext cx="4764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2C5B8C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444" name="Google Shape;3444;p66"/>
            <p:cNvSpPr/>
            <p:nvPr/>
          </p:nvSpPr>
          <p:spPr>
            <a:xfrm>
              <a:off x="2495550" y="2714625"/>
              <a:ext cx="76200" cy="95400"/>
            </a:xfrm>
            <a:custGeom>
              <a:rect b="b" l="l" r="r" t="t"/>
              <a:pathLst>
                <a:path extrusionOk="0" h="120000" w="120000">
                  <a:moveTo>
                    <a:pt x="120000" y="60000"/>
                  </a:moveTo>
                  <a:lnTo>
                    <a:pt x="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2C5B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5" name="Google Shape;3445;p66"/>
            <p:cNvSpPr/>
            <p:nvPr/>
          </p:nvSpPr>
          <p:spPr>
            <a:xfrm>
              <a:off x="2571750" y="1762125"/>
              <a:ext cx="2286000" cy="2000100"/>
            </a:xfrm>
            <a:prstGeom prst="roundRect">
              <a:avLst>
                <a:gd fmla="val 5714" name="adj"/>
              </a:avLst>
            </a:prstGeom>
            <a:solidFill>
              <a:srgbClr val="F4F7FA"/>
            </a:solidFill>
            <a:ln cap="flat" cmpd="sng" w="14300">
              <a:solidFill>
                <a:srgbClr val="E1E4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6" name="Google Shape;3446;p66"/>
            <p:cNvSpPr txBox="1"/>
            <p:nvPr/>
          </p:nvSpPr>
          <p:spPr>
            <a:xfrm>
              <a:off x="2571750" y="1762125"/>
              <a:ext cx="22860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rPr>
                <a:t>Post Processing</a:t>
              </a:r>
              <a:endParaRPr b="1" sz="13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23282D"/>
                  </a:solidFill>
                  <a:latin typeface="Arial"/>
                  <a:ea typeface="Arial"/>
                  <a:cs typeface="Arial"/>
                  <a:sym typeface="Arial"/>
                </a:rPr>
                <a:t>Async / 기타 연계</a:t>
              </a:r>
              <a:endParaRPr b="1" sz="1050">
                <a:solidFill>
                  <a:srgbClr val="23282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646E78"/>
                  </a:solidFill>
                  <a:latin typeface="Arial"/>
                  <a:ea typeface="Arial"/>
                  <a:cs typeface="Arial"/>
                  <a:sym typeface="Arial"/>
                </a:rPr>
                <a:t>• FAX</a:t>
              </a:r>
              <a:endParaRPr sz="1000">
                <a:solidFill>
                  <a:srgbClr val="646E7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646E78"/>
                  </a:solidFill>
                  <a:latin typeface="Arial"/>
                  <a:ea typeface="Arial"/>
                  <a:cs typeface="Arial"/>
                  <a:sym typeface="Arial"/>
                </a:rPr>
                <a:t>• EDMS</a:t>
              </a:r>
              <a:endParaRPr sz="1000">
                <a:solidFill>
                  <a:srgbClr val="646E7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646E78"/>
                  </a:solidFill>
                  <a:latin typeface="Arial"/>
                  <a:ea typeface="Arial"/>
                  <a:cs typeface="Arial"/>
                  <a:sym typeface="Arial"/>
                </a:rPr>
                <a:t>• Image 변환</a:t>
              </a:r>
              <a:endParaRPr sz="1000">
                <a:solidFill>
                  <a:srgbClr val="646E7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447" name="Google Shape;3447;p6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848225" y="1681163"/>
              <a:ext cx="485700" cy="1838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48" name="Google Shape;3448;p66"/>
            <p:cNvSpPr/>
            <p:nvPr/>
          </p:nvSpPr>
          <p:spPr>
            <a:xfrm>
              <a:off x="5334000" y="1428750"/>
              <a:ext cx="1619100" cy="457200"/>
            </a:xfrm>
            <a:prstGeom prst="roundRect">
              <a:avLst>
                <a:gd fmla="val 12500" name="adj"/>
              </a:avLst>
            </a:prstGeom>
            <a:solidFill>
              <a:srgbClr val="FFFFFF"/>
            </a:solidFill>
            <a:ln cap="flat" cmpd="sng" w="14300">
              <a:solidFill>
                <a:srgbClr val="3678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9" name="Google Shape;3449;p66"/>
            <p:cNvSpPr txBox="1"/>
            <p:nvPr/>
          </p:nvSpPr>
          <p:spPr>
            <a:xfrm>
              <a:off x="5334000" y="1428750"/>
              <a:ext cx="16191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67856"/>
                  </a:solidFill>
                  <a:latin typeface="Arial"/>
                  <a:ea typeface="Arial"/>
                  <a:cs typeface="Arial"/>
                  <a:sym typeface="Arial"/>
                </a:rPr>
                <a:t>SUCCESS</a:t>
              </a:r>
              <a:endParaRPr b="1" sz="1100">
                <a:solidFill>
                  <a:srgbClr val="36785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0" name="Google Shape;3450;p66"/>
            <p:cNvSpPr/>
            <p:nvPr/>
          </p:nvSpPr>
          <p:spPr>
            <a:xfrm>
              <a:off x="5334000" y="2047875"/>
              <a:ext cx="1619100" cy="457200"/>
            </a:xfrm>
            <a:prstGeom prst="roundRect">
              <a:avLst>
                <a:gd fmla="val 12500" name="adj"/>
              </a:avLst>
            </a:prstGeom>
            <a:solidFill>
              <a:srgbClr val="FFFFFF"/>
            </a:solidFill>
            <a:ln cap="flat" cmpd="sng" w="14300">
              <a:solidFill>
                <a:srgbClr val="B7702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1" name="Google Shape;3451;p66"/>
            <p:cNvSpPr txBox="1"/>
            <p:nvPr/>
          </p:nvSpPr>
          <p:spPr>
            <a:xfrm>
              <a:off x="5334000" y="2047875"/>
              <a:ext cx="16191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B77025"/>
                  </a:solidFill>
                  <a:latin typeface="Arial"/>
                  <a:ea typeface="Arial"/>
                  <a:cs typeface="Arial"/>
                  <a:sym typeface="Arial"/>
                </a:rPr>
                <a:t>PARTIAL</a:t>
              </a:r>
              <a:endParaRPr b="1" sz="1100">
                <a:solidFill>
                  <a:srgbClr val="B770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2" name="Google Shape;3452;p66"/>
            <p:cNvSpPr/>
            <p:nvPr/>
          </p:nvSpPr>
          <p:spPr>
            <a:xfrm>
              <a:off x="5334000" y="2667000"/>
              <a:ext cx="1619100" cy="457200"/>
            </a:xfrm>
            <a:prstGeom prst="roundRect">
              <a:avLst>
                <a:gd fmla="val 12500" name="adj"/>
              </a:avLst>
            </a:prstGeom>
            <a:solidFill>
              <a:srgbClr val="FFFFFF"/>
            </a:solidFill>
            <a:ln cap="flat" cmpd="sng" w="14300">
              <a:solidFill>
                <a:srgbClr val="A03E3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3" name="Google Shape;3453;p66"/>
            <p:cNvSpPr txBox="1"/>
            <p:nvPr/>
          </p:nvSpPr>
          <p:spPr>
            <a:xfrm>
              <a:off x="5334000" y="2667000"/>
              <a:ext cx="16191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A03E3E"/>
                  </a:solidFill>
                  <a:latin typeface="Arial"/>
                  <a:ea typeface="Arial"/>
                  <a:cs typeface="Arial"/>
                  <a:sym typeface="Arial"/>
                </a:rPr>
                <a:t>FAIL</a:t>
              </a:r>
              <a:endParaRPr b="1" sz="1100">
                <a:solidFill>
                  <a:srgbClr val="A03E3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4" name="Google Shape;3454;p66"/>
            <p:cNvSpPr/>
            <p:nvPr/>
          </p:nvSpPr>
          <p:spPr>
            <a:xfrm>
              <a:off x="5334000" y="3286125"/>
              <a:ext cx="1619100" cy="457200"/>
            </a:xfrm>
            <a:prstGeom prst="roundRect">
              <a:avLst>
                <a:gd fmla="val 12500" name="adj"/>
              </a:avLst>
            </a:prstGeom>
            <a:solidFill>
              <a:srgbClr val="FFFFFF"/>
            </a:solidFill>
            <a:ln cap="flat" cmpd="sng" w="14300">
              <a:solidFill>
                <a:srgbClr val="646E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5" name="Google Shape;3455;p66"/>
            <p:cNvSpPr txBox="1"/>
            <p:nvPr/>
          </p:nvSpPr>
          <p:spPr>
            <a:xfrm>
              <a:off x="5334000" y="3286125"/>
              <a:ext cx="16191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646E78"/>
                  </a:solidFill>
                  <a:latin typeface="Arial"/>
                  <a:ea typeface="Arial"/>
                  <a:cs typeface="Arial"/>
                  <a:sym typeface="Arial"/>
                </a:rPr>
                <a:t>UNKNOWN</a:t>
              </a:r>
              <a:endParaRPr b="1" sz="1100">
                <a:solidFill>
                  <a:srgbClr val="646E7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6" name="Google Shape;3456;p66"/>
            <p:cNvSpPr/>
            <p:nvPr/>
          </p:nvSpPr>
          <p:spPr>
            <a:xfrm>
              <a:off x="7334250" y="1428750"/>
              <a:ext cx="2190900" cy="809700"/>
            </a:xfrm>
            <a:prstGeom prst="roundRect">
              <a:avLst>
                <a:gd fmla="val 9411" name="adj"/>
              </a:avLst>
            </a:prstGeom>
            <a:solidFill>
              <a:srgbClr val="F4F7FA"/>
            </a:solidFill>
            <a:ln cap="flat" cmpd="sng" w="11425">
              <a:solidFill>
                <a:srgbClr val="E1E4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7" name="Google Shape;3457;p66"/>
            <p:cNvSpPr txBox="1"/>
            <p:nvPr/>
          </p:nvSpPr>
          <p:spPr>
            <a:xfrm>
              <a:off x="7334250" y="1428750"/>
              <a:ext cx="21909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rPr>
                <a:t>Retry</a:t>
              </a:r>
              <a:endParaRPr b="1" sz="11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• 중복 발행 방지</a:t>
              </a:r>
              <a:br>
                <a:rPr lang="en-US" sz="95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95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• Request ID 필요</a:t>
              </a:r>
              <a:endParaRPr sz="95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8" name="Google Shape;3458;p66"/>
            <p:cNvSpPr/>
            <p:nvPr/>
          </p:nvSpPr>
          <p:spPr>
            <a:xfrm>
              <a:off x="7334250" y="2352675"/>
              <a:ext cx="2190900" cy="809700"/>
            </a:xfrm>
            <a:prstGeom prst="roundRect">
              <a:avLst>
                <a:gd fmla="val 9411" name="adj"/>
              </a:avLst>
            </a:prstGeom>
            <a:solidFill>
              <a:srgbClr val="F4F7FA"/>
            </a:solidFill>
            <a:ln cap="flat" cmpd="sng" w="11425">
              <a:solidFill>
                <a:srgbClr val="E1E4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9" name="Google Shape;3459;p66"/>
            <p:cNvSpPr txBox="1"/>
            <p:nvPr/>
          </p:nvSpPr>
          <p:spPr>
            <a:xfrm>
              <a:off x="7334250" y="2352675"/>
              <a:ext cx="21909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rPr>
                <a:t>Audit</a:t>
              </a:r>
              <a:endParaRPr b="1" sz="11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• 요청/처리/결과</a:t>
              </a:r>
              <a:br>
                <a:rPr lang="en-US" sz="95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95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• 이력 추적성 확보</a:t>
              </a:r>
              <a:endParaRPr sz="95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0" name="Google Shape;3460;p66"/>
            <p:cNvSpPr/>
            <p:nvPr/>
          </p:nvSpPr>
          <p:spPr>
            <a:xfrm>
              <a:off x="7334250" y="3276600"/>
              <a:ext cx="2190900" cy="809700"/>
            </a:xfrm>
            <a:prstGeom prst="roundRect">
              <a:avLst>
                <a:gd fmla="val 9411" name="adj"/>
              </a:avLst>
            </a:prstGeom>
            <a:solidFill>
              <a:srgbClr val="E0EBF7"/>
            </a:solidFill>
            <a:ln cap="flat" cmpd="sng" w="11425">
              <a:solidFill>
                <a:srgbClr val="2C5B8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1" name="Google Shape;3461;p66"/>
            <p:cNvSpPr txBox="1"/>
            <p:nvPr/>
          </p:nvSpPr>
          <p:spPr>
            <a:xfrm>
              <a:off x="7334250" y="3276600"/>
              <a:ext cx="21909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C5B8C"/>
                  </a:solidFill>
                  <a:latin typeface="Arial"/>
                  <a:ea typeface="Arial"/>
                  <a:cs typeface="Arial"/>
                  <a:sym typeface="Arial"/>
                </a:rPr>
                <a:t>ADR (의사결정 필요)</a:t>
              </a:r>
              <a:endParaRPr b="1" sz="1100">
                <a:solidFill>
                  <a:srgbClr val="2C5B8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rPr>
                <a:t>• 발행 성공 + 후처리 실패 정의</a:t>
              </a:r>
              <a:endParaRPr sz="95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2" name="Google Shape;3462;p66"/>
            <p:cNvSpPr/>
            <p:nvPr/>
          </p:nvSpPr>
          <p:spPr>
            <a:xfrm>
              <a:off x="381000" y="4429125"/>
              <a:ext cx="9144000" cy="723900"/>
            </a:xfrm>
            <a:prstGeom prst="roundRect">
              <a:avLst>
                <a:gd fmla="val 10526" name="adj"/>
              </a:avLst>
            </a:prstGeom>
            <a:solidFill>
              <a:srgbClr val="FFF8F2"/>
            </a:solidFill>
            <a:ln cap="flat" cmpd="sng" w="14300">
              <a:solidFill>
                <a:srgbClr val="F3D9C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3" name="Google Shape;3463;p66"/>
            <p:cNvSpPr txBox="1"/>
            <p:nvPr/>
          </p:nvSpPr>
          <p:spPr>
            <a:xfrm>
              <a:off x="381000" y="4429125"/>
              <a:ext cx="91440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B77025"/>
                  </a:solidFill>
                  <a:latin typeface="Arial"/>
                  <a:ea typeface="Arial"/>
                  <a:cs typeface="Arial"/>
                  <a:sym typeface="Arial"/>
                </a:rPr>
                <a:t>💡 AA 의사결정 필요</a:t>
              </a:r>
              <a:endParaRPr b="1" sz="1100">
                <a:solidFill>
                  <a:srgbClr val="B7702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'OZ 발행 SUCCESS + 후처리 FAIL'을 최종적으로 SUCCESS / PARTIAL / FAIL 중 무엇으로 정의할 것인가?</a:t>
              </a:r>
              <a:endParaRPr sz="105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7" name="Shape 3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8" name="Google Shape;3468;p67"/>
          <p:cNvSpPr/>
          <p:nvPr/>
        </p:nvSpPr>
        <p:spPr>
          <a:xfrm>
            <a:off x="0" y="0"/>
            <a:ext cx="9906000" cy="502800"/>
          </a:xfrm>
          <a:prstGeom prst="rect">
            <a:avLst/>
          </a:prstGeom>
          <a:solidFill>
            <a:srgbClr val="1A395B"/>
          </a:solidFill>
          <a:ln cap="flat" cmpd="sng" w="9525">
            <a:solidFill>
              <a:srgbClr val="1A39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9" name="Google Shape;3469;p67"/>
          <p:cNvSpPr txBox="1"/>
          <p:nvPr/>
        </p:nvSpPr>
        <p:spPr>
          <a:xfrm>
            <a:off x="320040" y="64008"/>
            <a:ext cx="2926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아키텍처 고도화 보완</a:t>
            </a:r>
            <a:endParaRPr/>
          </a:p>
        </p:txBody>
      </p:sp>
      <p:sp>
        <p:nvSpPr>
          <p:cNvPr id="3470" name="Google Shape;3470;p67"/>
          <p:cNvSpPr txBox="1"/>
          <p:nvPr/>
        </p:nvSpPr>
        <p:spPr>
          <a:xfrm>
            <a:off x="411480" y="658368"/>
            <a:ext cx="10972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1A395B"/>
                </a:solidFill>
                <a:latin typeface="Malgun Gothic"/>
                <a:ea typeface="Malgun Gothic"/>
                <a:cs typeface="Malgun Gothic"/>
                <a:sym typeface="Malgun Gothic"/>
              </a:rPr>
              <a:t>4.8 AA / TA 책임 경계 및 협업 포인트</a:t>
            </a:r>
            <a:endParaRPr/>
          </a:p>
        </p:txBody>
      </p:sp>
      <p:sp>
        <p:nvSpPr>
          <p:cNvPr id="3471" name="Google Shape;3471;p67"/>
          <p:cNvSpPr txBox="1"/>
          <p:nvPr/>
        </p:nvSpPr>
        <p:spPr>
          <a:xfrm>
            <a:off x="429768" y="1143000"/>
            <a:ext cx="10972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46E78"/>
                </a:solidFill>
                <a:latin typeface="Malgun Gothic"/>
                <a:ea typeface="Malgun Gothic"/>
                <a:cs typeface="Malgun Gothic"/>
                <a:sym typeface="Malgun Gothic"/>
              </a:rPr>
              <a:t>AA는 애플리케이션 논리·처리·연계 기준을 정의하고, TA는 물리 배치·가용성·인프라 구성을 구체화</a:t>
            </a:r>
            <a:endParaRPr/>
          </a:p>
        </p:txBody>
      </p:sp>
      <p:sp>
        <p:nvSpPr>
          <p:cNvPr id="3472" name="Google Shape;3472;p67"/>
          <p:cNvSpPr txBox="1"/>
          <p:nvPr/>
        </p:nvSpPr>
        <p:spPr>
          <a:xfrm>
            <a:off x="10698480" y="6446520"/>
            <a:ext cx="1005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646E78"/>
                </a:solidFill>
                <a:latin typeface="Malgun Gothic"/>
                <a:ea typeface="Malgun Gothic"/>
                <a:cs typeface="Malgun Gothic"/>
                <a:sym typeface="Malgun Gothic"/>
              </a:rPr>
              <a:t>AA 보완안</a:t>
            </a:r>
            <a:endParaRPr/>
          </a:p>
        </p:txBody>
      </p:sp>
      <p:sp>
        <p:nvSpPr>
          <p:cNvPr id="3473" name="Google Shape;3473;p67"/>
          <p:cNvSpPr/>
          <p:nvPr/>
        </p:nvSpPr>
        <p:spPr>
          <a:xfrm>
            <a:off x="381000" y="1619250"/>
            <a:ext cx="4191000" cy="3619500"/>
          </a:xfrm>
          <a:prstGeom prst="roundRect">
            <a:avLst>
              <a:gd fmla="val 5263" name="adj"/>
            </a:avLst>
          </a:prstGeom>
          <a:solidFill>
            <a:srgbClr val="EBF2FA"/>
          </a:solidFill>
          <a:ln cap="flat" cmpd="sng" w="14300">
            <a:solidFill>
              <a:srgbClr val="B3CD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4" name="Google Shape;3474;p67"/>
          <p:cNvSpPr txBox="1"/>
          <p:nvPr/>
        </p:nvSpPr>
        <p:spPr>
          <a:xfrm>
            <a:off x="571500" y="1762125"/>
            <a:ext cx="38100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rPr>
              <a:t>AA — Application Architecture</a:t>
            </a:r>
            <a:endParaRPr b="1" sz="1400">
              <a:solidFill>
                <a:srgbClr val="1A39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5" name="Google Shape;3475;p67"/>
          <p:cNvSpPr txBox="1"/>
          <p:nvPr/>
        </p:nvSpPr>
        <p:spPr>
          <a:xfrm>
            <a:off x="571500" y="2190750"/>
            <a:ext cx="3429000" cy="164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2C5B8C"/>
                </a:solidFill>
                <a:latin typeface="Arial"/>
                <a:ea typeface="Arial"/>
                <a:cs typeface="Arial"/>
                <a:sym typeface="Arial"/>
              </a:rPr>
              <a:t>• 업무시스템 / Application</a:t>
            </a:r>
            <a:endParaRPr b="1" sz="1100">
              <a:solidFill>
                <a:srgbClr val="2C5B8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23282D"/>
                </a:solidFill>
                <a:latin typeface="Arial"/>
                <a:ea typeface="Arial"/>
                <a:cs typeface="Arial"/>
                <a:sym typeface="Arial"/>
              </a:rPr>
              <a:t>• OZ Viewer / eForm / Scheduler 논리 역할</a:t>
            </a:r>
            <a:endParaRPr b="0" sz="1100">
              <a:solidFill>
                <a:srgbClr val="23282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23282D"/>
                </a:solidFill>
                <a:latin typeface="Arial"/>
                <a:ea typeface="Arial"/>
                <a:cs typeface="Arial"/>
                <a:sym typeface="Arial"/>
              </a:rPr>
              <a:t>• Async / Handler / 후처리</a:t>
            </a:r>
            <a:endParaRPr b="0" sz="1100">
              <a:solidFill>
                <a:srgbClr val="23282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23282D"/>
                </a:solidFill>
                <a:latin typeface="Arial"/>
                <a:ea typeface="Arial"/>
                <a:cs typeface="Arial"/>
                <a:sym typeface="Arial"/>
              </a:rPr>
              <a:t>• FAX / EDMS / Image / Remote 연계</a:t>
            </a:r>
            <a:endParaRPr b="0" sz="1100">
              <a:solidFill>
                <a:srgbClr val="23282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23282D"/>
                </a:solidFill>
                <a:latin typeface="Arial"/>
                <a:ea typeface="Arial"/>
                <a:cs typeface="Arial"/>
                <a:sym typeface="Arial"/>
              </a:rPr>
              <a:t>• Endpoint / Parameter / Interface</a:t>
            </a:r>
            <a:endParaRPr b="0" sz="1100">
              <a:solidFill>
                <a:srgbClr val="23282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23282D"/>
                </a:solidFill>
                <a:latin typeface="Arial"/>
                <a:ea typeface="Arial"/>
                <a:cs typeface="Arial"/>
                <a:sym typeface="Arial"/>
              </a:rPr>
              <a:t>• 처리상태 / 오류 / Retry 원칙</a:t>
            </a:r>
            <a:endParaRPr b="0" sz="1100">
              <a:solidFill>
                <a:srgbClr val="23282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23282D"/>
                </a:solidFill>
                <a:latin typeface="Arial"/>
                <a:ea typeface="Arial"/>
                <a:cs typeface="Arial"/>
                <a:sym typeface="Arial"/>
              </a:rPr>
              <a:t>• E2E 및 마이그레이션 기준</a:t>
            </a:r>
            <a:endParaRPr b="0" sz="1100">
              <a:solidFill>
                <a:srgbClr val="23282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6" name="Google Shape;3476;p67"/>
          <p:cNvSpPr/>
          <p:nvPr/>
        </p:nvSpPr>
        <p:spPr>
          <a:xfrm>
            <a:off x="5334000" y="1619250"/>
            <a:ext cx="4191000" cy="3619500"/>
          </a:xfrm>
          <a:prstGeom prst="roundRect">
            <a:avLst>
              <a:gd fmla="val 5263" name="adj"/>
            </a:avLst>
          </a:prstGeom>
          <a:solidFill>
            <a:srgbClr val="F4F7FA"/>
          </a:solidFill>
          <a:ln cap="flat" cmpd="sng" w="143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7" name="Google Shape;3477;p67"/>
          <p:cNvSpPr txBox="1"/>
          <p:nvPr/>
        </p:nvSpPr>
        <p:spPr>
          <a:xfrm>
            <a:off x="5524500" y="1762125"/>
            <a:ext cx="38100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rPr>
              <a:t>TA — Technical Architecture</a:t>
            </a:r>
            <a:endParaRPr b="1" sz="1400">
              <a:solidFill>
                <a:srgbClr val="1A39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8" name="Google Shape;3478;p67"/>
          <p:cNvSpPr txBox="1"/>
          <p:nvPr/>
        </p:nvSpPr>
        <p:spPr>
          <a:xfrm>
            <a:off x="5715000" y="2190750"/>
            <a:ext cx="3619500" cy="164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646E78"/>
                </a:solidFill>
                <a:latin typeface="Arial"/>
                <a:ea typeface="Arial"/>
                <a:cs typeface="Arial"/>
                <a:sym typeface="Arial"/>
              </a:rPr>
              <a:t>• 물리/가상 서버 및 OS</a:t>
            </a:r>
            <a:endParaRPr b="1" sz="1100">
              <a:solidFill>
                <a:srgbClr val="646E7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23282D"/>
                </a:solidFill>
                <a:latin typeface="Arial"/>
                <a:ea typeface="Arial"/>
                <a:cs typeface="Arial"/>
                <a:sym typeface="Arial"/>
              </a:rPr>
              <a:t>• WEB/WAS 물리 배치</a:t>
            </a:r>
            <a:endParaRPr b="0" sz="1100">
              <a:solidFill>
                <a:srgbClr val="23282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23282D"/>
                </a:solidFill>
                <a:latin typeface="Arial"/>
                <a:ea typeface="Arial"/>
                <a:cs typeface="Arial"/>
                <a:sym typeface="Arial"/>
              </a:rPr>
              <a:t>• L4 / VIP / Network Zone</a:t>
            </a:r>
            <a:endParaRPr b="0" sz="1100">
              <a:solidFill>
                <a:srgbClr val="23282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23282D"/>
                </a:solidFill>
                <a:latin typeface="Arial"/>
                <a:ea typeface="Arial"/>
                <a:cs typeface="Arial"/>
                <a:sym typeface="Arial"/>
              </a:rPr>
              <a:t>• Storage / NAS / Mount</a:t>
            </a:r>
            <a:endParaRPr b="0" sz="1100">
              <a:solidFill>
                <a:srgbClr val="23282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23282D"/>
                </a:solidFill>
                <a:latin typeface="Arial"/>
                <a:ea typeface="Arial"/>
                <a:cs typeface="Arial"/>
                <a:sym typeface="Arial"/>
              </a:rPr>
              <a:t>• HA / Backup / DR</a:t>
            </a:r>
            <a:endParaRPr b="0" sz="1100">
              <a:solidFill>
                <a:srgbClr val="23282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23282D"/>
                </a:solidFill>
                <a:latin typeface="Arial"/>
                <a:ea typeface="Arial"/>
                <a:cs typeface="Arial"/>
                <a:sym typeface="Arial"/>
              </a:rPr>
              <a:t>• 용량 / 자원 / 운영 인프라</a:t>
            </a:r>
            <a:endParaRPr b="0" sz="1100">
              <a:solidFill>
                <a:srgbClr val="23282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23282D"/>
                </a:solidFill>
                <a:latin typeface="Arial"/>
                <a:ea typeface="Arial"/>
                <a:cs typeface="Arial"/>
                <a:sym typeface="Arial"/>
              </a:rPr>
              <a:t>• 기술 모니터링 구성</a:t>
            </a:r>
            <a:endParaRPr b="0" sz="1100">
              <a:solidFill>
                <a:srgbClr val="23282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9" name="Google Shape;3479;p67"/>
          <p:cNvSpPr/>
          <p:nvPr/>
        </p:nvSpPr>
        <p:spPr>
          <a:xfrm>
            <a:off x="4286250" y="2905125"/>
            <a:ext cx="1333500" cy="1047900"/>
          </a:xfrm>
          <a:prstGeom prst="roundRect">
            <a:avLst>
              <a:gd fmla="val 14545" name="adj"/>
            </a:avLst>
          </a:prstGeom>
          <a:solidFill>
            <a:srgbClr val="FFFFFF"/>
          </a:solidFill>
          <a:ln cap="flat" cmpd="sng" w="19050">
            <a:solidFill>
              <a:srgbClr val="B7702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0" name="Google Shape;3480;p67"/>
          <p:cNvSpPr txBox="1"/>
          <p:nvPr/>
        </p:nvSpPr>
        <p:spPr>
          <a:xfrm>
            <a:off x="4286250" y="2905125"/>
            <a:ext cx="1333500" cy="42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B77025"/>
                </a:solidFill>
                <a:latin typeface="Arial"/>
                <a:ea typeface="Arial"/>
                <a:cs typeface="Arial"/>
                <a:sym typeface="Arial"/>
              </a:rPr>
              <a:t>협업</a:t>
            </a:r>
            <a:endParaRPr b="1" sz="1200">
              <a:solidFill>
                <a:srgbClr val="B7702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rPr>
              <a:t>Interface</a:t>
            </a:r>
            <a:endParaRPr b="1" sz="1300">
              <a:solidFill>
                <a:srgbClr val="1A39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1" name="Google Shape;3481;p67"/>
          <p:cNvSpPr/>
          <p:nvPr/>
        </p:nvSpPr>
        <p:spPr>
          <a:xfrm>
            <a:off x="381000" y="5429250"/>
            <a:ext cx="9144000" cy="533400"/>
          </a:xfrm>
          <a:prstGeom prst="roundRect">
            <a:avLst>
              <a:gd fmla="val 14285" name="adj"/>
            </a:avLst>
          </a:prstGeom>
          <a:solidFill>
            <a:srgbClr val="FFF8F2"/>
          </a:solidFill>
          <a:ln cap="flat" cmpd="sng" w="14300">
            <a:solidFill>
              <a:srgbClr val="F3D9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2" name="Google Shape;3482;p67"/>
          <p:cNvSpPr txBox="1"/>
          <p:nvPr/>
        </p:nvSpPr>
        <p:spPr>
          <a:xfrm>
            <a:off x="381000" y="5429250"/>
            <a:ext cx="91440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B77025"/>
                </a:solidFill>
                <a:latin typeface="Arial"/>
                <a:ea typeface="Arial"/>
                <a:cs typeface="Arial"/>
                <a:sym typeface="Arial"/>
              </a:rPr>
              <a:t>🤝 공동 확정 대상: WEB/WAS ↔ OZ 배치, Scheduler VIP, Async 배치, NAS/공유저장소, 보안구간, 장애/Failover</a:t>
            </a:r>
            <a:endParaRPr b="1" sz="1100">
              <a:solidFill>
                <a:srgbClr val="B7702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6" name="Shape 3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7" name="Google Shape;3487;p68"/>
          <p:cNvSpPr/>
          <p:nvPr/>
        </p:nvSpPr>
        <p:spPr>
          <a:xfrm>
            <a:off x="0" y="0"/>
            <a:ext cx="9906000" cy="502800"/>
          </a:xfrm>
          <a:prstGeom prst="rect">
            <a:avLst/>
          </a:prstGeom>
          <a:solidFill>
            <a:srgbClr val="1A395B"/>
          </a:solidFill>
          <a:ln cap="flat" cmpd="sng" w="9525">
            <a:solidFill>
              <a:srgbClr val="1A39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8" name="Google Shape;3488;p68"/>
          <p:cNvSpPr txBox="1"/>
          <p:nvPr/>
        </p:nvSpPr>
        <p:spPr>
          <a:xfrm>
            <a:off x="320040" y="64008"/>
            <a:ext cx="2926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아키텍처 고도화 보완</a:t>
            </a:r>
            <a:endParaRPr/>
          </a:p>
        </p:txBody>
      </p:sp>
      <p:sp>
        <p:nvSpPr>
          <p:cNvPr id="3489" name="Google Shape;3489;p68"/>
          <p:cNvSpPr txBox="1"/>
          <p:nvPr/>
        </p:nvSpPr>
        <p:spPr>
          <a:xfrm>
            <a:off x="411480" y="658368"/>
            <a:ext cx="10972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1A395B"/>
                </a:solidFill>
                <a:latin typeface="Malgun Gothic"/>
                <a:ea typeface="Malgun Gothic"/>
                <a:cs typeface="Malgun Gothic"/>
                <a:sym typeface="Malgun Gothic"/>
              </a:rPr>
              <a:t>4.9 요구사항 → 아키텍처 → 검증 추적성</a:t>
            </a:r>
            <a:endParaRPr/>
          </a:p>
        </p:txBody>
      </p:sp>
      <p:sp>
        <p:nvSpPr>
          <p:cNvPr id="3490" name="Google Shape;3490;p68"/>
          <p:cNvSpPr txBox="1"/>
          <p:nvPr/>
        </p:nvSpPr>
        <p:spPr>
          <a:xfrm>
            <a:off x="429768" y="1143000"/>
            <a:ext cx="10972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46E78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감리 관점에서 요구사항 정의서의 AA 항목이 어느 설계와 검증으로 이어지는지 추적 가능하게 구성</a:t>
            </a:r>
            <a:endParaRPr/>
          </a:p>
        </p:txBody>
      </p:sp>
      <p:sp>
        <p:nvSpPr>
          <p:cNvPr id="3491" name="Google Shape;3491;p68"/>
          <p:cNvSpPr txBox="1"/>
          <p:nvPr/>
        </p:nvSpPr>
        <p:spPr>
          <a:xfrm>
            <a:off x="10698480" y="6446520"/>
            <a:ext cx="1005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646E78"/>
                </a:solidFill>
                <a:latin typeface="Malgun Gothic"/>
                <a:ea typeface="Malgun Gothic"/>
                <a:cs typeface="Malgun Gothic"/>
                <a:sym typeface="Malgun Gothic"/>
              </a:rPr>
              <a:t>AA 보완안</a:t>
            </a:r>
            <a:endParaRPr/>
          </a:p>
        </p:txBody>
      </p:sp>
      <p:grpSp>
        <p:nvGrpSpPr>
          <p:cNvPr id="3492" name="Google Shape;3492;p68"/>
          <p:cNvGrpSpPr/>
          <p:nvPr/>
        </p:nvGrpSpPr>
        <p:grpSpPr>
          <a:xfrm>
            <a:off x="428625" y="1714500"/>
            <a:ext cx="9239100" cy="1714500"/>
            <a:chOff x="0" y="0"/>
            <a:chExt cx="9239100" cy="1714500"/>
          </a:xfrm>
        </p:grpSpPr>
        <p:sp>
          <p:nvSpPr>
            <p:cNvPr id="3493" name="Google Shape;3493;p68"/>
            <p:cNvSpPr/>
            <p:nvPr/>
          </p:nvSpPr>
          <p:spPr>
            <a:xfrm>
              <a:off x="0" y="0"/>
              <a:ext cx="1619100" cy="1714500"/>
            </a:xfrm>
            <a:prstGeom prst="roundRect">
              <a:avLst>
                <a:gd fmla="val 9411" name="adj"/>
              </a:avLst>
            </a:prstGeom>
            <a:solidFill>
              <a:srgbClr val="F4F7FA"/>
            </a:solidFill>
            <a:ln cap="flat" cmpd="sng" w="14300">
              <a:solidFill>
                <a:srgbClr val="E1E4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4" name="Google Shape;3494;p68"/>
            <p:cNvSpPr/>
            <p:nvPr/>
          </p:nvSpPr>
          <p:spPr>
            <a:xfrm>
              <a:off x="152400" y="152400"/>
              <a:ext cx="571500" cy="228600"/>
            </a:xfrm>
            <a:prstGeom prst="roundRect">
              <a:avLst>
                <a:gd fmla="val 50000" name="adj"/>
              </a:avLst>
            </a:prstGeom>
            <a:solidFill>
              <a:srgbClr val="E0EB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5" name="Google Shape;3495;p68"/>
            <p:cNvSpPr txBox="1"/>
            <p:nvPr/>
          </p:nvSpPr>
          <p:spPr>
            <a:xfrm>
              <a:off x="152400" y="152400"/>
              <a:ext cx="571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rPr>
                <a:t>REQ</a:t>
              </a:r>
              <a:endParaRPr b="1" sz="8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6" name="Google Shape;3496;p68"/>
            <p:cNvSpPr txBox="1"/>
            <p:nvPr/>
          </p:nvSpPr>
          <p:spPr>
            <a:xfrm>
              <a:off x="152400" y="495300"/>
              <a:ext cx="13146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rPr>
                <a:t>요구사항</a:t>
              </a:r>
              <a:endParaRPr b="1" sz="13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646E78"/>
                  </a:solidFill>
                  <a:latin typeface="Arial"/>
                  <a:ea typeface="Arial"/>
                  <a:cs typeface="Arial"/>
                  <a:sym typeface="Arial"/>
                </a:rPr>
                <a:t>예: 대량발행 가용성</a:t>
              </a:r>
              <a:endParaRPr sz="950">
                <a:solidFill>
                  <a:srgbClr val="646E7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7" name="Google Shape;3497;p68"/>
            <p:cNvSpPr/>
            <p:nvPr/>
          </p:nvSpPr>
          <p:spPr>
            <a:xfrm>
              <a:off x="1714500" y="819150"/>
              <a:ext cx="95400" cy="762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72000" y="0"/>
                  </a:moveTo>
                  <a:lnTo>
                    <a:pt x="120000" y="60000"/>
                  </a:lnTo>
                  <a:lnTo>
                    <a:pt x="72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2C5B8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8" name="Google Shape;3498;p68"/>
            <p:cNvSpPr/>
            <p:nvPr/>
          </p:nvSpPr>
          <p:spPr>
            <a:xfrm>
              <a:off x="1905000" y="0"/>
              <a:ext cx="1619100" cy="1714500"/>
            </a:xfrm>
            <a:prstGeom prst="roundRect">
              <a:avLst>
                <a:gd fmla="val 9411" name="adj"/>
              </a:avLst>
            </a:prstGeom>
            <a:solidFill>
              <a:srgbClr val="F4F7FA"/>
            </a:solidFill>
            <a:ln cap="flat" cmpd="sng" w="14300">
              <a:solidFill>
                <a:srgbClr val="E1E4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9" name="Google Shape;3499;p68"/>
            <p:cNvSpPr/>
            <p:nvPr/>
          </p:nvSpPr>
          <p:spPr>
            <a:xfrm>
              <a:off x="2057400" y="152400"/>
              <a:ext cx="762000" cy="228600"/>
            </a:xfrm>
            <a:prstGeom prst="roundRect">
              <a:avLst>
                <a:gd fmla="val 50000" name="adj"/>
              </a:avLst>
            </a:prstGeom>
            <a:solidFill>
              <a:srgbClr val="E0EB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0" name="Google Shape;3500;p68"/>
            <p:cNvSpPr txBox="1"/>
            <p:nvPr/>
          </p:nvSpPr>
          <p:spPr>
            <a:xfrm>
              <a:off x="2057400" y="152400"/>
              <a:ext cx="762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rPr>
                <a:t>PRINCIPLE</a:t>
              </a:r>
              <a:endParaRPr b="1" sz="8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1" name="Google Shape;3501;p68"/>
            <p:cNvSpPr txBox="1"/>
            <p:nvPr/>
          </p:nvSpPr>
          <p:spPr>
            <a:xfrm>
              <a:off x="2057400" y="495300"/>
              <a:ext cx="13146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rPr>
                <a:t>설계 원칙</a:t>
              </a:r>
              <a:endParaRPr b="1" sz="13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646E78"/>
                  </a:solidFill>
                  <a:latin typeface="Arial"/>
                  <a:ea typeface="Arial"/>
                  <a:cs typeface="Arial"/>
                  <a:sym typeface="Arial"/>
                </a:rPr>
                <a:t>분산·무중단</a:t>
              </a:r>
              <a:endParaRPr sz="950">
                <a:solidFill>
                  <a:srgbClr val="646E7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2" name="Google Shape;3502;p68"/>
            <p:cNvSpPr/>
            <p:nvPr/>
          </p:nvSpPr>
          <p:spPr>
            <a:xfrm>
              <a:off x="3619500" y="819150"/>
              <a:ext cx="95400" cy="762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72000" y="0"/>
                  </a:moveTo>
                  <a:lnTo>
                    <a:pt x="120000" y="60000"/>
                  </a:lnTo>
                  <a:lnTo>
                    <a:pt x="72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2C5B8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3" name="Google Shape;3503;p68"/>
            <p:cNvSpPr/>
            <p:nvPr/>
          </p:nvSpPr>
          <p:spPr>
            <a:xfrm>
              <a:off x="3810000" y="0"/>
              <a:ext cx="1619100" cy="1714500"/>
            </a:xfrm>
            <a:prstGeom prst="roundRect">
              <a:avLst>
                <a:gd fmla="val 9411" name="adj"/>
              </a:avLst>
            </a:prstGeom>
            <a:solidFill>
              <a:srgbClr val="E0EBF7"/>
            </a:solidFill>
            <a:ln cap="flat" cmpd="sng" w="14300">
              <a:solidFill>
                <a:srgbClr val="B3CDE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4" name="Google Shape;3504;p68"/>
            <p:cNvSpPr/>
            <p:nvPr/>
          </p:nvSpPr>
          <p:spPr>
            <a:xfrm>
              <a:off x="3962400" y="152400"/>
              <a:ext cx="571500" cy="2286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5" name="Google Shape;3505;p68"/>
            <p:cNvSpPr txBox="1"/>
            <p:nvPr/>
          </p:nvSpPr>
          <p:spPr>
            <a:xfrm>
              <a:off x="3962400" y="152400"/>
              <a:ext cx="571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rPr>
                <a:t>ADR</a:t>
              </a:r>
              <a:endParaRPr b="1" sz="8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6" name="Google Shape;3506;p68"/>
            <p:cNvSpPr txBox="1"/>
            <p:nvPr/>
          </p:nvSpPr>
          <p:spPr>
            <a:xfrm>
              <a:off x="3962400" y="495300"/>
              <a:ext cx="13146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rPr>
                <a:t>의사결정</a:t>
              </a:r>
              <a:endParaRPr b="1" sz="13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23282D"/>
                  </a:solidFill>
                  <a:latin typeface="Arial"/>
                  <a:ea typeface="Arial"/>
                  <a:cs typeface="Arial"/>
                  <a:sym typeface="Arial"/>
                </a:rPr>
                <a:t>Scheduler L4 분산</a:t>
              </a:r>
              <a:endParaRPr sz="950">
                <a:solidFill>
                  <a:srgbClr val="23282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7" name="Google Shape;3507;p68"/>
            <p:cNvSpPr/>
            <p:nvPr/>
          </p:nvSpPr>
          <p:spPr>
            <a:xfrm>
              <a:off x="5524500" y="819150"/>
              <a:ext cx="95400" cy="762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72000" y="0"/>
                  </a:moveTo>
                  <a:lnTo>
                    <a:pt x="120000" y="60000"/>
                  </a:lnTo>
                  <a:lnTo>
                    <a:pt x="72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2C5B8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8" name="Google Shape;3508;p68"/>
            <p:cNvSpPr/>
            <p:nvPr/>
          </p:nvSpPr>
          <p:spPr>
            <a:xfrm>
              <a:off x="5715000" y="0"/>
              <a:ext cx="1619100" cy="1714500"/>
            </a:xfrm>
            <a:prstGeom prst="roundRect">
              <a:avLst>
                <a:gd fmla="val 9411" name="adj"/>
              </a:avLst>
            </a:prstGeom>
            <a:solidFill>
              <a:srgbClr val="F4F7FA"/>
            </a:solidFill>
            <a:ln cap="flat" cmpd="sng" w="14300">
              <a:solidFill>
                <a:srgbClr val="E1E4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9" name="Google Shape;3509;p68"/>
            <p:cNvSpPr/>
            <p:nvPr/>
          </p:nvSpPr>
          <p:spPr>
            <a:xfrm>
              <a:off x="5867400" y="152400"/>
              <a:ext cx="666900" cy="228600"/>
            </a:xfrm>
            <a:prstGeom prst="roundRect">
              <a:avLst>
                <a:gd fmla="val 50000" name="adj"/>
              </a:avLst>
            </a:prstGeom>
            <a:solidFill>
              <a:srgbClr val="E0EB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0" name="Google Shape;3510;p68"/>
            <p:cNvSpPr txBox="1"/>
            <p:nvPr/>
          </p:nvSpPr>
          <p:spPr>
            <a:xfrm>
              <a:off x="5867400" y="152400"/>
              <a:ext cx="666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rPr>
                <a:t>DESIGN</a:t>
              </a:r>
              <a:endParaRPr b="1" sz="8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1" name="Google Shape;3511;p68"/>
            <p:cNvSpPr txBox="1"/>
            <p:nvPr/>
          </p:nvSpPr>
          <p:spPr>
            <a:xfrm>
              <a:off x="5867400" y="495300"/>
              <a:ext cx="13146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rPr>
                <a:t>아키텍처</a:t>
              </a:r>
              <a:endParaRPr b="1" sz="13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646E78"/>
                  </a:solidFill>
                  <a:latin typeface="Arial"/>
                  <a:ea typeface="Arial"/>
                  <a:cs typeface="Arial"/>
                  <a:sym typeface="Arial"/>
                </a:rPr>
                <a:t>Scheduler Pool</a:t>
              </a:r>
              <a:endParaRPr sz="950">
                <a:solidFill>
                  <a:srgbClr val="646E7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2" name="Google Shape;3512;p68"/>
            <p:cNvSpPr/>
            <p:nvPr/>
          </p:nvSpPr>
          <p:spPr>
            <a:xfrm>
              <a:off x="7429500" y="819150"/>
              <a:ext cx="95400" cy="762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72000" y="0"/>
                  </a:moveTo>
                  <a:lnTo>
                    <a:pt x="120000" y="60000"/>
                  </a:lnTo>
                  <a:lnTo>
                    <a:pt x="72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2C5B8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3" name="Google Shape;3513;p68"/>
            <p:cNvSpPr/>
            <p:nvPr/>
          </p:nvSpPr>
          <p:spPr>
            <a:xfrm>
              <a:off x="7620000" y="0"/>
              <a:ext cx="1619100" cy="1714500"/>
            </a:xfrm>
            <a:prstGeom prst="roundRect">
              <a:avLst>
                <a:gd fmla="val 9411" name="adj"/>
              </a:avLst>
            </a:prstGeom>
            <a:solidFill>
              <a:srgbClr val="F4F7FA"/>
            </a:solidFill>
            <a:ln cap="flat" cmpd="sng" w="14300">
              <a:solidFill>
                <a:srgbClr val="E1E4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4" name="Google Shape;3514;p68"/>
            <p:cNvSpPr/>
            <p:nvPr/>
          </p:nvSpPr>
          <p:spPr>
            <a:xfrm>
              <a:off x="7772400" y="152400"/>
              <a:ext cx="666900" cy="228600"/>
            </a:xfrm>
            <a:prstGeom prst="roundRect">
              <a:avLst>
                <a:gd fmla="val 50000" name="adj"/>
              </a:avLst>
            </a:prstGeom>
            <a:solidFill>
              <a:srgbClr val="E0EB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5" name="Google Shape;3515;p68"/>
            <p:cNvSpPr txBox="1"/>
            <p:nvPr/>
          </p:nvSpPr>
          <p:spPr>
            <a:xfrm>
              <a:off x="7772400" y="152400"/>
              <a:ext cx="666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rPr>
                <a:t>VERIFY</a:t>
              </a:r>
              <a:endParaRPr b="1" sz="8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6" name="Google Shape;3516;p68"/>
            <p:cNvSpPr txBox="1"/>
            <p:nvPr/>
          </p:nvSpPr>
          <p:spPr>
            <a:xfrm>
              <a:off x="7772400" y="495300"/>
              <a:ext cx="13146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rPr>
                <a:t>검증</a:t>
              </a:r>
              <a:endParaRPr b="1" sz="13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646E78"/>
                  </a:solidFill>
                  <a:latin typeface="Arial"/>
                  <a:ea typeface="Arial"/>
                  <a:cs typeface="Arial"/>
                  <a:sym typeface="Arial"/>
                </a:rPr>
                <a:t>Failover / 부하 Test</a:t>
              </a:r>
              <a:endParaRPr sz="950">
                <a:solidFill>
                  <a:srgbClr val="646E7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17" name="Google Shape;3517;p68"/>
          <p:cNvGrpSpPr/>
          <p:nvPr/>
        </p:nvGrpSpPr>
        <p:grpSpPr>
          <a:xfrm>
            <a:off x="428625" y="3714750"/>
            <a:ext cx="9048900" cy="1428900"/>
            <a:chOff x="0" y="0"/>
            <a:chExt cx="9048900" cy="1428900"/>
          </a:xfrm>
        </p:grpSpPr>
        <p:sp>
          <p:nvSpPr>
            <p:cNvPr id="3518" name="Google Shape;3518;p68"/>
            <p:cNvSpPr/>
            <p:nvPr/>
          </p:nvSpPr>
          <p:spPr>
            <a:xfrm>
              <a:off x="0" y="0"/>
              <a:ext cx="9048900" cy="1428900"/>
            </a:xfrm>
            <a:prstGeom prst="roundRect">
              <a:avLst>
                <a:gd fmla="val 10666" name="adj"/>
              </a:avLst>
            </a:prstGeom>
            <a:solidFill>
              <a:srgbClr val="FFFFFF"/>
            </a:solidFill>
            <a:ln cap="flat" cmpd="sng" w="14300">
              <a:solidFill>
                <a:srgbClr val="E1E4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9" name="Google Shape;3519;p68"/>
            <p:cNvSpPr txBox="1"/>
            <p:nvPr/>
          </p:nvSpPr>
          <p:spPr>
            <a:xfrm>
              <a:off x="228600" y="190500"/>
              <a:ext cx="8591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rPr>
                <a:t>📌 권장 Traceability 항목</a:t>
              </a:r>
              <a:endParaRPr b="1" sz="13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0" name="Google Shape;3520;p68"/>
            <p:cNvSpPr txBox="1"/>
            <p:nvPr/>
          </p:nvSpPr>
          <p:spPr>
            <a:xfrm>
              <a:off x="228600" y="533400"/>
              <a:ext cx="8591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152400" spcFirstLastPara="1" rIns="15240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2C5B8C"/>
                  </a:solidFill>
                  <a:highlight>
                    <a:srgbClr val="F4F7FA"/>
                  </a:highlight>
                  <a:latin typeface="Arial"/>
                  <a:ea typeface="Arial"/>
                  <a:cs typeface="Arial"/>
                  <a:sym typeface="Arial"/>
                </a:rPr>
                <a:t>Trace Fields :</a:t>
              </a:r>
              <a:r>
                <a:rPr lang="en-US" sz="1050">
                  <a:solidFill>
                    <a:srgbClr val="23282D"/>
                  </a:solidFill>
                  <a:highlight>
                    <a:srgbClr val="F4F7FA"/>
                  </a:highlight>
                  <a:latin typeface="Arial"/>
                  <a:ea typeface="Arial"/>
                  <a:cs typeface="Arial"/>
                  <a:sym typeface="Arial"/>
                </a:rPr>
                <a:t>요구사항 ID | 요구사항 요약 | 관련 장표/컴포넌트 | ADR | 구현/상세설계 | 검증 시나리오 | 상태 | Owner</a:t>
              </a:r>
              <a:endParaRPr sz="1050">
                <a:solidFill>
                  <a:srgbClr val="23282D"/>
                </a:solidFill>
                <a:highlight>
                  <a:srgbClr val="F4F7FA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1" name="Google Shape;3521;p68"/>
            <p:cNvSpPr txBox="1"/>
            <p:nvPr/>
          </p:nvSpPr>
          <p:spPr>
            <a:xfrm>
              <a:off x="228600" y="1009650"/>
              <a:ext cx="8591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367856"/>
                  </a:solidFill>
                  <a:latin typeface="Arial"/>
                  <a:ea typeface="Arial"/>
                  <a:cs typeface="Arial"/>
                  <a:sym typeface="Arial"/>
                </a:rPr>
                <a:t>💡 이 표를 별도 부록으로 두면 감리 질의 시 '어디에 반영됐는가'를 즉시 제시 가능</a:t>
              </a:r>
              <a:endParaRPr b="1" sz="1000">
                <a:solidFill>
                  <a:srgbClr val="36785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5" name="Shape 3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6" name="Google Shape;3526;p69"/>
          <p:cNvSpPr/>
          <p:nvPr/>
        </p:nvSpPr>
        <p:spPr>
          <a:xfrm>
            <a:off x="0" y="0"/>
            <a:ext cx="9906000" cy="502920"/>
          </a:xfrm>
          <a:prstGeom prst="rect">
            <a:avLst/>
          </a:prstGeom>
          <a:solidFill>
            <a:srgbClr val="1A395B"/>
          </a:solidFill>
          <a:ln cap="flat" cmpd="sng" w="9525">
            <a:solidFill>
              <a:srgbClr val="1A39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7" name="Google Shape;3527;p69"/>
          <p:cNvSpPr txBox="1"/>
          <p:nvPr/>
        </p:nvSpPr>
        <p:spPr>
          <a:xfrm>
            <a:off x="320040" y="6400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아키텍처 고도화 보완</a:t>
            </a:r>
            <a:endParaRPr/>
          </a:p>
        </p:txBody>
      </p:sp>
      <p:sp>
        <p:nvSpPr>
          <p:cNvPr id="3528" name="Google Shape;3528;p69"/>
          <p:cNvSpPr txBox="1"/>
          <p:nvPr/>
        </p:nvSpPr>
        <p:spPr>
          <a:xfrm>
            <a:off x="411480" y="658368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1A395B"/>
                </a:solidFill>
                <a:latin typeface="Malgun Gothic"/>
                <a:ea typeface="Malgun Gothic"/>
                <a:cs typeface="Malgun Gothic"/>
                <a:sym typeface="Malgun Gothic"/>
              </a:rPr>
              <a:t>4.10 Architecture Decision &amp; Risk Board</a:t>
            </a:r>
            <a:endParaRPr/>
          </a:p>
        </p:txBody>
      </p:sp>
      <p:sp>
        <p:nvSpPr>
          <p:cNvPr id="3529" name="Google Shape;3529;p69"/>
          <p:cNvSpPr txBox="1"/>
          <p:nvPr/>
        </p:nvSpPr>
        <p:spPr>
          <a:xfrm>
            <a:off x="429768" y="1143000"/>
            <a:ext cx="10972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46E78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현재 문서의 '확인필요/협의필요' 항목을 장표 곳곳에 흩어두지 않고 의사결정 목록으로 집중 관리</a:t>
            </a:r>
            <a:endParaRPr/>
          </a:p>
        </p:txBody>
      </p:sp>
      <p:sp>
        <p:nvSpPr>
          <p:cNvPr id="3530" name="Google Shape;3530;p69"/>
          <p:cNvSpPr txBox="1"/>
          <p:nvPr/>
        </p:nvSpPr>
        <p:spPr>
          <a:xfrm>
            <a:off x="10698480" y="6446520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646E78"/>
                </a:solidFill>
                <a:latin typeface="Malgun Gothic"/>
                <a:ea typeface="Malgun Gothic"/>
                <a:cs typeface="Malgun Gothic"/>
                <a:sym typeface="Malgun Gothic"/>
              </a:rPr>
              <a:t>AA 보완안</a:t>
            </a:r>
            <a:endParaRPr/>
          </a:p>
        </p:txBody>
      </p:sp>
      <p:sp>
        <p:nvSpPr>
          <p:cNvPr id="3531" name="Google Shape;3531;p69"/>
          <p:cNvSpPr/>
          <p:nvPr/>
        </p:nvSpPr>
        <p:spPr>
          <a:xfrm>
            <a:off x="479512" y="2027276"/>
            <a:ext cx="820500" cy="351600"/>
          </a:xfrm>
          <a:prstGeom prst="rect">
            <a:avLst/>
          </a:prstGeom>
          <a:solidFill>
            <a:srgbClr val="1A395B"/>
          </a:solidFill>
          <a:ln cap="flat" cmpd="sng" w="8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4182" rotWithShape="0" dir="5400000" dist="19655">
              <a:srgbClr val="000000">
                <a:alpha val="34902"/>
              </a:srgbClr>
            </a:outerShdw>
          </a:effectLst>
        </p:spPr>
        <p:txBody>
          <a:bodyPr anchorCtr="0" anchor="ctr" bIns="39050" lIns="78125" spcFirstLastPara="1" rIns="78125" wrap="square" tIns="3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2" name="Google Shape;3532;p69"/>
          <p:cNvSpPr txBox="1"/>
          <p:nvPr/>
        </p:nvSpPr>
        <p:spPr>
          <a:xfrm>
            <a:off x="479512" y="2027276"/>
            <a:ext cx="8205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050" lIns="78125" spcFirstLastPara="1" rIns="78125" wrap="square" tIns="39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84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ID</a:t>
            </a:r>
            <a:endParaRPr sz="1196"/>
          </a:p>
        </p:txBody>
      </p:sp>
      <p:sp>
        <p:nvSpPr>
          <p:cNvPr id="3533" name="Google Shape;3533;p69"/>
          <p:cNvSpPr/>
          <p:nvPr/>
        </p:nvSpPr>
        <p:spPr>
          <a:xfrm>
            <a:off x="1299988" y="2027276"/>
            <a:ext cx="1406400" cy="351600"/>
          </a:xfrm>
          <a:prstGeom prst="rect">
            <a:avLst/>
          </a:prstGeom>
          <a:solidFill>
            <a:srgbClr val="1A395B"/>
          </a:solidFill>
          <a:ln cap="flat" cmpd="sng" w="8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4182" rotWithShape="0" dir="5400000" dist="19655">
              <a:srgbClr val="000000">
                <a:alpha val="34902"/>
              </a:srgbClr>
            </a:outerShdw>
          </a:effectLst>
        </p:spPr>
        <p:txBody>
          <a:bodyPr anchorCtr="0" anchor="ctr" bIns="39050" lIns="78125" spcFirstLastPara="1" rIns="78125" wrap="square" tIns="3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4" name="Google Shape;3534;p69"/>
          <p:cNvSpPr txBox="1"/>
          <p:nvPr/>
        </p:nvSpPr>
        <p:spPr>
          <a:xfrm>
            <a:off x="1299988" y="2027276"/>
            <a:ext cx="14064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050" lIns="78125" spcFirstLastPara="1" rIns="78125" wrap="square" tIns="39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84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주제</a:t>
            </a:r>
            <a:endParaRPr sz="1196"/>
          </a:p>
        </p:txBody>
      </p:sp>
      <p:sp>
        <p:nvSpPr>
          <p:cNvPr id="3535" name="Google Shape;3535;p69"/>
          <p:cNvSpPr/>
          <p:nvPr/>
        </p:nvSpPr>
        <p:spPr>
          <a:xfrm>
            <a:off x="2706519" y="2027276"/>
            <a:ext cx="4688400" cy="351600"/>
          </a:xfrm>
          <a:prstGeom prst="rect">
            <a:avLst/>
          </a:prstGeom>
          <a:solidFill>
            <a:srgbClr val="1A395B"/>
          </a:solidFill>
          <a:ln cap="flat" cmpd="sng" w="8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4182" rotWithShape="0" dir="5400000" dist="19655">
              <a:srgbClr val="000000">
                <a:alpha val="34902"/>
              </a:srgbClr>
            </a:outerShdw>
          </a:effectLst>
        </p:spPr>
        <p:txBody>
          <a:bodyPr anchorCtr="0" anchor="ctr" bIns="39050" lIns="78125" spcFirstLastPara="1" rIns="78125" wrap="square" tIns="3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6" name="Google Shape;3536;p69"/>
          <p:cNvSpPr txBox="1"/>
          <p:nvPr/>
        </p:nvSpPr>
        <p:spPr>
          <a:xfrm>
            <a:off x="2706519" y="2027276"/>
            <a:ext cx="46884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050" lIns="78125" spcFirstLastPara="1" rIns="78125" wrap="square" tIns="39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84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의사결정 질문</a:t>
            </a:r>
            <a:endParaRPr sz="1196"/>
          </a:p>
        </p:txBody>
      </p:sp>
      <p:sp>
        <p:nvSpPr>
          <p:cNvPr id="3537" name="Google Shape;3537;p69"/>
          <p:cNvSpPr/>
          <p:nvPr/>
        </p:nvSpPr>
        <p:spPr>
          <a:xfrm>
            <a:off x="7394956" y="2027276"/>
            <a:ext cx="1133100" cy="351600"/>
          </a:xfrm>
          <a:prstGeom prst="rect">
            <a:avLst/>
          </a:prstGeom>
          <a:solidFill>
            <a:srgbClr val="1A395B"/>
          </a:solidFill>
          <a:ln cap="flat" cmpd="sng" w="8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4182" rotWithShape="0" dir="5400000" dist="19655">
              <a:srgbClr val="000000">
                <a:alpha val="34902"/>
              </a:srgbClr>
            </a:outerShdw>
          </a:effectLst>
        </p:spPr>
        <p:txBody>
          <a:bodyPr anchorCtr="0" anchor="ctr" bIns="39050" lIns="78125" spcFirstLastPara="1" rIns="78125" wrap="square" tIns="3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8" name="Google Shape;3538;p69"/>
          <p:cNvSpPr txBox="1"/>
          <p:nvPr/>
        </p:nvSpPr>
        <p:spPr>
          <a:xfrm>
            <a:off x="7394956" y="2027276"/>
            <a:ext cx="11331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050" lIns="78125" spcFirstLastPara="1" rIns="78125" wrap="square" tIns="39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84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Owner</a:t>
            </a:r>
            <a:endParaRPr sz="1196"/>
          </a:p>
        </p:txBody>
      </p:sp>
      <p:sp>
        <p:nvSpPr>
          <p:cNvPr id="3539" name="Google Shape;3539;p69"/>
          <p:cNvSpPr/>
          <p:nvPr/>
        </p:nvSpPr>
        <p:spPr>
          <a:xfrm>
            <a:off x="8527995" y="2027276"/>
            <a:ext cx="898500" cy="351600"/>
          </a:xfrm>
          <a:prstGeom prst="rect">
            <a:avLst/>
          </a:prstGeom>
          <a:solidFill>
            <a:srgbClr val="1A395B"/>
          </a:solidFill>
          <a:ln cap="flat" cmpd="sng" w="8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4182" rotWithShape="0" dir="5400000" dist="19655">
              <a:srgbClr val="000000">
                <a:alpha val="34902"/>
              </a:srgbClr>
            </a:outerShdw>
          </a:effectLst>
        </p:spPr>
        <p:txBody>
          <a:bodyPr anchorCtr="0" anchor="ctr" bIns="39050" lIns="78125" spcFirstLastPara="1" rIns="78125" wrap="square" tIns="3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0" name="Google Shape;3540;p69"/>
          <p:cNvSpPr txBox="1"/>
          <p:nvPr/>
        </p:nvSpPr>
        <p:spPr>
          <a:xfrm>
            <a:off x="8527995" y="2027276"/>
            <a:ext cx="8985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050" lIns="78125" spcFirstLastPara="1" rIns="78125" wrap="square" tIns="39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84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상태</a:t>
            </a:r>
            <a:endParaRPr sz="1196"/>
          </a:p>
        </p:txBody>
      </p:sp>
      <p:sp>
        <p:nvSpPr>
          <p:cNvPr id="3541" name="Google Shape;3541;p69"/>
          <p:cNvSpPr/>
          <p:nvPr/>
        </p:nvSpPr>
        <p:spPr>
          <a:xfrm>
            <a:off x="479512" y="2378910"/>
            <a:ext cx="820500" cy="484500"/>
          </a:xfrm>
          <a:prstGeom prst="rect">
            <a:avLst/>
          </a:prstGeom>
          <a:solidFill>
            <a:srgbClr val="FFFFFF"/>
          </a:solidFill>
          <a:ln cap="flat" cmpd="sng" w="815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34182" rotWithShape="0" dir="5400000" dist="19655">
              <a:srgbClr val="000000">
                <a:alpha val="34902"/>
              </a:srgbClr>
            </a:outerShdw>
          </a:effectLst>
        </p:spPr>
        <p:txBody>
          <a:bodyPr anchorCtr="0" anchor="ctr" bIns="39050" lIns="78125" spcFirstLastPara="1" rIns="78125" wrap="square" tIns="3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2" name="Google Shape;3542;p69"/>
          <p:cNvSpPr txBox="1"/>
          <p:nvPr/>
        </p:nvSpPr>
        <p:spPr>
          <a:xfrm>
            <a:off x="518582" y="2378910"/>
            <a:ext cx="742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050" lIns="78125" spcFirstLastPara="1" rIns="78125" wrap="square" tIns="39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84">
                <a:solidFill>
                  <a:srgbClr val="23282D"/>
                </a:solidFill>
                <a:latin typeface="Malgun Gothic"/>
                <a:ea typeface="Malgun Gothic"/>
                <a:cs typeface="Malgun Gothic"/>
                <a:sym typeface="Malgun Gothic"/>
              </a:rPr>
              <a:t>ADR-01</a:t>
            </a:r>
            <a:endParaRPr sz="1196"/>
          </a:p>
        </p:txBody>
      </p:sp>
      <p:sp>
        <p:nvSpPr>
          <p:cNvPr id="3543" name="Google Shape;3543;p69"/>
          <p:cNvSpPr/>
          <p:nvPr/>
        </p:nvSpPr>
        <p:spPr>
          <a:xfrm>
            <a:off x="1299988" y="2378910"/>
            <a:ext cx="1406400" cy="484500"/>
          </a:xfrm>
          <a:prstGeom prst="rect">
            <a:avLst/>
          </a:prstGeom>
          <a:solidFill>
            <a:srgbClr val="FFFFFF"/>
          </a:solidFill>
          <a:ln cap="flat" cmpd="sng" w="815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34182" rotWithShape="0" dir="5400000" dist="19655">
              <a:srgbClr val="000000">
                <a:alpha val="34902"/>
              </a:srgbClr>
            </a:outerShdw>
          </a:effectLst>
        </p:spPr>
        <p:txBody>
          <a:bodyPr anchorCtr="0" anchor="ctr" bIns="39050" lIns="78125" spcFirstLastPara="1" rIns="78125" wrap="square" tIns="3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4" name="Google Shape;3544;p69"/>
          <p:cNvSpPr txBox="1"/>
          <p:nvPr/>
        </p:nvSpPr>
        <p:spPr>
          <a:xfrm>
            <a:off x="1339058" y="2378910"/>
            <a:ext cx="13284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050" lIns="78125" spcFirstLastPara="1" rIns="78125" wrap="square" tIns="39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84">
                <a:solidFill>
                  <a:srgbClr val="23282D"/>
                </a:solidFill>
                <a:latin typeface="Malgun Gothic"/>
                <a:ea typeface="Malgun Gothic"/>
                <a:cs typeface="Malgun Gothic"/>
                <a:sym typeface="Malgun Gothic"/>
              </a:rPr>
              <a:t>Viewer 처리 방식</a:t>
            </a:r>
            <a:endParaRPr sz="1196"/>
          </a:p>
        </p:txBody>
      </p:sp>
      <p:sp>
        <p:nvSpPr>
          <p:cNvPr id="3545" name="Google Shape;3545;p69"/>
          <p:cNvSpPr/>
          <p:nvPr/>
        </p:nvSpPr>
        <p:spPr>
          <a:xfrm>
            <a:off x="2706519" y="2378910"/>
            <a:ext cx="4688400" cy="484500"/>
          </a:xfrm>
          <a:prstGeom prst="rect">
            <a:avLst/>
          </a:prstGeom>
          <a:solidFill>
            <a:srgbClr val="FFFFFF"/>
          </a:solidFill>
          <a:ln cap="flat" cmpd="sng" w="815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34182" rotWithShape="0" dir="5400000" dist="19655">
              <a:srgbClr val="000000">
                <a:alpha val="34902"/>
              </a:srgbClr>
            </a:outerShdw>
          </a:effectLst>
        </p:spPr>
        <p:txBody>
          <a:bodyPr anchorCtr="0" anchor="ctr" bIns="39050" lIns="78125" spcFirstLastPara="1" rIns="78125" wrap="square" tIns="3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6" name="Google Shape;3546;p69"/>
          <p:cNvSpPr txBox="1"/>
          <p:nvPr/>
        </p:nvSpPr>
        <p:spPr>
          <a:xfrm>
            <a:off x="2745590" y="2378910"/>
            <a:ext cx="46104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050" lIns="78125" spcFirstLastPara="1" rIns="78125" wrap="square" tIns="39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84">
                <a:solidFill>
                  <a:srgbClr val="23282D"/>
                </a:solidFill>
                <a:latin typeface="Malgun Gothic"/>
                <a:ea typeface="Malgun Gothic"/>
                <a:cs typeface="Malgun Gothic"/>
                <a:sym typeface="Malgun Gothic"/>
              </a:rPr>
              <a:t>Base64/PDF Legacy 경로의 To-Be 처리 기준</a:t>
            </a:r>
            <a:endParaRPr sz="1196"/>
          </a:p>
        </p:txBody>
      </p:sp>
      <p:sp>
        <p:nvSpPr>
          <p:cNvPr id="3547" name="Google Shape;3547;p69"/>
          <p:cNvSpPr/>
          <p:nvPr/>
        </p:nvSpPr>
        <p:spPr>
          <a:xfrm>
            <a:off x="7394956" y="2378910"/>
            <a:ext cx="1133100" cy="484500"/>
          </a:xfrm>
          <a:prstGeom prst="rect">
            <a:avLst/>
          </a:prstGeom>
          <a:solidFill>
            <a:srgbClr val="FFFFFF"/>
          </a:solidFill>
          <a:ln cap="flat" cmpd="sng" w="815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34182" rotWithShape="0" dir="5400000" dist="19655">
              <a:srgbClr val="000000">
                <a:alpha val="34902"/>
              </a:srgbClr>
            </a:outerShdw>
          </a:effectLst>
        </p:spPr>
        <p:txBody>
          <a:bodyPr anchorCtr="0" anchor="ctr" bIns="39050" lIns="78125" spcFirstLastPara="1" rIns="78125" wrap="square" tIns="3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8" name="Google Shape;3548;p69"/>
          <p:cNvSpPr txBox="1"/>
          <p:nvPr/>
        </p:nvSpPr>
        <p:spPr>
          <a:xfrm>
            <a:off x="7434026" y="2378910"/>
            <a:ext cx="10548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050" lIns="78125" spcFirstLastPara="1" rIns="78125" wrap="square" tIns="39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84">
                <a:solidFill>
                  <a:srgbClr val="23282D"/>
                </a:solidFill>
                <a:latin typeface="Malgun Gothic"/>
                <a:ea typeface="Malgun Gothic"/>
                <a:cs typeface="Malgun Gothic"/>
                <a:sym typeface="Malgun Gothic"/>
              </a:rPr>
              <a:t>AA/OZ</a:t>
            </a:r>
            <a:endParaRPr sz="1196"/>
          </a:p>
        </p:txBody>
      </p:sp>
      <p:sp>
        <p:nvSpPr>
          <p:cNvPr id="3549" name="Google Shape;3549;p69"/>
          <p:cNvSpPr/>
          <p:nvPr/>
        </p:nvSpPr>
        <p:spPr>
          <a:xfrm>
            <a:off x="8527995" y="2378910"/>
            <a:ext cx="898500" cy="484500"/>
          </a:xfrm>
          <a:prstGeom prst="rect">
            <a:avLst/>
          </a:prstGeom>
          <a:solidFill>
            <a:srgbClr val="FFFFFF"/>
          </a:solidFill>
          <a:ln cap="flat" cmpd="sng" w="815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34182" rotWithShape="0" dir="5400000" dist="19655">
              <a:srgbClr val="000000">
                <a:alpha val="34902"/>
              </a:srgbClr>
            </a:outerShdw>
          </a:effectLst>
        </p:spPr>
        <p:txBody>
          <a:bodyPr anchorCtr="0" anchor="ctr" bIns="39050" lIns="78125" spcFirstLastPara="1" rIns="78125" wrap="square" tIns="3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0" name="Google Shape;3550;p69"/>
          <p:cNvSpPr txBox="1"/>
          <p:nvPr/>
        </p:nvSpPr>
        <p:spPr>
          <a:xfrm>
            <a:off x="8567065" y="2378910"/>
            <a:ext cx="8205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050" lIns="78125" spcFirstLastPara="1" rIns="78125" wrap="square" tIns="39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84">
                <a:solidFill>
                  <a:srgbClr val="23282D"/>
                </a:solidFill>
                <a:latin typeface="Malgun Gothic"/>
                <a:ea typeface="Malgun Gothic"/>
                <a:cs typeface="Malgun Gothic"/>
                <a:sym typeface="Malgun Gothic"/>
              </a:rPr>
              <a:t>OPEN</a:t>
            </a:r>
            <a:endParaRPr sz="1196"/>
          </a:p>
        </p:txBody>
      </p:sp>
      <p:sp>
        <p:nvSpPr>
          <p:cNvPr id="3551" name="Google Shape;3551;p69"/>
          <p:cNvSpPr/>
          <p:nvPr/>
        </p:nvSpPr>
        <p:spPr>
          <a:xfrm>
            <a:off x="479512" y="2863383"/>
            <a:ext cx="820500" cy="484500"/>
          </a:xfrm>
          <a:prstGeom prst="rect">
            <a:avLst/>
          </a:prstGeom>
          <a:solidFill>
            <a:srgbClr val="F4F7FA"/>
          </a:solidFill>
          <a:ln cap="flat" cmpd="sng" w="815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34182" rotWithShape="0" dir="5400000" dist="19655">
              <a:srgbClr val="000000">
                <a:alpha val="34902"/>
              </a:srgbClr>
            </a:outerShdw>
          </a:effectLst>
        </p:spPr>
        <p:txBody>
          <a:bodyPr anchorCtr="0" anchor="ctr" bIns="39050" lIns="78125" spcFirstLastPara="1" rIns="78125" wrap="square" tIns="3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2" name="Google Shape;3552;p69"/>
          <p:cNvSpPr txBox="1"/>
          <p:nvPr/>
        </p:nvSpPr>
        <p:spPr>
          <a:xfrm>
            <a:off x="518582" y="2863383"/>
            <a:ext cx="742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050" lIns="78125" spcFirstLastPara="1" rIns="78125" wrap="square" tIns="39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84">
                <a:solidFill>
                  <a:srgbClr val="23282D"/>
                </a:solidFill>
                <a:latin typeface="Malgun Gothic"/>
                <a:ea typeface="Malgun Gothic"/>
                <a:cs typeface="Malgun Gothic"/>
                <a:sym typeface="Malgun Gothic"/>
              </a:rPr>
              <a:t>ADR-02</a:t>
            </a:r>
            <a:endParaRPr sz="1196"/>
          </a:p>
        </p:txBody>
      </p:sp>
      <p:sp>
        <p:nvSpPr>
          <p:cNvPr id="3553" name="Google Shape;3553;p69"/>
          <p:cNvSpPr/>
          <p:nvPr/>
        </p:nvSpPr>
        <p:spPr>
          <a:xfrm>
            <a:off x="1299988" y="2863383"/>
            <a:ext cx="1406400" cy="484500"/>
          </a:xfrm>
          <a:prstGeom prst="rect">
            <a:avLst/>
          </a:prstGeom>
          <a:solidFill>
            <a:srgbClr val="F4F7FA"/>
          </a:solidFill>
          <a:ln cap="flat" cmpd="sng" w="815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34182" rotWithShape="0" dir="5400000" dist="19655">
              <a:srgbClr val="000000">
                <a:alpha val="34902"/>
              </a:srgbClr>
            </a:outerShdw>
          </a:effectLst>
        </p:spPr>
        <p:txBody>
          <a:bodyPr anchorCtr="0" anchor="ctr" bIns="39050" lIns="78125" spcFirstLastPara="1" rIns="78125" wrap="square" tIns="3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4" name="Google Shape;3554;p69"/>
          <p:cNvSpPr txBox="1"/>
          <p:nvPr/>
        </p:nvSpPr>
        <p:spPr>
          <a:xfrm>
            <a:off x="1339058" y="2863383"/>
            <a:ext cx="13284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050" lIns="78125" spcFirstLastPara="1" rIns="78125" wrap="square" tIns="39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84">
                <a:solidFill>
                  <a:srgbClr val="23282D"/>
                </a:solidFill>
                <a:latin typeface="Malgun Gothic"/>
                <a:ea typeface="Malgun Gothic"/>
                <a:cs typeface="Malgun Gothic"/>
                <a:sym typeface="Malgun Gothic"/>
              </a:rPr>
              <a:t>Scheduler 분산</a:t>
            </a:r>
            <a:endParaRPr sz="1196"/>
          </a:p>
        </p:txBody>
      </p:sp>
      <p:sp>
        <p:nvSpPr>
          <p:cNvPr id="3555" name="Google Shape;3555;p69"/>
          <p:cNvSpPr/>
          <p:nvPr/>
        </p:nvSpPr>
        <p:spPr>
          <a:xfrm>
            <a:off x="2706519" y="2863383"/>
            <a:ext cx="4688400" cy="484500"/>
          </a:xfrm>
          <a:prstGeom prst="rect">
            <a:avLst/>
          </a:prstGeom>
          <a:solidFill>
            <a:srgbClr val="F4F7FA"/>
          </a:solidFill>
          <a:ln cap="flat" cmpd="sng" w="815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34182" rotWithShape="0" dir="5400000" dist="19655">
              <a:srgbClr val="000000">
                <a:alpha val="34902"/>
              </a:srgbClr>
            </a:outerShdw>
          </a:effectLst>
        </p:spPr>
        <p:txBody>
          <a:bodyPr anchorCtr="0" anchor="ctr" bIns="39050" lIns="78125" spcFirstLastPara="1" rIns="78125" wrap="square" tIns="3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6" name="Google Shape;3556;p69"/>
          <p:cNvSpPr txBox="1"/>
          <p:nvPr/>
        </p:nvSpPr>
        <p:spPr>
          <a:xfrm>
            <a:off x="2745590" y="2863383"/>
            <a:ext cx="46104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050" lIns="78125" spcFirstLastPara="1" rIns="78125" wrap="square" tIns="39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84">
                <a:solidFill>
                  <a:srgbClr val="23282D"/>
                </a:solidFill>
                <a:latin typeface="Malgun Gothic"/>
                <a:ea typeface="Malgun Gothic"/>
                <a:cs typeface="Malgun Gothic"/>
                <a:sym typeface="Malgun Gothic"/>
              </a:rPr>
              <a:t>L4 VIP / Pool / 장애 시 Routing 기준</a:t>
            </a:r>
            <a:endParaRPr sz="1196"/>
          </a:p>
        </p:txBody>
      </p:sp>
      <p:sp>
        <p:nvSpPr>
          <p:cNvPr id="3557" name="Google Shape;3557;p69"/>
          <p:cNvSpPr/>
          <p:nvPr/>
        </p:nvSpPr>
        <p:spPr>
          <a:xfrm>
            <a:off x="7394956" y="2863383"/>
            <a:ext cx="1133100" cy="484500"/>
          </a:xfrm>
          <a:prstGeom prst="rect">
            <a:avLst/>
          </a:prstGeom>
          <a:solidFill>
            <a:srgbClr val="F4F7FA"/>
          </a:solidFill>
          <a:ln cap="flat" cmpd="sng" w="815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34182" rotWithShape="0" dir="5400000" dist="19655">
              <a:srgbClr val="000000">
                <a:alpha val="34902"/>
              </a:srgbClr>
            </a:outerShdw>
          </a:effectLst>
        </p:spPr>
        <p:txBody>
          <a:bodyPr anchorCtr="0" anchor="ctr" bIns="39050" lIns="78125" spcFirstLastPara="1" rIns="78125" wrap="square" tIns="3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8" name="Google Shape;3558;p69"/>
          <p:cNvSpPr txBox="1"/>
          <p:nvPr/>
        </p:nvSpPr>
        <p:spPr>
          <a:xfrm>
            <a:off x="7434026" y="2863383"/>
            <a:ext cx="10548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050" lIns="78125" spcFirstLastPara="1" rIns="78125" wrap="square" tIns="39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84">
                <a:solidFill>
                  <a:srgbClr val="23282D"/>
                </a:solidFill>
                <a:latin typeface="Malgun Gothic"/>
                <a:ea typeface="Malgun Gothic"/>
                <a:cs typeface="Malgun Gothic"/>
                <a:sym typeface="Malgun Gothic"/>
              </a:rPr>
              <a:t>AA/TA</a:t>
            </a:r>
            <a:endParaRPr sz="1196"/>
          </a:p>
        </p:txBody>
      </p:sp>
      <p:sp>
        <p:nvSpPr>
          <p:cNvPr id="3559" name="Google Shape;3559;p69"/>
          <p:cNvSpPr/>
          <p:nvPr/>
        </p:nvSpPr>
        <p:spPr>
          <a:xfrm>
            <a:off x="8527995" y="2863383"/>
            <a:ext cx="898500" cy="484500"/>
          </a:xfrm>
          <a:prstGeom prst="rect">
            <a:avLst/>
          </a:prstGeom>
          <a:solidFill>
            <a:srgbClr val="F4F7FA"/>
          </a:solidFill>
          <a:ln cap="flat" cmpd="sng" w="815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34182" rotWithShape="0" dir="5400000" dist="19655">
              <a:srgbClr val="000000">
                <a:alpha val="34902"/>
              </a:srgbClr>
            </a:outerShdw>
          </a:effectLst>
        </p:spPr>
        <p:txBody>
          <a:bodyPr anchorCtr="0" anchor="ctr" bIns="39050" lIns="78125" spcFirstLastPara="1" rIns="78125" wrap="square" tIns="3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0" name="Google Shape;3560;p69"/>
          <p:cNvSpPr txBox="1"/>
          <p:nvPr/>
        </p:nvSpPr>
        <p:spPr>
          <a:xfrm>
            <a:off x="8567065" y="2863383"/>
            <a:ext cx="8205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050" lIns="78125" spcFirstLastPara="1" rIns="78125" wrap="square" tIns="39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84">
                <a:solidFill>
                  <a:srgbClr val="23282D"/>
                </a:solidFill>
                <a:latin typeface="Malgun Gothic"/>
                <a:ea typeface="Malgun Gothic"/>
                <a:cs typeface="Malgun Gothic"/>
                <a:sym typeface="Malgun Gothic"/>
              </a:rPr>
              <a:t>DESIGN</a:t>
            </a:r>
            <a:endParaRPr sz="1196"/>
          </a:p>
        </p:txBody>
      </p:sp>
      <p:sp>
        <p:nvSpPr>
          <p:cNvPr id="3561" name="Google Shape;3561;p69"/>
          <p:cNvSpPr/>
          <p:nvPr/>
        </p:nvSpPr>
        <p:spPr>
          <a:xfrm>
            <a:off x="479512" y="3347857"/>
            <a:ext cx="820500" cy="484500"/>
          </a:xfrm>
          <a:prstGeom prst="rect">
            <a:avLst/>
          </a:prstGeom>
          <a:solidFill>
            <a:srgbClr val="FFFFFF"/>
          </a:solidFill>
          <a:ln cap="flat" cmpd="sng" w="815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34182" rotWithShape="0" dir="5400000" dist="19655">
              <a:srgbClr val="000000">
                <a:alpha val="34902"/>
              </a:srgbClr>
            </a:outerShdw>
          </a:effectLst>
        </p:spPr>
        <p:txBody>
          <a:bodyPr anchorCtr="0" anchor="ctr" bIns="39050" lIns="78125" spcFirstLastPara="1" rIns="78125" wrap="square" tIns="3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2" name="Google Shape;3562;p69"/>
          <p:cNvSpPr txBox="1"/>
          <p:nvPr/>
        </p:nvSpPr>
        <p:spPr>
          <a:xfrm>
            <a:off x="518582" y="3347857"/>
            <a:ext cx="742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050" lIns="78125" spcFirstLastPara="1" rIns="78125" wrap="square" tIns="39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84">
                <a:solidFill>
                  <a:srgbClr val="23282D"/>
                </a:solidFill>
                <a:latin typeface="Malgun Gothic"/>
                <a:ea typeface="Malgun Gothic"/>
                <a:cs typeface="Malgun Gothic"/>
                <a:sym typeface="Malgun Gothic"/>
              </a:rPr>
              <a:t>ADR-03</a:t>
            </a:r>
            <a:endParaRPr sz="1196"/>
          </a:p>
        </p:txBody>
      </p:sp>
      <p:sp>
        <p:nvSpPr>
          <p:cNvPr id="3563" name="Google Shape;3563;p69"/>
          <p:cNvSpPr/>
          <p:nvPr/>
        </p:nvSpPr>
        <p:spPr>
          <a:xfrm>
            <a:off x="1299988" y="3347857"/>
            <a:ext cx="1406400" cy="484500"/>
          </a:xfrm>
          <a:prstGeom prst="rect">
            <a:avLst/>
          </a:prstGeom>
          <a:solidFill>
            <a:srgbClr val="FFFFFF"/>
          </a:solidFill>
          <a:ln cap="flat" cmpd="sng" w="815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34182" rotWithShape="0" dir="5400000" dist="19655">
              <a:srgbClr val="000000">
                <a:alpha val="34902"/>
              </a:srgbClr>
            </a:outerShdw>
          </a:effectLst>
        </p:spPr>
        <p:txBody>
          <a:bodyPr anchorCtr="0" anchor="ctr" bIns="39050" lIns="78125" spcFirstLastPara="1" rIns="78125" wrap="square" tIns="3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4" name="Google Shape;3564;p69"/>
          <p:cNvSpPr txBox="1"/>
          <p:nvPr/>
        </p:nvSpPr>
        <p:spPr>
          <a:xfrm>
            <a:off x="1339058" y="3347857"/>
            <a:ext cx="13284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050" lIns="78125" spcFirstLastPara="1" rIns="78125" wrap="square" tIns="39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84">
                <a:solidFill>
                  <a:srgbClr val="23282D"/>
                </a:solidFill>
                <a:latin typeface="Malgun Gothic"/>
                <a:ea typeface="Malgun Gothic"/>
                <a:cs typeface="Malgun Gothic"/>
                <a:sym typeface="Malgun Gothic"/>
              </a:rPr>
              <a:t>후처리 상태</a:t>
            </a:r>
            <a:endParaRPr sz="1196"/>
          </a:p>
        </p:txBody>
      </p:sp>
      <p:sp>
        <p:nvSpPr>
          <p:cNvPr id="3565" name="Google Shape;3565;p69"/>
          <p:cNvSpPr/>
          <p:nvPr/>
        </p:nvSpPr>
        <p:spPr>
          <a:xfrm>
            <a:off x="2706519" y="3347857"/>
            <a:ext cx="4688400" cy="484500"/>
          </a:xfrm>
          <a:prstGeom prst="rect">
            <a:avLst/>
          </a:prstGeom>
          <a:solidFill>
            <a:srgbClr val="FFFFFF"/>
          </a:solidFill>
          <a:ln cap="flat" cmpd="sng" w="815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34182" rotWithShape="0" dir="5400000" dist="19655">
              <a:srgbClr val="000000">
                <a:alpha val="34902"/>
              </a:srgbClr>
            </a:outerShdw>
          </a:effectLst>
        </p:spPr>
        <p:txBody>
          <a:bodyPr anchorCtr="0" anchor="ctr" bIns="39050" lIns="78125" spcFirstLastPara="1" rIns="78125" wrap="square" tIns="3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6" name="Google Shape;3566;p69"/>
          <p:cNvSpPr txBox="1"/>
          <p:nvPr/>
        </p:nvSpPr>
        <p:spPr>
          <a:xfrm>
            <a:off x="2745590" y="3347857"/>
            <a:ext cx="46104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050" lIns="78125" spcFirstLastPara="1" rIns="78125" wrap="square" tIns="39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84">
                <a:solidFill>
                  <a:srgbClr val="23282D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발행 성공 + 후처리 실패의 최종 상태</a:t>
            </a:r>
            <a:endParaRPr sz="1196"/>
          </a:p>
        </p:txBody>
      </p:sp>
      <p:sp>
        <p:nvSpPr>
          <p:cNvPr id="3567" name="Google Shape;3567;p69"/>
          <p:cNvSpPr/>
          <p:nvPr/>
        </p:nvSpPr>
        <p:spPr>
          <a:xfrm>
            <a:off x="7394956" y="3347857"/>
            <a:ext cx="1133100" cy="484500"/>
          </a:xfrm>
          <a:prstGeom prst="rect">
            <a:avLst/>
          </a:prstGeom>
          <a:solidFill>
            <a:srgbClr val="FFFFFF"/>
          </a:solidFill>
          <a:ln cap="flat" cmpd="sng" w="815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34182" rotWithShape="0" dir="5400000" dist="19655">
              <a:srgbClr val="000000">
                <a:alpha val="34902"/>
              </a:srgbClr>
            </a:outerShdw>
          </a:effectLst>
        </p:spPr>
        <p:txBody>
          <a:bodyPr anchorCtr="0" anchor="ctr" bIns="39050" lIns="78125" spcFirstLastPara="1" rIns="78125" wrap="square" tIns="3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8" name="Google Shape;3568;p69"/>
          <p:cNvSpPr txBox="1"/>
          <p:nvPr/>
        </p:nvSpPr>
        <p:spPr>
          <a:xfrm>
            <a:off x="7434026" y="3347857"/>
            <a:ext cx="10548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050" lIns="78125" spcFirstLastPara="1" rIns="78125" wrap="square" tIns="39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84">
                <a:solidFill>
                  <a:srgbClr val="23282D"/>
                </a:solidFill>
                <a:latin typeface="Malgun Gothic"/>
                <a:ea typeface="Malgun Gothic"/>
                <a:cs typeface="Malgun Gothic"/>
                <a:sym typeface="Malgun Gothic"/>
              </a:rPr>
              <a:t>AA/업무</a:t>
            </a:r>
            <a:endParaRPr sz="1196"/>
          </a:p>
        </p:txBody>
      </p:sp>
      <p:sp>
        <p:nvSpPr>
          <p:cNvPr id="3569" name="Google Shape;3569;p69"/>
          <p:cNvSpPr/>
          <p:nvPr/>
        </p:nvSpPr>
        <p:spPr>
          <a:xfrm>
            <a:off x="8527995" y="3347857"/>
            <a:ext cx="898500" cy="484500"/>
          </a:xfrm>
          <a:prstGeom prst="rect">
            <a:avLst/>
          </a:prstGeom>
          <a:solidFill>
            <a:srgbClr val="FFFFFF"/>
          </a:solidFill>
          <a:ln cap="flat" cmpd="sng" w="815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34182" rotWithShape="0" dir="5400000" dist="19655">
              <a:srgbClr val="000000">
                <a:alpha val="34902"/>
              </a:srgbClr>
            </a:outerShdw>
          </a:effectLst>
        </p:spPr>
        <p:txBody>
          <a:bodyPr anchorCtr="0" anchor="ctr" bIns="39050" lIns="78125" spcFirstLastPara="1" rIns="78125" wrap="square" tIns="3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0" name="Google Shape;3570;p69"/>
          <p:cNvSpPr txBox="1"/>
          <p:nvPr/>
        </p:nvSpPr>
        <p:spPr>
          <a:xfrm>
            <a:off x="8567065" y="3347857"/>
            <a:ext cx="8205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050" lIns="78125" spcFirstLastPara="1" rIns="78125" wrap="square" tIns="39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84">
                <a:solidFill>
                  <a:srgbClr val="23282D"/>
                </a:solidFill>
                <a:latin typeface="Malgun Gothic"/>
                <a:ea typeface="Malgun Gothic"/>
                <a:cs typeface="Malgun Gothic"/>
                <a:sym typeface="Malgun Gothic"/>
              </a:rPr>
              <a:t>OPEN</a:t>
            </a:r>
            <a:endParaRPr sz="1196"/>
          </a:p>
        </p:txBody>
      </p:sp>
      <p:sp>
        <p:nvSpPr>
          <p:cNvPr id="3571" name="Google Shape;3571;p69"/>
          <p:cNvSpPr/>
          <p:nvPr/>
        </p:nvSpPr>
        <p:spPr>
          <a:xfrm>
            <a:off x="479512" y="3832330"/>
            <a:ext cx="820500" cy="484500"/>
          </a:xfrm>
          <a:prstGeom prst="rect">
            <a:avLst/>
          </a:prstGeom>
          <a:solidFill>
            <a:srgbClr val="F4F7FA"/>
          </a:solidFill>
          <a:ln cap="flat" cmpd="sng" w="815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34182" rotWithShape="0" dir="5400000" dist="19655">
              <a:srgbClr val="000000">
                <a:alpha val="34902"/>
              </a:srgbClr>
            </a:outerShdw>
          </a:effectLst>
        </p:spPr>
        <p:txBody>
          <a:bodyPr anchorCtr="0" anchor="ctr" bIns="39050" lIns="78125" spcFirstLastPara="1" rIns="78125" wrap="square" tIns="3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2" name="Google Shape;3572;p69"/>
          <p:cNvSpPr txBox="1"/>
          <p:nvPr/>
        </p:nvSpPr>
        <p:spPr>
          <a:xfrm>
            <a:off x="518582" y="3832330"/>
            <a:ext cx="742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050" lIns="78125" spcFirstLastPara="1" rIns="78125" wrap="square" tIns="39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84">
                <a:solidFill>
                  <a:srgbClr val="23282D"/>
                </a:solidFill>
                <a:latin typeface="Malgun Gothic"/>
                <a:ea typeface="Malgun Gothic"/>
                <a:cs typeface="Malgun Gothic"/>
                <a:sym typeface="Malgun Gothic"/>
              </a:rPr>
              <a:t>ADR-04</a:t>
            </a:r>
            <a:endParaRPr sz="1196"/>
          </a:p>
        </p:txBody>
      </p:sp>
      <p:sp>
        <p:nvSpPr>
          <p:cNvPr id="3573" name="Google Shape;3573;p69"/>
          <p:cNvSpPr/>
          <p:nvPr/>
        </p:nvSpPr>
        <p:spPr>
          <a:xfrm>
            <a:off x="1299988" y="3832330"/>
            <a:ext cx="1406400" cy="484500"/>
          </a:xfrm>
          <a:prstGeom prst="rect">
            <a:avLst/>
          </a:prstGeom>
          <a:solidFill>
            <a:srgbClr val="F4F7FA"/>
          </a:solidFill>
          <a:ln cap="flat" cmpd="sng" w="815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34182" rotWithShape="0" dir="5400000" dist="19655">
              <a:srgbClr val="000000">
                <a:alpha val="34902"/>
              </a:srgbClr>
            </a:outerShdw>
          </a:effectLst>
        </p:spPr>
        <p:txBody>
          <a:bodyPr anchorCtr="0" anchor="ctr" bIns="39050" lIns="78125" spcFirstLastPara="1" rIns="78125" wrap="square" tIns="3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4" name="Google Shape;3574;p69"/>
          <p:cNvSpPr txBox="1"/>
          <p:nvPr/>
        </p:nvSpPr>
        <p:spPr>
          <a:xfrm>
            <a:off x="1339058" y="3832330"/>
            <a:ext cx="13284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050" lIns="78125" spcFirstLastPara="1" rIns="78125" wrap="square" tIns="39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84">
                <a:solidFill>
                  <a:srgbClr val="23282D"/>
                </a:solidFill>
                <a:latin typeface="Malgun Gothic"/>
                <a:ea typeface="Malgun Gothic"/>
                <a:cs typeface="Malgun Gothic"/>
                <a:sym typeface="Malgun Gothic"/>
              </a:rPr>
              <a:t>OZR 배포</a:t>
            </a:r>
            <a:endParaRPr sz="1196"/>
          </a:p>
        </p:txBody>
      </p:sp>
      <p:sp>
        <p:nvSpPr>
          <p:cNvPr id="3575" name="Google Shape;3575;p69"/>
          <p:cNvSpPr/>
          <p:nvPr/>
        </p:nvSpPr>
        <p:spPr>
          <a:xfrm>
            <a:off x="2706519" y="3832330"/>
            <a:ext cx="4688400" cy="484500"/>
          </a:xfrm>
          <a:prstGeom prst="rect">
            <a:avLst/>
          </a:prstGeom>
          <a:solidFill>
            <a:srgbClr val="F4F7FA"/>
          </a:solidFill>
          <a:ln cap="flat" cmpd="sng" w="815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34182" rotWithShape="0" dir="5400000" dist="19655">
              <a:srgbClr val="000000">
                <a:alpha val="34902"/>
              </a:srgbClr>
            </a:outerShdw>
          </a:effectLst>
        </p:spPr>
        <p:txBody>
          <a:bodyPr anchorCtr="0" anchor="ctr" bIns="39050" lIns="78125" spcFirstLastPara="1" rIns="78125" wrap="square" tIns="3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6" name="Google Shape;3576;p69"/>
          <p:cNvSpPr txBox="1"/>
          <p:nvPr/>
        </p:nvSpPr>
        <p:spPr>
          <a:xfrm>
            <a:off x="2745590" y="3832330"/>
            <a:ext cx="46104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050" lIns="78125" spcFirstLastPara="1" rIns="78125" wrap="square" tIns="39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84">
                <a:solidFill>
                  <a:srgbClr val="23282D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로컬DISK / 배포 / 장애 시 예비 경로</a:t>
            </a:r>
            <a:endParaRPr sz="1196"/>
          </a:p>
        </p:txBody>
      </p:sp>
      <p:sp>
        <p:nvSpPr>
          <p:cNvPr id="3577" name="Google Shape;3577;p69"/>
          <p:cNvSpPr/>
          <p:nvPr/>
        </p:nvSpPr>
        <p:spPr>
          <a:xfrm>
            <a:off x="7394956" y="3832330"/>
            <a:ext cx="1133100" cy="484500"/>
          </a:xfrm>
          <a:prstGeom prst="rect">
            <a:avLst/>
          </a:prstGeom>
          <a:solidFill>
            <a:srgbClr val="F4F7FA"/>
          </a:solidFill>
          <a:ln cap="flat" cmpd="sng" w="815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34182" rotWithShape="0" dir="5400000" dist="19655">
              <a:srgbClr val="000000">
                <a:alpha val="34902"/>
              </a:srgbClr>
            </a:outerShdw>
          </a:effectLst>
        </p:spPr>
        <p:txBody>
          <a:bodyPr anchorCtr="0" anchor="ctr" bIns="39050" lIns="78125" spcFirstLastPara="1" rIns="78125" wrap="square" tIns="3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8" name="Google Shape;3578;p69"/>
          <p:cNvSpPr txBox="1"/>
          <p:nvPr/>
        </p:nvSpPr>
        <p:spPr>
          <a:xfrm>
            <a:off x="7434026" y="3832330"/>
            <a:ext cx="10548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050" lIns="78125" spcFirstLastPara="1" rIns="78125" wrap="square" tIns="39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84">
                <a:solidFill>
                  <a:srgbClr val="23282D"/>
                </a:solidFill>
                <a:latin typeface="Malgun Gothic"/>
                <a:ea typeface="Malgun Gothic"/>
                <a:cs typeface="Malgun Gothic"/>
                <a:sym typeface="Malgun Gothic"/>
              </a:rPr>
              <a:t>AA/TA</a:t>
            </a:r>
            <a:endParaRPr sz="1196"/>
          </a:p>
        </p:txBody>
      </p:sp>
      <p:sp>
        <p:nvSpPr>
          <p:cNvPr id="3579" name="Google Shape;3579;p69"/>
          <p:cNvSpPr/>
          <p:nvPr/>
        </p:nvSpPr>
        <p:spPr>
          <a:xfrm>
            <a:off x="8527995" y="3832330"/>
            <a:ext cx="898500" cy="484500"/>
          </a:xfrm>
          <a:prstGeom prst="rect">
            <a:avLst/>
          </a:prstGeom>
          <a:solidFill>
            <a:srgbClr val="F4F7FA"/>
          </a:solidFill>
          <a:ln cap="flat" cmpd="sng" w="815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34182" rotWithShape="0" dir="5400000" dist="19655">
              <a:srgbClr val="000000">
                <a:alpha val="34902"/>
              </a:srgbClr>
            </a:outerShdw>
          </a:effectLst>
        </p:spPr>
        <p:txBody>
          <a:bodyPr anchorCtr="0" anchor="ctr" bIns="39050" lIns="78125" spcFirstLastPara="1" rIns="78125" wrap="square" tIns="3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0" name="Google Shape;3580;p69"/>
          <p:cNvSpPr txBox="1"/>
          <p:nvPr/>
        </p:nvSpPr>
        <p:spPr>
          <a:xfrm>
            <a:off x="8567065" y="3832330"/>
            <a:ext cx="8205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050" lIns="78125" spcFirstLastPara="1" rIns="78125" wrap="square" tIns="39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84">
                <a:solidFill>
                  <a:srgbClr val="23282D"/>
                </a:solidFill>
                <a:latin typeface="Malgun Gothic"/>
                <a:ea typeface="Malgun Gothic"/>
                <a:cs typeface="Malgun Gothic"/>
                <a:sym typeface="Malgun Gothic"/>
              </a:rPr>
              <a:t>TBD</a:t>
            </a:r>
            <a:endParaRPr sz="1196"/>
          </a:p>
        </p:txBody>
      </p:sp>
      <p:sp>
        <p:nvSpPr>
          <p:cNvPr id="3581" name="Google Shape;3581;p69"/>
          <p:cNvSpPr/>
          <p:nvPr/>
        </p:nvSpPr>
        <p:spPr>
          <a:xfrm>
            <a:off x="479512" y="4316803"/>
            <a:ext cx="820500" cy="484500"/>
          </a:xfrm>
          <a:prstGeom prst="rect">
            <a:avLst/>
          </a:prstGeom>
          <a:solidFill>
            <a:srgbClr val="FFFFFF"/>
          </a:solidFill>
          <a:ln cap="flat" cmpd="sng" w="815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34182" rotWithShape="0" dir="5400000" dist="19655">
              <a:srgbClr val="000000">
                <a:alpha val="34902"/>
              </a:srgbClr>
            </a:outerShdw>
          </a:effectLst>
        </p:spPr>
        <p:txBody>
          <a:bodyPr anchorCtr="0" anchor="ctr" bIns="39050" lIns="78125" spcFirstLastPara="1" rIns="78125" wrap="square" tIns="3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2" name="Google Shape;3582;p69"/>
          <p:cNvSpPr txBox="1"/>
          <p:nvPr/>
        </p:nvSpPr>
        <p:spPr>
          <a:xfrm>
            <a:off x="518582" y="4316803"/>
            <a:ext cx="742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050" lIns="78125" spcFirstLastPara="1" rIns="78125" wrap="square" tIns="39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84">
                <a:solidFill>
                  <a:srgbClr val="23282D"/>
                </a:solidFill>
                <a:latin typeface="Malgun Gothic"/>
                <a:ea typeface="Malgun Gothic"/>
                <a:cs typeface="Malgun Gothic"/>
                <a:sym typeface="Malgun Gothic"/>
              </a:rPr>
              <a:t>ADR-05</a:t>
            </a:r>
            <a:endParaRPr sz="1196"/>
          </a:p>
        </p:txBody>
      </p:sp>
      <p:sp>
        <p:nvSpPr>
          <p:cNvPr id="3583" name="Google Shape;3583;p69"/>
          <p:cNvSpPr/>
          <p:nvPr/>
        </p:nvSpPr>
        <p:spPr>
          <a:xfrm>
            <a:off x="1299988" y="4316803"/>
            <a:ext cx="1406400" cy="484500"/>
          </a:xfrm>
          <a:prstGeom prst="rect">
            <a:avLst/>
          </a:prstGeom>
          <a:solidFill>
            <a:srgbClr val="FFFFFF"/>
          </a:solidFill>
          <a:ln cap="flat" cmpd="sng" w="815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34182" rotWithShape="0" dir="5400000" dist="19655">
              <a:srgbClr val="000000">
                <a:alpha val="34902"/>
              </a:srgbClr>
            </a:outerShdw>
          </a:effectLst>
        </p:spPr>
        <p:txBody>
          <a:bodyPr anchorCtr="0" anchor="ctr" bIns="39050" lIns="78125" spcFirstLastPara="1" rIns="78125" wrap="square" tIns="3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4" name="Google Shape;3584;p69"/>
          <p:cNvSpPr txBox="1"/>
          <p:nvPr/>
        </p:nvSpPr>
        <p:spPr>
          <a:xfrm>
            <a:off x="1339058" y="4316803"/>
            <a:ext cx="13284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050" lIns="78125" spcFirstLastPara="1" rIns="78125" wrap="square" tIns="39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84">
                <a:solidFill>
                  <a:srgbClr val="23282D"/>
                </a:solidFill>
                <a:latin typeface="Malgun Gothic"/>
                <a:ea typeface="Malgun Gothic"/>
                <a:cs typeface="Malgun Gothic"/>
                <a:sym typeface="Malgun Gothic"/>
              </a:rPr>
              <a:t>Storage</a:t>
            </a:r>
            <a:endParaRPr sz="1196"/>
          </a:p>
        </p:txBody>
      </p:sp>
      <p:sp>
        <p:nvSpPr>
          <p:cNvPr id="3585" name="Google Shape;3585;p69"/>
          <p:cNvSpPr/>
          <p:nvPr/>
        </p:nvSpPr>
        <p:spPr>
          <a:xfrm>
            <a:off x="2706519" y="4316803"/>
            <a:ext cx="4688400" cy="484500"/>
          </a:xfrm>
          <a:prstGeom prst="rect">
            <a:avLst/>
          </a:prstGeom>
          <a:solidFill>
            <a:srgbClr val="FFFFFF"/>
          </a:solidFill>
          <a:ln cap="flat" cmpd="sng" w="815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34182" rotWithShape="0" dir="5400000" dist="19655">
              <a:srgbClr val="000000">
                <a:alpha val="34902"/>
              </a:srgbClr>
            </a:outerShdw>
          </a:effectLst>
        </p:spPr>
        <p:txBody>
          <a:bodyPr anchorCtr="0" anchor="ctr" bIns="39050" lIns="78125" spcFirstLastPara="1" rIns="78125" wrap="square" tIns="3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6" name="Google Shape;3586;p69"/>
          <p:cNvSpPr txBox="1"/>
          <p:nvPr/>
        </p:nvSpPr>
        <p:spPr>
          <a:xfrm>
            <a:off x="2745590" y="4316803"/>
            <a:ext cx="46104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050" lIns="78125" spcFirstLastPara="1" rIns="78125" wrap="square" tIns="39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84">
                <a:solidFill>
                  <a:srgbClr val="23282D"/>
                </a:solidFill>
                <a:latin typeface="Malgun Gothic"/>
                <a:ea typeface="Malgun Gothic"/>
                <a:cs typeface="Malgun Gothic"/>
                <a:sym typeface="Malgun Gothic"/>
              </a:rPr>
              <a:t>NAS/API/Binary Response 사용 기준</a:t>
            </a:r>
            <a:endParaRPr sz="1196"/>
          </a:p>
        </p:txBody>
      </p:sp>
      <p:sp>
        <p:nvSpPr>
          <p:cNvPr id="3587" name="Google Shape;3587;p69"/>
          <p:cNvSpPr/>
          <p:nvPr/>
        </p:nvSpPr>
        <p:spPr>
          <a:xfrm>
            <a:off x="7394956" y="4316803"/>
            <a:ext cx="1133100" cy="484500"/>
          </a:xfrm>
          <a:prstGeom prst="rect">
            <a:avLst/>
          </a:prstGeom>
          <a:solidFill>
            <a:srgbClr val="FFFFFF"/>
          </a:solidFill>
          <a:ln cap="flat" cmpd="sng" w="815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34182" rotWithShape="0" dir="5400000" dist="19655">
              <a:srgbClr val="000000">
                <a:alpha val="34902"/>
              </a:srgbClr>
            </a:outerShdw>
          </a:effectLst>
        </p:spPr>
        <p:txBody>
          <a:bodyPr anchorCtr="0" anchor="ctr" bIns="39050" lIns="78125" spcFirstLastPara="1" rIns="78125" wrap="square" tIns="3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8" name="Google Shape;3588;p69"/>
          <p:cNvSpPr txBox="1"/>
          <p:nvPr/>
        </p:nvSpPr>
        <p:spPr>
          <a:xfrm>
            <a:off x="7434026" y="4316803"/>
            <a:ext cx="10548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050" lIns="78125" spcFirstLastPara="1" rIns="78125" wrap="square" tIns="39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84">
                <a:solidFill>
                  <a:srgbClr val="23282D"/>
                </a:solidFill>
                <a:latin typeface="Malgun Gothic"/>
                <a:ea typeface="Malgun Gothic"/>
                <a:cs typeface="Malgun Gothic"/>
                <a:sym typeface="Malgun Gothic"/>
              </a:rPr>
              <a:t>AA/TA</a:t>
            </a:r>
            <a:endParaRPr sz="1196"/>
          </a:p>
        </p:txBody>
      </p:sp>
      <p:sp>
        <p:nvSpPr>
          <p:cNvPr id="3589" name="Google Shape;3589;p69"/>
          <p:cNvSpPr/>
          <p:nvPr/>
        </p:nvSpPr>
        <p:spPr>
          <a:xfrm>
            <a:off x="8527995" y="4316803"/>
            <a:ext cx="898500" cy="484500"/>
          </a:xfrm>
          <a:prstGeom prst="rect">
            <a:avLst/>
          </a:prstGeom>
          <a:solidFill>
            <a:srgbClr val="FFFFFF"/>
          </a:solidFill>
          <a:ln cap="flat" cmpd="sng" w="8150">
            <a:solidFill>
              <a:srgbClr val="E1E4E8"/>
            </a:solidFill>
            <a:prstDash val="solid"/>
            <a:round/>
            <a:headEnd len="sm" w="sm" type="none"/>
            <a:tailEnd len="sm" w="sm" type="none"/>
          </a:ln>
          <a:effectLst>
            <a:outerShdw blurRad="34182" rotWithShape="0" dir="5400000" dist="19655">
              <a:srgbClr val="000000">
                <a:alpha val="34902"/>
              </a:srgbClr>
            </a:outerShdw>
          </a:effectLst>
        </p:spPr>
        <p:txBody>
          <a:bodyPr anchorCtr="0" anchor="ctr" bIns="39050" lIns="78125" spcFirstLastPara="1" rIns="78125" wrap="square" tIns="3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0" name="Google Shape;3590;p69"/>
          <p:cNvSpPr txBox="1"/>
          <p:nvPr/>
        </p:nvSpPr>
        <p:spPr>
          <a:xfrm>
            <a:off x="8567065" y="4316803"/>
            <a:ext cx="8205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050" lIns="78125" spcFirstLastPara="1" rIns="78125" wrap="square" tIns="39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84">
                <a:solidFill>
                  <a:srgbClr val="23282D"/>
                </a:solidFill>
                <a:latin typeface="Malgun Gothic"/>
                <a:ea typeface="Malgun Gothic"/>
                <a:cs typeface="Malgun Gothic"/>
                <a:sym typeface="Malgun Gothic"/>
              </a:rPr>
              <a:t>TBD</a:t>
            </a:r>
            <a:endParaRPr sz="1196"/>
          </a:p>
        </p:txBody>
      </p:sp>
      <p:sp>
        <p:nvSpPr>
          <p:cNvPr id="3591" name="Google Shape;3591;p69"/>
          <p:cNvSpPr txBox="1"/>
          <p:nvPr/>
        </p:nvSpPr>
        <p:spPr>
          <a:xfrm>
            <a:off x="559189" y="5389492"/>
            <a:ext cx="8787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B77025"/>
                </a:solidFill>
                <a:latin typeface="Malgun Gothic"/>
                <a:ea typeface="Malgun Gothic"/>
                <a:cs typeface="Malgun Gothic"/>
                <a:sym typeface="Malgun Gothic"/>
              </a:rPr>
              <a:t>Risk 예시: R&amp;R 혼선 · SVG/Canvas/PDF 성능 불확실 · EDMS/Image To-Be 검증 · Base64 Legacy 의존 · Java21 호환</a:t>
            </a:r>
            <a:endParaRPr sz="160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5" name="Shape 3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6" name="Google Shape;3596;p70"/>
          <p:cNvSpPr/>
          <p:nvPr/>
        </p:nvSpPr>
        <p:spPr>
          <a:xfrm>
            <a:off x="0" y="0"/>
            <a:ext cx="9906000" cy="502800"/>
          </a:xfrm>
          <a:prstGeom prst="rect">
            <a:avLst/>
          </a:prstGeom>
          <a:solidFill>
            <a:srgbClr val="1A395B"/>
          </a:solidFill>
          <a:ln cap="flat" cmpd="sng" w="9525">
            <a:solidFill>
              <a:srgbClr val="1A39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7" name="Google Shape;3597;p70"/>
          <p:cNvSpPr txBox="1"/>
          <p:nvPr/>
        </p:nvSpPr>
        <p:spPr>
          <a:xfrm>
            <a:off x="320040" y="64008"/>
            <a:ext cx="2926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아키텍처 고도화 보완</a:t>
            </a:r>
            <a:endParaRPr/>
          </a:p>
        </p:txBody>
      </p:sp>
      <p:sp>
        <p:nvSpPr>
          <p:cNvPr id="3598" name="Google Shape;3598;p70"/>
          <p:cNvSpPr txBox="1"/>
          <p:nvPr/>
        </p:nvSpPr>
        <p:spPr>
          <a:xfrm>
            <a:off x="411480" y="658368"/>
            <a:ext cx="10972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1A395B"/>
                </a:solidFill>
                <a:latin typeface="Malgun Gothic"/>
                <a:ea typeface="Malgun Gothic"/>
                <a:cs typeface="Malgun Gothic"/>
                <a:sym typeface="Malgun Gothic"/>
              </a:rPr>
              <a:t>4.11 IDC / TA 협의용 Architecture Baseline</a:t>
            </a:r>
            <a:endParaRPr/>
          </a:p>
        </p:txBody>
      </p:sp>
      <p:sp>
        <p:nvSpPr>
          <p:cNvPr id="3599" name="Google Shape;3599;p70"/>
          <p:cNvSpPr txBox="1"/>
          <p:nvPr/>
        </p:nvSpPr>
        <p:spPr>
          <a:xfrm>
            <a:off x="429768" y="1143000"/>
            <a:ext cx="10972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46E78"/>
                </a:solidFill>
                <a:latin typeface="Malgun Gothic"/>
                <a:ea typeface="Malgun Gothic"/>
                <a:cs typeface="Malgun Gothic"/>
                <a:sym typeface="Malgun Gothic"/>
              </a:rPr>
              <a:t>완성본을 기다리지 않고 DRAFT V0.x를 기준으로 매주 결정사항을 누적</a:t>
            </a:r>
            <a:endParaRPr/>
          </a:p>
        </p:txBody>
      </p:sp>
      <p:sp>
        <p:nvSpPr>
          <p:cNvPr id="3600" name="Google Shape;3600;p70"/>
          <p:cNvSpPr txBox="1"/>
          <p:nvPr/>
        </p:nvSpPr>
        <p:spPr>
          <a:xfrm>
            <a:off x="10698480" y="6446520"/>
            <a:ext cx="1005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646E78"/>
                </a:solidFill>
                <a:latin typeface="Malgun Gothic"/>
                <a:ea typeface="Malgun Gothic"/>
                <a:cs typeface="Malgun Gothic"/>
                <a:sym typeface="Malgun Gothic"/>
              </a:rPr>
              <a:t>AA 보완안</a:t>
            </a:r>
            <a:endParaRPr/>
          </a:p>
        </p:txBody>
      </p:sp>
      <p:grpSp>
        <p:nvGrpSpPr>
          <p:cNvPr id="3601" name="Google Shape;3601;p70"/>
          <p:cNvGrpSpPr/>
          <p:nvPr/>
        </p:nvGrpSpPr>
        <p:grpSpPr>
          <a:xfrm>
            <a:off x="476250" y="1619250"/>
            <a:ext cx="8953650" cy="4229100"/>
            <a:chOff x="476250" y="1619250"/>
            <a:chExt cx="8953650" cy="4229100"/>
          </a:xfrm>
        </p:grpSpPr>
        <p:grpSp>
          <p:nvGrpSpPr>
            <p:cNvPr id="3602" name="Google Shape;3602;p70"/>
            <p:cNvGrpSpPr/>
            <p:nvPr/>
          </p:nvGrpSpPr>
          <p:grpSpPr>
            <a:xfrm>
              <a:off x="476250" y="1619250"/>
              <a:ext cx="4286400" cy="609600"/>
              <a:chOff x="0" y="0"/>
              <a:chExt cx="4286400" cy="609600"/>
            </a:xfrm>
          </p:grpSpPr>
          <p:sp>
            <p:nvSpPr>
              <p:cNvPr id="3603" name="Google Shape;3603;p70"/>
              <p:cNvSpPr/>
              <p:nvPr/>
            </p:nvSpPr>
            <p:spPr>
              <a:xfrm>
                <a:off x="0" y="0"/>
                <a:ext cx="4286400" cy="609600"/>
              </a:xfrm>
              <a:prstGeom prst="roundRect">
                <a:avLst>
                  <a:gd fmla="val 12500" name="adj"/>
                </a:avLst>
              </a:prstGeom>
              <a:solidFill>
                <a:srgbClr val="F4F7FA"/>
              </a:solidFill>
              <a:ln cap="flat" cmpd="sng" w="9525">
                <a:solidFill>
                  <a:srgbClr val="E1E4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4" name="Google Shape;3604;p70"/>
              <p:cNvSpPr/>
              <p:nvPr/>
            </p:nvSpPr>
            <p:spPr>
              <a:xfrm>
                <a:off x="152400" y="190500"/>
                <a:ext cx="342900" cy="228600"/>
              </a:xfrm>
              <a:prstGeom prst="roundRect">
                <a:avLst>
                  <a:gd fmla="val 50000" name="adj"/>
                </a:avLst>
              </a:prstGeom>
              <a:solidFill>
                <a:srgbClr val="1A395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5" name="Google Shape;3605;p70"/>
              <p:cNvSpPr txBox="1"/>
              <p:nvPr/>
            </p:nvSpPr>
            <p:spPr>
              <a:xfrm>
                <a:off x="152400" y="190500"/>
                <a:ext cx="342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01</a:t>
                </a:r>
                <a:endParaRPr b="1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6" name="Google Shape;3606;p70"/>
              <p:cNvSpPr txBox="1"/>
              <p:nvPr/>
            </p:nvSpPr>
            <p:spPr>
              <a:xfrm>
                <a:off x="609600" y="114300"/>
                <a:ext cx="3524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">
                    <a:solidFill>
                      <a:srgbClr val="23282D"/>
                    </a:solidFill>
                    <a:latin typeface="Arial"/>
                    <a:ea typeface="Arial"/>
                    <a:cs typeface="Arial"/>
                    <a:sym typeface="Arial"/>
                  </a:rPr>
                  <a:t>내부/외부 OZ·WEB/WAS 실제 배치 및 Zone</a:t>
                </a:r>
                <a:endParaRPr b="1" sz="1150">
                  <a:solidFill>
                    <a:srgbClr val="23282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07" name="Google Shape;3607;p70"/>
            <p:cNvGrpSpPr/>
            <p:nvPr/>
          </p:nvGrpSpPr>
          <p:grpSpPr>
            <a:xfrm>
              <a:off x="476250" y="2362200"/>
              <a:ext cx="4286400" cy="609600"/>
              <a:chOff x="0" y="0"/>
              <a:chExt cx="4286400" cy="609600"/>
            </a:xfrm>
          </p:grpSpPr>
          <p:sp>
            <p:nvSpPr>
              <p:cNvPr id="3608" name="Google Shape;3608;p70"/>
              <p:cNvSpPr/>
              <p:nvPr/>
            </p:nvSpPr>
            <p:spPr>
              <a:xfrm>
                <a:off x="0" y="0"/>
                <a:ext cx="4286400" cy="609600"/>
              </a:xfrm>
              <a:prstGeom prst="roundRect">
                <a:avLst>
                  <a:gd fmla="val 125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1E4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9" name="Google Shape;3609;p70"/>
              <p:cNvSpPr/>
              <p:nvPr/>
            </p:nvSpPr>
            <p:spPr>
              <a:xfrm>
                <a:off x="152400" y="190500"/>
                <a:ext cx="342900" cy="228600"/>
              </a:xfrm>
              <a:prstGeom prst="roundRect">
                <a:avLst>
                  <a:gd fmla="val 50000" name="adj"/>
                </a:avLst>
              </a:prstGeom>
              <a:solidFill>
                <a:srgbClr val="1A395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0" name="Google Shape;3610;p70"/>
              <p:cNvSpPr txBox="1"/>
              <p:nvPr/>
            </p:nvSpPr>
            <p:spPr>
              <a:xfrm>
                <a:off x="152400" y="190500"/>
                <a:ext cx="342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02</a:t>
                </a:r>
                <a:endParaRPr b="1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1" name="Google Shape;3611;p70"/>
              <p:cNvSpPr txBox="1"/>
              <p:nvPr/>
            </p:nvSpPr>
            <p:spPr>
              <a:xfrm>
                <a:off x="609600" y="114300"/>
                <a:ext cx="3524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">
                    <a:solidFill>
                      <a:srgbClr val="23282D"/>
                    </a:solidFill>
                    <a:latin typeface="Arial"/>
                    <a:ea typeface="Arial"/>
                    <a:cs typeface="Arial"/>
                    <a:sym typeface="Arial"/>
                  </a:rPr>
                  <a:t>OZ Scheduler 노드 수와 L4(VIP) 구성</a:t>
                </a:r>
                <a:endParaRPr b="1" sz="1150">
                  <a:solidFill>
                    <a:srgbClr val="23282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12" name="Google Shape;3612;p70"/>
            <p:cNvGrpSpPr/>
            <p:nvPr/>
          </p:nvGrpSpPr>
          <p:grpSpPr>
            <a:xfrm>
              <a:off x="476250" y="3105150"/>
              <a:ext cx="4286400" cy="609600"/>
              <a:chOff x="0" y="0"/>
              <a:chExt cx="4286400" cy="609600"/>
            </a:xfrm>
          </p:grpSpPr>
          <p:sp>
            <p:nvSpPr>
              <p:cNvPr id="3613" name="Google Shape;3613;p70"/>
              <p:cNvSpPr/>
              <p:nvPr/>
            </p:nvSpPr>
            <p:spPr>
              <a:xfrm>
                <a:off x="0" y="0"/>
                <a:ext cx="4286400" cy="609600"/>
              </a:xfrm>
              <a:prstGeom prst="roundRect">
                <a:avLst>
                  <a:gd fmla="val 12500" name="adj"/>
                </a:avLst>
              </a:prstGeom>
              <a:solidFill>
                <a:srgbClr val="F4F7FA"/>
              </a:solidFill>
              <a:ln cap="flat" cmpd="sng" w="9525">
                <a:solidFill>
                  <a:srgbClr val="E1E4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4" name="Google Shape;3614;p70"/>
              <p:cNvSpPr/>
              <p:nvPr/>
            </p:nvSpPr>
            <p:spPr>
              <a:xfrm>
                <a:off x="152400" y="190500"/>
                <a:ext cx="342900" cy="228600"/>
              </a:xfrm>
              <a:prstGeom prst="roundRect">
                <a:avLst>
                  <a:gd fmla="val 50000" name="adj"/>
                </a:avLst>
              </a:prstGeom>
              <a:solidFill>
                <a:srgbClr val="1A395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5" name="Google Shape;3615;p70"/>
              <p:cNvSpPr txBox="1"/>
              <p:nvPr/>
            </p:nvSpPr>
            <p:spPr>
              <a:xfrm>
                <a:off x="152400" y="190500"/>
                <a:ext cx="342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03</a:t>
                </a:r>
                <a:endParaRPr b="1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6" name="Google Shape;3616;p70"/>
              <p:cNvSpPr txBox="1"/>
              <p:nvPr/>
            </p:nvSpPr>
            <p:spPr>
              <a:xfrm>
                <a:off x="609600" y="114300"/>
                <a:ext cx="3524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">
                    <a:solidFill>
                      <a:srgbClr val="23282D"/>
                    </a:solidFill>
                    <a:latin typeface="Arial"/>
                    <a:ea typeface="Arial"/>
                    <a:cs typeface="Arial"/>
                    <a:sym typeface="Arial"/>
                  </a:rPr>
                  <a:t>Scheduler Health Check / 장애 시 Routing</a:t>
                </a:r>
                <a:endParaRPr b="1" sz="1150">
                  <a:solidFill>
                    <a:srgbClr val="23282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17" name="Google Shape;3617;p70"/>
            <p:cNvGrpSpPr/>
            <p:nvPr/>
          </p:nvGrpSpPr>
          <p:grpSpPr>
            <a:xfrm>
              <a:off x="476250" y="3848100"/>
              <a:ext cx="4286400" cy="609600"/>
              <a:chOff x="0" y="0"/>
              <a:chExt cx="4286400" cy="609600"/>
            </a:xfrm>
          </p:grpSpPr>
          <p:sp>
            <p:nvSpPr>
              <p:cNvPr id="3618" name="Google Shape;3618;p70"/>
              <p:cNvSpPr/>
              <p:nvPr/>
            </p:nvSpPr>
            <p:spPr>
              <a:xfrm>
                <a:off x="0" y="0"/>
                <a:ext cx="4286400" cy="609600"/>
              </a:xfrm>
              <a:prstGeom prst="roundRect">
                <a:avLst>
                  <a:gd fmla="val 125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1E4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9" name="Google Shape;3619;p70"/>
              <p:cNvSpPr/>
              <p:nvPr/>
            </p:nvSpPr>
            <p:spPr>
              <a:xfrm>
                <a:off x="152400" y="190500"/>
                <a:ext cx="342900" cy="228600"/>
              </a:xfrm>
              <a:prstGeom prst="roundRect">
                <a:avLst>
                  <a:gd fmla="val 50000" name="adj"/>
                </a:avLst>
              </a:prstGeom>
              <a:solidFill>
                <a:srgbClr val="1A395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0" name="Google Shape;3620;p70"/>
              <p:cNvSpPr txBox="1"/>
              <p:nvPr/>
            </p:nvSpPr>
            <p:spPr>
              <a:xfrm>
                <a:off x="152400" y="190500"/>
                <a:ext cx="342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04</a:t>
                </a:r>
                <a:endParaRPr b="1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1" name="Google Shape;3621;p70"/>
              <p:cNvSpPr txBox="1"/>
              <p:nvPr/>
            </p:nvSpPr>
            <p:spPr>
              <a:xfrm>
                <a:off x="609600" y="114300"/>
                <a:ext cx="3524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">
                    <a:solidFill>
                      <a:srgbClr val="23282D"/>
                    </a:solidFill>
                    <a:latin typeface="Arial"/>
                    <a:ea typeface="Arial"/>
                    <a:cs typeface="Arial"/>
                    <a:sym typeface="Arial"/>
                  </a:rPr>
                  <a:t>Async / 후처리 서버의 물리·논리 배치</a:t>
                </a:r>
                <a:endParaRPr b="1" sz="1150">
                  <a:solidFill>
                    <a:srgbClr val="23282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22" name="Google Shape;3622;p70"/>
            <p:cNvGrpSpPr/>
            <p:nvPr/>
          </p:nvGrpSpPr>
          <p:grpSpPr>
            <a:xfrm>
              <a:off x="476250" y="4591050"/>
              <a:ext cx="4286400" cy="609600"/>
              <a:chOff x="0" y="0"/>
              <a:chExt cx="4286400" cy="609600"/>
            </a:xfrm>
          </p:grpSpPr>
          <p:sp>
            <p:nvSpPr>
              <p:cNvPr id="3623" name="Google Shape;3623;p70"/>
              <p:cNvSpPr/>
              <p:nvPr/>
            </p:nvSpPr>
            <p:spPr>
              <a:xfrm>
                <a:off x="0" y="0"/>
                <a:ext cx="4286400" cy="609600"/>
              </a:xfrm>
              <a:prstGeom prst="roundRect">
                <a:avLst>
                  <a:gd fmla="val 12500" name="adj"/>
                </a:avLst>
              </a:prstGeom>
              <a:solidFill>
                <a:srgbClr val="F4F7FA"/>
              </a:solidFill>
              <a:ln cap="flat" cmpd="sng" w="9525">
                <a:solidFill>
                  <a:srgbClr val="E1E4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4" name="Google Shape;3624;p70"/>
              <p:cNvSpPr/>
              <p:nvPr/>
            </p:nvSpPr>
            <p:spPr>
              <a:xfrm>
                <a:off x="152400" y="190500"/>
                <a:ext cx="342900" cy="228600"/>
              </a:xfrm>
              <a:prstGeom prst="roundRect">
                <a:avLst>
                  <a:gd fmla="val 50000" name="adj"/>
                </a:avLst>
              </a:prstGeom>
              <a:solidFill>
                <a:srgbClr val="1A395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5" name="Google Shape;3625;p70"/>
              <p:cNvSpPr txBox="1"/>
              <p:nvPr/>
            </p:nvSpPr>
            <p:spPr>
              <a:xfrm>
                <a:off x="152400" y="190500"/>
                <a:ext cx="342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05</a:t>
                </a:r>
                <a:endParaRPr b="1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6" name="Google Shape;3626;p70"/>
              <p:cNvSpPr txBox="1"/>
              <p:nvPr/>
            </p:nvSpPr>
            <p:spPr>
              <a:xfrm>
                <a:off x="609600" y="114300"/>
                <a:ext cx="3524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">
                    <a:solidFill>
                      <a:srgbClr val="23282D"/>
                    </a:solidFill>
                    <a:latin typeface="Arial"/>
                    <a:ea typeface="Arial"/>
                    <a:cs typeface="Arial"/>
                    <a:sym typeface="Arial"/>
                  </a:rPr>
                  <a:t>이미지 변환 서버 및 EDMS/FAX 연계 Zone</a:t>
                </a:r>
                <a:endParaRPr b="1" sz="1150">
                  <a:solidFill>
                    <a:srgbClr val="23282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27" name="Google Shape;3627;p70"/>
            <p:cNvGrpSpPr/>
            <p:nvPr/>
          </p:nvGrpSpPr>
          <p:grpSpPr>
            <a:xfrm>
              <a:off x="5143500" y="1619250"/>
              <a:ext cx="4286400" cy="609600"/>
              <a:chOff x="0" y="0"/>
              <a:chExt cx="4286400" cy="609600"/>
            </a:xfrm>
          </p:grpSpPr>
          <p:sp>
            <p:nvSpPr>
              <p:cNvPr id="3628" name="Google Shape;3628;p70"/>
              <p:cNvSpPr/>
              <p:nvPr/>
            </p:nvSpPr>
            <p:spPr>
              <a:xfrm>
                <a:off x="0" y="0"/>
                <a:ext cx="4286400" cy="609600"/>
              </a:xfrm>
              <a:prstGeom prst="roundRect">
                <a:avLst>
                  <a:gd fmla="val 12500" name="adj"/>
                </a:avLst>
              </a:prstGeom>
              <a:solidFill>
                <a:srgbClr val="F4F7FA"/>
              </a:solidFill>
              <a:ln cap="flat" cmpd="sng" w="9525">
                <a:solidFill>
                  <a:srgbClr val="E1E4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9" name="Google Shape;3629;p70"/>
              <p:cNvSpPr/>
              <p:nvPr/>
            </p:nvSpPr>
            <p:spPr>
              <a:xfrm>
                <a:off x="152400" y="190500"/>
                <a:ext cx="342900" cy="228600"/>
              </a:xfrm>
              <a:prstGeom prst="roundRect">
                <a:avLst>
                  <a:gd fmla="val 50000" name="adj"/>
                </a:avLst>
              </a:prstGeom>
              <a:solidFill>
                <a:srgbClr val="2C5B8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0" name="Google Shape;3630;p70"/>
              <p:cNvSpPr txBox="1"/>
              <p:nvPr/>
            </p:nvSpPr>
            <p:spPr>
              <a:xfrm>
                <a:off x="152400" y="190500"/>
                <a:ext cx="342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06</a:t>
                </a:r>
                <a:endParaRPr b="1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1" name="Google Shape;3631;p70"/>
              <p:cNvSpPr txBox="1"/>
              <p:nvPr/>
            </p:nvSpPr>
            <p:spPr>
              <a:xfrm>
                <a:off x="609600" y="114300"/>
                <a:ext cx="3524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">
                    <a:solidFill>
                      <a:srgbClr val="23282D"/>
                    </a:solidFill>
                    <a:latin typeface="Arial"/>
                    <a:ea typeface="Arial"/>
                    <a:cs typeface="Arial"/>
                    <a:sym typeface="Arial"/>
                  </a:rPr>
                  <a:t>NAS / 로컬DISK / 공유 Storage 사용 원칙</a:t>
                </a:r>
                <a:endParaRPr b="1" sz="1150">
                  <a:solidFill>
                    <a:srgbClr val="23282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32" name="Google Shape;3632;p70"/>
            <p:cNvGrpSpPr/>
            <p:nvPr/>
          </p:nvGrpSpPr>
          <p:grpSpPr>
            <a:xfrm>
              <a:off x="5143500" y="2362200"/>
              <a:ext cx="4286400" cy="609600"/>
              <a:chOff x="0" y="0"/>
              <a:chExt cx="4286400" cy="609600"/>
            </a:xfrm>
          </p:grpSpPr>
          <p:sp>
            <p:nvSpPr>
              <p:cNvPr id="3633" name="Google Shape;3633;p70"/>
              <p:cNvSpPr/>
              <p:nvPr/>
            </p:nvSpPr>
            <p:spPr>
              <a:xfrm>
                <a:off x="0" y="0"/>
                <a:ext cx="4286400" cy="609600"/>
              </a:xfrm>
              <a:prstGeom prst="roundRect">
                <a:avLst>
                  <a:gd fmla="val 125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1E4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4" name="Google Shape;3634;p70"/>
              <p:cNvSpPr/>
              <p:nvPr/>
            </p:nvSpPr>
            <p:spPr>
              <a:xfrm>
                <a:off x="152400" y="190500"/>
                <a:ext cx="342900" cy="228600"/>
              </a:xfrm>
              <a:prstGeom prst="roundRect">
                <a:avLst>
                  <a:gd fmla="val 50000" name="adj"/>
                </a:avLst>
              </a:prstGeom>
              <a:solidFill>
                <a:srgbClr val="2C5B8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5" name="Google Shape;3635;p70"/>
              <p:cNvSpPr txBox="1"/>
              <p:nvPr/>
            </p:nvSpPr>
            <p:spPr>
              <a:xfrm>
                <a:off x="152400" y="190500"/>
                <a:ext cx="342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07</a:t>
                </a:r>
                <a:endParaRPr b="1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6" name="Google Shape;3636;p70"/>
              <p:cNvSpPr txBox="1"/>
              <p:nvPr/>
            </p:nvSpPr>
            <p:spPr>
              <a:xfrm>
                <a:off x="609600" y="114300"/>
                <a:ext cx="3524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">
                    <a:solidFill>
                      <a:srgbClr val="23282D"/>
                    </a:solidFill>
                    <a:latin typeface="Arial"/>
                    <a:ea typeface="Arial"/>
                    <a:cs typeface="Arial"/>
                    <a:sym typeface="Arial"/>
                  </a:rPr>
                  <a:t>운영계 HA / Failover / Backup 기준</a:t>
                </a:r>
                <a:endParaRPr b="1" sz="1150">
                  <a:solidFill>
                    <a:srgbClr val="23282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37" name="Google Shape;3637;p70"/>
            <p:cNvGrpSpPr/>
            <p:nvPr/>
          </p:nvGrpSpPr>
          <p:grpSpPr>
            <a:xfrm>
              <a:off x="5143500" y="3105150"/>
              <a:ext cx="4286400" cy="609600"/>
              <a:chOff x="0" y="0"/>
              <a:chExt cx="4286400" cy="609600"/>
            </a:xfrm>
          </p:grpSpPr>
          <p:sp>
            <p:nvSpPr>
              <p:cNvPr id="3638" name="Google Shape;3638;p70"/>
              <p:cNvSpPr/>
              <p:nvPr/>
            </p:nvSpPr>
            <p:spPr>
              <a:xfrm>
                <a:off x="0" y="0"/>
                <a:ext cx="4286400" cy="609600"/>
              </a:xfrm>
              <a:prstGeom prst="roundRect">
                <a:avLst>
                  <a:gd fmla="val 12500" name="adj"/>
                </a:avLst>
              </a:prstGeom>
              <a:solidFill>
                <a:srgbClr val="F4F7FA"/>
              </a:solidFill>
              <a:ln cap="flat" cmpd="sng" w="9525">
                <a:solidFill>
                  <a:srgbClr val="E1E4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9" name="Google Shape;3639;p70"/>
              <p:cNvSpPr/>
              <p:nvPr/>
            </p:nvSpPr>
            <p:spPr>
              <a:xfrm>
                <a:off x="152400" y="190500"/>
                <a:ext cx="342900" cy="228600"/>
              </a:xfrm>
              <a:prstGeom prst="roundRect">
                <a:avLst>
                  <a:gd fmla="val 50000" name="adj"/>
                </a:avLst>
              </a:prstGeom>
              <a:solidFill>
                <a:srgbClr val="2C5B8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0" name="Google Shape;3640;p70"/>
              <p:cNvSpPr txBox="1"/>
              <p:nvPr/>
            </p:nvSpPr>
            <p:spPr>
              <a:xfrm>
                <a:off x="152400" y="190500"/>
                <a:ext cx="342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08</a:t>
                </a:r>
                <a:endParaRPr b="1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1" name="Google Shape;3641;p70"/>
              <p:cNvSpPr txBox="1"/>
              <p:nvPr/>
            </p:nvSpPr>
            <p:spPr>
              <a:xfrm>
                <a:off x="609600" y="114300"/>
                <a:ext cx="3524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">
                    <a:solidFill>
                      <a:srgbClr val="23282D"/>
                    </a:solidFill>
                    <a:latin typeface="Arial"/>
                    <a:ea typeface="Arial"/>
                    <a:cs typeface="Arial"/>
                    <a:sym typeface="Arial"/>
                  </a:rPr>
                  <a:t>내부·외부 Domain 및 Parallel Run 방식</a:t>
                </a:r>
                <a:endParaRPr b="1" sz="1150">
                  <a:solidFill>
                    <a:srgbClr val="23282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42" name="Google Shape;3642;p70"/>
            <p:cNvGrpSpPr/>
            <p:nvPr/>
          </p:nvGrpSpPr>
          <p:grpSpPr>
            <a:xfrm>
              <a:off x="5143500" y="3848100"/>
              <a:ext cx="4286400" cy="609600"/>
              <a:chOff x="0" y="0"/>
              <a:chExt cx="4286400" cy="609600"/>
            </a:xfrm>
          </p:grpSpPr>
          <p:sp>
            <p:nvSpPr>
              <p:cNvPr id="3643" name="Google Shape;3643;p70"/>
              <p:cNvSpPr/>
              <p:nvPr/>
            </p:nvSpPr>
            <p:spPr>
              <a:xfrm>
                <a:off x="0" y="0"/>
                <a:ext cx="4286400" cy="609600"/>
              </a:xfrm>
              <a:prstGeom prst="roundRect">
                <a:avLst>
                  <a:gd fmla="val 125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1E4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4" name="Google Shape;3644;p70"/>
              <p:cNvSpPr/>
              <p:nvPr/>
            </p:nvSpPr>
            <p:spPr>
              <a:xfrm>
                <a:off x="152400" y="190500"/>
                <a:ext cx="342900" cy="228600"/>
              </a:xfrm>
              <a:prstGeom prst="roundRect">
                <a:avLst>
                  <a:gd fmla="val 50000" name="adj"/>
                </a:avLst>
              </a:prstGeom>
              <a:solidFill>
                <a:srgbClr val="2C5B8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5" name="Google Shape;3645;p70"/>
              <p:cNvSpPr txBox="1"/>
              <p:nvPr/>
            </p:nvSpPr>
            <p:spPr>
              <a:xfrm>
                <a:off x="152400" y="190500"/>
                <a:ext cx="342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09</a:t>
                </a:r>
                <a:endParaRPr b="1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6" name="Google Shape;3646;p70"/>
              <p:cNvSpPr txBox="1"/>
              <p:nvPr/>
            </p:nvSpPr>
            <p:spPr>
              <a:xfrm>
                <a:off x="609600" y="114300"/>
                <a:ext cx="3524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">
                    <a:solidFill>
                      <a:srgbClr val="23282D"/>
                    </a:solidFill>
                    <a:latin typeface="Arial"/>
                    <a:ea typeface="Arial"/>
                    <a:cs typeface="Arial"/>
                    <a:sym typeface="Arial"/>
                  </a:rPr>
                  <a:t>모니터링 / 로그 / 장애 추적 책임</a:t>
                </a:r>
                <a:endParaRPr b="1" sz="1150">
                  <a:solidFill>
                    <a:srgbClr val="23282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47" name="Google Shape;3647;p70"/>
            <p:cNvGrpSpPr/>
            <p:nvPr/>
          </p:nvGrpSpPr>
          <p:grpSpPr>
            <a:xfrm>
              <a:off x="5143500" y="4591050"/>
              <a:ext cx="4286400" cy="609600"/>
              <a:chOff x="0" y="0"/>
              <a:chExt cx="4286400" cy="609600"/>
            </a:xfrm>
          </p:grpSpPr>
          <p:sp>
            <p:nvSpPr>
              <p:cNvPr id="3648" name="Google Shape;3648;p70"/>
              <p:cNvSpPr/>
              <p:nvPr/>
            </p:nvSpPr>
            <p:spPr>
              <a:xfrm>
                <a:off x="0" y="0"/>
                <a:ext cx="4286400" cy="609600"/>
              </a:xfrm>
              <a:prstGeom prst="roundRect">
                <a:avLst>
                  <a:gd fmla="val 12500" name="adj"/>
                </a:avLst>
              </a:prstGeom>
              <a:solidFill>
                <a:srgbClr val="F4F7FA"/>
              </a:solidFill>
              <a:ln cap="flat" cmpd="sng" w="9525">
                <a:solidFill>
                  <a:srgbClr val="E1E4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9" name="Google Shape;3649;p70"/>
              <p:cNvSpPr/>
              <p:nvPr/>
            </p:nvSpPr>
            <p:spPr>
              <a:xfrm>
                <a:off x="152400" y="190500"/>
                <a:ext cx="342900" cy="228600"/>
              </a:xfrm>
              <a:prstGeom prst="roundRect">
                <a:avLst>
                  <a:gd fmla="val 50000" name="adj"/>
                </a:avLst>
              </a:prstGeom>
              <a:solidFill>
                <a:srgbClr val="2C5B8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0" name="Google Shape;3650;p70"/>
              <p:cNvSpPr txBox="1"/>
              <p:nvPr/>
            </p:nvSpPr>
            <p:spPr>
              <a:xfrm>
                <a:off x="152400" y="190500"/>
                <a:ext cx="342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b="1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1" name="Google Shape;3651;p70"/>
              <p:cNvSpPr txBox="1"/>
              <p:nvPr/>
            </p:nvSpPr>
            <p:spPr>
              <a:xfrm>
                <a:off x="609600" y="114300"/>
                <a:ext cx="3524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">
                    <a:solidFill>
                      <a:srgbClr val="23282D"/>
                    </a:solidFill>
                    <a:latin typeface="Arial"/>
                    <a:ea typeface="Arial"/>
                    <a:cs typeface="Arial"/>
                    <a:sym typeface="Arial"/>
                  </a:rPr>
                  <a:t>보안구간 및 방화벽/통신 포트 협의</a:t>
                </a:r>
                <a:endParaRPr b="1" sz="1150">
                  <a:solidFill>
                    <a:srgbClr val="23282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52" name="Google Shape;3652;p70"/>
            <p:cNvGrpSpPr/>
            <p:nvPr/>
          </p:nvGrpSpPr>
          <p:grpSpPr>
            <a:xfrm>
              <a:off x="476250" y="5391150"/>
              <a:ext cx="8953500" cy="457200"/>
              <a:chOff x="0" y="0"/>
              <a:chExt cx="8953500" cy="457200"/>
            </a:xfrm>
          </p:grpSpPr>
          <p:sp>
            <p:nvSpPr>
              <p:cNvPr id="3653" name="Google Shape;3653;p70"/>
              <p:cNvSpPr/>
              <p:nvPr/>
            </p:nvSpPr>
            <p:spPr>
              <a:xfrm>
                <a:off x="0" y="0"/>
                <a:ext cx="8953500" cy="457200"/>
              </a:xfrm>
              <a:prstGeom prst="roundRect">
                <a:avLst>
                  <a:gd fmla="val 12500" name="adj"/>
                </a:avLst>
              </a:prstGeom>
              <a:solidFill>
                <a:srgbClr val="EBF3FC"/>
              </a:solidFill>
              <a:ln cap="flat" cmpd="sng" w="9525">
                <a:solidFill>
                  <a:srgbClr val="B9D1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4" name="Google Shape;3654;p70"/>
              <p:cNvSpPr txBox="1"/>
              <p:nvPr/>
            </p:nvSpPr>
            <p:spPr>
              <a:xfrm>
                <a:off x="152400" y="0"/>
                <a:ext cx="86487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">
                    <a:solidFill>
                      <a:srgbClr val="2C5B8C"/>
                    </a:solidFill>
                    <a:latin typeface="Arial"/>
                    <a:ea typeface="Arial"/>
                    <a:cs typeface="Arial"/>
                    <a:sym typeface="Arial"/>
                  </a:rPr>
                  <a:t>📌 회의 산출물</a:t>
                </a:r>
                <a:r>
                  <a:rPr b="1" lang="en-US" sz="1150">
                    <a:solidFill>
                      <a:srgbClr val="1A395B"/>
                    </a:solidFill>
                    <a:latin typeface="Arial"/>
                    <a:ea typeface="Arial"/>
                    <a:cs typeface="Arial"/>
                    <a:sym typeface="Arial"/>
                  </a:rPr>
                  <a:t>확정(DECIDED) / 확인(TBD) / 담당(OWNER) / 기한(DUE) 4개 필드를 반드시 남김</a:t>
                </a:r>
                <a:endParaRPr b="1" sz="115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8" name="Shape 3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9" name="Google Shape;3659;p71"/>
          <p:cNvSpPr/>
          <p:nvPr/>
        </p:nvSpPr>
        <p:spPr>
          <a:xfrm>
            <a:off x="0" y="0"/>
            <a:ext cx="9906000" cy="502800"/>
          </a:xfrm>
          <a:prstGeom prst="rect">
            <a:avLst/>
          </a:prstGeom>
          <a:solidFill>
            <a:srgbClr val="1A395B"/>
          </a:solidFill>
          <a:ln cap="flat" cmpd="sng" w="9525">
            <a:solidFill>
              <a:srgbClr val="1A39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0" name="Google Shape;3660;p71"/>
          <p:cNvSpPr txBox="1"/>
          <p:nvPr/>
        </p:nvSpPr>
        <p:spPr>
          <a:xfrm>
            <a:off x="320040" y="64008"/>
            <a:ext cx="2926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아키텍처 고도화 보완</a:t>
            </a:r>
            <a:endParaRPr/>
          </a:p>
        </p:txBody>
      </p:sp>
      <p:sp>
        <p:nvSpPr>
          <p:cNvPr id="3661" name="Google Shape;3661;p71"/>
          <p:cNvSpPr txBox="1"/>
          <p:nvPr/>
        </p:nvSpPr>
        <p:spPr>
          <a:xfrm>
            <a:off x="411480" y="658368"/>
            <a:ext cx="10972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1A395B"/>
                </a:solidFill>
                <a:latin typeface="Malgun Gothic"/>
                <a:ea typeface="Malgun Gothic"/>
                <a:cs typeface="Malgun Gothic"/>
                <a:sym typeface="Malgun Gothic"/>
              </a:rPr>
              <a:t>4.12 기존 문서 보완 적용 순서</a:t>
            </a:r>
            <a:endParaRPr/>
          </a:p>
        </p:txBody>
      </p:sp>
      <p:sp>
        <p:nvSpPr>
          <p:cNvPr id="3662" name="Google Shape;3662;p71"/>
          <p:cNvSpPr txBox="1"/>
          <p:nvPr/>
        </p:nvSpPr>
        <p:spPr>
          <a:xfrm>
            <a:off x="429768" y="1143000"/>
            <a:ext cx="10972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46E78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장표를 유지한 상태에서 상위 구조와 연결정보만 단계적으로 추가</a:t>
            </a:r>
            <a:endParaRPr/>
          </a:p>
        </p:txBody>
      </p:sp>
      <p:sp>
        <p:nvSpPr>
          <p:cNvPr id="3663" name="Google Shape;3663;p71"/>
          <p:cNvSpPr txBox="1"/>
          <p:nvPr/>
        </p:nvSpPr>
        <p:spPr>
          <a:xfrm>
            <a:off x="10698480" y="6446520"/>
            <a:ext cx="1005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646E78"/>
                </a:solidFill>
                <a:latin typeface="Malgun Gothic"/>
                <a:ea typeface="Malgun Gothic"/>
                <a:cs typeface="Malgun Gothic"/>
                <a:sym typeface="Malgun Gothic"/>
              </a:rPr>
              <a:t>AA 보완안</a:t>
            </a:r>
            <a:endParaRPr/>
          </a:p>
        </p:txBody>
      </p:sp>
      <p:grpSp>
        <p:nvGrpSpPr>
          <p:cNvPr id="3664" name="Google Shape;3664;p71"/>
          <p:cNvGrpSpPr/>
          <p:nvPr/>
        </p:nvGrpSpPr>
        <p:grpSpPr>
          <a:xfrm>
            <a:off x="428625" y="1619250"/>
            <a:ext cx="9162900" cy="2476500"/>
            <a:chOff x="428625" y="1619250"/>
            <a:chExt cx="9162900" cy="2476500"/>
          </a:xfrm>
        </p:grpSpPr>
        <p:grpSp>
          <p:nvGrpSpPr>
            <p:cNvPr id="3665" name="Google Shape;3665;p71"/>
            <p:cNvGrpSpPr/>
            <p:nvPr/>
          </p:nvGrpSpPr>
          <p:grpSpPr>
            <a:xfrm>
              <a:off x="428625" y="1619250"/>
              <a:ext cx="1619100" cy="2476500"/>
              <a:chOff x="0" y="0"/>
              <a:chExt cx="1619100" cy="2476500"/>
            </a:xfrm>
          </p:grpSpPr>
          <p:sp>
            <p:nvSpPr>
              <p:cNvPr id="3666" name="Google Shape;3666;p71"/>
              <p:cNvSpPr/>
              <p:nvPr/>
            </p:nvSpPr>
            <p:spPr>
              <a:xfrm>
                <a:off x="0" y="0"/>
                <a:ext cx="1619100" cy="2476500"/>
              </a:xfrm>
              <a:prstGeom prst="roundRect">
                <a:avLst>
                  <a:gd fmla="val 9411" name="adj"/>
                </a:avLst>
              </a:prstGeom>
              <a:solidFill>
                <a:srgbClr val="F4F7FA"/>
              </a:solidFill>
              <a:ln cap="flat" cmpd="sng" w="14300">
                <a:solidFill>
                  <a:srgbClr val="E1E4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7" name="Google Shape;3667;p71"/>
              <p:cNvSpPr/>
              <p:nvPr/>
            </p:nvSpPr>
            <p:spPr>
              <a:xfrm>
                <a:off x="476250" y="190500"/>
                <a:ext cx="666900" cy="228600"/>
              </a:xfrm>
              <a:prstGeom prst="roundRect">
                <a:avLst>
                  <a:gd fmla="val 50000" name="adj"/>
                </a:avLst>
              </a:prstGeom>
              <a:solidFill>
                <a:srgbClr val="1A395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8" name="Google Shape;3668;p71"/>
              <p:cNvSpPr txBox="1"/>
              <p:nvPr/>
            </p:nvSpPr>
            <p:spPr>
              <a:xfrm>
                <a:off x="0" y="190500"/>
                <a:ext cx="16191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8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STEP 1</a:t>
                </a:r>
                <a:endParaRPr b="1" sz="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9" name="Google Shape;3669;p71"/>
              <p:cNvSpPr txBox="1"/>
              <p:nvPr/>
            </p:nvSpPr>
            <p:spPr>
              <a:xfrm>
                <a:off x="142875" y="619125"/>
                <a:ext cx="13335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1A395B"/>
                    </a:solidFill>
                    <a:latin typeface="Arial"/>
                    <a:ea typeface="Arial"/>
                    <a:cs typeface="Arial"/>
                    <a:sym typeface="Arial"/>
                  </a:rPr>
                  <a:t>목차/계층 정리</a:t>
                </a:r>
                <a:endParaRPr b="1" sz="13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lang="en-US" sz="950">
                    <a:solidFill>
                      <a:srgbClr val="646E78"/>
                    </a:solidFill>
                    <a:latin typeface="Arial"/>
                    <a:ea typeface="Arial"/>
                    <a:cs typeface="Arial"/>
                    <a:sym typeface="Arial"/>
                  </a:rPr>
                  <a:t>기존 58장 분류</a:t>
                </a:r>
                <a:endParaRPr sz="950">
                  <a:solidFill>
                    <a:srgbClr val="646E78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2C5B8C"/>
                    </a:solidFill>
                    <a:latin typeface="Arial"/>
                    <a:ea typeface="Arial"/>
                    <a:cs typeface="Arial"/>
                    <a:sym typeface="Arial"/>
                  </a:rPr>
                  <a:t>L0~L5 태깅</a:t>
                </a:r>
                <a:endParaRPr b="1" sz="1100">
                  <a:solidFill>
                    <a:srgbClr val="2C5B8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70" name="Google Shape;3670;p71"/>
            <p:cNvSpPr txBox="1"/>
            <p:nvPr/>
          </p:nvSpPr>
          <p:spPr>
            <a:xfrm>
              <a:off x="2047875" y="2740914"/>
              <a:ext cx="2667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B3CDE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east</a:t>
              </a:r>
              <a:endParaRPr sz="1800">
                <a:solidFill>
                  <a:srgbClr val="B3CDE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grpSp>
          <p:nvGrpSpPr>
            <p:cNvPr id="3671" name="Google Shape;3671;p71"/>
            <p:cNvGrpSpPr/>
            <p:nvPr/>
          </p:nvGrpSpPr>
          <p:grpSpPr>
            <a:xfrm>
              <a:off x="2314575" y="1619250"/>
              <a:ext cx="1619100" cy="2476500"/>
              <a:chOff x="0" y="0"/>
              <a:chExt cx="1619100" cy="2476500"/>
            </a:xfrm>
          </p:grpSpPr>
          <p:sp>
            <p:nvSpPr>
              <p:cNvPr id="3672" name="Google Shape;3672;p71"/>
              <p:cNvSpPr/>
              <p:nvPr/>
            </p:nvSpPr>
            <p:spPr>
              <a:xfrm>
                <a:off x="0" y="0"/>
                <a:ext cx="1619100" cy="2476500"/>
              </a:xfrm>
              <a:prstGeom prst="roundRect">
                <a:avLst>
                  <a:gd fmla="val 9411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1E4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3" name="Google Shape;3673;p71"/>
              <p:cNvSpPr/>
              <p:nvPr/>
            </p:nvSpPr>
            <p:spPr>
              <a:xfrm>
                <a:off x="476250" y="190500"/>
                <a:ext cx="666900" cy="228600"/>
              </a:xfrm>
              <a:prstGeom prst="roundRect">
                <a:avLst>
                  <a:gd fmla="val 50000" name="adj"/>
                </a:avLst>
              </a:prstGeom>
              <a:solidFill>
                <a:srgbClr val="E0EBF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4" name="Google Shape;3674;p71"/>
              <p:cNvSpPr txBox="1"/>
              <p:nvPr/>
            </p:nvSpPr>
            <p:spPr>
              <a:xfrm>
                <a:off x="0" y="190500"/>
                <a:ext cx="16191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800">
                    <a:solidFill>
                      <a:srgbClr val="1A395B"/>
                    </a:solidFill>
                    <a:latin typeface="Arial"/>
                    <a:ea typeface="Arial"/>
                    <a:cs typeface="Arial"/>
                    <a:sym typeface="Arial"/>
                  </a:rPr>
                  <a:t>STEP 2</a:t>
                </a:r>
                <a:endParaRPr b="1" sz="8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5" name="Google Shape;3675;p71"/>
              <p:cNvSpPr txBox="1"/>
              <p:nvPr/>
            </p:nvSpPr>
            <p:spPr>
              <a:xfrm>
                <a:off x="142875" y="619125"/>
                <a:ext cx="13335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1A395B"/>
                    </a:solidFill>
                    <a:latin typeface="Arial"/>
                    <a:ea typeface="Arial"/>
                    <a:cs typeface="Arial"/>
                    <a:sym typeface="Arial"/>
                  </a:rPr>
                  <a:t>공통 OZ Logical</a:t>
                </a:r>
                <a:endParaRPr b="1" sz="13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lang="en-US" sz="950">
                    <a:solidFill>
                      <a:srgbClr val="646E78"/>
                    </a:solidFill>
                    <a:latin typeface="Arial"/>
                    <a:ea typeface="Arial"/>
                    <a:cs typeface="Arial"/>
                    <a:sym typeface="Arial"/>
                  </a:rPr>
                  <a:t>System Context</a:t>
                </a:r>
                <a:endParaRPr sz="950">
                  <a:solidFill>
                    <a:srgbClr val="646E78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2C5B8C"/>
                    </a:solidFill>
                    <a:latin typeface="Arial"/>
                    <a:ea typeface="Arial"/>
                    <a:cs typeface="Arial"/>
                    <a:sym typeface="Arial"/>
                  </a:rPr>
                  <a:t>Viewer/Scheduler</a:t>
                </a:r>
                <a:endParaRPr b="1" sz="1100">
                  <a:solidFill>
                    <a:srgbClr val="2C5B8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76" name="Google Shape;3676;p71"/>
            <p:cNvSpPr txBox="1"/>
            <p:nvPr/>
          </p:nvSpPr>
          <p:spPr>
            <a:xfrm>
              <a:off x="3933825" y="2740914"/>
              <a:ext cx="2667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B3CDE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east</a:t>
              </a:r>
              <a:endParaRPr sz="1800">
                <a:solidFill>
                  <a:srgbClr val="B3CDE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grpSp>
          <p:nvGrpSpPr>
            <p:cNvPr id="3677" name="Google Shape;3677;p71"/>
            <p:cNvGrpSpPr/>
            <p:nvPr/>
          </p:nvGrpSpPr>
          <p:grpSpPr>
            <a:xfrm>
              <a:off x="4200525" y="1619250"/>
              <a:ext cx="1619100" cy="2476500"/>
              <a:chOff x="0" y="0"/>
              <a:chExt cx="1619100" cy="2476500"/>
            </a:xfrm>
          </p:grpSpPr>
          <p:sp>
            <p:nvSpPr>
              <p:cNvPr id="3678" name="Google Shape;3678;p71"/>
              <p:cNvSpPr/>
              <p:nvPr/>
            </p:nvSpPr>
            <p:spPr>
              <a:xfrm>
                <a:off x="0" y="0"/>
                <a:ext cx="1619100" cy="2476500"/>
              </a:xfrm>
              <a:prstGeom prst="roundRect">
                <a:avLst>
                  <a:gd fmla="val 9411" name="adj"/>
                </a:avLst>
              </a:prstGeom>
              <a:solidFill>
                <a:srgbClr val="F4F7FA"/>
              </a:solidFill>
              <a:ln cap="flat" cmpd="sng" w="14300">
                <a:solidFill>
                  <a:srgbClr val="E1E4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9" name="Google Shape;3679;p71"/>
              <p:cNvSpPr/>
              <p:nvPr/>
            </p:nvSpPr>
            <p:spPr>
              <a:xfrm>
                <a:off x="476250" y="190500"/>
                <a:ext cx="666900" cy="228600"/>
              </a:xfrm>
              <a:prstGeom prst="roundRect">
                <a:avLst>
                  <a:gd fmla="val 50000" name="adj"/>
                </a:avLst>
              </a:prstGeom>
              <a:solidFill>
                <a:srgbClr val="E0EBF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0" name="Google Shape;3680;p71"/>
              <p:cNvSpPr txBox="1"/>
              <p:nvPr/>
            </p:nvSpPr>
            <p:spPr>
              <a:xfrm>
                <a:off x="0" y="190500"/>
                <a:ext cx="16191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800">
                    <a:solidFill>
                      <a:srgbClr val="1A395B"/>
                    </a:solidFill>
                    <a:latin typeface="Arial"/>
                    <a:ea typeface="Arial"/>
                    <a:cs typeface="Arial"/>
                    <a:sym typeface="Arial"/>
                  </a:rPr>
                  <a:t>STEP 3</a:t>
                </a:r>
                <a:endParaRPr b="1" sz="8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1" name="Google Shape;3681;p71"/>
              <p:cNvSpPr txBox="1"/>
              <p:nvPr/>
            </p:nvSpPr>
            <p:spPr>
              <a:xfrm>
                <a:off x="142875" y="619125"/>
                <a:ext cx="13335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1A395B"/>
                    </a:solidFill>
                    <a:latin typeface="Arial"/>
                    <a:ea typeface="Arial"/>
                    <a:cs typeface="Arial"/>
                    <a:sym typeface="Arial"/>
                  </a:rPr>
                  <a:t>상세 Flow 연결</a:t>
                </a:r>
                <a:endParaRPr b="1" sz="13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lang="en-US" sz="950">
                    <a:solidFill>
                      <a:srgbClr val="646E78"/>
                    </a:solidFill>
                    <a:latin typeface="Arial"/>
                    <a:ea typeface="Arial"/>
                    <a:cs typeface="Arial"/>
                    <a:sym typeface="Arial"/>
                  </a:rPr>
                  <a:t>발행/FAX/EDMS</a:t>
                </a:r>
                <a:endParaRPr sz="950">
                  <a:solidFill>
                    <a:srgbClr val="646E78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2C5B8C"/>
                    </a:solidFill>
                    <a:latin typeface="Arial"/>
                    <a:ea typeface="Arial"/>
                    <a:cs typeface="Arial"/>
                    <a:sym typeface="Arial"/>
                  </a:rPr>
                  <a:t>Async/Remote</a:t>
                </a:r>
                <a:endParaRPr b="1" sz="1100">
                  <a:solidFill>
                    <a:srgbClr val="2C5B8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82" name="Google Shape;3682;p71"/>
            <p:cNvSpPr txBox="1"/>
            <p:nvPr/>
          </p:nvSpPr>
          <p:spPr>
            <a:xfrm>
              <a:off x="5819775" y="2740914"/>
              <a:ext cx="2667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B3CDE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east</a:t>
              </a:r>
              <a:endParaRPr sz="1800">
                <a:solidFill>
                  <a:srgbClr val="B3CDE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grpSp>
          <p:nvGrpSpPr>
            <p:cNvPr id="3683" name="Google Shape;3683;p71"/>
            <p:cNvGrpSpPr/>
            <p:nvPr/>
          </p:nvGrpSpPr>
          <p:grpSpPr>
            <a:xfrm>
              <a:off x="6086475" y="1619250"/>
              <a:ext cx="1619100" cy="2476500"/>
              <a:chOff x="0" y="0"/>
              <a:chExt cx="1619100" cy="2476500"/>
            </a:xfrm>
          </p:grpSpPr>
          <p:sp>
            <p:nvSpPr>
              <p:cNvPr id="3684" name="Google Shape;3684;p71"/>
              <p:cNvSpPr/>
              <p:nvPr/>
            </p:nvSpPr>
            <p:spPr>
              <a:xfrm>
                <a:off x="0" y="0"/>
                <a:ext cx="1619100" cy="2476500"/>
              </a:xfrm>
              <a:prstGeom prst="roundRect">
                <a:avLst>
                  <a:gd fmla="val 9411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1E4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5" name="Google Shape;3685;p71"/>
              <p:cNvSpPr/>
              <p:nvPr/>
            </p:nvSpPr>
            <p:spPr>
              <a:xfrm>
                <a:off x="476250" y="190500"/>
                <a:ext cx="666900" cy="228600"/>
              </a:xfrm>
              <a:prstGeom prst="roundRect">
                <a:avLst>
                  <a:gd fmla="val 50000" name="adj"/>
                </a:avLst>
              </a:prstGeom>
              <a:solidFill>
                <a:srgbClr val="E0EBF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6" name="Google Shape;3686;p71"/>
              <p:cNvSpPr txBox="1"/>
              <p:nvPr/>
            </p:nvSpPr>
            <p:spPr>
              <a:xfrm>
                <a:off x="0" y="190500"/>
                <a:ext cx="16191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800">
                    <a:solidFill>
                      <a:srgbClr val="1A395B"/>
                    </a:solidFill>
                    <a:latin typeface="Arial"/>
                    <a:ea typeface="Arial"/>
                    <a:cs typeface="Arial"/>
                    <a:sym typeface="Arial"/>
                  </a:rPr>
                  <a:t>STEP 4</a:t>
                </a:r>
                <a:endParaRPr b="1" sz="8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7" name="Google Shape;3687;p71"/>
              <p:cNvSpPr txBox="1"/>
              <p:nvPr/>
            </p:nvSpPr>
            <p:spPr>
              <a:xfrm>
                <a:off x="142875" y="619125"/>
                <a:ext cx="13335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1A395B"/>
                    </a:solidFill>
                    <a:latin typeface="Arial"/>
                    <a:ea typeface="Arial"/>
                    <a:cs typeface="Arial"/>
                    <a:sym typeface="Arial"/>
                  </a:rPr>
                  <a:t>Traceability</a:t>
                </a:r>
                <a:endParaRPr b="1" sz="13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lang="en-US" sz="950">
                    <a:solidFill>
                      <a:srgbClr val="646E78"/>
                    </a:solidFill>
                    <a:latin typeface="Arial"/>
                    <a:ea typeface="Arial"/>
                    <a:cs typeface="Arial"/>
                    <a:sym typeface="Arial"/>
                  </a:rPr>
                  <a:t>REQ/ADR/Risk</a:t>
                </a:r>
                <a:endParaRPr sz="950">
                  <a:solidFill>
                    <a:srgbClr val="646E78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2C5B8C"/>
                    </a:solidFill>
                    <a:latin typeface="Arial"/>
                    <a:ea typeface="Arial"/>
                    <a:cs typeface="Arial"/>
                    <a:sym typeface="Arial"/>
                  </a:rPr>
                  <a:t>Owner/TBD</a:t>
                </a:r>
                <a:endParaRPr b="1" sz="1100">
                  <a:solidFill>
                    <a:srgbClr val="2C5B8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88" name="Google Shape;3688;p71"/>
            <p:cNvSpPr txBox="1"/>
            <p:nvPr/>
          </p:nvSpPr>
          <p:spPr>
            <a:xfrm>
              <a:off x="7705725" y="2740914"/>
              <a:ext cx="2667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B3CDE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east</a:t>
              </a:r>
              <a:endParaRPr sz="1800">
                <a:solidFill>
                  <a:srgbClr val="B3CDE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grpSp>
          <p:nvGrpSpPr>
            <p:cNvPr id="3689" name="Google Shape;3689;p71"/>
            <p:cNvGrpSpPr/>
            <p:nvPr/>
          </p:nvGrpSpPr>
          <p:grpSpPr>
            <a:xfrm>
              <a:off x="7972425" y="1619250"/>
              <a:ext cx="1619100" cy="2476500"/>
              <a:chOff x="0" y="0"/>
              <a:chExt cx="1619100" cy="2476500"/>
            </a:xfrm>
          </p:grpSpPr>
          <p:sp>
            <p:nvSpPr>
              <p:cNvPr id="3690" name="Google Shape;3690;p71"/>
              <p:cNvSpPr/>
              <p:nvPr/>
            </p:nvSpPr>
            <p:spPr>
              <a:xfrm>
                <a:off x="0" y="0"/>
                <a:ext cx="1619100" cy="2476500"/>
              </a:xfrm>
              <a:prstGeom prst="roundRect">
                <a:avLst>
                  <a:gd fmla="val 9411" name="adj"/>
                </a:avLst>
              </a:prstGeom>
              <a:solidFill>
                <a:srgbClr val="F4F7FA"/>
              </a:solidFill>
              <a:ln cap="flat" cmpd="sng" w="14300">
                <a:solidFill>
                  <a:srgbClr val="E1E4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1" name="Google Shape;3691;p71"/>
              <p:cNvSpPr/>
              <p:nvPr/>
            </p:nvSpPr>
            <p:spPr>
              <a:xfrm>
                <a:off x="476250" y="190500"/>
                <a:ext cx="666900" cy="228600"/>
              </a:xfrm>
              <a:prstGeom prst="roundRect">
                <a:avLst>
                  <a:gd fmla="val 50000" name="adj"/>
                </a:avLst>
              </a:prstGeom>
              <a:solidFill>
                <a:srgbClr val="E0EBF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2" name="Google Shape;3692;p71"/>
              <p:cNvSpPr txBox="1"/>
              <p:nvPr/>
            </p:nvSpPr>
            <p:spPr>
              <a:xfrm>
                <a:off x="0" y="190500"/>
                <a:ext cx="16191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800">
                    <a:solidFill>
                      <a:srgbClr val="1A395B"/>
                    </a:solidFill>
                    <a:latin typeface="Arial"/>
                    <a:ea typeface="Arial"/>
                    <a:cs typeface="Arial"/>
                    <a:sym typeface="Arial"/>
                  </a:rPr>
                  <a:t>STEP 5</a:t>
                </a:r>
                <a:endParaRPr b="1" sz="8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3" name="Google Shape;3693;p71"/>
              <p:cNvSpPr txBox="1"/>
              <p:nvPr/>
            </p:nvSpPr>
            <p:spPr>
              <a:xfrm>
                <a:off x="142875" y="619125"/>
                <a:ext cx="13335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1A395B"/>
                    </a:solidFill>
                    <a:latin typeface="Arial"/>
                    <a:ea typeface="Arial"/>
                    <a:cs typeface="Arial"/>
                    <a:sym typeface="Arial"/>
                  </a:rPr>
                  <a:t>IDC/감리 확정</a:t>
                </a:r>
                <a:endParaRPr b="1" sz="13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lang="en-US" sz="950">
                    <a:solidFill>
                      <a:srgbClr val="646E78"/>
                    </a:solidFill>
                    <a:latin typeface="Arial"/>
                    <a:ea typeface="Arial"/>
                    <a:cs typeface="Arial"/>
                    <a:sym typeface="Arial"/>
                  </a:rPr>
                  <a:t>TA 결합</a:t>
                </a:r>
                <a:endParaRPr sz="950">
                  <a:solidFill>
                    <a:srgbClr val="646E78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2C5B8C"/>
                    </a:solidFill>
                    <a:latin typeface="Arial"/>
                    <a:ea typeface="Arial"/>
                    <a:cs typeface="Arial"/>
                    <a:sym typeface="Arial"/>
                  </a:rPr>
                  <a:t>검증/운영 기준</a:t>
                </a:r>
                <a:endParaRPr b="1" sz="1100">
                  <a:solidFill>
                    <a:srgbClr val="2C5B8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694" name="Google Shape;3694;p71"/>
          <p:cNvGrpSpPr/>
          <p:nvPr/>
        </p:nvGrpSpPr>
        <p:grpSpPr>
          <a:xfrm>
            <a:off x="428625" y="4429125"/>
            <a:ext cx="9163200" cy="952500"/>
            <a:chOff x="0" y="0"/>
            <a:chExt cx="9163200" cy="952500"/>
          </a:xfrm>
        </p:grpSpPr>
        <p:sp>
          <p:nvSpPr>
            <p:cNvPr id="3695" name="Google Shape;3695;p71"/>
            <p:cNvSpPr/>
            <p:nvPr/>
          </p:nvSpPr>
          <p:spPr>
            <a:xfrm>
              <a:off x="0" y="0"/>
              <a:ext cx="9163200" cy="952500"/>
            </a:xfrm>
            <a:prstGeom prst="roundRect">
              <a:avLst>
                <a:gd fmla="val 12000" name="adj"/>
              </a:avLst>
            </a:prstGeom>
            <a:solidFill>
              <a:srgbClr val="EBF3FC"/>
            </a:solidFill>
            <a:ln cap="flat" cmpd="sng" w="11425">
              <a:solidFill>
                <a:srgbClr val="B9D1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6" name="Google Shape;3696;p71"/>
            <p:cNvSpPr/>
            <p:nvPr/>
          </p:nvSpPr>
          <p:spPr>
            <a:xfrm>
              <a:off x="0" y="0"/>
              <a:ext cx="57300" cy="952500"/>
            </a:xfrm>
            <a:prstGeom prst="roundRect">
              <a:avLst>
                <a:gd fmla="val 50000" name="adj"/>
              </a:avLst>
            </a:prstGeom>
            <a:solidFill>
              <a:srgbClr val="1A39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7" name="Google Shape;3697;p71"/>
            <p:cNvSpPr txBox="1"/>
            <p:nvPr/>
          </p:nvSpPr>
          <p:spPr>
            <a:xfrm>
              <a:off x="238125" y="142875"/>
              <a:ext cx="86868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2C5B8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stars</a:t>
              </a:r>
              <a:r>
                <a:rPr b="1" lang="en-US" sz="125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rPr>
                <a:t>권장 작업 방식</a:t>
              </a:r>
              <a:endParaRPr b="1" sz="125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23282D"/>
                  </a:solidFill>
                  <a:latin typeface="Arial"/>
                  <a:ea typeface="Arial"/>
                  <a:cs typeface="Arial"/>
                  <a:sym typeface="Arial"/>
                </a:rPr>
                <a:t>기존 슬라이드 삭제/대체 금지 </a:t>
              </a:r>
              <a:r>
                <a:rPr b="1" lang="en-US" sz="1100">
                  <a:solidFill>
                    <a:srgbClr val="2C5B8C"/>
                  </a:solidFill>
                  <a:latin typeface="Arial"/>
                  <a:ea typeface="Arial"/>
                  <a:cs typeface="Arial"/>
                  <a:sym typeface="Arial"/>
                </a:rPr>
                <a:t>→</a:t>
              </a:r>
              <a:r>
                <a:rPr lang="en-US" sz="1100">
                  <a:solidFill>
                    <a:srgbClr val="23282D"/>
                  </a:solidFill>
                  <a:latin typeface="Arial"/>
                  <a:ea typeface="Arial"/>
                  <a:cs typeface="Arial"/>
                  <a:sym typeface="Arial"/>
                </a:rPr>
                <a:t> 보완 장표 추가 </a:t>
              </a:r>
              <a:r>
                <a:rPr b="1" lang="en-US" sz="1100">
                  <a:solidFill>
                    <a:srgbClr val="2C5B8C"/>
                  </a:solidFill>
                  <a:latin typeface="Arial"/>
                  <a:ea typeface="Arial"/>
                  <a:cs typeface="Arial"/>
                  <a:sym typeface="Arial"/>
                </a:rPr>
                <a:t>→</a:t>
              </a:r>
              <a:r>
                <a:rPr lang="en-US" sz="1100">
                  <a:solidFill>
                    <a:srgbClr val="23282D"/>
                  </a:solidFill>
                  <a:latin typeface="Arial"/>
                  <a:ea typeface="Arial"/>
                  <a:cs typeface="Arial"/>
                  <a:sym typeface="Arial"/>
                </a:rPr>
                <a:t> 기존 상세 장표에 '상위 참조 장표'만 연결 </a:t>
              </a:r>
              <a:r>
                <a:rPr b="1" lang="en-US" sz="1100">
                  <a:solidFill>
                    <a:srgbClr val="2C5B8C"/>
                  </a:solidFill>
                  <a:latin typeface="Arial"/>
                  <a:ea typeface="Arial"/>
                  <a:cs typeface="Arial"/>
                  <a:sym typeface="Arial"/>
                </a:rPr>
                <a:t>→</a:t>
              </a:r>
              <a:r>
                <a:rPr lang="en-US" sz="1100">
                  <a:solidFill>
                    <a:srgbClr val="23282D"/>
                  </a:solidFill>
                  <a:latin typeface="Arial"/>
                  <a:ea typeface="Arial"/>
                  <a:cs typeface="Arial"/>
                  <a:sym typeface="Arial"/>
                </a:rPr>
                <a:t> 확정된 내용부터 점진 반영</a:t>
              </a:r>
              <a:endParaRPr sz="1100">
                <a:solidFill>
                  <a:srgbClr val="23282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1" name="Shape 3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2" name="Google Shape;3702;p72"/>
          <p:cNvSpPr/>
          <p:nvPr/>
        </p:nvSpPr>
        <p:spPr>
          <a:xfrm>
            <a:off x="0" y="0"/>
            <a:ext cx="9906000" cy="502800"/>
          </a:xfrm>
          <a:prstGeom prst="rect">
            <a:avLst/>
          </a:prstGeom>
          <a:solidFill>
            <a:srgbClr val="1A395B"/>
          </a:solidFill>
          <a:ln cap="flat" cmpd="sng" w="9525">
            <a:solidFill>
              <a:srgbClr val="1A39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3" name="Google Shape;3703;p72"/>
          <p:cNvSpPr txBox="1"/>
          <p:nvPr/>
        </p:nvSpPr>
        <p:spPr>
          <a:xfrm>
            <a:off x="320040" y="64008"/>
            <a:ext cx="2926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아키텍처 고도화 보완</a:t>
            </a:r>
            <a:endParaRPr/>
          </a:p>
        </p:txBody>
      </p:sp>
      <p:sp>
        <p:nvSpPr>
          <p:cNvPr id="3704" name="Google Shape;3704;p72"/>
          <p:cNvSpPr txBox="1"/>
          <p:nvPr/>
        </p:nvSpPr>
        <p:spPr>
          <a:xfrm>
            <a:off x="411480" y="658368"/>
            <a:ext cx="10972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1A395B"/>
                </a:solidFill>
                <a:latin typeface="Malgun Gothic"/>
                <a:ea typeface="Malgun Gothic"/>
                <a:cs typeface="Malgun Gothic"/>
                <a:sym typeface="Malgun Gothic"/>
              </a:rPr>
              <a:t>4.13 기존 장표 ↔ 보완 장표 연결 맵</a:t>
            </a:r>
            <a:endParaRPr/>
          </a:p>
        </p:txBody>
      </p:sp>
      <p:sp>
        <p:nvSpPr>
          <p:cNvPr id="3705" name="Google Shape;3705;p72"/>
          <p:cNvSpPr txBox="1"/>
          <p:nvPr/>
        </p:nvSpPr>
        <p:spPr>
          <a:xfrm>
            <a:off x="429768" y="1143000"/>
            <a:ext cx="10972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46E78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상세자산을 그대로 살리면서 새 보완 장표가 상위 Navigation 역할을 수행</a:t>
            </a:r>
            <a:endParaRPr/>
          </a:p>
        </p:txBody>
      </p:sp>
      <p:sp>
        <p:nvSpPr>
          <p:cNvPr id="3706" name="Google Shape;3706;p72"/>
          <p:cNvSpPr txBox="1"/>
          <p:nvPr/>
        </p:nvSpPr>
        <p:spPr>
          <a:xfrm>
            <a:off x="10698480" y="6446520"/>
            <a:ext cx="1005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646E78"/>
                </a:solidFill>
                <a:latin typeface="Malgun Gothic"/>
                <a:ea typeface="Malgun Gothic"/>
                <a:cs typeface="Malgun Gothic"/>
                <a:sym typeface="Malgun Gothic"/>
              </a:rPr>
              <a:t>AA 보완안</a:t>
            </a:r>
            <a:endParaRPr/>
          </a:p>
        </p:txBody>
      </p:sp>
      <p:grpSp>
        <p:nvGrpSpPr>
          <p:cNvPr id="3707" name="Google Shape;3707;p72"/>
          <p:cNvGrpSpPr/>
          <p:nvPr/>
        </p:nvGrpSpPr>
        <p:grpSpPr>
          <a:xfrm>
            <a:off x="476250" y="1333500"/>
            <a:ext cx="8953500" cy="285900"/>
            <a:chOff x="476250" y="1333500"/>
            <a:chExt cx="8953500" cy="285900"/>
          </a:xfrm>
        </p:grpSpPr>
        <p:sp>
          <p:nvSpPr>
            <p:cNvPr id="3708" name="Google Shape;3708;p72"/>
            <p:cNvSpPr txBox="1"/>
            <p:nvPr/>
          </p:nvSpPr>
          <p:spPr>
            <a:xfrm>
              <a:off x="476250" y="1333500"/>
              <a:ext cx="3905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rPr>
                <a:t>기존 상세 설계 자산</a:t>
              </a:r>
              <a:endParaRPr b="1" sz="11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9" name="Google Shape;3709;p72"/>
            <p:cNvSpPr txBox="1"/>
            <p:nvPr/>
          </p:nvSpPr>
          <p:spPr>
            <a:xfrm>
              <a:off x="4857750" y="1333500"/>
              <a:ext cx="457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rPr>
                <a:t>AA 관점 보완 레이어</a:t>
              </a:r>
              <a:endParaRPr b="1" sz="11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10" name="Google Shape;3710;p72"/>
          <p:cNvGrpSpPr/>
          <p:nvPr/>
        </p:nvGrpSpPr>
        <p:grpSpPr>
          <a:xfrm>
            <a:off x="476250" y="1666875"/>
            <a:ext cx="8953500" cy="628800"/>
            <a:chOff x="476250" y="1666875"/>
            <a:chExt cx="8953500" cy="628800"/>
          </a:xfrm>
        </p:grpSpPr>
        <p:sp>
          <p:nvSpPr>
            <p:cNvPr id="3711" name="Google Shape;3711;p72"/>
            <p:cNvSpPr/>
            <p:nvPr/>
          </p:nvSpPr>
          <p:spPr>
            <a:xfrm>
              <a:off x="476250" y="1666875"/>
              <a:ext cx="3905400" cy="628800"/>
            </a:xfrm>
            <a:prstGeom prst="roundRect">
              <a:avLst>
                <a:gd fmla="val 12121" name="adj"/>
              </a:avLst>
            </a:prstGeom>
            <a:solidFill>
              <a:srgbClr val="F4F7FA"/>
            </a:solidFill>
            <a:ln cap="flat" cmpd="sng" w="9525">
              <a:solidFill>
                <a:srgbClr val="E1E4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2" name="Google Shape;3712;p72"/>
            <p:cNvSpPr/>
            <p:nvPr/>
          </p:nvSpPr>
          <p:spPr>
            <a:xfrm>
              <a:off x="619125" y="1781175"/>
              <a:ext cx="952500" cy="400200"/>
            </a:xfrm>
            <a:prstGeom prst="roundRect">
              <a:avLst>
                <a:gd fmla="val 9523" name="adj"/>
              </a:avLst>
            </a:prstGeom>
            <a:solidFill>
              <a:srgbClr val="1A39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3" name="Google Shape;3713;p72"/>
            <p:cNvSpPr txBox="1"/>
            <p:nvPr/>
          </p:nvSpPr>
          <p:spPr>
            <a:xfrm>
              <a:off x="619125" y="1781175"/>
              <a:ext cx="952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기존 5~9</a:t>
              </a:r>
              <a:endParaRPr b="1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4" name="Google Shape;3714;p72"/>
            <p:cNvSpPr txBox="1"/>
            <p:nvPr/>
          </p:nvSpPr>
          <p:spPr>
            <a:xfrm>
              <a:off x="1714500" y="1666875"/>
              <a:ext cx="22860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23282D"/>
                  </a:solidFill>
                  <a:latin typeface="Arial"/>
                  <a:ea typeface="Arial"/>
                  <a:cs typeface="Arial"/>
                  <a:sym typeface="Arial"/>
                </a:rPr>
                <a:t>논리/보상포탈/OZ 구성</a:t>
              </a:r>
              <a:endParaRPr b="1" sz="1000">
                <a:solidFill>
                  <a:srgbClr val="23282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5" name="Google Shape;3715;p72"/>
            <p:cNvSpPr/>
            <p:nvPr/>
          </p:nvSpPr>
          <p:spPr>
            <a:xfrm>
              <a:off x="4486275" y="1847850"/>
              <a:ext cx="266700" cy="266700"/>
            </a:xfrm>
            <a:prstGeom prst="ellipse">
              <a:avLst/>
            </a:prstGeom>
            <a:solidFill>
              <a:srgbClr val="FFFFFF"/>
            </a:solidFill>
            <a:ln cap="flat" cmpd="sng" w="14300">
              <a:solidFill>
                <a:srgbClr val="1A395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6" name="Google Shape;3716;p72"/>
            <p:cNvSpPr txBox="1"/>
            <p:nvPr/>
          </p:nvSpPr>
          <p:spPr>
            <a:xfrm>
              <a:off x="4524375" y="1906397"/>
              <a:ext cx="190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90">
                  <a:solidFill>
                    <a:srgbClr val="1A395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east</a:t>
              </a:r>
              <a:endParaRPr sz="1190">
                <a:solidFill>
                  <a:srgbClr val="1A395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717" name="Google Shape;3717;p72"/>
            <p:cNvSpPr/>
            <p:nvPr/>
          </p:nvSpPr>
          <p:spPr>
            <a:xfrm>
              <a:off x="4857750" y="1666875"/>
              <a:ext cx="4572000" cy="628800"/>
            </a:xfrm>
            <a:prstGeom prst="roundRect">
              <a:avLst>
                <a:gd fmla="val 12121" name="adj"/>
              </a:avLst>
            </a:prstGeom>
            <a:solidFill>
              <a:srgbClr val="E0EBF7"/>
            </a:solidFill>
            <a:ln cap="flat" cmpd="sng" w="9525">
              <a:solidFill>
                <a:srgbClr val="B9D1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8" name="Google Shape;3718;p72"/>
            <p:cNvSpPr/>
            <p:nvPr/>
          </p:nvSpPr>
          <p:spPr>
            <a:xfrm>
              <a:off x="5000625" y="1781175"/>
              <a:ext cx="952500" cy="400200"/>
            </a:xfrm>
            <a:prstGeom prst="roundRect">
              <a:avLst>
                <a:gd fmla="val 9523" name="adj"/>
              </a:avLst>
            </a:prstGeom>
            <a:solidFill>
              <a:srgbClr val="2C5B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9" name="Google Shape;3719;p72"/>
            <p:cNvSpPr txBox="1"/>
            <p:nvPr/>
          </p:nvSpPr>
          <p:spPr>
            <a:xfrm>
              <a:off x="5000625" y="1781175"/>
              <a:ext cx="952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4.2~4.5</a:t>
              </a:r>
              <a:endParaRPr b="1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0" name="Google Shape;3720;p72"/>
            <p:cNvSpPr txBox="1"/>
            <p:nvPr/>
          </p:nvSpPr>
          <p:spPr>
            <a:xfrm>
              <a:off x="6143625" y="1666875"/>
              <a:ext cx="29529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rPr>
                <a:t>계층화 + 공통 OZ Context</a:t>
              </a:r>
              <a:endParaRPr b="1" sz="10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21" name="Google Shape;3721;p72"/>
          <p:cNvGrpSpPr/>
          <p:nvPr/>
        </p:nvGrpSpPr>
        <p:grpSpPr>
          <a:xfrm>
            <a:off x="476250" y="2371725"/>
            <a:ext cx="8953500" cy="628800"/>
            <a:chOff x="476250" y="2371725"/>
            <a:chExt cx="8953500" cy="628800"/>
          </a:xfrm>
        </p:grpSpPr>
        <p:sp>
          <p:nvSpPr>
            <p:cNvPr id="3722" name="Google Shape;3722;p72"/>
            <p:cNvSpPr/>
            <p:nvPr/>
          </p:nvSpPr>
          <p:spPr>
            <a:xfrm>
              <a:off x="476250" y="2371725"/>
              <a:ext cx="3905400" cy="628800"/>
            </a:xfrm>
            <a:prstGeom prst="roundRect">
              <a:avLst>
                <a:gd fmla="val 12121" name="adj"/>
              </a:avLst>
            </a:prstGeom>
            <a:solidFill>
              <a:srgbClr val="F4F7FA"/>
            </a:solidFill>
            <a:ln cap="flat" cmpd="sng" w="9525">
              <a:solidFill>
                <a:srgbClr val="E1E4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3" name="Google Shape;3723;p72"/>
            <p:cNvSpPr/>
            <p:nvPr/>
          </p:nvSpPr>
          <p:spPr>
            <a:xfrm>
              <a:off x="619125" y="2486025"/>
              <a:ext cx="952500" cy="400200"/>
            </a:xfrm>
            <a:prstGeom prst="roundRect">
              <a:avLst>
                <a:gd fmla="val 9523" name="adj"/>
              </a:avLst>
            </a:prstGeom>
            <a:solidFill>
              <a:srgbClr val="1A39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4" name="Google Shape;3724;p72"/>
            <p:cNvSpPr txBox="1"/>
            <p:nvPr/>
          </p:nvSpPr>
          <p:spPr>
            <a:xfrm>
              <a:off x="619125" y="2486025"/>
              <a:ext cx="952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기존 10~21</a:t>
              </a:r>
              <a:endParaRPr b="1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5" name="Google Shape;3725;p72"/>
            <p:cNvSpPr txBox="1"/>
            <p:nvPr/>
          </p:nvSpPr>
          <p:spPr>
            <a:xfrm>
              <a:off x="1714500" y="2371725"/>
              <a:ext cx="22860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23282D"/>
                  </a:solidFill>
                  <a:latin typeface="Arial"/>
                  <a:ea typeface="Arial"/>
                  <a:cs typeface="Arial"/>
                  <a:sym typeface="Arial"/>
                </a:rPr>
                <a:t>EDMS/FAX/MCMS</a:t>
              </a:r>
              <a:endParaRPr b="1" sz="1000">
                <a:solidFill>
                  <a:srgbClr val="23282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6" name="Google Shape;3726;p72"/>
            <p:cNvSpPr/>
            <p:nvPr/>
          </p:nvSpPr>
          <p:spPr>
            <a:xfrm>
              <a:off x="4486275" y="2552700"/>
              <a:ext cx="266700" cy="266700"/>
            </a:xfrm>
            <a:prstGeom prst="ellipse">
              <a:avLst/>
            </a:prstGeom>
            <a:solidFill>
              <a:srgbClr val="FFFFFF"/>
            </a:solidFill>
            <a:ln cap="flat" cmpd="sng" w="14300">
              <a:solidFill>
                <a:srgbClr val="1A395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7" name="Google Shape;3727;p72"/>
            <p:cNvSpPr txBox="1"/>
            <p:nvPr/>
          </p:nvSpPr>
          <p:spPr>
            <a:xfrm>
              <a:off x="4524375" y="2611247"/>
              <a:ext cx="190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90">
                  <a:solidFill>
                    <a:srgbClr val="1A395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east</a:t>
              </a:r>
              <a:endParaRPr sz="1190">
                <a:solidFill>
                  <a:srgbClr val="1A395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728" name="Google Shape;3728;p72"/>
            <p:cNvSpPr/>
            <p:nvPr/>
          </p:nvSpPr>
          <p:spPr>
            <a:xfrm>
              <a:off x="4857750" y="2371725"/>
              <a:ext cx="4572000" cy="628800"/>
            </a:xfrm>
            <a:prstGeom prst="roundRect">
              <a:avLst>
                <a:gd fmla="val 12121" name="adj"/>
              </a:avLst>
            </a:prstGeom>
            <a:solidFill>
              <a:srgbClr val="E0EBF7"/>
            </a:solidFill>
            <a:ln cap="flat" cmpd="sng" w="9525">
              <a:solidFill>
                <a:srgbClr val="B9D1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9" name="Google Shape;3729;p72"/>
            <p:cNvSpPr/>
            <p:nvPr/>
          </p:nvSpPr>
          <p:spPr>
            <a:xfrm>
              <a:off x="5000625" y="2486025"/>
              <a:ext cx="952500" cy="400200"/>
            </a:xfrm>
            <a:prstGeom prst="roundRect">
              <a:avLst>
                <a:gd fmla="val 9523" name="adj"/>
              </a:avLst>
            </a:prstGeom>
            <a:solidFill>
              <a:srgbClr val="2C5B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0" name="Google Shape;3730;p72"/>
            <p:cNvSpPr txBox="1"/>
            <p:nvPr/>
          </p:nvSpPr>
          <p:spPr>
            <a:xfrm>
              <a:off x="5000625" y="2486025"/>
              <a:ext cx="952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4.7</a:t>
              </a:r>
              <a:endParaRPr b="1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1" name="Google Shape;3731;p72"/>
            <p:cNvSpPr txBox="1"/>
            <p:nvPr/>
          </p:nvSpPr>
          <p:spPr>
            <a:xfrm>
              <a:off x="6143625" y="2371725"/>
              <a:ext cx="29529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rPr>
                <a:t>후처리·연계 관점으로 연결</a:t>
              </a:r>
              <a:endParaRPr b="1" sz="10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32" name="Google Shape;3732;p72"/>
          <p:cNvGrpSpPr/>
          <p:nvPr/>
        </p:nvGrpSpPr>
        <p:grpSpPr>
          <a:xfrm>
            <a:off x="476250" y="3076575"/>
            <a:ext cx="8953500" cy="628800"/>
            <a:chOff x="476250" y="3076575"/>
            <a:chExt cx="8953500" cy="628800"/>
          </a:xfrm>
        </p:grpSpPr>
        <p:sp>
          <p:nvSpPr>
            <p:cNvPr id="3733" name="Google Shape;3733;p72"/>
            <p:cNvSpPr/>
            <p:nvPr/>
          </p:nvSpPr>
          <p:spPr>
            <a:xfrm>
              <a:off x="476250" y="3076575"/>
              <a:ext cx="3905400" cy="628800"/>
            </a:xfrm>
            <a:prstGeom prst="roundRect">
              <a:avLst>
                <a:gd fmla="val 12121" name="adj"/>
              </a:avLst>
            </a:prstGeom>
            <a:solidFill>
              <a:srgbClr val="F4F7FA"/>
            </a:solidFill>
            <a:ln cap="flat" cmpd="sng" w="9525">
              <a:solidFill>
                <a:srgbClr val="E1E4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4" name="Google Shape;3734;p72"/>
            <p:cNvSpPr/>
            <p:nvPr/>
          </p:nvSpPr>
          <p:spPr>
            <a:xfrm>
              <a:off x="619125" y="3190875"/>
              <a:ext cx="952500" cy="400200"/>
            </a:xfrm>
            <a:prstGeom prst="roundRect">
              <a:avLst>
                <a:gd fmla="val 9523" name="adj"/>
              </a:avLst>
            </a:prstGeom>
            <a:solidFill>
              <a:srgbClr val="1A39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5" name="Google Shape;3735;p72"/>
            <p:cNvSpPr txBox="1"/>
            <p:nvPr/>
          </p:nvSpPr>
          <p:spPr>
            <a:xfrm>
              <a:off x="619125" y="3190875"/>
              <a:ext cx="952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기존 22~36</a:t>
              </a:r>
              <a:endParaRPr b="1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6" name="Google Shape;3736;p72"/>
            <p:cNvSpPr txBox="1"/>
            <p:nvPr/>
          </p:nvSpPr>
          <p:spPr>
            <a:xfrm>
              <a:off x="1714500" y="3076575"/>
              <a:ext cx="22860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23282D"/>
                  </a:solidFill>
                  <a:latin typeface="Arial"/>
                  <a:ea typeface="Arial"/>
                  <a:cs typeface="Arial"/>
                  <a:sym typeface="Arial"/>
                </a:rPr>
                <a:t>통합발행/NAS/배포/비동기</a:t>
              </a:r>
              <a:endParaRPr b="1" sz="1000">
                <a:solidFill>
                  <a:srgbClr val="23282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7" name="Google Shape;3737;p72"/>
            <p:cNvSpPr/>
            <p:nvPr/>
          </p:nvSpPr>
          <p:spPr>
            <a:xfrm>
              <a:off x="4486275" y="3257550"/>
              <a:ext cx="266700" cy="266700"/>
            </a:xfrm>
            <a:prstGeom prst="ellipse">
              <a:avLst/>
            </a:prstGeom>
            <a:solidFill>
              <a:srgbClr val="FFFFFF"/>
            </a:solidFill>
            <a:ln cap="flat" cmpd="sng" w="14300">
              <a:solidFill>
                <a:srgbClr val="1A395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8" name="Google Shape;3738;p72"/>
            <p:cNvSpPr txBox="1"/>
            <p:nvPr/>
          </p:nvSpPr>
          <p:spPr>
            <a:xfrm>
              <a:off x="4524375" y="3316097"/>
              <a:ext cx="190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90">
                  <a:solidFill>
                    <a:srgbClr val="1A395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east</a:t>
              </a:r>
              <a:endParaRPr sz="1190">
                <a:solidFill>
                  <a:srgbClr val="1A395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739" name="Google Shape;3739;p72"/>
            <p:cNvSpPr/>
            <p:nvPr/>
          </p:nvSpPr>
          <p:spPr>
            <a:xfrm>
              <a:off x="4857750" y="3076575"/>
              <a:ext cx="4572000" cy="628800"/>
            </a:xfrm>
            <a:prstGeom prst="roundRect">
              <a:avLst>
                <a:gd fmla="val 12121" name="adj"/>
              </a:avLst>
            </a:prstGeom>
            <a:solidFill>
              <a:srgbClr val="E0EBF7"/>
            </a:solidFill>
            <a:ln cap="flat" cmpd="sng" w="9525">
              <a:solidFill>
                <a:srgbClr val="B9D1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0" name="Google Shape;3740;p72"/>
            <p:cNvSpPr/>
            <p:nvPr/>
          </p:nvSpPr>
          <p:spPr>
            <a:xfrm>
              <a:off x="5000625" y="3190875"/>
              <a:ext cx="952500" cy="400200"/>
            </a:xfrm>
            <a:prstGeom prst="roundRect">
              <a:avLst>
                <a:gd fmla="val 9523" name="adj"/>
              </a:avLst>
            </a:prstGeom>
            <a:solidFill>
              <a:srgbClr val="2C5B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1" name="Google Shape;3741;p72"/>
            <p:cNvSpPr txBox="1"/>
            <p:nvPr/>
          </p:nvSpPr>
          <p:spPr>
            <a:xfrm>
              <a:off x="5000625" y="3190875"/>
              <a:ext cx="952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4.6~4.11</a:t>
              </a:r>
              <a:endParaRPr b="1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2" name="Google Shape;3742;p72"/>
            <p:cNvSpPr txBox="1"/>
            <p:nvPr/>
          </p:nvSpPr>
          <p:spPr>
            <a:xfrm>
              <a:off x="6143625" y="3076575"/>
              <a:ext cx="29529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rPr>
                <a:t>Scheduler·Deployment·IDC 협의로 연결</a:t>
              </a:r>
              <a:endParaRPr b="1" sz="10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43" name="Google Shape;3743;p72"/>
          <p:cNvGrpSpPr/>
          <p:nvPr/>
        </p:nvGrpSpPr>
        <p:grpSpPr>
          <a:xfrm>
            <a:off x="476250" y="3781425"/>
            <a:ext cx="8953500" cy="628800"/>
            <a:chOff x="476250" y="3781425"/>
            <a:chExt cx="8953500" cy="628800"/>
          </a:xfrm>
        </p:grpSpPr>
        <p:sp>
          <p:nvSpPr>
            <p:cNvPr id="3744" name="Google Shape;3744;p72"/>
            <p:cNvSpPr/>
            <p:nvPr/>
          </p:nvSpPr>
          <p:spPr>
            <a:xfrm>
              <a:off x="476250" y="3781425"/>
              <a:ext cx="3905400" cy="628800"/>
            </a:xfrm>
            <a:prstGeom prst="roundRect">
              <a:avLst>
                <a:gd fmla="val 12121" name="adj"/>
              </a:avLst>
            </a:prstGeom>
            <a:solidFill>
              <a:srgbClr val="F4F7FA"/>
            </a:solidFill>
            <a:ln cap="flat" cmpd="sng" w="9525">
              <a:solidFill>
                <a:srgbClr val="E1E4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5" name="Google Shape;3745;p72"/>
            <p:cNvSpPr/>
            <p:nvPr/>
          </p:nvSpPr>
          <p:spPr>
            <a:xfrm>
              <a:off x="619125" y="3895725"/>
              <a:ext cx="952500" cy="400200"/>
            </a:xfrm>
            <a:prstGeom prst="roundRect">
              <a:avLst>
                <a:gd fmla="val 9523" name="adj"/>
              </a:avLst>
            </a:prstGeom>
            <a:solidFill>
              <a:srgbClr val="1A39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6" name="Google Shape;3746;p72"/>
            <p:cNvSpPr txBox="1"/>
            <p:nvPr/>
          </p:nvSpPr>
          <p:spPr>
            <a:xfrm>
              <a:off x="619125" y="3895725"/>
              <a:ext cx="952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기존 37~43</a:t>
              </a:r>
              <a:endParaRPr b="1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7" name="Google Shape;3747;p72"/>
            <p:cNvSpPr txBox="1"/>
            <p:nvPr/>
          </p:nvSpPr>
          <p:spPr>
            <a:xfrm>
              <a:off x="1714500" y="3781425"/>
              <a:ext cx="22860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23282D"/>
                  </a:solidFill>
                  <a:latin typeface="Arial"/>
                  <a:ea typeface="Arial"/>
                  <a:cs typeface="Arial"/>
                  <a:sym typeface="Arial"/>
                </a:rPr>
                <a:t>보안</a:t>
              </a:r>
              <a:endParaRPr b="1" sz="1000">
                <a:solidFill>
                  <a:srgbClr val="23282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8" name="Google Shape;3748;p72"/>
            <p:cNvSpPr/>
            <p:nvPr/>
          </p:nvSpPr>
          <p:spPr>
            <a:xfrm>
              <a:off x="4486275" y="3962400"/>
              <a:ext cx="266700" cy="266700"/>
            </a:xfrm>
            <a:prstGeom prst="ellipse">
              <a:avLst/>
            </a:prstGeom>
            <a:solidFill>
              <a:srgbClr val="FFFFFF"/>
            </a:solidFill>
            <a:ln cap="flat" cmpd="sng" w="14300">
              <a:solidFill>
                <a:srgbClr val="1A395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9" name="Google Shape;3749;p72"/>
            <p:cNvSpPr txBox="1"/>
            <p:nvPr/>
          </p:nvSpPr>
          <p:spPr>
            <a:xfrm>
              <a:off x="4524375" y="4020947"/>
              <a:ext cx="190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90">
                  <a:solidFill>
                    <a:srgbClr val="1A395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east</a:t>
              </a:r>
              <a:endParaRPr sz="1190">
                <a:solidFill>
                  <a:srgbClr val="1A395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750" name="Google Shape;3750;p72"/>
            <p:cNvSpPr/>
            <p:nvPr/>
          </p:nvSpPr>
          <p:spPr>
            <a:xfrm>
              <a:off x="4857750" y="3781425"/>
              <a:ext cx="4572000" cy="628800"/>
            </a:xfrm>
            <a:prstGeom prst="roundRect">
              <a:avLst>
                <a:gd fmla="val 12121" name="adj"/>
              </a:avLst>
            </a:prstGeom>
            <a:solidFill>
              <a:srgbClr val="E0EBF7"/>
            </a:solidFill>
            <a:ln cap="flat" cmpd="sng" w="9525">
              <a:solidFill>
                <a:srgbClr val="B9D1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1" name="Google Shape;3751;p72"/>
            <p:cNvSpPr/>
            <p:nvPr/>
          </p:nvSpPr>
          <p:spPr>
            <a:xfrm>
              <a:off x="5000625" y="3895725"/>
              <a:ext cx="952500" cy="400200"/>
            </a:xfrm>
            <a:prstGeom prst="roundRect">
              <a:avLst>
                <a:gd fmla="val 9523" name="adj"/>
              </a:avLst>
            </a:prstGeom>
            <a:solidFill>
              <a:srgbClr val="2C5B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2" name="Google Shape;3752;p72"/>
            <p:cNvSpPr txBox="1"/>
            <p:nvPr/>
          </p:nvSpPr>
          <p:spPr>
            <a:xfrm>
              <a:off x="5000625" y="3895725"/>
              <a:ext cx="952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4.9</a:t>
              </a:r>
              <a:endParaRPr b="1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3" name="Google Shape;3753;p72"/>
            <p:cNvSpPr txBox="1"/>
            <p:nvPr/>
          </p:nvSpPr>
          <p:spPr>
            <a:xfrm>
              <a:off x="6143625" y="3781425"/>
              <a:ext cx="29529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rPr>
                <a:t>요구사항 추적성 연결</a:t>
              </a:r>
              <a:endParaRPr b="1" sz="10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54" name="Google Shape;3754;p72"/>
          <p:cNvGrpSpPr/>
          <p:nvPr/>
        </p:nvGrpSpPr>
        <p:grpSpPr>
          <a:xfrm>
            <a:off x="476250" y="4486275"/>
            <a:ext cx="8953500" cy="628800"/>
            <a:chOff x="476250" y="4486275"/>
            <a:chExt cx="8953500" cy="628800"/>
          </a:xfrm>
        </p:grpSpPr>
        <p:sp>
          <p:nvSpPr>
            <p:cNvPr id="3755" name="Google Shape;3755;p72"/>
            <p:cNvSpPr/>
            <p:nvPr/>
          </p:nvSpPr>
          <p:spPr>
            <a:xfrm>
              <a:off x="476250" y="4486275"/>
              <a:ext cx="3905400" cy="628800"/>
            </a:xfrm>
            <a:prstGeom prst="roundRect">
              <a:avLst>
                <a:gd fmla="val 12121" name="adj"/>
              </a:avLst>
            </a:prstGeom>
            <a:solidFill>
              <a:srgbClr val="F4F7FA"/>
            </a:solidFill>
            <a:ln cap="flat" cmpd="sng" w="9525">
              <a:solidFill>
                <a:srgbClr val="E1E4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6" name="Google Shape;3756;p72"/>
            <p:cNvSpPr/>
            <p:nvPr/>
          </p:nvSpPr>
          <p:spPr>
            <a:xfrm>
              <a:off x="619125" y="4600575"/>
              <a:ext cx="952500" cy="400200"/>
            </a:xfrm>
            <a:prstGeom prst="roundRect">
              <a:avLst>
                <a:gd fmla="val 9523" name="adj"/>
              </a:avLst>
            </a:prstGeom>
            <a:solidFill>
              <a:srgbClr val="1A39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7" name="Google Shape;3757;p72"/>
            <p:cNvSpPr txBox="1"/>
            <p:nvPr/>
          </p:nvSpPr>
          <p:spPr>
            <a:xfrm>
              <a:off x="619125" y="4600575"/>
              <a:ext cx="952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기존 44~58</a:t>
              </a:r>
              <a:endParaRPr b="1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8" name="Google Shape;3758;p72"/>
            <p:cNvSpPr txBox="1"/>
            <p:nvPr/>
          </p:nvSpPr>
          <p:spPr>
            <a:xfrm>
              <a:off x="1714500" y="4486275"/>
              <a:ext cx="22860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23282D"/>
                  </a:solidFill>
                  <a:latin typeface="Arial"/>
                  <a:ea typeface="Arial"/>
                  <a:cs typeface="Arial"/>
                  <a:sym typeface="Arial"/>
                </a:rPr>
                <a:t>MDS/프레임워크/인증/배포</a:t>
              </a:r>
              <a:endParaRPr b="1" sz="1000">
                <a:solidFill>
                  <a:srgbClr val="23282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9" name="Google Shape;3759;p72"/>
            <p:cNvSpPr/>
            <p:nvPr/>
          </p:nvSpPr>
          <p:spPr>
            <a:xfrm>
              <a:off x="4486275" y="4667250"/>
              <a:ext cx="266700" cy="266700"/>
            </a:xfrm>
            <a:prstGeom prst="ellipse">
              <a:avLst/>
            </a:prstGeom>
            <a:solidFill>
              <a:srgbClr val="FFFFFF"/>
            </a:solidFill>
            <a:ln cap="flat" cmpd="sng" w="14300">
              <a:solidFill>
                <a:srgbClr val="1A395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0" name="Google Shape;3760;p72"/>
            <p:cNvSpPr txBox="1"/>
            <p:nvPr/>
          </p:nvSpPr>
          <p:spPr>
            <a:xfrm>
              <a:off x="4524375" y="4725797"/>
              <a:ext cx="190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90">
                  <a:solidFill>
                    <a:srgbClr val="1A395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east</a:t>
              </a:r>
              <a:endParaRPr sz="1190">
                <a:solidFill>
                  <a:srgbClr val="1A395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761" name="Google Shape;3761;p72"/>
            <p:cNvSpPr/>
            <p:nvPr/>
          </p:nvSpPr>
          <p:spPr>
            <a:xfrm>
              <a:off x="4857750" y="4486275"/>
              <a:ext cx="4572000" cy="628800"/>
            </a:xfrm>
            <a:prstGeom prst="roundRect">
              <a:avLst>
                <a:gd fmla="val 12121" name="adj"/>
              </a:avLst>
            </a:prstGeom>
            <a:solidFill>
              <a:srgbClr val="E0EBF7"/>
            </a:solidFill>
            <a:ln cap="flat" cmpd="sng" w="9525">
              <a:solidFill>
                <a:srgbClr val="B9D1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2" name="Google Shape;3762;p72"/>
            <p:cNvSpPr/>
            <p:nvPr/>
          </p:nvSpPr>
          <p:spPr>
            <a:xfrm>
              <a:off x="5000625" y="4600575"/>
              <a:ext cx="952500" cy="400200"/>
            </a:xfrm>
            <a:prstGeom prst="roundRect">
              <a:avLst>
                <a:gd fmla="val 9523" name="adj"/>
              </a:avLst>
            </a:prstGeom>
            <a:solidFill>
              <a:srgbClr val="2C5B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3" name="Google Shape;3763;p72"/>
            <p:cNvSpPr txBox="1"/>
            <p:nvPr/>
          </p:nvSpPr>
          <p:spPr>
            <a:xfrm>
              <a:off x="5000625" y="4600575"/>
              <a:ext cx="952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4.8~4.9</a:t>
              </a:r>
              <a:endParaRPr b="1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4" name="Google Shape;3764;p72"/>
            <p:cNvSpPr txBox="1"/>
            <p:nvPr/>
          </p:nvSpPr>
          <p:spPr>
            <a:xfrm>
              <a:off x="6143625" y="4486275"/>
              <a:ext cx="29529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rPr>
                <a:t>AA/TA 경계 및 요구사항 연결</a:t>
              </a:r>
              <a:endParaRPr b="1" sz="100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65" name="Google Shape;3765;p72"/>
          <p:cNvGrpSpPr/>
          <p:nvPr/>
        </p:nvGrpSpPr>
        <p:grpSpPr>
          <a:xfrm>
            <a:off x="476250" y="5334000"/>
            <a:ext cx="8953500" cy="457200"/>
            <a:chOff x="476250" y="5334000"/>
            <a:chExt cx="8953500" cy="457200"/>
          </a:xfrm>
        </p:grpSpPr>
        <p:sp>
          <p:nvSpPr>
            <p:cNvPr id="3766" name="Google Shape;3766;p72"/>
            <p:cNvSpPr/>
            <p:nvPr/>
          </p:nvSpPr>
          <p:spPr>
            <a:xfrm>
              <a:off x="476250" y="5334000"/>
              <a:ext cx="8953500" cy="457200"/>
            </a:xfrm>
            <a:prstGeom prst="roundRect">
              <a:avLst>
                <a:gd fmla="val 12500" name="adj"/>
              </a:avLst>
            </a:prstGeom>
            <a:solidFill>
              <a:srgbClr val="F0F4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7" name="Google Shape;3767;p72"/>
            <p:cNvSpPr/>
            <p:nvPr/>
          </p:nvSpPr>
          <p:spPr>
            <a:xfrm>
              <a:off x="476250" y="5334000"/>
              <a:ext cx="57300" cy="457200"/>
            </a:xfrm>
            <a:prstGeom prst="roundRect">
              <a:avLst>
                <a:gd fmla="val 50000" name="adj"/>
              </a:avLst>
            </a:prstGeom>
            <a:solidFill>
              <a:srgbClr val="1A39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8" name="Google Shape;3768;p72"/>
            <p:cNvSpPr txBox="1"/>
            <p:nvPr/>
          </p:nvSpPr>
          <p:spPr>
            <a:xfrm>
              <a:off x="666750" y="5334000"/>
              <a:ext cx="86679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1A395B"/>
                  </a:solidFill>
                  <a:latin typeface="Arial"/>
                  <a:ea typeface="Arial"/>
                  <a:cs typeface="Arial"/>
                  <a:sym typeface="Arial"/>
                </a:rPr>
                <a:t>결론: 기존 문서는 '상세 설계 자산', 신규 보완 장표는 'AA 관점의 구조·의사결정·추적성 레이어'로 사용</a:t>
              </a:r>
              <a:endParaRPr b="1" sz="1050">
                <a:solidFill>
                  <a:srgbClr val="1A395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2019-09-09T05:59:05Z</dcterms:created>
  <dc:creator>Uxxxxxxx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asoo_Trace_ID">
    <vt:lpwstr>eyJub2RlMSI6eyJkc2QiOiIwMTAwMDAwMDAwMDA0MDQ4IiwibG9nVGltZSI6IjIwMjYtMDctMzFUMDU6NTU6MzlaIiwicElEIjoxLCJwcm9jZXNzSWQiOjE4NTcyLCJwcm9jZXNzTmFtZSI6IlBPV0VSUE5ULkVYRSIsInRyYWNlSWQiOiIyOTE1RkFBRTgzM0M0RUUxQUFFNDg0Q0RFNTk1NUU0RSIsInVzZXJDb2RlIjoiTjAzNzU4In0sIm5vZGUyIjp7ImRzZCI6IjAxMDAwMDAwMDAwMDQwNDgiLCJsb2dUaW1lIjoiMjAyNi0wOC0yMlQwMjoyMjowOVoiLCJwSUQiOjEsInByb2Nlc3NJZCI6MTg1NzIsInByb2Nlc3NOYW1lIjoiUE9XRVJQTlQuRVhFIiwidHJhY2VJZCI6IkNCMjQ5QkZDNkVEMjRENDZCRDNGOTY0ODI2RUExNzY1IiwidXNlckNvZGUiOiJOMDM3NTgifSwibm9kZTMiOnsiZHNkIjoiMDEwMDAwMDAwMDAwNDA0OCIsImxvZ1RpbWUiOiIyMDI2LTA4LTI3VDAxOjE0OjE0WiIsInBJRCI6MSwicHJvY2Vzc0lkIjoxODU3MiwicHJvY2Vzc05hbWUiOiJQT1dFUlBOVC5FWEUiLCJ0cmFjZUlkIjoiQ0Q0ODg5NEQyNkUxNDFDMzk2MENCM0E5RTJEQTgxMzYiLCJ1c2VyQ29kZSI6Ik4wMzc1OCJ9LCJub2RlNCI6eyJkc2QiOiIwMTAwMDAwMDAwMDA0MDQ4IiwibG9nVGltZSI6IjIwMjYtMDktMDlUMDI6MTM6MDBaIiwicElEIjoxLCJwcm9jZXNzSWQiOjI1MTM2LCJwcm9jZXNzTmFtZSI6IlBPV0VSUE5ULkVYRSIsInRyYWNlSWQiOiJCRDBCQ0ZGNzlDNDA0OTdEOEUyQ0M5QTc5Q0M3MzRFRiIsInVzZXJDb2RlIjoiTjAzNzU4In0sIm5vZGU1Ijp7ImRzZCI6IjAwMDAwMDAwMDAwMDAwMDAiLCJsb2dUaW1lIjoiMjAyNi0wOS0wOVQwNDo1MjoyNFoiLCJwSUQiIDogMjA0OCwicHJvY2Vzc0lkIjo1MDU4NCwicHJvY2Vzc05hbWUiOiJoaVRvdGF1dG9kcm0uZXhlIiwidHJhY2VJZCI6IkRFQUQ2RDdBQUU3M0MyMEVBNDdDOUIwRjAyQTA1NzBCIiwidXNlckNvZGUiOiIifSwibm9kZUNvdW50Ijo3LCJyb290VHJhY2VJZCI6IkU5NjIzMzJBODQyRDQ2RjZBOUNGNjcwODcxNUVBQzVBIn0=</vt:lpwstr>
  </property>
</Properties>
</file>